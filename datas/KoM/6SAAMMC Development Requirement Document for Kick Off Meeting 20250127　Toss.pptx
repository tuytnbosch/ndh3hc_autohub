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wmf" ContentType="image/x-wmf"/>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Slides/notesSlide15.xml" ContentType="application/vnd.openxmlformats-officedocument.presentationml.notesSlide+xml"/>
  <Override PartName="/ppt/slideMasters/slideMaster1.xml" ContentType="application/vnd.openxmlformats-officedocument.presentationml.slideMaster+xml"/>
  <Override PartName="/ppt/notesSlides/notesSlide26.xml" ContentType="application/vnd.openxmlformats-officedocument.presentationml.notesSlide+xml"/>
  <Override PartName="/ppt/notesSlides/notesSlide16.xml" ContentType="application/vnd.openxmlformats-officedocument.presentationml.notesSlide+xml"/>
  <Override PartName="/ppt/notesSlides/notesSlide27.xml" ContentType="application/vnd.openxmlformats-officedocument.presentationml.notesSlide+xml"/>
  <Override PartName="/ppt/slideLayouts/slideLayout1.xml" ContentType="application/vnd.openxmlformats-officedocument.presentationml.slideLayout+xml"/>
  <Override PartName="/ppt/notesSlides/notesSlide28.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29.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5.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25.xml" ContentType="application/vnd.openxmlformats-officedocument.presentationml.notesSlide+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96.xml" ContentType="application/vnd.openxmlformats-officedocument.presentationml.tags+xml"/>
  <Override PartName="/ppt/tags/tag35.xml" ContentType="application/vnd.openxmlformats-officedocument.presentationml.tags+xml"/>
  <Override PartName="/ppt/tags/tag34.xml" ContentType="application/vnd.openxmlformats-officedocument.presentationml.tags+xml"/>
  <Override PartName="/ppt/tags/tag33.xml" ContentType="application/vnd.openxmlformats-officedocument.presentationml.tags+xml"/>
  <Override PartName="/ppt/tags/tag38.xml" ContentType="application/vnd.openxmlformats-officedocument.presentationml.tags+xml"/>
  <Override PartName="/ppt/tags/tag32.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revisionInfo.xml" ContentType="application/vnd.ms-powerpoint.revisioninfo+xml"/>
  <Override PartName="/ppt/tags/tag92.xml" ContentType="application/vnd.openxmlformats-officedocument.presentationml.tags+xml"/>
  <Override PartName="/ppt/tags/tag31.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docProps/core.xml" ContentType="application/vnd.openxmlformats-package.core-propertie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docProps/app.xml" ContentType="application/vnd.openxmlformats-officedocument.extended-propertie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3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docProps/custom.xml" ContentType="application/vnd.openxmlformats-officedocument.custom-properties+xml"/>
  <Override PartName="/ppt/tags/tag89.xml" ContentType="application/vnd.openxmlformats-officedocument.presentationml.tags+xml"/>
  <Override PartName="/ppt/tags/tag29.xml" ContentType="application/vnd.openxmlformats-officedocument.presentationml.tags+xml"/>
  <Override PartName="/ppt/tags/tag28.xml" ContentType="application/vnd.openxmlformats-officedocument.presentationml.tags+xml"/>
  <Override PartName="/ppt/tags/tag27.xml" ContentType="application/vnd.openxmlformats-officedocument.presentationml.tags+xml"/>
  <Override PartName="/ppt/tags/tag26.xml" ContentType="application/vnd.openxmlformats-officedocument.presentationml.tags+xml"/>
  <Override PartName="/ppt/tags/tag25.xml" ContentType="application/vnd.openxmlformats-officedocument.presentationml.tags+xml"/>
  <Override PartName="/ppt/tags/tag24.xml" ContentType="application/vnd.openxmlformats-officedocument.presentationml.tags+xml"/>
  <Override PartName="/ppt/tags/tag23.xml" ContentType="application/vnd.openxmlformats-officedocument.presentationml.tags+xml"/>
  <Override PartName="/ppt/tags/tag22.xml" ContentType="application/vnd.openxmlformats-officedocument.presentationml.tags+xml"/>
  <Override PartName="/ppt/tags/tag21.xml" ContentType="application/vnd.openxmlformats-officedocument.presentationml.tags+xml"/>
  <Override PartName="/ppt/tags/tag37.xml" ContentType="application/vnd.openxmlformats-officedocument.presentationml.tags+xml"/>
  <Override PartName="/ppt/tags/tag67.xml" ContentType="application/vnd.openxmlformats-officedocument.presentationml.tags+xml"/>
  <Override PartName="/ppt/tags/tag20.xml" ContentType="application/vnd.openxmlformats-officedocument.presentationml.tags+xml"/>
  <Override PartName="/ppt/tags/tag19.xml" ContentType="application/vnd.openxmlformats-officedocument.presentationml.tags+xml"/>
  <Override PartName="/ppt/tags/tag18.xml" ContentType="application/vnd.openxmlformats-officedocument.presentationml.tags+xml"/>
  <Override PartName="/ppt/tags/tag17.xml" ContentType="application/vnd.openxmlformats-officedocument.presentationml.tags+xml"/>
  <Override PartName="/ppt/tags/tag16.xml" ContentType="application/vnd.openxmlformats-officedocument.presentationml.tags+xml"/>
  <Override PartName="/ppt/tags/tag15.xml" ContentType="application/vnd.openxmlformats-officedocument.presentationml.tags+xml"/>
  <Override PartName="/ppt/tags/tag14.xml" ContentType="application/vnd.openxmlformats-officedocument.presentationml.tags+xml"/>
  <Override PartName="/ppt/tags/tag13.xml" ContentType="application/vnd.openxmlformats-officedocument.presentationml.tags+xml"/>
  <Override PartName="/ppt/tags/tag12.xml" ContentType="application/vnd.openxmlformats-officedocument.presentationml.tags+xml"/>
  <Override PartName="/ppt/tags/tag11.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ppt/tags/tag36.xml" ContentType="application/vnd.openxmlformats-officedocument.presentationml.tags+xml"/>
  <Override PartName="/ppt/tags/tag88.xml" ContentType="application/vnd.openxmlformats-officedocument.presentationml.tag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1"/>
  </p:notesMasterIdLst>
  <p:handoutMasterIdLst>
    <p:handoutMasterId r:id="rId162"/>
  </p:handoutMasterIdLst>
  <p:sldIdLst>
    <p:sldId id="725" r:id="rId5"/>
    <p:sldId id="1089" r:id="rId6"/>
    <p:sldId id="1210" r:id="rId7"/>
    <p:sldId id="686" r:id="rId8"/>
    <p:sldId id="687" r:id="rId9"/>
    <p:sldId id="830" r:id="rId10"/>
    <p:sldId id="689" r:id="rId11"/>
    <p:sldId id="832" r:id="rId12"/>
    <p:sldId id="1079" r:id="rId13"/>
    <p:sldId id="1211" r:id="rId14"/>
    <p:sldId id="784" r:id="rId15"/>
    <p:sldId id="876" r:id="rId16"/>
    <p:sldId id="1052" r:id="rId17"/>
    <p:sldId id="1026" r:id="rId18"/>
    <p:sldId id="1053" r:id="rId19"/>
    <p:sldId id="1212" r:id="rId20"/>
    <p:sldId id="852" r:id="rId21"/>
    <p:sldId id="1054" r:id="rId22"/>
    <p:sldId id="1029" r:id="rId23"/>
    <p:sldId id="862" r:id="rId24"/>
    <p:sldId id="1078" r:id="rId25"/>
    <p:sldId id="785" r:id="rId26"/>
    <p:sldId id="1030" r:id="rId27"/>
    <p:sldId id="1213" r:id="rId28"/>
    <p:sldId id="786" r:id="rId29"/>
    <p:sldId id="1031" r:id="rId30"/>
    <p:sldId id="724" r:id="rId31"/>
    <p:sldId id="944" r:id="rId32"/>
    <p:sldId id="938" r:id="rId33"/>
    <p:sldId id="1214" r:id="rId34"/>
    <p:sldId id="1093" r:id="rId35"/>
    <p:sldId id="1098" r:id="rId36"/>
    <p:sldId id="1099" r:id="rId37"/>
    <p:sldId id="1072" r:id="rId38"/>
    <p:sldId id="1226" r:id="rId39"/>
    <p:sldId id="1305" r:id="rId40"/>
    <p:sldId id="1081" r:id="rId41"/>
    <p:sldId id="1082" r:id="rId42"/>
    <p:sldId id="1304" r:id="rId43"/>
    <p:sldId id="1245" r:id="rId44"/>
    <p:sldId id="1215" r:id="rId45"/>
    <p:sldId id="1073" r:id="rId46"/>
    <p:sldId id="1074" r:id="rId47"/>
    <p:sldId id="1102" r:id="rId48"/>
    <p:sldId id="1306" r:id="rId49"/>
    <p:sldId id="1108" r:id="rId50"/>
    <p:sldId id="1105" r:id="rId51"/>
    <p:sldId id="1106" r:id="rId52"/>
    <p:sldId id="1216" r:id="rId53"/>
    <p:sldId id="812" r:id="rId54"/>
    <p:sldId id="1020" r:id="rId55"/>
    <p:sldId id="1021" r:id="rId56"/>
    <p:sldId id="1022" r:id="rId57"/>
    <p:sldId id="1247" r:id="rId58"/>
    <p:sldId id="1227" r:id="rId59"/>
    <p:sldId id="1228" r:id="rId60"/>
    <p:sldId id="1217" r:id="rId61"/>
    <p:sldId id="1013" r:id="rId62"/>
    <p:sldId id="959" r:id="rId63"/>
    <p:sldId id="960" r:id="rId64"/>
    <p:sldId id="1308" r:id="rId65"/>
    <p:sldId id="1006" r:id="rId66"/>
    <p:sldId id="1218" r:id="rId67"/>
    <p:sldId id="1057" r:id="rId68"/>
    <p:sldId id="967" r:id="rId69"/>
    <p:sldId id="945" r:id="rId70"/>
    <p:sldId id="1248" r:id="rId71"/>
    <p:sldId id="1236" r:id="rId72"/>
    <p:sldId id="954" r:id="rId73"/>
    <p:sldId id="961" r:id="rId74"/>
    <p:sldId id="962" r:id="rId75"/>
    <p:sldId id="958" r:id="rId76"/>
    <p:sldId id="1120" r:id="rId77"/>
    <p:sldId id="1121" r:id="rId78"/>
    <p:sldId id="969" r:id="rId79"/>
    <p:sldId id="1119" r:id="rId80"/>
    <p:sldId id="1011" r:id="rId81"/>
    <p:sldId id="1090" r:id="rId82"/>
    <p:sldId id="1209" r:id="rId83"/>
    <p:sldId id="1207" r:id="rId84"/>
    <p:sldId id="1219" r:id="rId85"/>
    <p:sldId id="768" r:id="rId86"/>
    <p:sldId id="1048" r:id="rId87"/>
    <p:sldId id="905" r:id="rId88"/>
    <p:sldId id="1049" r:id="rId89"/>
    <p:sldId id="901" r:id="rId90"/>
    <p:sldId id="1042" r:id="rId91"/>
    <p:sldId id="1050" r:id="rId92"/>
    <p:sldId id="950" r:id="rId93"/>
    <p:sldId id="904" r:id="rId94"/>
    <p:sldId id="1046" r:id="rId95"/>
    <p:sldId id="1044" r:id="rId96"/>
    <p:sldId id="1047" r:id="rId97"/>
    <p:sldId id="1045" r:id="rId98"/>
    <p:sldId id="1303" r:id="rId99"/>
    <p:sldId id="1302" r:id="rId100"/>
    <p:sldId id="1205" r:id="rId101"/>
    <p:sldId id="908" r:id="rId102"/>
    <p:sldId id="1008" r:id="rId103"/>
    <p:sldId id="965" r:id="rId104"/>
    <p:sldId id="912" r:id="rId105"/>
    <p:sldId id="1091" r:id="rId106"/>
    <p:sldId id="1309" r:id="rId107"/>
    <p:sldId id="936" r:id="rId108"/>
    <p:sldId id="937" r:id="rId109"/>
    <p:sldId id="858" r:id="rId110"/>
    <p:sldId id="1038" r:id="rId111"/>
    <p:sldId id="906" r:id="rId112"/>
    <p:sldId id="966" r:id="rId113"/>
    <p:sldId id="1032" r:id="rId114"/>
    <p:sldId id="1040" r:id="rId115"/>
    <p:sldId id="1220" r:id="rId116"/>
    <p:sldId id="770" r:id="rId117"/>
    <p:sldId id="1051" r:id="rId118"/>
    <p:sldId id="772" r:id="rId119"/>
    <p:sldId id="915" r:id="rId120"/>
    <p:sldId id="773" r:id="rId121"/>
    <p:sldId id="774" r:id="rId122"/>
    <p:sldId id="1221" r:id="rId123"/>
    <p:sldId id="1084" r:id="rId124"/>
    <p:sldId id="1085" r:id="rId125"/>
    <p:sldId id="1237" r:id="rId126"/>
    <p:sldId id="1113" r:id="rId127"/>
    <p:sldId id="1088" r:id="rId128"/>
    <p:sldId id="1222" r:id="rId129"/>
    <p:sldId id="863" r:id="rId130"/>
    <p:sldId id="1310" r:id="rId131"/>
    <p:sldId id="1311" r:id="rId132"/>
    <p:sldId id="1025" r:id="rId133"/>
    <p:sldId id="779" r:id="rId134"/>
    <p:sldId id="1223" r:id="rId135"/>
    <p:sldId id="796" r:id="rId136"/>
    <p:sldId id="1033" r:id="rId137"/>
    <p:sldId id="797" r:id="rId138"/>
    <p:sldId id="798" r:id="rId139"/>
    <p:sldId id="1118" r:id="rId140"/>
    <p:sldId id="1114" r:id="rId141"/>
    <p:sldId id="800" r:id="rId142"/>
    <p:sldId id="918" r:id="rId143"/>
    <p:sldId id="973" r:id="rId144"/>
    <p:sldId id="974" r:id="rId145"/>
    <p:sldId id="975" r:id="rId146"/>
    <p:sldId id="922" r:id="rId147"/>
    <p:sldId id="923" r:id="rId148"/>
    <p:sldId id="934" r:id="rId149"/>
    <p:sldId id="801" r:id="rId150"/>
    <p:sldId id="1208" r:id="rId151"/>
    <p:sldId id="1224" r:id="rId152"/>
    <p:sldId id="1203" r:id="rId153"/>
    <p:sldId id="1233" r:id="rId154"/>
    <p:sldId id="1234" r:id="rId155"/>
    <p:sldId id="1225" r:id="rId156"/>
    <p:sldId id="1043" r:id="rId157"/>
    <p:sldId id="1307" r:id="rId158"/>
    <p:sldId id="807" r:id="rId159"/>
    <p:sldId id="805" r:id="rId160"/>
  </p:sldIdLst>
  <p:sldSz cx="9144000" cy="6858000" type="screen4x3"/>
  <p:notesSz cx="6805613" cy="9939338"/>
  <p:defaultTextStyle>
    <a:defPPr>
      <a:defRPr lang="en-US"/>
    </a:defPPr>
    <a:lvl1pPr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1pPr>
    <a:lvl2pPr marL="4572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2pPr>
    <a:lvl3pPr marL="9144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3pPr>
    <a:lvl4pPr marL="13716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4pPr>
    <a:lvl5pPr marL="1828800" algn="ctr" rtl="0" fontAlgn="base">
      <a:spcBef>
        <a:spcPct val="0"/>
      </a:spcBef>
      <a:spcAft>
        <a:spcPct val="0"/>
      </a:spcAft>
      <a:defRPr kumimoji="1" sz="2400"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2400"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2400"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2400"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2400" kern="1200">
        <a:solidFill>
          <a:schemeClr val="tx1"/>
        </a:solidFill>
        <a:latin typeface="Times New Roman" pitchFamily="18" charset="0"/>
        <a:ea typeface="ＭＳ Ｐゴシック" charset="-128"/>
        <a:cs typeface="+mn-cs"/>
      </a:defRPr>
    </a:lvl9pPr>
  </p:defaultTextStyle>
  <p:extLst>
    <p:ext uri="{521415D9-36F7-43E2-AB2F-B90AF26B5E84}">
      <p14:sectionLst xmlns:p14="http://schemas.microsoft.com/office/powerpoint/2010/main">
        <p14:section name="カバーページ、目次" id="{232969E0-AFCE-49F0-8956-F72B5FC89893}">
          <p14:sldIdLst>
            <p14:sldId id="725"/>
            <p14:sldId id="1089"/>
          </p14:sldIdLst>
        </p14:section>
        <p14:section name="委託骨子と責任区 支払い基準" id="{49961BC2-3931-4DE3-9756-8334DEA2460C}">
          <p14:sldIdLst>
            <p14:sldId id="1210"/>
            <p14:sldId id="686"/>
            <p14:sldId id="687"/>
            <p14:sldId id="830"/>
            <p14:sldId id="689"/>
            <p14:sldId id="832"/>
            <p14:sldId id="1079"/>
          </p14:sldIdLst>
        </p14:section>
        <p14:section name="6. Precondition" id="{3F8C147B-0E39-4615-8F75-2F03BEF243F0}">
          <p14:sldIdLst>
            <p14:sldId id="1211"/>
            <p14:sldId id="784"/>
            <p14:sldId id="876"/>
            <p14:sldId id="1052"/>
            <p14:sldId id="1026"/>
            <p14:sldId id="1053"/>
          </p14:sldIdLst>
        </p14:section>
        <p14:section name="7. 各種判断" id="{51DCA309-4671-4587-A85B-C60DDEDE1526}">
          <p14:sldIdLst>
            <p14:sldId id="1212"/>
            <p14:sldId id="852"/>
            <p14:sldId id="1054"/>
            <p14:sldId id="1029"/>
            <p14:sldId id="862"/>
            <p14:sldId id="1078"/>
            <p14:sldId id="785"/>
            <p14:sldId id="1030"/>
          </p14:sldIdLst>
        </p14:section>
        <p14:section name="8. Project Management" id="{61FD1E55-CD10-4798-8167-1926464AAE94}">
          <p14:sldIdLst>
            <p14:sldId id="1213"/>
            <p14:sldId id="786"/>
            <p14:sldId id="1031"/>
            <p14:sldId id="724"/>
            <p14:sldId id="944"/>
            <p14:sldId id="938"/>
          </p14:sldIdLst>
        </p14:section>
        <p14:section name="9. 開発概要、ENG適用技術、基本諸元/法規Target" id="{3C8596B8-0019-4CDC-A9AE-7C486C0A6FCB}">
          <p14:sldIdLst>
            <p14:sldId id="1214"/>
            <p14:sldId id="1093"/>
            <p14:sldId id="1098"/>
            <p14:sldId id="1099"/>
            <p14:sldId id="1072"/>
          </p14:sldIdLst>
        </p14:section>
        <p14:section name="10. Regulation" id="{8DF15AB9-08B9-466E-B774-A3C22C328DA1}">
          <p14:sldIdLst>
            <p14:sldId id="1226"/>
            <p14:sldId id="1305"/>
            <p14:sldId id="1081"/>
            <p14:sldId id="1082"/>
            <p14:sldId id="1304"/>
            <p14:sldId id="1245"/>
          </p14:sldIdLst>
        </p14:section>
        <p14:section name="ENG構成、供給部品取決め、品質目標" id="{8C263116-4B58-40BD-BB22-7EE7B5DF4697}">
          <p14:sldIdLst>
            <p14:sldId id="1215"/>
            <p14:sldId id="1073"/>
            <p14:sldId id="1074"/>
            <p14:sldId id="1102"/>
            <p14:sldId id="1306"/>
            <p14:sldId id="1108"/>
            <p14:sldId id="1105"/>
            <p14:sldId id="1106"/>
          </p14:sldIdLst>
        </p14:section>
        <p14:section name="13. Engine Specification" id="{28CFE006-B11E-4C30-B5A2-5F76956B5C24}">
          <p14:sldIdLst>
            <p14:sldId id="1216"/>
            <p14:sldId id="812"/>
            <p14:sldId id="1020"/>
            <p14:sldId id="1021"/>
            <p14:sldId id="1022"/>
            <p14:sldId id="1247"/>
            <p14:sldId id="1227"/>
            <p14:sldId id="1228"/>
          </p14:sldIdLst>
        </p14:section>
        <p14:section name="14.Vehicle function relating ECU" id="{B2893439-64CB-4091-8712-A228788E8EAC}">
          <p14:sldIdLst>
            <p14:sldId id="1217"/>
            <p14:sldId id="1013"/>
            <p14:sldId id="959"/>
            <p14:sldId id="960"/>
            <p14:sldId id="1308"/>
            <p14:sldId id="1006"/>
          </p14:sldIdLst>
        </p14:section>
        <p14:section name="15.EMS信頼性要求" id="{A7EB3760-98EF-45C4-AADA-E5B1C13F8DF2}">
          <p14:sldIdLst>
            <p14:sldId id="1218"/>
            <p14:sldId id="1057"/>
          </p14:sldIdLst>
        </p14:section>
        <p14:section name="16.EMS 要求資料一覧 (添付資料)" id="{C7907B8E-CA17-411B-BBDD-E05084DAA421}">
          <p14:sldIdLst>
            <p14:sldId id="967"/>
            <p14:sldId id="945"/>
            <p14:sldId id="1248"/>
            <p14:sldId id="1236"/>
            <p14:sldId id="954"/>
            <p14:sldId id="961"/>
            <p14:sldId id="962"/>
            <p14:sldId id="958"/>
            <p14:sldId id="1120"/>
            <p14:sldId id="1121"/>
            <p14:sldId id="969"/>
            <p14:sldId id="1119"/>
            <p14:sldId id="1011"/>
            <p14:sldId id="1090"/>
            <p14:sldId id="1209"/>
            <p14:sldId id="1207"/>
          </p14:sldIdLst>
        </p14:section>
        <p14:section name="17.成果物の検証について" id="{909EAD3D-23C3-4E71-9146-BC8DDDE927DA}">
          <p14:sldIdLst>
            <p14:sldId id="1219"/>
            <p14:sldId id="768"/>
            <p14:sldId id="1048"/>
            <p14:sldId id="905"/>
            <p14:sldId id="1049"/>
            <p14:sldId id="901"/>
            <p14:sldId id="1042"/>
            <p14:sldId id="1050"/>
            <p14:sldId id="950"/>
            <p14:sldId id="904"/>
            <p14:sldId id="1046"/>
            <p14:sldId id="1044"/>
            <p14:sldId id="1047"/>
            <p14:sldId id="1045"/>
            <p14:sldId id="1303"/>
            <p14:sldId id="1302"/>
            <p14:sldId id="1205"/>
            <p14:sldId id="908"/>
            <p14:sldId id="1008"/>
            <p14:sldId id="965"/>
            <p14:sldId id="912"/>
            <p14:sldId id="1091"/>
            <p14:sldId id="1309"/>
            <p14:sldId id="936"/>
            <p14:sldId id="937"/>
            <p14:sldId id="858"/>
            <p14:sldId id="1038"/>
            <p14:sldId id="906"/>
            <p14:sldId id="966"/>
            <p14:sldId id="1032"/>
            <p14:sldId id="1040"/>
          </p14:sldIdLst>
        </p14:section>
        <p14:section name="18.EMS Sheet" id="{6290819C-50F5-4B90-BC74-057D6D3E117F}">
          <p14:sldIdLst>
            <p14:sldId id="1220"/>
            <p14:sldId id="770"/>
            <p14:sldId id="1051"/>
            <p14:sldId id="772"/>
            <p14:sldId id="915"/>
            <p14:sldId id="773"/>
            <p14:sldId id="774"/>
          </p14:sldIdLst>
        </p14:section>
        <p14:section name="19.Expert MTG" id="{F2A63D8B-8BFE-4230-8507-32EE5FAEEEC9}">
          <p14:sldIdLst>
            <p14:sldId id="1221"/>
            <p14:sldId id="1084"/>
            <p14:sldId id="1085"/>
            <p14:sldId id="1237"/>
            <p14:sldId id="1113"/>
            <p14:sldId id="1088"/>
          </p14:sldIdLst>
        </p14:section>
        <p14:section name="20.Necessary support" id="{CF1DD0F6-8DE6-41A9-AF68-6D3F0959EAA4}">
          <p14:sldIdLst>
            <p14:sldId id="1222"/>
            <p14:sldId id="863"/>
            <p14:sldId id="1310"/>
            <p14:sldId id="1311"/>
            <p14:sldId id="1025"/>
            <p14:sldId id="779"/>
          </p14:sldIdLst>
        </p14:section>
        <p14:section name="21.その他ルール (費用・テスト車管理・輸出入)" id="{3004EDAF-2CA3-4699-BEE3-EFD0DC7E2236}">
          <p14:sldIdLst>
            <p14:sldId id="1223"/>
            <p14:sldId id="796"/>
            <p14:sldId id="1033"/>
            <p14:sldId id="797"/>
            <p14:sldId id="798"/>
            <p14:sldId id="1118"/>
            <p14:sldId id="1114"/>
            <p14:sldId id="800"/>
            <p14:sldId id="918"/>
            <p14:sldId id="973"/>
            <p14:sldId id="974"/>
            <p14:sldId id="975"/>
            <p14:sldId id="922"/>
            <p14:sldId id="923"/>
            <p14:sldId id="934"/>
            <p14:sldId id="801"/>
            <p14:sldId id="1208"/>
          </p14:sldIdLst>
        </p14:section>
        <p14:section name="22.日程" id="{8D091461-E999-489D-B2F8-86193D749489}">
          <p14:sldIdLst>
            <p14:sldId id="1224"/>
            <p14:sldId id="1203"/>
            <p14:sldId id="1233"/>
            <p14:sldId id="1234"/>
          </p14:sldIdLst>
        </p14:section>
        <p14:section name="23. 体制表、責任者" id="{B29D5C11-D6E3-4BA2-B9EF-10E7544F0D14}">
          <p14:sldIdLst>
            <p14:sldId id="1225"/>
            <p14:sldId id="1043"/>
            <p14:sldId id="1307"/>
            <p14:sldId id="807"/>
          </p14:sldIdLst>
        </p14:section>
        <p14:section name="End" id="{E2A800C2-C488-45B5-B865-4BE43CB9721C}">
          <p14:sldIdLst>
            <p14:sldId id="80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roki Ushizaki (牛崎 弘樹)" initials="HU(弘" lastIdx="1" clrIdx="0">
    <p:extLst>
      <p:ext uri="{19B8F6BF-5375-455C-9EA6-DF929625EA0E}">
        <p15:presenceInfo xmlns:p15="http://schemas.microsoft.com/office/powerpoint/2012/main" userId="S-1-5-21-4040241172-485849192-1190176573-9789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F2F2F2"/>
    <a:srgbClr val="FFFF99"/>
    <a:srgbClr val="0000FF"/>
    <a:srgbClr val="FF99FF"/>
    <a:srgbClr val="FF00FF"/>
    <a:srgbClr val="00FF00"/>
    <a:srgbClr val="FF0000"/>
    <a:srgbClr val="FFFFCC"/>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761A97-648E-4426-9204-D63A0389A894}" v="320" dt="2025-01-28T09:07:42.539"/>
    <p1510:client id="{B59E9155-87D0-4C83-ADB1-3D89487D2ADB}" v="60" dt="2025-01-28T04:58:22.68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22"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61" Type="http://schemas.openxmlformats.org/officeDocument/2006/relationships/notesMaster" Target="notesMasters/notesMaster1.xml"/><Relationship Id="rId16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commentAuthors" Target="commentAuthor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presProps" Target="presProps.xml"/><Relationship Id="rId169" Type="http://schemas.openxmlformats.org/officeDocument/2006/relationships/customXml" Target="../customXml/item4.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viewProps" Target="view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s>
</file>

<file path=ppt/charts/_rels/chart1.xml.rels><?xml version="1.0" encoding="UTF-8" standalone="yes"?>
<Relationships xmlns="http://schemas.openxmlformats.org/package/2006/relationships"><Relationship Id="rId3" Type="http://schemas.openxmlformats.org/officeDocument/2006/relationships/oleObject" Target="file:///D:\UserArea\j0621787.JPU\Documents\3RA\&#12456;&#12531;&#12522;&#12483;&#12481;&#12513;&#12531;&#12488;&#24259;&#27490;&#20808;&#34892;&#26908;&#35342;\210709_24M%20Amaze_&#12456;&#12531;&#12522;&#12483;&#12481;&#12513;&#12531;&#12488;&#24259;&#27490;NP1&#12488;&#12523;&#12463;&#25512;&#23450;_&#25552;&#20986;&#29256;&#8895;7.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UserArea\j0621787.JPU\Documents\3RA\&#12456;&#12531;&#12522;&#12483;&#12481;&#12513;&#12531;&#12488;&#24259;&#27490;&#20808;&#34892;&#26908;&#35342;\210709_24M%20Amaze_&#12456;&#12531;&#12522;&#12483;&#12481;&#12513;&#12531;&#12488;&#24259;&#27490;NP1&#12488;&#12523;&#12463;&#25512;&#23450;_&#25552;&#20986;&#29256;&#8895;7.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121534872389733"/>
          <c:y val="6.0109289617486336E-2"/>
          <c:w val="0.76847754967111193"/>
          <c:h val="0.7062782366978082"/>
        </c:manualLayout>
      </c:layout>
      <c:scatterChart>
        <c:scatterStyle val="smoothMarker"/>
        <c:varyColors val="0"/>
        <c:ser>
          <c:idx val="2"/>
          <c:order val="0"/>
          <c:tx>
            <c:strRef>
              <c:f>推定!$B$70</c:f>
              <c:strCache>
                <c:ptCount val="1"/>
                <c:pt idx="0">
                  <c:v>3AE キックオフ(WOT BOSCHエンリッチメント との合いの子)</c:v>
                </c:pt>
              </c:strCache>
            </c:strRef>
          </c:tx>
          <c:spPr>
            <a:ln w="19050" cap="rnd">
              <a:solidFill>
                <a:srgbClr val="FF0000"/>
              </a:solidFill>
              <a:round/>
            </a:ln>
            <a:effectLst/>
          </c:spPr>
          <c:marker>
            <c:symbol val="circle"/>
            <c:size val="5"/>
            <c:spPr>
              <a:solidFill>
                <a:srgbClr val="FF0000"/>
              </a:solidFill>
              <a:ln w="9525">
                <a:solidFill>
                  <a:srgbClr val="FF0000"/>
                </a:solidFill>
              </a:ln>
              <a:effectLst/>
            </c:spPr>
          </c:marker>
          <c:xVal>
            <c:numRef>
              <c:f>推定!$B$72:$B$84</c:f>
              <c:numCache>
                <c:formatCode>General</c:formatCode>
                <c:ptCount val="13"/>
                <c:pt idx="0">
                  <c:v>1000</c:v>
                </c:pt>
                <c:pt idx="1">
                  <c:v>1500</c:v>
                </c:pt>
                <c:pt idx="2">
                  <c:v>2000</c:v>
                </c:pt>
                <c:pt idx="3">
                  <c:v>2500</c:v>
                </c:pt>
                <c:pt idx="4">
                  <c:v>3000</c:v>
                </c:pt>
                <c:pt idx="5">
                  <c:v>3500</c:v>
                </c:pt>
                <c:pt idx="6">
                  <c:v>4000</c:v>
                </c:pt>
                <c:pt idx="7">
                  <c:v>4500</c:v>
                </c:pt>
                <c:pt idx="8">
                  <c:v>4800</c:v>
                </c:pt>
                <c:pt idx="9">
                  <c:v>5000</c:v>
                </c:pt>
                <c:pt idx="10">
                  <c:v>5500</c:v>
                </c:pt>
                <c:pt idx="11">
                  <c:v>6000</c:v>
                </c:pt>
                <c:pt idx="12">
                  <c:v>6500</c:v>
                </c:pt>
              </c:numCache>
            </c:numRef>
          </c:xVal>
          <c:yVal>
            <c:numRef>
              <c:f>推定!$E$72:$E$84</c:f>
              <c:numCache>
                <c:formatCode>0.00</c:formatCode>
                <c:ptCount val="13"/>
                <c:pt idx="0">
                  <c:v>1</c:v>
                </c:pt>
                <c:pt idx="1">
                  <c:v>1</c:v>
                </c:pt>
                <c:pt idx="2">
                  <c:v>1</c:v>
                </c:pt>
                <c:pt idx="3">
                  <c:v>1</c:v>
                </c:pt>
                <c:pt idx="4">
                  <c:v>1</c:v>
                </c:pt>
                <c:pt idx="5">
                  <c:v>1</c:v>
                </c:pt>
                <c:pt idx="6">
                  <c:v>1</c:v>
                </c:pt>
                <c:pt idx="7">
                  <c:v>0.99</c:v>
                </c:pt>
                <c:pt idx="8">
                  <c:v>0.97</c:v>
                </c:pt>
                <c:pt idx="9">
                  <c:v>0.95</c:v>
                </c:pt>
                <c:pt idx="10">
                  <c:v>0.93</c:v>
                </c:pt>
                <c:pt idx="11">
                  <c:v>0.9</c:v>
                </c:pt>
                <c:pt idx="12">
                  <c:v>0.89</c:v>
                </c:pt>
              </c:numCache>
            </c:numRef>
          </c:yVal>
          <c:smooth val="0"/>
          <c:extLst>
            <c:ext xmlns:c16="http://schemas.microsoft.com/office/drawing/2014/chart" uri="{C3380CC4-5D6E-409C-BE32-E72D297353CC}">
              <c16:uniqueId val="{00000000-EFFB-4DC2-A24A-D9FBEA2D91B7}"/>
            </c:ext>
          </c:extLst>
        </c:ser>
        <c:dLbls>
          <c:showLegendKey val="0"/>
          <c:showVal val="0"/>
          <c:showCatName val="0"/>
          <c:showSerName val="0"/>
          <c:showPercent val="0"/>
          <c:showBubbleSize val="0"/>
        </c:dLbls>
        <c:axId val="565848752"/>
        <c:axId val="565852032"/>
      </c:scatterChart>
      <c:valAx>
        <c:axId val="565848752"/>
        <c:scaling>
          <c:orientation val="minMax"/>
          <c:max val="7000"/>
          <c:min val="1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r>
                  <a:rPr lang="en-US" altLang="ja-JP"/>
                  <a:t>Engine</a:t>
                </a:r>
                <a:r>
                  <a:rPr lang="en-US" altLang="ja-JP" baseline="0"/>
                  <a:t> Speed</a:t>
                </a:r>
                <a:endParaRPr lang="ja-JP"/>
              </a:p>
            </c:rich>
          </c:tx>
          <c:overlay val="0"/>
          <c:spPr>
            <a:noFill/>
            <a:ln>
              <a:noFill/>
            </a:ln>
            <a:effectLst/>
          </c:spPr>
          <c:txPr>
            <a:bodyPr rot="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endParaRPr lang="ja-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endParaRPr lang="ja-JP"/>
          </a:p>
        </c:txPr>
        <c:crossAx val="565852032"/>
        <c:crosses val="autoZero"/>
        <c:crossBetween val="midCat"/>
        <c:majorUnit val="1000"/>
      </c:valAx>
      <c:valAx>
        <c:axId val="565852032"/>
        <c:scaling>
          <c:orientation val="minMax"/>
          <c:max val="1.05"/>
          <c:min val="0.8"/>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r>
                  <a:rPr lang="en-US"/>
                  <a:t>Lambda</a:t>
                </a:r>
                <a:endParaRPr lang="ja-JP"/>
              </a:p>
            </c:rich>
          </c:tx>
          <c:layout>
            <c:manualLayout>
              <c:xMode val="edge"/>
              <c:yMode val="edge"/>
              <c:x val="1.9444444444444445E-2"/>
              <c:y val="0.39118832020997374"/>
            </c:manualLayout>
          </c:layout>
          <c:overlay val="0"/>
          <c:spPr>
            <a:noFill/>
            <a:ln>
              <a:noFill/>
            </a:ln>
            <a:effectLst/>
          </c:spPr>
          <c:txPr>
            <a:bodyPr rot="-54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endParaRPr lang="ja-JP"/>
            </a:p>
          </c:txPr>
        </c:title>
        <c:numFmt formatCode="#,##0.00_);[Red]\(#,##0.0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endParaRPr lang="ja-JP"/>
          </a:p>
        </c:txPr>
        <c:crossAx val="565848752"/>
        <c:crosses val="autoZero"/>
        <c:crossBetween val="midCat"/>
        <c:majorUnit val="5.000000000000001E-2"/>
      </c:valAx>
      <c:spPr>
        <a:noFill/>
        <a:ln>
          <a:solidFill>
            <a:schemeClr val="bg1">
              <a:lumMod val="75000"/>
            </a:schemeClr>
          </a:solidFill>
        </a:ln>
        <a:effectLst/>
      </c:spPr>
    </c:plotArea>
    <c:plotVisOnly val="1"/>
    <c:dispBlanksAs val="gap"/>
    <c:showDLblsOverMax val="0"/>
  </c:chart>
  <c:spPr>
    <a:noFill/>
    <a:ln w="9525" cap="flat" cmpd="sng" algn="ctr">
      <a:noFill/>
      <a:round/>
    </a:ln>
    <a:effectLst/>
  </c:spPr>
  <c:txPr>
    <a:bodyPr/>
    <a:lstStyle/>
    <a:p>
      <a:pPr>
        <a:defRPr sz="1000" b="1">
          <a:latin typeface="ＭＳ Ｐゴシック" panose="020B0600070205080204" pitchFamily="50" charset="-128"/>
          <a:ea typeface="ＭＳ Ｐゴシック" panose="020B0600070205080204" pitchFamily="50" charset="-128"/>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68044619422574"/>
          <c:y val="6.0109289617486336E-2"/>
          <c:w val="0.71549980501185273"/>
          <c:h val="0.90475605386870761"/>
        </c:manualLayout>
      </c:layout>
      <c:scatterChart>
        <c:scatterStyle val="smoothMarker"/>
        <c:varyColors val="0"/>
        <c:ser>
          <c:idx val="0"/>
          <c:order val="1"/>
          <c:tx>
            <c:strRef>
              <c:f>推定!$B$70</c:f>
              <c:strCache>
                <c:ptCount val="1"/>
                <c:pt idx="0">
                  <c:v>3AE キックオフ(WOT BOSCHエンリッチメント との合いの子)</c:v>
                </c:pt>
              </c:strCache>
            </c:strRef>
          </c:tx>
          <c:spPr>
            <a:ln w="19050" cap="rnd">
              <a:solidFill>
                <a:srgbClr val="FF0000"/>
              </a:solidFill>
              <a:round/>
            </a:ln>
            <a:effectLst/>
          </c:spPr>
          <c:marker>
            <c:symbol val="none"/>
          </c:marker>
          <c:xVal>
            <c:numRef>
              <c:f>推定!$B$72:$B$84</c:f>
              <c:numCache>
                <c:formatCode>General</c:formatCode>
                <c:ptCount val="13"/>
                <c:pt idx="0">
                  <c:v>1000</c:v>
                </c:pt>
                <c:pt idx="1">
                  <c:v>1500</c:v>
                </c:pt>
                <c:pt idx="2">
                  <c:v>2000</c:v>
                </c:pt>
                <c:pt idx="3">
                  <c:v>2500</c:v>
                </c:pt>
                <c:pt idx="4">
                  <c:v>3000</c:v>
                </c:pt>
                <c:pt idx="5">
                  <c:v>3500</c:v>
                </c:pt>
                <c:pt idx="6">
                  <c:v>4000</c:v>
                </c:pt>
                <c:pt idx="7">
                  <c:v>4500</c:v>
                </c:pt>
                <c:pt idx="8">
                  <c:v>4800</c:v>
                </c:pt>
                <c:pt idx="9">
                  <c:v>5000</c:v>
                </c:pt>
                <c:pt idx="10">
                  <c:v>5500</c:v>
                </c:pt>
                <c:pt idx="11">
                  <c:v>6000</c:v>
                </c:pt>
                <c:pt idx="12">
                  <c:v>6500</c:v>
                </c:pt>
              </c:numCache>
            </c:numRef>
          </c:xVal>
          <c:yVal>
            <c:numRef>
              <c:f>推定!$C$72:$C$84</c:f>
              <c:numCache>
                <c:formatCode>0.0_ </c:formatCode>
                <c:ptCount val="13"/>
                <c:pt idx="0">
                  <c:v>8.3202922895067282</c:v>
                </c:pt>
                <c:pt idx="1">
                  <c:v>13.430980254987411</c:v>
                </c:pt>
                <c:pt idx="2">
                  <c:v>19.191883591468635</c:v>
                </c:pt>
                <c:pt idx="3">
                  <c:v>25.514833615808634</c:v>
                </c:pt>
                <c:pt idx="4">
                  <c:v>31.144282516289369</c:v>
                </c:pt>
                <c:pt idx="5">
                  <c:v>36.10804172626348</c:v>
                </c:pt>
                <c:pt idx="6">
                  <c:v>42.725660088821193</c:v>
                </c:pt>
                <c:pt idx="7">
                  <c:v>50.045570971685407</c:v>
                </c:pt>
                <c:pt idx="8">
                  <c:v>54.387252018946498</c:v>
                </c:pt>
                <c:pt idx="9">
                  <c:v>56.653387519735936</c:v>
                </c:pt>
                <c:pt idx="10">
                  <c:v>61.800363483867216</c:v>
                </c:pt>
                <c:pt idx="11">
                  <c:v>66.476100549960023</c:v>
                </c:pt>
                <c:pt idx="12">
                  <c:v>66.434212647912148</c:v>
                </c:pt>
              </c:numCache>
            </c:numRef>
          </c:yVal>
          <c:smooth val="1"/>
          <c:extLst>
            <c:ext xmlns:c16="http://schemas.microsoft.com/office/drawing/2014/chart" uri="{C3380CC4-5D6E-409C-BE32-E72D297353CC}">
              <c16:uniqueId val="{00000000-4EA9-4CAD-AA67-36899334159D}"/>
            </c:ext>
          </c:extLst>
        </c:ser>
        <c:dLbls>
          <c:showLegendKey val="0"/>
          <c:showVal val="0"/>
          <c:showCatName val="0"/>
          <c:showSerName val="0"/>
          <c:showPercent val="0"/>
          <c:showBubbleSize val="0"/>
        </c:dLbls>
        <c:axId val="565848752"/>
        <c:axId val="565852032"/>
      </c:scatterChart>
      <c:scatterChart>
        <c:scatterStyle val="smoothMarker"/>
        <c:varyColors val="0"/>
        <c:ser>
          <c:idx val="2"/>
          <c:order val="0"/>
          <c:tx>
            <c:strRef>
              <c:f>推定!$B$70</c:f>
              <c:strCache>
                <c:ptCount val="1"/>
                <c:pt idx="0">
                  <c:v>3AE キックオフ(WOT BOSCHエンリッチメント との合いの子)</c:v>
                </c:pt>
              </c:strCache>
            </c:strRef>
          </c:tx>
          <c:spPr>
            <a:ln w="19050" cap="rnd">
              <a:solidFill>
                <a:srgbClr val="FF0000"/>
              </a:solidFill>
              <a:round/>
            </a:ln>
            <a:effectLst/>
          </c:spPr>
          <c:marker>
            <c:symbol val="none"/>
          </c:marker>
          <c:xVal>
            <c:numRef>
              <c:f>推定!$B$72:$B$84</c:f>
              <c:numCache>
                <c:formatCode>General</c:formatCode>
                <c:ptCount val="13"/>
                <c:pt idx="0">
                  <c:v>1000</c:v>
                </c:pt>
                <c:pt idx="1">
                  <c:v>1500</c:v>
                </c:pt>
                <c:pt idx="2">
                  <c:v>2000</c:v>
                </c:pt>
                <c:pt idx="3">
                  <c:v>2500</c:v>
                </c:pt>
                <c:pt idx="4">
                  <c:v>3000</c:v>
                </c:pt>
                <c:pt idx="5">
                  <c:v>3500</c:v>
                </c:pt>
                <c:pt idx="6">
                  <c:v>4000</c:v>
                </c:pt>
                <c:pt idx="7">
                  <c:v>4500</c:v>
                </c:pt>
                <c:pt idx="8">
                  <c:v>4800</c:v>
                </c:pt>
                <c:pt idx="9">
                  <c:v>5000</c:v>
                </c:pt>
                <c:pt idx="10">
                  <c:v>5500</c:v>
                </c:pt>
                <c:pt idx="11">
                  <c:v>6000</c:v>
                </c:pt>
                <c:pt idx="12">
                  <c:v>6500</c:v>
                </c:pt>
              </c:numCache>
            </c:numRef>
          </c:xVal>
          <c:yVal>
            <c:numRef>
              <c:f>推定!$D$72:$D$84</c:f>
              <c:numCache>
                <c:formatCode>0.0</c:formatCode>
                <c:ptCount val="13"/>
                <c:pt idx="0">
                  <c:v>79.452938750662724</c:v>
                </c:pt>
                <c:pt idx="1">
                  <c:v>85.50427592603566</c:v>
                </c:pt>
                <c:pt idx="2">
                  <c:v>91.634494224794111</c:v>
                </c:pt>
                <c:pt idx="3">
                  <c:v>97.459485410956844</c:v>
                </c:pt>
                <c:pt idx="4">
                  <c:v>99.135330230358917</c:v>
                </c:pt>
                <c:pt idx="5">
                  <c:v>98.516114161769949</c:v>
                </c:pt>
                <c:pt idx="6">
                  <c:v>102</c:v>
                </c:pt>
                <c:pt idx="7">
                  <c:v>106.2</c:v>
                </c:pt>
                <c:pt idx="8">
                  <c:v>108.2</c:v>
                </c:pt>
                <c:pt idx="9">
                  <c:v>108.2</c:v>
                </c:pt>
                <c:pt idx="10">
                  <c:v>107.3</c:v>
                </c:pt>
                <c:pt idx="11">
                  <c:v>105.8</c:v>
                </c:pt>
                <c:pt idx="12">
                  <c:v>97.6</c:v>
                </c:pt>
              </c:numCache>
            </c:numRef>
          </c:yVal>
          <c:smooth val="1"/>
          <c:extLst>
            <c:ext xmlns:c16="http://schemas.microsoft.com/office/drawing/2014/chart" uri="{C3380CC4-5D6E-409C-BE32-E72D297353CC}">
              <c16:uniqueId val="{00000001-4EA9-4CAD-AA67-36899334159D}"/>
            </c:ext>
          </c:extLst>
        </c:ser>
        <c:dLbls>
          <c:showLegendKey val="0"/>
          <c:showVal val="0"/>
          <c:showCatName val="0"/>
          <c:showSerName val="0"/>
          <c:showPercent val="0"/>
          <c:showBubbleSize val="0"/>
        </c:dLbls>
        <c:axId val="451064528"/>
        <c:axId val="451054688"/>
      </c:scatterChart>
      <c:valAx>
        <c:axId val="565848752"/>
        <c:scaling>
          <c:orientation val="minMax"/>
          <c:max val="7000"/>
          <c:min val="1000"/>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565852032"/>
        <c:crosses val="autoZero"/>
        <c:crossBetween val="midCat"/>
        <c:majorUnit val="1000"/>
      </c:valAx>
      <c:valAx>
        <c:axId val="565852032"/>
        <c:scaling>
          <c:orientation val="minMax"/>
          <c:max val="7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r>
                  <a:rPr lang="en-US" altLang="ja-JP"/>
                  <a:t>Power</a:t>
                </a:r>
                <a:r>
                  <a:rPr lang="ja-JP" altLang="en-US"/>
                  <a:t> </a:t>
                </a:r>
                <a:r>
                  <a:rPr lang="en-US" altLang="ja-JP"/>
                  <a:t>[kw]</a:t>
                </a:r>
                <a:endParaRPr lang="ja-JP"/>
              </a:p>
            </c:rich>
          </c:tx>
          <c:layout>
            <c:manualLayout>
              <c:xMode val="edge"/>
              <c:yMode val="edge"/>
              <c:x val="2.7363409707342509E-2"/>
              <c:y val="0.4201989169064691"/>
            </c:manualLayout>
          </c:layout>
          <c:overlay val="0"/>
          <c:spPr>
            <a:noFill/>
            <a:ln>
              <a:noFill/>
            </a:ln>
            <a:effectLst/>
          </c:spPr>
          <c:txPr>
            <a:bodyPr rot="-54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endParaRPr lang="ja-JP"/>
            </a:p>
          </c:txPr>
        </c:title>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endParaRPr lang="ja-JP"/>
          </a:p>
        </c:txPr>
        <c:crossAx val="565848752"/>
        <c:crosses val="autoZero"/>
        <c:crossBetween val="midCat"/>
        <c:majorUnit val="10"/>
      </c:valAx>
      <c:valAx>
        <c:axId val="451054688"/>
        <c:scaling>
          <c:orientation val="minMax"/>
          <c:max val="130"/>
          <c:min val="60"/>
        </c:scaling>
        <c:delete val="0"/>
        <c:axPos val="r"/>
        <c:title>
          <c:tx>
            <c:rich>
              <a:bodyPr rot="-54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r>
                  <a:rPr lang="en-US" altLang="ja-JP"/>
                  <a:t>Torque</a:t>
                </a:r>
                <a:r>
                  <a:rPr lang="ja-JP" altLang="en-US"/>
                  <a:t> </a:t>
                </a:r>
                <a:r>
                  <a:rPr lang="en-US" altLang="ja-JP"/>
                  <a:t>[Nm]</a:t>
                </a:r>
                <a:endParaRPr lang="ja-JP"/>
              </a:p>
            </c:rich>
          </c:tx>
          <c:layout>
            <c:manualLayout>
              <c:xMode val="edge"/>
              <c:yMode val="edge"/>
              <c:x val="0.93743728611552934"/>
              <c:y val="0.41001467357413796"/>
            </c:manualLayout>
          </c:layout>
          <c:overlay val="0"/>
          <c:spPr>
            <a:noFill/>
            <a:ln>
              <a:noFill/>
            </a:ln>
            <a:effectLst/>
          </c:spPr>
          <c:txPr>
            <a:bodyPr rot="-54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endParaRPr lang="ja-JP"/>
            </a:p>
          </c:txPr>
        </c:title>
        <c:numFmt formatCode="General"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ja-JP" sz="1000" b="1" i="0" u="none" strike="noStrike" kern="1200" baseline="0">
                <a:solidFill>
                  <a:schemeClr val="tx1">
                    <a:lumMod val="65000"/>
                    <a:lumOff val="35000"/>
                  </a:schemeClr>
                </a:solidFill>
                <a:latin typeface="ＭＳ Ｐゴシック" panose="020B0600070205080204" pitchFamily="50" charset="-128"/>
                <a:ea typeface="ＭＳ Ｐゴシック" panose="020B0600070205080204" pitchFamily="50" charset="-128"/>
                <a:cs typeface="+mn-cs"/>
              </a:defRPr>
            </a:pPr>
            <a:endParaRPr lang="ja-JP"/>
          </a:p>
        </c:txPr>
        <c:crossAx val="451064528"/>
        <c:crosses val="max"/>
        <c:crossBetween val="midCat"/>
      </c:valAx>
      <c:valAx>
        <c:axId val="451064528"/>
        <c:scaling>
          <c:orientation val="minMax"/>
        </c:scaling>
        <c:delete val="1"/>
        <c:axPos val="b"/>
        <c:numFmt formatCode="General" sourceLinked="1"/>
        <c:majorTickMark val="out"/>
        <c:minorTickMark val="none"/>
        <c:tickLblPos val="nextTo"/>
        <c:crossAx val="451054688"/>
        <c:crosses val="autoZero"/>
        <c:crossBetween val="midCat"/>
      </c:valAx>
      <c:spPr>
        <a:noFill/>
        <a:ln>
          <a:noFill/>
        </a:ln>
        <a:effectLst/>
      </c:spPr>
    </c:plotArea>
    <c:plotVisOnly val="1"/>
    <c:dispBlanksAs val="gap"/>
    <c:showDLblsOverMax val="0"/>
  </c:chart>
  <c:spPr>
    <a:noFill/>
    <a:ln w="9525" cap="flat" cmpd="sng" algn="ctr">
      <a:noFill/>
      <a:round/>
    </a:ln>
    <a:effectLst/>
  </c:spPr>
  <c:txPr>
    <a:bodyPr/>
    <a:lstStyle/>
    <a:p>
      <a:pPr>
        <a:defRPr sz="1000" b="1">
          <a:latin typeface="ＭＳ Ｐゴシック" panose="020B0600070205080204" pitchFamily="50" charset="-128"/>
          <a:ea typeface="ＭＳ Ｐゴシック" panose="020B0600070205080204" pitchFamily="50" charset="-128"/>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1906" name="Rectangle 2"/>
          <p:cNvSpPr>
            <a:spLocks noGrp="1" noChangeArrowheads="1"/>
          </p:cNvSpPr>
          <p:nvPr>
            <p:ph type="hdr" sz="quarter"/>
          </p:nvPr>
        </p:nvSpPr>
        <p:spPr bwMode="auto">
          <a:xfrm>
            <a:off x="3"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ea typeface="ＭＳ Ｐゴシック" pitchFamily="50" charset="-128"/>
              </a:defRPr>
            </a:lvl1pPr>
          </a:lstStyle>
          <a:p>
            <a:pPr>
              <a:defRPr/>
            </a:pPr>
            <a:endParaRPr lang="en-US" altLang="ja-JP">
              <a:latin typeface="Meiryo UI" panose="020B0604030504040204" pitchFamily="50" charset="-128"/>
              <a:ea typeface="Meiryo UI" panose="020B0604030504040204" pitchFamily="50" charset="-128"/>
            </a:endParaRPr>
          </a:p>
        </p:txBody>
      </p:sp>
      <p:sp>
        <p:nvSpPr>
          <p:cNvPr id="251907" name="Rectangle 3"/>
          <p:cNvSpPr>
            <a:spLocks noGrp="1" noChangeArrowheads="1"/>
          </p:cNvSpPr>
          <p:nvPr>
            <p:ph type="dt" sz="quarter" idx="1"/>
          </p:nvPr>
        </p:nvSpPr>
        <p:spPr bwMode="auto">
          <a:xfrm>
            <a:off x="3854453"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ea typeface="ＭＳ Ｐゴシック" pitchFamily="50" charset="-128"/>
              </a:defRPr>
            </a:lvl1pPr>
          </a:lstStyle>
          <a:p>
            <a:pPr>
              <a:defRPr/>
            </a:pPr>
            <a:endParaRPr lang="en-US" altLang="ja-JP">
              <a:latin typeface="Meiryo UI" panose="020B0604030504040204" pitchFamily="50" charset="-128"/>
              <a:ea typeface="Meiryo UI" panose="020B0604030504040204" pitchFamily="50" charset="-128"/>
            </a:endParaRPr>
          </a:p>
        </p:txBody>
      </p:sp>
      <p:sp>
        <p:nvSpPr>
          <p:cNvPr id="251908" name="Rectangle 4"/>
          <p:cNvSpPr>
            <a:spLocks noGrp="1" noChangeArrowheads="1"/>
          </p:cNvSpPr>
          <p:nvPr>
            <p:ph type="ftr" sz="quarter" idx="2"/>
          </p:nvPr>
        </p:nvSpPr>
        <p:spPr bwMode="auto">
          <a:xfrm>
            <a:off x="3" y="9440869"/>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ea typeface="ＭＳ Ｐゴシック" pitchFamily="50" charset="-128"/>
              </a:defRPr>
            </a:lvl1pPr>
          </a:lstStyle>
          <a:p>
            <a:pPr>
              <a:defRPr/>
            </a:pPr>
            <a:endParaRPr lang="en-US" altLang="ja-JP">
              <a:latin typeface="Meiryo UI" panose="020B0604030504040204" pitchFamily="50" charset="-128"/>
              <a:ea typeface="Meiryo UI" panose="020B0604030504040204" pitchFamily="50" charset="-128"/>
            </a:endParaRPr>
          </a:p>
        </p:txBody>
      </p:sp>
      <p:sp>
        <p:nvSpPr>
          <p:cNvPr id="251909" name="Rectangle 5"/>
          <p:cNvSpPr>
            <a:spLocks noGrp="1" noChangeArrowheads="1"/>
          </p:cNvSpPr>
          <p:nvPr>
            <p:ph type="sldNum" sz="quarter" idx="3"/>
          </p:nvPr>
        </p:nvSpPr>
        <p:spPr bwMode="auto">
          <a:xfrm>
            <a:off x="3854453" y="9440869"/>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a typeface="ＭＳ Ｐゴシック" pitchFamily="50" charset="-128"/>
              </a:defRPr>
            </a:lvl1pPr>
          </a:lstStyle>
          <a:p>
            <a:pPr>
              <a:defRPr/>
            </a:pPr>
            <a:fld id="{1DB921B8-FD19-437D-ACC8-EB605D5A43C2}" type="slidenum">
              <a:rPr lang="ja-JP" altLang="en-US">
                <a:latin typeface="Meiryo UI" panose="020B0604030504040204" pitchFamily="50" charset="-128"/>
                <a:ea typeface="Meiryo UI" panose="020B0604030504040204" pitchFamily="50" charset="-128"/>
              </a:rPr>
              <a:pPr>
                <a:defRPr/>
              </a:pPr>
              <a:t>‹#›</a:t>
            </a:fld>
            <a:endParaRPr lang="en-US" altLang="ja-JP">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85645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3"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Meiryo UI" panose="020B0604030504040204" pitchFamily="50" charset="-128"/>
                <a:ea typeface="Meiryo UI" panose="020B0604030504040204" pitchFamily="50" charset="-128"/>
              </a:defRPr>
            </a:lvl1pPr>
          </a:lstStyle>
          <a:p>
            <a:pPr>
              <a:defRPr/>
            </a:pPr>
            <a:endParaRPr lang="en-US" altLang="ja-JP"/>
          </a:p>
        </p:txBody>
      </p:sp>
      <p:sp>
        <p:nvSpPr>
          <p:cNvPr id="75779" name="Rectangle 3"/>
          <p:cNvSpPr>
            <a:spLocks noGrp="1" noChangeArrowheads="1"/>
          </p:cNvSpPr>
          <p:nvPr>
            <p:ph type="dt" idx="1"/>
          </p:nvPr>
        </p:nvSpPr>
        <p:spPr bwMode="auto">
          <a:xfrm>
            <a:off x="3854453"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Meiryo UI" panose="020B0604030504040204" pitchFamily="50" charset="-128"/>
                <a:ea typeface="Meiryo UI" panose="020B0604030504040204" pitchFamily="50" charset="-128"/>
              </a:defRPr>
            </a:lvl1pPr>
          </a:lstStyle>
          <a:p>
            <a:pPr>
              <a:defRPr/>
            </a:pPr>
            <a:endParaRPr lang="en-US" altLang="ja-JP"/>
          </a:p>
        </p:txBody>
      </p:sp>
      <p:sp>
        <p:nvSpPr>
          <p:cNvPr id="51204" name="Rectangle 4"/>
          <p:cNvSpPr>
            <a:spLocks noGrp="1" noRot="1" noChangeAspect="1" noChangeArrowheads="1" noTextEdit="1"/>
          </p:cNvSpPr>
          <p:nvPr>
            <p:ph type="sldImg" idx="2"/>
          </p:nvPr>
        </p:nvSpPr>
        <p:spPr bwMode="auto">
          <a:xfrm>
            <a:off x="920750" y="746125"/>
            <a:ext cx="4965700" cy="37258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p:cNvSpPr>
            <a:spLocks noGrp="1" noChangeArrowheads="1"/>
          </p:cNvSpPr>
          <p:nvPr>
            <p:ph type="body" sz="quarter" idx="3"/>
          </p:nvPr>
        </p:nvSpPr>
        <p:spPr bwMode="auto">
          <a:xfrm>
            <a:off x="681041" y="4721225"/>
            <a:ext cx="5443537" cy="447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75782" name="Rectangle 6"/>
          <p:cNvSpPr>
            <a:spLocks noGrp="1" noChangeArrowheads="1"/>
          </p:cNvSpPr>
          <p:nvPr>
            <p:ph type="ftr" sz="quarter" idx="4"/>
          </p:nvPr>
        </p:nvSpPr>
        <p:spPr bwMode="auto">
          <a:xfrm>
            <a:off x="3" y="9440869"/>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Meiryo UI" panose="020B0604030504040204" pitchFamily="50" charset="-128"/>
                <a:ea typeface="Meiryo UI" panose="020B0604030504040204" pitchFamily="50" charset="-128"/>
              </a:defRPr>
            </a:lvl1pPr>
          </a:lstStyle>
          <a:p>
            <a:pPr>
              <a:defRPr/>
            </a:pPr>
            <a:endParaRPr lang="en-US" altLang="ja-JP"/>
          </a:p>
        </p:txBody>
      </p:sp>
      <p:sp>
        <p:nvSpPr>
          <p:cNvPr id="75783" name="Rectangle 7"/>
          <p:cNvSpPr>
            <a:spLocks noGrp="1" noChangeArrowheads="1"/>
          </p:cNvSpPr>
          <p:nvPr>
            <p:ph type="sldNum" sz="quarter" idx="5"/>
          </p:nvPr>
        </p:nvSpPr>
        <p:spPr bwMode="auto">
          <a:xfrm>
            <a:off x="3854453" y="9440869"/>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Meiryo UI" panose="020B0604030504040204" pitchFamily="50" charset="-128"/>
                <a:ea typeface="Meiryo UI" panose="020B0604030504040204" pitchFamily="50" charset="-128"/>
              </a:defRPr>
            </a:lvl1pPr>
          </a:lstStyle>
          <a:p>
            <a:pPr>
              <a:defRPr/>
            </a:pPr>
            <a:fld id="{5B311999-6BF1-448E-BBE9-754C4E914C38}" type="slidenum">
              <a:rPr lang="ja-JP" altLang="en-US" smtClean="0"/>
              <a:pPr>
                <a:defRPr/>
              </a:pPr>
              <a:t>‹#›</a:t>
            </a:fld>
            <a:endParaRPr lang="en-US" altLang="ja-JP"/>
          </a:p>
        </p:txBody>
      </p:sp>
    </p:spTree>
    <p:extLst>
      <p:ext uri="{BB962C8B-B14F-4D97-AF65-F5344CB8AC3E}">
        <p14:creationId xmlns:p14="http://schemas.microsoft.com/office/powerpoint/2010/main" val="15504065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Meiryo UI" panose="020B0604030504040204" pitchFamily="50" charset="-128"/>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ja-JP" altLang="en-US" b="1">
                <a:solidFill>
                  <a:srgbClr val="FF0000"/>
                </a:solidFill>
              </a:rPr>
              <a:t>双方の役割について、合意目的、生産</a:t>
            </a:r>
            <a:r>
              <a:rPr kumimoji="1" lang="en-US" altLang="ja-JP" b="1">
                <a:solidFill>
                  <a:srgbClr val="FF0000"/>
                </a:solidFill>
              </a:rPr>
              <a:t>Location,</a:t>
            </a:r>
            <a:r>
              <a:rPr kumimoji="1" lang="en-US" altLang="ja-JP" b="1" baseline="0">
                <a:solidFill>
                  <a:srgbClr val="FF0000"/>
                </a:solidFill>
              </a:rPr>
              <a:t> </a:t>
            </a:r>
            <a:r>
              <a:rPr kumimoji="1" lang="ja-JP" altLang="en-US" b="1" baseline="0">
                <a:solidFill>
                  <a:srgbClr val="FF0000"/>
                </a:solidFill>
              </a:rPr>
              <a:t>供給先明細定義</a:t>
            </a:r>
            <a:endParaRPr kumimoji="1" lang="ja-JP" altLang="en-US" b="1">
              <a:solidFill>
                <a:srgbClr val="FF0000"/>
              </a:solidFill>
            </a:endParaRP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7</a:t>
            </a:fld>
            <a:endParaRPr lang="en-US" altLang="ja-JP"/>
          </a:p>
        </p:txBody>
      </p:sp>
    </p:spTree>
    <p:extLst>
      <p:ext uri="{BB962C8B-B14F-4D97-AF65-F5344CB8AC3E}">
        <p14:creationId xmlns:p14="http://schemas.microsoft.com/office/powerpoint/2010/main" val="2821713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fld id="{5DC565AE-3F3D-4444-A367-3F6ECB30C50E}" type="slidenum">
              <a:rPr lang="ja-JP" altLang="en-US" sz="1200" smtClean="0">
                <a:solidFill>
                  <a:prstClr val="black"/>
                </a:solidFill>
                <a:latin typeface="Meiryo UI" panose="020B0604030504040204" pitchFamily="50" charset="-128"/>
                <a:ea typeface="Meiryo UI" panose="020B0604030504040204" pitchFamily="50" charset="-128"/>
              </a:rPr>
              <a:pPr eaLnBrk="1" hangingPunct="1"/>
              <a:t>8</a:t>
            </a:fld>
            <a:endParaRPr lang="en-US" altLang="ja-JP" sz="1200">
              <a:solidFill>
                <a:prstClr val="black"/>
              </a:solidFill>
              <a:latin typeface="Meiryo UI" panose="020B0604030504040204" pitchFamily="50" charset="-128"/>
              <a:ea typeface="Meiryo UI" panose="020B0604030504040204" pitchFamily="50" charset="-128"/>
            </a:endParaRPr>
          </a:p>
        </p:txBody>
      </p:sp>
      <p:sp>
        <p:nvSpPr>
          <p:cNvPr id="53251" name="Rectangle 2"/>
          <p:cNvSpPr>
            <a:spLocks noGrp="1" noRot="1" noChangeAspect="1" noChangeArrowheads="1" noTextEdit="1"/>
          </p:cNvSpPr>
          <p:nvPr>
            <p:ph type="sldImg"/>
          </p:nvPr>
        </p:nvSpPr>
        <p:spPr>
          <a:xfrm>
            <a:off x="952500" y="781050"/>
            <a:ext cx="4891088" cy="3668713"/>
          </a:xfrm>
          <a:ln/>
        </p:spPr>
      </p:sp>
      <p:sp>
        <p:nvSpPr>
          <p:cNvPr id="53252" name="Rectangle 3"/>
          <p:cNvSpPr>
            <a:spLocks noGrp="1" noChangeArrowheads="1"/>
          </p:cNvSpPr>
          <p:nvPr>
            <p:ph type="body" idx="1"/>
          </p:nvPr>
        </p:nvSpPr>
        <p:spPr>
          <a:xfrm>
            <a:off x="916867" y="4760649"/>
            <a:ext cx="4960851" cy="4449097"/>
          </a:xfrm>
          <a:noFill/>
        </p:spPr>
        <p:txBody>
          <a:bodyPr/>
          <a:lstStyle/>
          <a:p>
            <a:pPr eaLnBrk="1" hangingPunct="1"/>
            <a:r>
              <a:rPr lang="ja-JP" altLang="en-US">
                <a:ea typeface="ＭＳ Ｐ明朝" charset="-128"/>
              </a:rPr>
              <a:t>機能買い部品プロ（福尾プロジェクト）で規定しつつある、ＲＡＳＩＣ判断基準を反映</a:t>
            </a:r>
          </a:p>
        </p:txBody>
      </p:sp>
    </p:spTree>
    <p:extLst>
      <p:ext uri="{BB962C8B-B14F-4D97-AF65-F5344CB8AC3E}">
        <p14:creationId xmlns:p14="http://schemas.microsoft.com/office/powerpoint/2010/main" val="1756033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fld id="{5DC565AE-3F3D-4444-A367-3F6ECB30C50E}" type="slidenum">
              <a:rPr lang="ja-JP" altLang="en-US" sz="1200" smtClean="0">
                <a:solidFill>
                  <a:prstClr val="black"/>
                </a:solidFill>
                <a:latin typeface="Meiryo UI" panose="020B0604030504040204" pitchFamily="50" charset="-128"/>
                <a:ea typeface="Meiryo UI" panose="020B0604030504040204" pitchFamily="50" charset="-128"/>
              </a:rPr>
              <a:pPr eaLnBrk="1" hangingPunct="1"/>
              <a:t>9</a:t>
            </a:fld>
            <a:endParaRPr lang="en-US" altLang="ja-JP" sz="1200">
              <a:solidFill>
                <a:prstClr val="black"/>
              </a:solidFill>
              <a:latin typeface="Meiryo UI" panose="020B0604030504040204" pitchFamily="50" charset="-128"/>
              <a:ea typeface="Meiryo UI" panose="020B0604030504040204" pitchFamily="50" charset="-128"/>
            </a:endParaRPr>
          </a:p>
        </p:txBody>
      </p:sp>
      <p:sp>
        <p:nvSpPr>
          <p:cNvPr id="53251" name="Rectangle 2"/>
          <p:cNvSpPr>
            <a:spLocks noGrp="1" noRot="1" noChangeAspect="1" noChangeArrowheads="1" noTextEdit="1"/>
          </p:cNvSpPr>
          <p:nvPr>
            <p:ph type="sldImg"/>
          </p:nvPr>
        </p:nvSpPr>
        <p:spPr>
          <a:xfrm>
            <a:off x="952500" y="781050"/>
            <a:ext cx="4891088" cy="3668713"/>
          </a:xfrm>
          <a:ln/>
        </p:spPr>
      </p:sp>
      <p:sp>
        <p:nvSpPr>
          <p:cNvPr id="53252" name="Rectangle 3"/>
          <p:cNvSpPr>
            <a:spLocks noGrp="1" noChangeArrowheads="1"/>
          </p:cNvSpPr>
          <p:nvPr>
            <p:ph type="body" idx="1"/>
          </p:nvPr>
        </p:nvSpPr>
        <p:spPr>
          <a:xfrm>
            <a:off x="916867" y="4760649"/>
            <a:ext cx="4960851" cy="4449097"/>
          </a:xfrm>
          <a:noFill/>
        </p:spPr>
        <p:txBody>
          <a:bodyPr/>
          <a:lstStyle/>
          <a:p>
            <a:pPr eaLnBrk="1" hangingPunct="1"/>
            <a:r>
              <a:rPr lang="ja-JP" altLang="en-US">
                <a:ea typeface="ＭＳ Ｐ明朝" charset="-128"/>
              </a:rPr>
              <a:t>機能買い部品プロ（福尾プロジェクト）で規定しつつある、ＲＡＳＩＣ判断基準を反映</a:t>
            </a:r>
          </a:p>
        </p:txBody>
      </p:sp>
    </p:spTree>
    <p:extLst>
      <p:ext uri="{BB962C8B-B14F-4D97-AF65-F5344CB8AC3E}">
        <p14:creationId xmlns:p14="http://schemas.microsoft.com/office/powerpoint/2010/main" val="3379202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b="1">
                <a:solidFill>
                  <a:srgbClr val="FF0000"/>
                </a:solidFill>
              </a:rPr>
              <a:t>判断時期：欧米ﾒｰｶｰのﾀｰｹﾞｯﾄがＳＯＰ立上りに対して</a:t>
            </a:r>
            <a:r>
              <a:rPr lang="ja-JP" altLang="en-US" b="1">
                <a:solidFill>
                  <a:srgbClr val="FF0000"/>
                </a:solidFill>
              </a:rPr>
              <a:t>Ｈｏｎｄａは、Ｄ１ﾀｲﾐﾝｸﾞで開発終了を明記（誤解防止）</a:t>
            </a:r>
            <a:endParaRPr kumimoji="1" lang="ja-JP" altLang="en-US" b="1">
              <a:solidFill>
                <a:srgbClr val="FF0000"/>
              </a:solidFill>
            </a:endParaRP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17</a:t>
            </a:fld>
            <a:endParaRPr lang="en-US" altLang="ja-JP"/>
          </a:p>
        </p:txBody>
      </p:sp>
    </p:spTree>
    <p:extLst>
      <p:ext uri="{BB962C8B-B14F-4D97-AF65-F5344CB8AC3E}">
        <p14:creationId xmlns:p14="http://schemas.microsoft.com/office/powerpoint/2010/main" val="2140660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b="1">
                <a:solidFill>
                  <a:srgbClr val="FF0000"/>
                </a:solidFill>
              </a:rPr>
              <a:t>判断時期：欧米ﾒｰｶｰのﾀｰｹﾞｯﾄがＳＯＰ立上りに対して</a:t>
            </a:r>
            <a:r>
              <a:rPr lang="ja-JP" altLang="en-US" b="1">
                <a:solidFill>
                  <a:srgbClr val="FF0000"/>
                </a:solidFill>
              </a:rPr>
              <a:t>Ｈｏｎｄａは、Ｄ１ﾀｲﾐﾝｸﾞで開発終了を明記（誤解防止）</a:t>
            </a:r>
            <a:endParaRPr kumimoji="1" lang="ja-JP" altLang="en-US" b="1">
              <a:solidFill>
                <a:srgbClr val="FF0000"/>
              </a:solidFill>
            </a:endParaRP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18</a:t>
            </a:fld>
            <a:endParaRPr lang="en-US" altLang="ja-JP"/>
          </a:p>
        </p:txBody>
      </p:sp>
    </p:spTree>
    <p:extLst>
      <p:ext uri="{BB962C8B-B14F-4D97-AF65-F5344CB8AC3E}">
        <p14:creationId xmlns:p14="http://schemas.microsoft.com/office/powerpoint/2010/main" val="38831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b="1">
                <a:solidFill>
                  <a:srgbClr val="FF0000"/>
                </a:solidFill>
              </a:rPr>
              <a:t>判断時期：欧米ﾒｰｶｰのﾀｰｹﾞｯﾄがＳＯＰ立上りに対して</a:t>
            </a:r>
            <a:r>
              <a:rPr lang="ja-JP" altLang="en-US" b="1">
                <a:solidFill>
                  <a:srgbClr val="FF0000"/>
                </a:solidFill>
              </a:rPr>
              <a:t>Ｈｏｎｄａは、Ｄ１ﾀｲﾐﾝｸﾞで開発終了を明記（誤解防止）</a:t>
            </a:r>
            <a:endParaRPr kumimoji="1" lang="ja-JP" altLang="en-US" b="1">
              <a:solidFill>
                <a:srgbClr val="FF0000"/>
              </a:solidFill>
            </a:endParaRP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19</a:t>
            </a:fld>
            <a:endParaRPr lang="en-US" altLang="ja-JP"/>
          </a:p>
        </p:txBody>
      </p:sp>
    </p:spTree>
    <p:extLst>
      <p:ext uri="{BB962C8B-B14F-4D97-AF65-F5344CB8AC3E}">
        <p14:creationId xmlns:p14="http://schemas.microsoft.com/office/powerpoint/2010/main" val="2238622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581852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a:t>ＥＮＧの諸元表、</a:t>
            </a:r>
            <a:r>
              <a:rPr kumimoji="1" lang="en-US" altLang="ja-JP"/>
              <a:t>ENG</a:t>
            </a:r>
            <a:r>
              <a:rPr kumimoji="1" lang="ja-JP" altLang="en-US"/>
              <a:t>バリエーション</a:t>
            </a: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311999-6BF1-448E-BBE9-754C4E914C38}" type="slidenum">
              <a:rPr kumimoji="1" lang="ja-JP" altLang="en-US" sz="12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1" lang="en-US" altLang="ja-JP"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449264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730400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a:t>ＥＮＧの諸元表、</a:t>
            </a:r>
            <a:r>
              <a:rPr kumimoji="1" lang="en-US" altLang="ja-JP"/>
              <a:t>ENG</a:t>
            </a:r>
            <a:r>
              <a:rPr kumimoji="1" lang="ja-JP" altLang="en-US"/>
              <a:t>バリエーション</a:t>
            </a: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311999-6BF1-448E-BBE9-754C4E914C38}" type="slidenum">
              <a:rPr kumimoji="1" lang="ja-JP" altLang="en-US" sz="12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393635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a:t>ＥＮＧの諸元表、</a:t>
            </a:r>
            <a:r>
              <a:rPr kumimoji="1" lang="en-US" altLang="ja-JP"/>
              <a:t>ENG</a:t>
            </a:r>
            <a:r>
              <a:rPr kumimoji="1" lang="ja-JP" altLang="en-US"/>
              <a:t>バリエーション</a:t>
            </a: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311999-6BF1-448E-BBE9-754C4E914C38}" type="slidenum">
              <a:rPr kumimoji="1" lang="ja-JP" altLang="en-US" sz="12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06237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a:t>ＥＮＧの諸元表、</a:t>
            </a:r>
            <a:r>
              <a:rPr kumimoji="1" lang="en-US" altLang="ja-JP"/>
              <a:t>ENG</a:t>
            </a:r>
            <a:r>
              <a:rPr kumimoji="1" lang="ja-JP" altLang="en-US"/>
              <a:t>バリエーション</a:t>
            </a: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39</a:t>
            </a:fld>
            <a:endParaRPr lang="en-US" altLang="ja-JP"/>
          </a:p>
        </p:txBody>
      </p:sp>
    </p:spTree>
    <p:extLst>
      <p:ext uri="{BB962C8B-B14F-4D97-AF65-F5344CB8AC3E}">
        <p14:creationId xmlns:p14="http://schemas.microsoft.com/office/powerpoint/2010/main" val="2159020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a:t>ＥＮＧの諸元表、</a:t>
            </a:r>
            <a:r>
              <a:rPr kumimoji="1" lang="en-US" altLang="ja-JP"/>
              <a:t>ENG</a:t>
            </a:r>
            <a:r>
              <a:rPr kumimoji="1" lang="ja-JP" altLang="en-US"/>
              <a:t>バリエーション</a:t>
            </a: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pPr>
                <a:defRPr/>
              </a:pPr>
              <a:t>40</a:t>
            </a:fld>
            <a:endParaRPr lang="en-US" altLang="ja-JP"/>
          </a:p>
        </p:txBody>
      </p:sp>
    </p:spTree>
    <p:extLst>
      <p:ext uri="{BB962C8B-B14F-4D97-AF65-F5344CB8AC3E}">
        <p14:creationId xmlns:p14="http://schemas.microsoft.com/office/powerpoint/2010/main" val="1880880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r>
              <a:rPr kumimoji="1" lang="ja-JP" altLang="en-US"/>
              <a:t>Ｓｙｓｔｅｍ構成を提示（含む、他社センサー）</a:t>
            </a: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311999-6BF1-448E-BBE9-754C4E914C38}" type="slidenum">
              <a:rPr kumimoji="1" lang="ja-JP" altLang="en-US" sz="1200" b="0" i="0" u="none" strike="noStrike" kern="1200" cap="none" spc="0" normalizeH="0" baseline="0" noProof="0" smtClean="0">
                <a:ln>
                  <a:noFill/>
                </a:ln>
                <a:solidFill>
                  <a:srgbClr val="000000"/>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473003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746125"/>
            <a:ext cx="4967287"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21A474A-9130-4B69-ABB0-4AFD0D62C7D0}" type="slidenum">
              <a:rPr kumimoji="1" lang="ja-JP" altLang="en-US" sz="12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123689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5700" cy="3725863"/>
          </a:xfrm>
        </p:spPr>
      </p:sp>
      <p:sp>
        <p:nvSpPr>
          <p:cNvPr id="3" name="ノート プレースホルダー 2"/>
          <p:cNvSpPr>
            <a:spLocks noGrp="1"/>
          </p:cNvSpPr>
          <p:nvPr>
            <p:ph type="body" idx="1"/>
          </p:nvPr>
        </p:nvSpPr>
        <p:spPr/>
        <p:txBody>
          <a:bodyPr/>
          <a:lstStyle/>
          <a:p>
            <a:r>
              <a:rPr kumimoji="1" lang="ja-JP" altLang="en-US"/>
              <a:t>ＥＮＧの諸元表、</a:t>
            </a:r>
            <a:r>
              <a:rPr kumimoji="1" lang="en-US" altLang="ja-JP"/>
              <a:t>ENG</a:t>
            </a:r>
            <a:r>
              <a:rPr kumimoji="1" lang="ja-JP" altLang="en-US"/>
              <a:t>バリエーション</a:t>
            </a:r>
          </a:p>
        </p:txBody>
      </p:sp>
      <p:sp>
        <p:nvSpPr>
          <p:cNvPr id="4" name="スライド番号プレースホルダー 3"/>
          <p:cNvSpPr>
            <a:spLocks noGrp="1"/>
          </p:cNvSpPr>
          <p:nvPr>
            <p:ph type="sldNum" sz="quarter" idx="10"/>
          </p:nvPr>
        </p:nvSpPr>
        <p:spPr/>
        <p:txBody>
          <a:bodyPr/>
          <a:lstStyle/>
          <a:p>
            <a:pPr>
              <a:defRPr/>
            </a:pPr>
            <a:fld id="{5B311999-6BF1-448E-BBE9-754C4E914C38}" type="slidenum">
              <a:rPr lang="ja-JP" altLang="en-US" smtClean="0">
                <a:solidFill>
                  <a:prstClr val="black"/>
                </a:solidFill>
              </a:rPr>
              <a:pPr>
                <a:defRPr/>
              </a:pPr>
              <a:t>50</a:t>
            </a:fld>
            <a:endParaRPr lang="en-US" altLang="ja-JP">
              <a:solidFill>
                <a:prstClr val="black"/>
              </a:solidFill>
            </a:endParaRPr>
          </a:p>
        </p:txBody>
      </p:sp>
    </p:spTree>
    <p:extLst>
      <p:ext uri="{BB962C8B-B14F-4D97-AF65-F5344CB8AC3E}">
        <p14:creationId xmlns:p14="http://schemas.microsoft.com/office/powerpoint/2010/main" val="2508014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75</a:t>
            </a:fld>
            <a:endParaRPr lang="ja-JP" altLang="en-US">
              <a:solidFill>
                <a:prstClr val="black"/>
              </a:solidFill>
            </a:endParaRPr>
          </a:p>
        </p:txBody>
      </p:sp>
    </p:spTree>
    <p:extLst>
      <p:ext uri="{BB962C8B-B14F-4D97-AF65-F5344CB8AC3E}">
        <p14:creationId xmlns:p14="http://schemas.microsoft.com/office/powerpoint/2010/main" val="34184358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77</a:t>
            </a:fld>
            <a:endParaRPr lang="ja-JP" altLang="en-US">
              <a:solidFill>
                <a:prstClr val="black"/>
              </a:solidFill>
            </a:endParaRPr>
          </a:p>
        </p:txBody>
      </p:sp>
    </p:spTree>
    <p:extLst>
      <p:ext uri="{BB962C8B-B14F-4D97-AF65-F5344CB8AC3E}">
        <p14:creationId xmlns:p14="http://schemas.microsoft.com/office/powerpoint/2010/main" val="1413470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79</a:t>
            </a:fld>
            <a:endParaRPr lang="ja-JP" altLang="en-US">
              <a:solidFill>
                <a:prstClr val="black"/>
              </a:solidFill>
            </a:endParaRPr>
          </a:p>
        </p:txBody>
      </p:sp>
    </p:spTree>
    <p:extLst>
      <p:ext uri="{BB962C8B-B14F-4D97-AF65-F5344CB8AC3E}">
        <p14:creationId xmlns:p14="http://schemas.microsoft.com/office/powerpoint/2010/main" val="18445513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80</a:t>
            </a:fld>
            <a:endParaRPr lang="ja-JP" altLang="en-US">
              <a:solidFill>
                <a:prstClr val="black"/>
              </a:solidFill>
            </a:endParaRPr>
          </a:p>
        </p:txBody>
      </p:sp>
    </p:spTree>
    <p:extLst>
      <p:ext uri="{BB962C8B-B14F-4D97-AF65-F5344CB8AC3E}">
        <p14:creationId xmlns:p14="http://schemas.microsoft.com/office/powerpoint/2010/main" val="3473700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86</a:t>
            </a:fld>
            <a:endParaRPr lang="ja-JP" altLang="en-US">
              <a:solidFill>
                <a:prstClr val="black"/>
              </a:solidFill>
            </a:endParaRPr>
          </a:p>
        </p:txBody>
      </p:sp>
    </p:spTree>
    <p:extLst>
      <p:ext uri="{BB962C8B-B14F-4D97-AF65-F5344CB8AC3E}">
        <p14:creationId xmlns:p14="http://schemas.microsoft.com/office/powerpoint/2010/main" val="682913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89</a:t>
            </a:fld>
            <a:endParaRPr lang="ja-JP" altLang="en-US">
              <a:solidFill>
                <a:prstClr val="black"/>
              </a:solidFill>
            </a:endParaRPr>
          </a:p>
        </p:txBody>
      </p:sp>
    </p:spTree>
    <p:extLst>
      <p:ext uri="{BB962C8B-B14F-4D97-AF65-F5344CB8AC3E}">
        <p14:creationId xmlns:p14="http://schemas.microsoft.com/office/powerpoint/2010/main" val="14377669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97</a:t>
            </a:fld>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1114704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98</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1435346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108</a:t>
            </a:fld>
            <a:endParaRPr lang="ja-JP" altLang="en-US">
              <a:solidFill>
                <a:prstClr val="black"/>
              </a:solidFill>
            </a:endParaRPr>
          </a:p>
        </p:txBody>
      </p:sp>
    </p:spTree>
    <p:extLst>
      <p:ext uri="{BB962C8B-B14F-4D97-AF65-F5344CB8AC3E}">
        <p14:creationId xmlns:p14="http://schemas.microsoft.com/office/powerpoint/2010/main" val="21534255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109</a:t>
            </a:fld>
            <a:endParaRPr lang="ja-JP" altLang="en-US">
              <a:solidFill>
                <a:prstClr val="black"/>
              </a:solidFill>
            </a:endParaRPr>
          </a:p>
        </p:txBody>
      </p:sp>
    </p:spTree>
    <p:extLst>
      <p:ext uri="{BB962C8B-B14F-4D97-AF65-F5344CB8AC3E}">
        <p14:creationId xmlns:p14="http://schemas.microsoft.com/office/powerpoint/2010/main" val="11602518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110</a:t>
            </a:fld>
            <a:endParaRPr lang="ja-JP" altLang="en-US">
              <a:solidFill>
                <a:prstClr val="black"/>
              </a:solidFill>
            </a:endParaRPr>
          </a:p>
        </p:txBody>
      </p:sp>
    </p:spTree>
    <p:extLst>
      <p:ext uri="{BB962C8B-B14F-4D97-AF65-F5344CB8AC3E}">
        <p14:creationId xmlns:p14="http://schemas.microsoft.com/office/powerpoint/2010/main" val="34197823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111</a:t>
            </a:fld>
            <a:endParaRPr lang="ja-JP" altLang="en-US">
              <a:solidFill>
                <a:prstClr val="black"/>
              </a:solidFill>
            </a:endParaRPr>
          </a:p>
        </p:txBody>
      </p:sp>
    </p:spTree>
    <p:extLst>
      <p:ext uri="{BB962C8B-B14F-4D97-AF65-F5344CB8AC3E}">
        <p14:creationId xmlns:p14="http://schemas.microsoft.com/office/powerpoint/2010/main" val="32384161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120</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36910134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121</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6949029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122</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5010934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123</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14769356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16040E2-D642-42FE-AE27-CD4E21A12220}" type="slidenum">
              <a:rPr kumimoji="1" lang="ja-JP" altLang="en-US" sz="1200" b="0" i="0" u="none" strike="noStrike" kern="1200" cap="none" spc="0" normalizeH="0" baseline="0" noProof="0" smtClean="0">
                <a:ln>
                  <a:noFill/>
                </a:ln>
                <a:solidFill>
                  <a:prstClr val="black"/>
                </a:solidFill>
                <a:effectLst/>
                <a:uLnTx/>
                <a:uFillTx/>
                <a:cs typeface="+mn-cs"/>
              </a:rPr>
              <a:pPr marL="0" marR="0" lvl="0" indent="0" algn="r" defTabSz="914400" rtl="0" eaLnBrk="1" fontAlgn="base" latinLnBrk="0" hangingPunct="1">
                <a:lnSpc>
                  <a:spcPct val="100000"/>
                </a:lnSpc>
                <a:spcBef>
                  <a:spcPct val="0"/>
                </a:spcBef>
                <a:spcAft>
                  <a:spcPct val="0"/>
                </a:spcAft>
                <a:buClrTx/>
                <a:buSzTx/>
                <a:buFontTx/>
                <a:buNone/>
                <a:tabLst/>
                <a:defRPr/>
              </a:pPr>
              <a:t>124</a:t>
            </a:fld>
            <a:endParaRPr kumimoji="1" lang="ja-JP" altLang="en-US" sz="1200" b="0" i="0" u="none" strike="noStrike" kern="1200" cap="none" spc="0" normalizeH="0" baseline="0" noProof="0">
              <a:ln>
                <a:noFill/>
              </a:ln>
              <a:solidFill>
                <a:prstClr val="black"/>
              </a:solidFill>
              <a:effectLst/>
              <a:uLnTx/>
              <a:uFillTx/>
              <a:cs typeface="+mn-cs"/>
            </a:endParaRPr>
          </a:p>
        </p:txBody>
      </p:sp>
    </p:spTree>
    <p:extLst>
      <p:ext uri="{BB962C8B-B14F-4D97-AF65-F5344CB8AC3E}">
        <p14:creationId xmlns:p14="http://schemas.microsoft.com/office/powerpoint/2010/main" val="38504842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139</a:t>
            </a:fld>
            <a:endParaRPr lang="ja-JP" altLang="en-US">
              <a:solidFill>
                <a:prstClr val="black"/>
              </a:solidFill>
            </a:endParaRPr>
          </a:p>
        </p:txBody>
      </p:sp>
    </p:spTree>
    <p:extLst>
      <p:ext uri="{BB962C8B-B14F-4D97-AF65-F5344CB8AC3E}">
        <p14:creationId xmlns:p14="http://schemas.microsoft.com/office/powerpoint/2010/main" val="21418878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140</a:t>
            </a:fld>
            <a:endParaRPr lang="ja-JP" altLang="en-US">
              <a:solidFill>
                <a:prstClr val="black"/>
              </a:solidFill>
            </a:endParaRPr>
          </a:p>
        </p:txBody>
      </p:sp>
    </p:spTree>
    <p:extLst>
      <p:ext uri="{BB962C8B-B14F-4D97-AF65-F5344CB8AC3E}">
        <p14:creationId xmlns:p14="http://schemas.microsoft.com/office/powerpoint/2010/main" val="18323545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141</a:t>
            </a:fld>
            <a:endParaRPr lang="ja-JP" altLang="en-US">
              <a:solidFill>
                <a:prstClr val="black"/>
              </a:solidFill>
            </a:endParaRPr>
          </a:p>
        </p:txBody>
      </p:sp>
    </p:spTree>
    <p:extLst>
      <p:ext uri="{BB962C8B-B14F-4D97-AF65-F5344CB8AC3E}">
        <p14:creationId xmlns:p14="http://schemas.microsoft.com/office/powerpoint/2010/main" val="24825571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142</a:t>
            </a:fld>
            <a:endParaRPr lang="ja-JP" altLang="en-US">
              <a:solidFill>
                <a:prstClr val="black"/>
              </a:solidFill>
            </a:endParaRPr>
          </a:p>
        </p:txBody>
      </p:sp>
    </p:spTree>
    <p:extLst>
      <p:ext uri="{BB962C8B-B14F-4D97-AF65-F5344CB8AC3E}">
        <p14:creationId xmlns:p14="http://schemas.microsoft.com/office/powerpoint/2010/main" val="21458702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143</a:t>
            </a:fld>
            <a:endParaRPr lang="ja-JP" altLang="en-US">
              <a:solidFill>
                <a:prstClr val="black"/>
              </a:solidFill>
            </a:endParaRPr>
          </a:p>
        </p:txBody>
      </p:sp>
    </p:spTree>
    <p:extLst>
      <p:ext uri="{BB962C8B-B14F-4D97-AF65-F5344CB8AC3E}">
        <p14:creationId xmlns:p14="http://schemas.microsoft.com/office/powerpoint/2010/main" val="32171915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144</a:t>
            </a:fld>
            <a:endParaRPr lang="ja-JP" altLang="en-US">
              <a:solidFill>
                <a:prstClr val="black"/>
              </a:solidFill>
            </a:endParaRPr>
          </a:p>
        </p:txBody>
      </p:sp>
    </p:spTree>
    <p:extLst>
      <p:ext uri="{BB962C8B-B14F-4D97-AF65-F5344CB8AC3E}">
        <p14:creationId xmlns:p14="http://schemas.microsoft.com/office/powerpoint/2010/main" val="5558781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20750" y="746125"/>
            <a:ext cx="4967288" cy="372586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E16040E2-D642-42FE-AE27-CD4E21A12220}" type="slidenum">
              <a:rPr lang="ja-JP" altLang="en-US" smtClean="0">
                <a:solidFill>
                  <a:prstClr val="black"/>
                </a:solidFill>
              </a:rPr>
              <a:pPr/>
              <a:t>145</a:t>
            </a:fld>
            <a:endParaRPr lang="ja-JP" altLang="en-US">
              <a:solidFill>
                <a:prstClr val="black"/>
              </a:solidFill>
            </a:endParaRPr>
          </a:p>
        </p:txBody>
      </p:sp>
    </p:spTree>
    <p:extLst>
      <p:ext uri="{BB962C8B-B14F-4D97-AF65-F5344CB8AC3E}">
        <p14:creationId xmlns:p14="http://schemas.microsoft.com/office/powerpoint/2010/main" val="33452196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311999-6BF1-448E-BBE9-754C4E914C38}" type="slidenum">
              <a:rPr kumimoji="1" lang="ja-JP" altLang="en-US" sz="1200" b="0" i="0" u="none" strike="noStrike" kern="1200" cap="none" spc="0" normalizeH="0" baseline="0" noProof="0" smtClean="0">
                <a:ln>
                  <a:noFill/>
                </a:ln>
                <a:solidFill>
                  <a:prstClr val="black"/>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154</a:t>
            </a:fld>
            <a:endParaRPr kumimoji="1" lang="en-US" altLang="ja-JP"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955323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6"/>
          <p:cNvSpPr>
            <a:spLocks noGrp="1" noChangeArrowheads="1"/>
          </p:cNvSpPr>
          <p:nvPr>
            <p:ph type="sldNum" sz="quarter" idx="12"/>
          </p:nvPr>
        </p:nvSpPr>
        <p:spPr>
          <a:ln/>
        </p:spPr>
        <p:txBody>
          <a:bodyPr/>
          <a:lstStyle>
            <a:lvl1pPr>
              <a:defRPr/>
            </a:lvl1pPr>
          </a:lstStyle>
          <a:p>
            <a:pPr>
              <a:defRPr/>
            </a:pPr>
            <a:fld id="{C3E800CD-1702-488C-B0A9-321A02008C85}" type="slidenum">
              <a:rPr lang="ja-JP" altLang="en-US"/>
              <a:pPr>
                <a:defRPr/>
              </a:pPr>
              <a:t>‹#›</a:t>
            </a:fld>
            <a:endParaRPr lang="en-US" altLang="ja-JP"/>
          </a:p>
        </p:txBody>
      </p:sp>
    </p:spTree>
    <p:extLst>
      <p:ext uri="{BB962C8B-B14F-4D97-AF65-F5344CB8AC3E}">
        <p14:creationId xmlns:p14="http://schemas.microsoft.com/office/powerpoint/2010/main" val="98106814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0" sz="1400">
                <a:latin typeface="Meiryo UI" panose="020B0604030504040204" pitchFamily="50" charset="-128"/>
                <a:ea typeface="Meiryo UI" panose="020B0604030504040204" pitchFamily="50" charset="-128"/>
              </a:defRPr>
            </a:lvl1pPr>
          </a:lstStyle>
          <a:p>
            <a:pPr>
              <a:defRPr/>
            </a:pPr>
            <a:endParaRPr lang="en-US" altLang="ja-JP"/>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a:latin typeface="Meiryo UI" panose="020B0604030504040204" pitchFamily="50" charset="-128"/>
                <a:ea typeface="Meiryo UI" panose="020B0604030504040204" pitchFamily="50" charset="-128"/>
              </a:defRPr>
            </a:lvl1pPr>
          </a:lstStyle>
          <a:p>
            <a:pPr>
              <a:defRPr/>
            </a:pPr>
            <a:endParaRPr lang="en-US" altLang="ja-JP"/>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400">
                <a:latin typeface="Meiryo UI" panose="020B0604030504040204" pitchFamily="50" charset="-128"/>
                <a:ea typeface="Meiryo UI" panose="020B0604030504040204" pitchFamily="50" charset="-128"/>
              </a:defRPr>
            </a:lvl1pPr>
          </a:lstStyle>
          <a:p>
            <a:pPr>
              <a:defRPr/>
            </a:pPr>
            <a:fld id="{96C3C690-9247-4C59-B279-694A153934CB}" type="slidenum">
              <a:rPr lang="ja-JP" altLang="en-US" smtClean="0"/>
              <a:pPr>
                <a:defRPr/>
              </a:pPr>
              <a:t>‹#›</a:t>
            </a:fld>
            <a:endParaRPr lang="en-US" altLang="ja-JP"/>
          </a:p>
        </p:txBody>
      </p:sp>
      <p:sp>
        <p:nvSpPr>
          <p:cNvPr id="2" name="正方形/長方形 8"/>
          <p:cNvSpPr>
            <a:spLocks noChangeArrowheads="1"/>
          </p:cNvSpPr>
          <p:nvPr userDrawn="1"/>
        </p:nvSpPr>
        <p:spPr bwMode="auto">
          <a:xfrm>
            <a:off x="7938" y="2"/>
            <a:ext cx="9144000" cy="549275"/>
          </a:xfrm>
          <a:prstGeom prst="rect">
            <a:avLst/>
          </a:prstGeom>
          <a:solidFill>
            <a:srgbClr val="558ED5"/>
          </a:solidFill>
          <a:ln w="25400" algn="ctr">
            <a:solidFill>
              <a:srgbClr val="385D8A"/>
            </a:solidFill>
            <a:miter lim="800000"/>
            <a:headEnd/>
            <a:tailEnd/>
          </a:ln>
        </p:spPr>
        <p:txBody>
          <a:bodyPr anchor="ctr"/>
          <a:lstStyle/>
          <a:p>
            <a:endParaRPr lang="ja-JP" altLang="en-US" sz="1800">
              <a:solidFill>
                <a:srgbClr val="FFFFFF"/>
              </a:solidFill>
              <a:latin typeface="Meiryo UI" panose="020B0604030504040204" pitchFamily="50" charset="-128"/>
              <a:ea typeface="Meiryo UI" panose="020B0604030504040204" pitchFamily="50" charset="-128"/>
            </a:endParaRPr>
          </a:p>
        </p:txBody>
      </p:sp>
      <p:sp>
        <p:nvSpPr>
          <p:cNvPr id="3" name="正方形/長方形 9"/>
          <p:cNvSpPr>
            <a:spLocks noChangeArrowheads="1"/>
          </p:cNvSpPr>
          <p:nvPr userDrawn="1"/>
        </p:nvSpPr>
        <p:spPr bwMode="auto">
          <a:xfrm>
            <a:off x="5" y="2"/>
            <a:ext cx="1476375" cy="549275"/>
          </a:xfrm>
          <a:prstGeom prst="rect">
            <a:avLst/>
          </a:prstGeom>
          <a:noFill/>
          <a:ln w="25400" algn="ctr">
            <a:solidFill>
              <a:srgbClr val="1F497D"/>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r>
              <a:rPr lang="en-US" altLang="ja-JP" sz="1400" baseline="0">
                <a:solidFill>
                  <a:schemeClr val="bg1"/>
                </a:solidFill>
                <a:latin typeface="Meiryo UI" panose="020B0604030504040204" pitchFamily="50" charset="-128"/>
                <a:ea typeface="Meiryo UI" panose="020B0604030504040204" pitchFamily="50" charset="-128"/>
              </a:rPr>
              <a:t>Bosch</a:t>
            </a:r>
            <a:r>
              <a:rPr lang="en-US" altLang="ja-JP" sz="1400">
                <a:solidFill>
                  <a:schemeClr val="bg1"/>
                </a:solidFill>
                <a:latin typeface="Meiryo UI" panose="020B0604030504040204" pitchFamily="50" charset="-128"/>
                <a:ea typeface="Meiryo UI" panose="020B0604030504040204" pitchFamily="50" charset="-128"/>
              </a:rPr>
              <a:t>-</a:t>
            </a:r>
            <a:r>
              <a:rPr lang="en-US" altLang="ja-JP" sz="1400">
                <a:solidFill>
                  <a:srgbClr val="FFFFFF"/>
                </a:solidFill>
                <a:latin typeface="Meiryo UI" panose="020B0604030504040204" pitchFamily="50" charset="-128"/>
                <a:ea typeface="Meiryo UI" panose="020B0604030504040204" pitchFamily="50" charset="-128"/>
              </a:rPr>
              <a:t>Honda</a:t>
            </a:r>
          </a:p>
          <a:p>
            <a:r>
              <a:rPr lang="en-US" altLang="ja-JP" sz="1200">
                <a:solidFill>
                  <a:srgbClr val="FFFFFF"/>
                </a:solidFill>
                <a:latin typeface="Meiryo UI" panose="020B0604030504040204" pitchFamily="50" charset="-128"/>
                <a:ea typeface="Meiryo UI" panose="020B0604030504040204" pitchFamily="50" charset="-128"/>
              </a:rPr>
              <a:t>Kick-Off</a:t>
            </a:r>
            <a:r>
              <a:rPr lang="ja-JP" altLang="en-US" sz="1200">
                <a:solidFill>
                  <a:srgbClr val="FFFFFF"/>
                </a:solidFill>
                <a:latin typeface="Meiryo UI" panose="020B0604030504040204" pitchFamily="50" charset="-128"/>
                <a:ea typeface="Meiryo UI" panose="020B0604030504040204" pitchFamily="50" charset="-128"/>
              </a:rPr>
              <a:t> </a:t>
            </a:r>
            <a:r>
              <a:rPr lang="en-US" altLang="ja-JP" sz="1200">
                <a:solidFill>
                  <a:srgbClr val="FFFFFF"/>
                </a:solidFill>
                <a:latin typeface="Meiryo UI" panose="020B0604030504040204" pitchFamily="50" charset="-128"/>
                <a:ea typeface="Meiryo UI" panose="020B0604030504040204" pitchFamily="50" charset="-128"/>
              </a:rPr>
              <a:t>MTG</a:t>
            </a:r>
            <a:endParaRPr lang="ja-JP" altLang="en-US" sz="1200">
              <a:solidFill>
                <a:srgbClr val="FFFFFF"/>
              </a:solidFill>
              <a:latin typeface="Meiryo UI" panose="020B0604030504040204" pitchFamily="50" charset="-128"/>
              <a:ea typeface="Meiryo UI" panose="020B0604030504040204" pitchFamily="50" charset="-128"/>
            </a:endParaRPr>
          </a:p>
        </p:txBody>
      </p:sp>
      <p:sp>
        <p:nvSpPr>
          <p:cNvPr id="11" name="スライド番号プレースホルダー 3"/>
          <p:cNvSpPr txBox="1">
            <a:spLocks/>
          </p:cNvSpPr>
          <p:nvPr userDrawn="1"/>
        </p:nvSpPr>
        <p:spPr>
          <a:xfrm>
            <a:off x="7830355" y="17329"/>
            <a:ext cx="1314045" cy="365125"/>
          </a:xfrm>
          <a:prstGeom prst="rect">
            <a:avLst/>
          </a:prstGeom>
        </p:spPr>
        <p:txBody>
          <a:bodyPr anchor="ctr"/>
          <a:lstStyle>
            <a:defPPr>
              <a:defRPr lang="ja-JP"/>
            </a:defPPr>
            <a:lvl1pPr marL="0" algn="r" defTabSz="914400" rtl="0" eaLnBrk="1" latinLnBrk="0" hangingPunct="1">
              <a:defRPr kumimoji="1" sz="1200" kern="1200">
                <a:solidFill>
                  <a:schemeClr val="bg1"/>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defRPr/>
            </a:pPr>
            <a:r>
              <a:rPr lang="en-US" altLang="ja-JP">
                <a:solidFill>
                  <a:schemeClr val="tx1"/>
                </a:solidFill>
                <a:latin typeface="Meiryo UI" panose="020B0604030504040204" pitchFamily="50" charset="-128"/>
                <a:cs typeface="Arial" pitchFamily="34" charset="0"/>
              </a:rPr>
              <a:t>Page</a:t>
            </a:r>
            <a:r>
              <a:rPr lang="ja-JP" altLang="en-US" baseline="0">
                <a:solidFill>
                  <a:schemeClr val="tx1"/>
                </a:solidFill>
                <a:latin typeface="Meiryo UI" panose="020B0604030504040204" pitchFamily="50" charset="-128"/>
                <a:cs typeface="Arial" pitchFamily="34" charset="0"/>
              </a:rPr>
              <a:t> </a:t>
            </a:r>
            <a:fld id="{1CCC0F2D-5288-4ECD-806D-6373144AD959}" type="slidenum">
              <a:rPr lang="ja-JP" altLang="en-US" smtClean="0">
                <a:solidFill>
                  <a:schemeClr val="tx1"/>
                </a:solidFill>
                <a:latin typeface="Meiryo UI" panose="020B0604030504040204" pitchFamily="50" charset="-128"/>
                <a:cs typeface="Arial" pitchFamily="34" charset="0"/>
              </a:rPr>
              <a:pPr>
                <a:defRPr/>
              </a:pPr>
              <a:t>‹#›</a:t>
            </a:fld>
            <a:r>
              <a:rPr lang="en-US" altLang="ja-JP">
                <a:solidFill>
                  <a:schemeClr val="tx1"/>
                </a:solidFill>
                <a:latin typeface="Meiryo UI" panose="020B0604030504040204" pitchFamily="50" charset="-128"/>
                <a:cs typeface="Arial" pitchFamily="34" charset="0"/>
              </a:rPr>
              <a:t>/163</a:t>
            </a:r>
            <a:endParaRPr lang="ja-JP" altLang="en-US">
              <a:solidFill>
                <a:schemeClr val="tx1"/>
              </a:solidFill>
              <a:latin typeface="Meiryo UI" panose="020B0604030504040204" pitchFamily="50" charset="-128"/>
              <a:cs typeface="Arial" pitchFamily="34" charset="0"/>
            </a:endParaRPr>
          </a:p>
        </p:txBody>
      </p:sp>
      <p:sp>
        <p:nvSpPr>
          <p:cNvPr id="8" name="正方形/長方形 9"/>
          <p:cNvSpPr>
            <a:spLocks noChangeArrowheads="1"/>
          </p:cNvSpPr>
          <p:nvPr userDrawn="1"/>
        </p:nvSpPr>
        <p:spPr bwMode="auto">
          <a:xfrm>
            <a:off x="7927641" y="274639"/>
            <a:ext cx="1216359" cy="307777"/>
          </a:xfrm>
          <a:prstGeom prst="rect">
            <a:avLst/>
          </a:prstGeom>
          <a:noFill/>
          <a:ln w="25400" algn="ctr">
            <a:no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r>
              <a:rPr lang="en-US" altLang="ja-JP" sz="1400">
                <a:solidFill>
                  <a:srgbClr val="FF0000"/>
                </a:solidFill>
                <a:latin typeface="Meiryo UI" panose="020B0604030504040204" pitchFamily="50" charset="-128"/>
                <a:ea typeface="Meiryo UI" panose="020B0604030504040204" pitchFamily="50" charset="-128"/>
              </a:rPr>
              <a:t>Confidential</a:t>
            </a:r>
            <a:endParaRPr lang="ja-JP" altLang="en-US" sz="1200">
              <a:solidFill>
                <a:srgbClr val="FF0000"/>
              </a:solidFill>
              <a:latin typeface="Meiryo UI" panose="020B0604030504040204" pitchFamily="50" charset="-128"/>
              <a:ea typeface="Meiryo UI" panose="020B0604030504040204" pitchFamily="50" charset="-128"/>
            </a:endParaRPr>
          </a:p>
        </p:txBody>
      </p:sp>
    </p:spTree>
  </p:cSld>
  <p:clrMap bg1="lt1" tx1="dk1" bg2="lt2" tx2="dk2" accent1="accent1" accent2="accent2" accent3="accent3" accent4="accent4" accent5="accent5" accent6="accent6" hlink="hlink" folHlink="folHlink"/>
  <p:sldLayoutIdLst>
    <p:sldLayoutId id="2147484800" r:id="rId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s>
</file>

<file path=ppt/slides/_rels/slide29.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w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14.xml"/><Relationship Id="rId16" Type="http://schemas.openxmlformats.org/officeDocument/2006/relationships/image" Target="../media/image18.jpe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4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13.xml"/><Relationship Id="rId5" Type="http://schemas.openxmlformats.org/officeDocument/2006/relationships/image" Target="../media/image34.png"/><Relationship Id="rId4" Type="http://schemas.openxmlformats.org/officeDocument/2006/relationships/image" Target="../media/image3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tags" Target="../tags/tag19.xml"/><Relationship Id="rId7" Type="http://schemas.openxmlformats.org/officeDocument/2006/relationships/image" Target="../media/image37.jpe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36.png"/><Relationship Id="rId5" Type="http://schemas.openxmlformats.org/officeDocument/2006/relationships/image" Target="../media/image35.emf"/><Relationship Id="rId4" Type="http://schemas.openxmlformats.org/officeDocument/2006/relationships/slideLayout" Target="../slideLayouts/slideLayout1.xml"/><Relationship Id="rId9" Type="http://schemas.openxmlformats.org/officeDocument/2006/relationships/image" Target="../media/image3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2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notesSlide" Target="../notesSlides/notesSlide2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tags" Target="../tags/tag27.xml"/></Relationships>
</file>

<file path=ppt/slides/_rels/slide102.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4"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3.xml"/></Relationships>
</file>

<file path=ppt/slides/_rels/slide107.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3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emf"/><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emf"/><Relationship Id="rId4" Type="http://schemas.openxmlformats.org/officeDocument/2006/relationships/image" Target="../media/image44.emf"/></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6" Type="http://schemas.openxmlformats.org/officeDocument/2006/relationships/tags" Target="../tags/tag64.xml"/><Relationship Id="rId21" Type="http://schemas.openxmlformats.org/officeDocument/2006/relationships/tags" Target="../tags/tag59.xml"/><Relationship Id="rId34" Type="http://schemas.openxmlformats.org/officeDocument/2006/relationships/tags" Target="../tags/tag72.xml"/><Relationship Id="rId42" Type="http://schemas.openxmlformats.org/officeDocument/2006/relationships/tags" Target="../tags/tag80.xml"/><Relationship Id="rId47" Type="http://schemas.openxmlformats.org/officeDocument/2006/relationships/tags" Target="../tags/tag85.xml"/><Relationship Id="rId50" Type="http://schemas.openxmlformats.org/officeDocument/2006/relationships/tags" Target="../tags/tag88.xml"/><Relationship Id="rId55" Type="http://schemas.openxmlformats.org/officeDocument/2006/relationships/tags" Target="../tags/tag93.xml"/><Relationship Id="rId63" Type="http://schemas.openxmlformats.org/officeDocument/2006/relationships/image" Target="../media/image54.jpeg"/><Relationship Id="rId7" Type="http://schemas.openxmlformats.org/officeDocument/2006/relationships/tags" Target="../tags/tag45.xml"/><Relationship Id="rId2" Type="http://schemas.openxmlformats.org/officeDocument/2006/relationships/tags" Target="../tags/tag40.xml"/><Relationship Id="rId16" Type="http://schemas.openxmlformats.org/officeDocument/2006/relationships/tags" Target="../tags/tag54.xml"/><Relationship Id="rId29" Type="http://schemas.openxmlformats.org/officeDocument/2006/relationships/tags" Target="../tags/tag67.xml"/><Relationship Id="rId11" Type="http://schemas.openxmlformats.org/officeDocument/2006/relationships/tags" Target="../tags/tag49.xml"/><Relationship Id="rId24" Type="http://schemas.openxmlformats.org/officeDocument/2006/relationships/tags" Target="../tags/tag62.xml"/><Relationship Id="rId32" Type="http://schemas.openxmlformats.org/officeDocument/2006/relationships/tags" Target="../tags/tag70.xml"/><Relationship Id="rId37" Type="http://schemas.openxmlformats.org/officeDocument/2006/relationships/tags" Target="../tags/tag75.xml"/><Relationship Id="rId40" Type="http://schemas.openxmlformats.org/officeDocument/2006/relationships/tags" Target="../tags/tag78.xml"/><Relationship Id="rId45" Type="http://schemas.openxmlformats.org/officeDocument/2006/relationships/tags" Target="../tags/tag83.xml"/><Relationship Id="rId53" Type="http://schemas.openxmlformats.org/officeDocument/2006/relationships/tags" Target="../tags/tag91.xml"/><Relationship Id="rId58" Type="http://schemas.openxmlformats.org/officeDocument/2006/relationships/tags" Target="../tags/tag96.xml"/><Relationship Id="rId66" Type="http://schemas.openxmlformats.org/officeDocument/2006/relationships/image" Target="../media/image57.jpeg"/><Relationship Id="rId5" Type="http://schemas.openxmlformats.org/officeDocument/2006/relationships/tags" Target="../tags/tag43.xml"/><Relationship Id="rId61" Type="http://schemas.openxmlformats.org/officeDocument/2006/relationships/image" Target="../media/image52.png"/><Relationship Id="rId19" Type="http://schemas.openxmlformats.org/officeDocument/2006/relationships/tags" Target="../tags/tag57.xml"/><Relationship Id="rId14" Type="http://schemas.openxmlformats.org/officeDocument/2006/relationships/tags" Target="../tags/tag52.xml"/><Relationship Id="rId22" Type="http://schemas.openxmlformats.org/officeDocument/2006/relationships/tags" Target="../tags/tag60.xml"/><Relationship Id="rId27" Type="http://schemas.openxmlformats.org/officeDocument/2006/relationships/tags" Target="../tags/tag65.xml"/><Relationship Id="rId30" Type="http://schemas.openxmlformats.org/officeDocument/2006/relationships/tags" Target="../tags/tag68.xml"/><Relationship Id="rId35" Type="http://schemas.openxmlformats.org/officeDocument/2006/relationships/tags" Target="../tags/tag73.xml"/><Relationship Id="rId43" Type="http://schemas.openxmlformats.org/officeDocument/2006/relationships/tags" Target="../tags/tag81.xml"/><Relationship Id="rId48" Type="http://schemas.openxmlformats.org/officeDocument/2006/relationships/tags" Target="../tags/tag86.xml"/><Relationship Id="rId56" Type="http://schemas.openxmlformats.org/officeDocument/2006/relationships/tags" Target="../tags/tag94.xml"/><Relationship Id="rId64" Type="http://schemas.openxmlformats.org/officeDocument/2006/relationships/image" Target="../media/image55.jpeg"/><Relationship Id="rId8" Type="http://schemas.openxmlformats.org/officeDocument/2006/relationships/tags" Target="../tags/tag46.xml"/><Relationship Id="rId51" Type="http://schemas.openxmlformats.org/officeDocument/2006/relationships/tags" Target="../tags/tag89.xml"/><Relationship Id="rId3" Type="http://schemas.openxmlformats.org/officeDocument/2006/relationships/tags" Target="../tags/tag41.xml"/><Relationship Id="rId12" Type="http://schemas.openxmlformats.org/officeDocument/2006/relationships/tags" Target="../tags/tag50.xml"/><Relationship Id="rId17" Type="http://schemas.openxmlformats.org/officeDocument/2006/relationships/tags" Target="../tags/tag55.xml"/><Relationship Id="rId25" Type="http://schemas.openxmlformats.org/officeDocument/2006/relationships/tags" Target="../tags/tag63.xml"/><Relationship Id="rId33" Type="http://schemas.openxmlformats.org/officeDocument/2006/relationships/tags" Target="../tags/tag71.xml"/><Relationship Id="rId38" Type="http://schemas.openxmlformats.org/officeDocument/2006/relationships/tags" Target="../tags/tag76.xml"/><Relationship Id="rId46" Type="http://schemas.openxmlformats.org/officeDocument/2006/relationships/tags" Target="../tags/tag84.xml"/><Relationship Id="rId59" Type="http://schemas.openxmlformats.org/officeDocument/2006/relationships/slideLayout" Target="../slideLayouts/slideLayout1.xml"/><Relationship Id="rId20" Type="http://schemas.openxmlformats.org/officeDocument/2006/relationships/tags" Target="../tags/tag58.xml"/><Relationship Id="rId41" Type="http://schemas.openxmlformats.org/officeDocument/2006/relationships/tags" Target="../tags/tag79.xml"/><Relationship Id="rId54" Type="http://schemas.openxmlformats.org/officeDocument/2006/relationships/tags" Target="../tags/tag92.xml"/><Relationship Id="rId62" Type="http://schemas.openxmlformats.org/officeDocument/2006/relationships/image" Target="../media/image53.jpeg"/><Relationship Id="rId1" Type="http://schemas.openxmlformats.org/officeDocument/2006/relationships/tags" Target="../tags/tag39.xml"/><Relationship Id="rId6" Type="http://schemas.openxmlformats.org/officeDocument/2006/relationships/tags" Target="../tags/tag44.xml"/><Relationship Id="rId15" Type="http://schemas.openxmlformats.org/officeDocument/2006/relationships/tags" Target="../tags/tag53.xml"/><Relationship Id="rId23" Type="http://schemas.openxmlformats.org/officeDocument/2006/relationships/tags" Target="../tags/tag61.xml"/><Relationship Id="rId28" Type="http://schemas.openxmlformats.org/officeDocument/2006/relationships/tags" Target="../tags/tag66.xml"/><Relationship Id="rId36" Type="http://schemas.openxmlformats.org/officeDocument/2006/relationships/tags" Target="../tags/tag74.xml"/><Relationship Id="rId49" Type="http://schemas.openxmlformats.org/officeDocument/2006/relationships/tags" Target="../tags/tag87.xml"/><Relationship Id="rId57" Type="http://schemas.openxmlformats.org/officeDocument/2006/relationships/tags" Target="../tags/tag95.xml"/><Relationship Id="rId10" Type="http://schemas.openxmlformats.org/officeDocument/2006/relationships/tags" Target="../tags/tag48.xml"/><Relationship Id="rId31" Type="http://schemas.openxmlformats.org/officeDocument/2006/relationships/tags" Target="../tags/tag69.xml"/><Relationship Id="rId44" Type="http://schemas.openxmlformats.org/officeDocument/2006/relationships/tags" Target="../tags/tag82.xml"/><Relationship Id="rId52" Type="http://schemas.openxmlformats.org/officeDocument/2006/relationships/tags" Target="../tags/tag90.xml"/><Relationship Id="rId60" Type="http://schemas.openxmlformats.org/officeDocument/2006/relationships/image" Target="../media/image51.png"/><Relationship Id="rId65" Type="http://schemas.openxmlformats.org/officeDocument/2006/relationships/image" Target="../media/image56.jpeg"/><Relationship Id="rId4" Type="http://schemas.openxmlformats.org/officeDocument/2006/relationships/tags" Target="../tags/tag42.xml"/><Relationship Id="rId9" Type="http://schemas.openxmlformats.org/officeDocument/2006/relationships/tags" Target="../tags/tag47.xml"/><Relationship Id="rId13" Type="http://schemas.openxmlformats.org/officeDocument/2006/relationships/tags" Target="../tags/tag51.xml"/><Relationship Id="rId18" Type="http://schemas.openxmlformats.org/officeDocument/2006/relationships/tags" Target="../tags/tag56.xml"/><Relationship Id="rId39" Type="http://schemas.openxmlformats.org/officeDocument/2006/relationships/tags" Target="../tags/tag7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p:cNvSpPr txBox="1">
            <a:spLocks noChangeArrowheads="1"/>
          </p:cNvSpPr>
          <p:nvPr/>
        </p:nvSpPr>
        <p:spPr bwMode="auto">
          <a:xfrm>
            <a:off x="0" y="2276874"/>
            <a:ext cx="91440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nSpc>
                <a:spcPct val="150000"/>
              </a:lnSpc>
            </a:pPr>
            <a:r>
              <a:rPr kumimoji="0" lang="en-US" altLang="ja-JP" sz="2800">
                <a:solidFill>
                  <a:srgbClr val="FF0000"/>
                </a:solidFill>
                <a:latin typeface="Meiryo UI" pitchFamily="50" charset="-128"/>
                <a:ea typeface="Meiryo UI" pitchFamily="50" charset="-128"/>
                <a:cs typeface="Meiryo UI" pitchFamily="50" charset="-128"/>
              </a:rPr>
              <a:t>6SAA-MMC</a:t>
            </a:r>
          </a:p>
          <a:p>
            <a:pPr>
              <a:lnSpc>
                <a:spcPct val="150000"/>
              </a:lnSpc>
            </a:pPr>
            <a:r>
              <a:rPr kumimoji="0" lang="en-US" altLang="ja-JP" sz="3200" b="1">
                <a:latin typeface="Meiryo UI" pitchFamily="50" charset="-128"/>
                <a:ea typeface="Meiryo UI" pitchFamily="50" charset="-128"/>
                <a:cs typeface="Meiryo UI" pitchFamily="50" charset="-128"/>
              </a:rPr>
              <a:t>Development Requirement Document</a:t>
            </a:r>
          </a:p>
          <a:p>
            <a:pPr>
              <a:lnSpc>
                <a:spcPct val="150000"/>
              </a:lnSpc>
            </a:pPr>
            <a:r>
              <a:rPr kumimoji="0" lang="en-US" altLang="ja-JP">
                <a:latin typeface="Meiryo UI" pitchFamily="50" charset="-128"/>
                <a:ea typeface="Meiryo UI" pitchFamily="50" charset="-128"/>
                <a:cs typeface="Meiryo UI" pitchFamily="50" charset="-128"/>
              </a:rPr>
              <a:t>for Outsourcing Pre-Kick Off Meeting</a:t>
            </a:r>
          </a:p>
        </p:txBody>
      </p:sp>
      <p:graphicFrame>
        <p:nvGraphicFramePr>
          <p:cNvPr id="6" name="Group 147"/>
          <p:cNvGraphicFramePr>
            <a:graphicFrameLocks noGrp="1"/>
          </p:cNvGraphicFramePr>
          <p:nvPr>
            <p:extLst>
              <p:ext uri="{D42A27DB-BD31-4B8C-83A1-F6EECF244321}">
                <p14:modId xmlns:p14="http://schemas.microsoft.com/office/powerpoint/2010/main" val="3455379459"/>
              </p:ext>
            </p:extLst>
          </p:nvPr>
        </p:nvGraphicFramePr>
        <p:xfrm>
          <a:off x="4754310" y="980852"/>
          <a:ext cx="4248473" cy="656736"/>
        </p:xfrm>
        <a:graphic>
          <a:graphicData uri="http://schemas.openxmlformats.org/drawingml/2006/table">
            <a:tbl>
              <a:tblPr/>
              <a:tblGrid>
                <a:gridCol w="1584176">
                  <a:extLst>
                    <a:ext uri="{9D8B030D-6E8A-4147-A177-3AD203B41FA5}">
                      <a16:colId xmlns:a16="http://schemas.microsoft.com/office/drawing/2014/main" val="20000"/>
                    </a:ext>
                  </a:extLst>
                </a:gridCol>
                <a:gridCol w="1454368">
                  <a:extLst>
                    <a:ext uri="{9D8B030D-6E8A-4147-A177-3AD203B41FA5}">
                      <a16:colId xmlns:a16="http://schemas.microsoft.com/office/drawing/2014/main" val="20001"/>
                    </a:ext>
                  </a:extLst>
                </a:gridCol>
                <a:gridCol w="1209929">
                  <a:extLst>
                    <a:ext uri="{9D8B030D-6E8A-4147-A177-3AD203B41FA5}">
                      <a16:colId xmlns:a16="http://schemas.microsoft.com/office/drawing/2014/main" val="20002"/>
                    </a:ext>
                  </a:extLst>
                </a:gridCol>
              </a:tblGrid>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a:ln>
                            <a:noFill/>
                          </a:ln>
                          <a:solidFill>
                            <a:srgbClr val="0000FF"/>
                          </a:solidFill>
                          <a:effectLst/>
                          <a:latin typeface="Meiryo UI" panose="020B0604030504040204" pitchFamily="50" charset="-128"/>
                          <a:ea typeface="Meiryo UI" panose="020B0604030504040204" pitchFamily="50" charset="-128"/>
                          <a:cs typeface="Arial" pitchFamily="34" charset="0"/>
                        </a:rPr>
                        <a:t>Bosch</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Agreement day</a:t>
                      </a:r>
                      <a:endPar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488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Name of Approval</a:t>
                      </a:r>
                      <a:endPar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 name="Text Box 4"/>
          <p:cNvSpPr txBox="1">
            <a:spLocks noChangeArrowheads="1"/>
          </p:cNvSpPr>
          <p:nvPr/>
        </p:nvSpPr>
        <p:spPr bwMode="auto">
          <a:xfrm>
            <a:off x="6557555" y="569888"/>
            <a:ext cx="25442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r" eaLnBrk="1" hangingPunct="1">
              <a:spcBef>
                <a:spcPct val="50000"/>
              </a:spcBef>
            </a:pPr>
            <a:r>
              <a:rPr lang="en-US" altLang="ja-JP" sz="2000">
                <a:latin typeface="Meiryo UI" panose="020B0604030504040204" pitchFamily="50" charset="-128"/>
                <a:ea typeface="Meiryo UI" panose="020B0604030504040204" pitchFamily="50" charset="-128"/>
                <a:cs typeface="Arial" pitchFamily="34" charset="0"/>
              </a:rPr>
              <a:t>20**.**.**</a:t>
            </a:r>
          </a:p>
        </p:txBody>
      </p:sp>
      <p:graphicFrame>
        <p:nvGraphicFramePr>
          <p:cNvPr id="7" name="Group 147"/>
          <p:cNvGraphicFramePr>
            <a:graphicFrameLocks noGrp="1"/>
          </p:cNvGraphicFramePr>
          <p:nvPr>
            <p:extLst>
              <p:ext uri="{D42A27DB-BD31-4B8C-83A1-F6EECF244321}">
                <p14:modId xmlns:p14="http://schemas.microsoft.com/office/powerpoint/2010/main" val="3829700337"/>
              </p:ext>
            </p:extLst>
          </p:nvPr>
        </p:nvGraphicFramePr>
        <p:xfrm>
          <a:off x="2943958" y="5439389"/>
          <a:ext cx="6092538" cy="1319024"/>
        </p:xfrm>
        <a:graphic>
          <a:graphicData uri="http://schemas.openxmlformats.org/drawingml/2006/table">
            <a:tbl>
              <a:tblPr/>
              <a:tblGrid>
                <a:gridCol w="360039">
                  <a:extLst>
                    <a:ext uri="{9D8B030D-6E8A-4147-A177-3AD203B41FA5}">
                      <a16:colId xmlns:a16="http://schemas.microsoft.com/office/drawing/2014/main" val="20000"/>
                    </a:ext>
                  </a:extLst>
                </a:gridCol>
                <a:gridCol w="3299418">
                  <a:extLst>
                    <a:ext uri="{9D8B030D-6E8A-4147-A177-3AD203B41FA5}">
                      <a16:colId xmlns:a16="http://schemas.microsoft.com/office/drawing/2014/main" val="20001"/>
                    </a:ext>
                  </a:extLst>
                </a:gridCol>
                <a:gridCol w="1079918">
                  <a:extLst>
                    <a:ext uri="{9D8B030D-6E8A-4147-A177-3AD203B41FA5}">
                      <a16:colId xmlns:a16="http://schemas.microsoft.com/office/drawing/2014/main" val="20002"/>
                    </a:ext>
                  </a:extLst>
                </a:gridCol>
                <a:gridCol w="1353163">
                  <a:extLst>
                    <a:ext uri="{9D8B030D-6E8A-4147-A177-3AD203B41FA5}">
                      <a16:colId xmlns:a16="http://schemas.microsoft.com/office/drawing/2014/main" val="20003"/>
                    </a:ext>
                  </a:extLst>
                </a:gridCol>
              </a:tblGrid>
              <a:tr h="1448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3304857"/>
                  </a:ext>
                </a:extLst>
              </a:tr>
              <a:tr h="1448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48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03</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448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02</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48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01</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48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00</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New version for Pre-Kick Off Meeting</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2025 28 Jan</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HRAP Okubo</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4488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No.</a:t>
                      </a:r>
                    </a:p>
                  </a:txBody>
                  <a:tcPr marL="90000" marR="90000" marT="18016" marB="1801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REVISION RECORD</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DATE</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Organizer</a:t>
                      </a:r>
                    </a:p>
                  </a:txBody>
                  <a:tcPr marL="90000" marR="90000" marT="18016" marB="1801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69734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およびタイミング</a:t>
            </a:r>
            <a:b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indent="-342900" algn="l" eaLnBrk="1" hangingPunct="1">
              <a:spcBef>
                <a:spcPts val="0"/>
              </a:spcBef>
              <a:buFont typeface="+mj-lt"/>
              <a:buAutoNum type="arabicPeriod"/>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仕様差</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ja-JP" altLang="en-US" sz="1400">
                <a:solidFill>
                  <a:srgbClr val="000000"/>
                </a:solidFill>
                <a:latin typeface="Meiryo UI" panose="020B0604030504040204" pitchFamily="50" charset="-128"/>
                <a:ea typeface="Meiryo UI" panose="020B0604030504040204" pitchFamily="50" charset="-128"/>
                <a:cs typeface="Arial" pitchFamily="34" charset="0"/>
              </a:rPr>
              <a:t>・プロジェクト情報</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関連部品</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Spec</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EMS</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シート</a:t>
            </a:r>
            <a:endParaRPr lang="en-US" altLang="ja-JP" sz="1400" noProof="0">
              <a:solidFill>
                <a:srgbClr val="000000"/>
              </a:solidFill>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ja-JP" altLang="en-US" sz="1400" noProof="0">
                <a:solidFill>
                  <a:srgbClr val="000000"/>
                </a:solidFill>
                <a:latin typeface="Meiryo UI" panose="020B0604030504040204" pitchFamily="50" charset="-128"/>
                <a:ea typeface="Meiryo UI" panose="020B0604030504040204" pitchFamily="50" charset="-128"/>
                <a:cs typeface="Arial" pitchFamily="34" charset="0"/>
              </a:rPr>
              <a:t>エキスパート</a:t>
            </a:r>
            <a:r>
              <a:rPr lang="en-US" altLang="ja-JP" sz="1400" noProof="0">
                <a:solidFill>
                  <a:srgbClr val="000000"/>
                </a:solidFill>
                <a:latin typeface="Meiryo UI" panose="020B0604030504040204" pitchFamily="50" charset="-128"/>
                <a:ea typeface="Meiryo UI" panose="020B0604030504040204" pitchFamily="50" charset="-128"/>
                <a:cs typeface="Arial" pitchFamily="34" charset="0"/>
              </a:rPr>
              <a:t>MTG</a:t>
            </a:r>
            <a:r>
              <a:rPr lang="ja-JP" altLang="en-US" sz="1400" noProof="0">
                <a:solidFill>
                  <a:srgbClr val="000000"/>
                </a:solidFill>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K</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ick-off Meeting</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en-US" altLang="ja-JP"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 S</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pec Comparison from Base Model</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a:solidFill>
                  <a:srgbClr val="000000"/>
                </a:solidFill>
                <a:latin typeface="Meiryo UI" panose="020B0604030504040204" pitchFamily="50" charset="-128"/>
                <a:ea typeface="Meiryo UI" panose="020B0604030504040204" pitchFamily="50" charset="-128"/>
                <a:cs typeface="Arial" pitchFamily="34" charset="0"/>
              </a:rPr>
              <a:t>Project information / Non-</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Components</a:t>
            </a:r>
            <a:endPar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ECU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and</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a:solidFill>
                  <a:srgbClr val="000000"/>
                </a:solidFill>
                <a:latin typeface="Meiryo UI" panose="020B0604030504040204" pitchFamily="50" charset="-128"/>
                <a:ea typeface="Meiryo UI" panose="020B0604030504040204" pitchFamily="50" charset="-128"/>
                <a:cs typeface="Arial" panose="020B0604020202020204" pitchFamily="34" charset="0"/>
              </a:rPr>
              <a:t>EMS Sheet</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a:solidFill>
                  <a:srgbClr val="000000"/>
                </a:solidFill>
                <a:latin typeface="Meiryo UI" panose="020B0604030504040204" pitchFamily="50" charset="-128"/>
                <a:ea typeface="Meiryo UI" panose="020B0604030504040204" pitchFamily="50" charset="-128"/>
                <a:cs typeface="Arial" panose="020B0604020202020204" pitchFamily="34" charset="0"/>
              </a:rPr>
              <a:t>Expert Meeting</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674886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indent="-342900" algn="l" eaLnBrk="1" hangingPunct="1">
              <a:spcBef>
                <a:spcPts val="0"/>
              </a:spcBef>
              <a:buFont typeface="+mj-lt"/>
              <a:buAutoNum type="arabicPeriod"/>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・プロジェクト情報</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関連部品</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Spec</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EMS</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シート</a:t>
            </a:r>
            <a:endParaRPr lang="en-US" altLang="ja-JP" sz="1400" noProof="0">
              <a:solidFill>
                <a:schemeClr val="bg1">
                  <a:lumMod val="65000"/>
                </a:schemeClr>
              </a:solidFill>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ja-JP" altLang="en-US" sz="1400" noProof="0">
                <a:solidFill>
                  <a:schemeClr val="bg1">
                    <a:lumMod val="65000"/>
                  </a:schemeClr>
                </a:solidFill>
                <a:latin typeface="Meiryo UI" panose="020B0604030504040204" pitchFamily="50" charset="-128"/>
                <a:ea typeface="Meiryo UI" panose="020B0604030504040204" pitchFamily="50" charset="-128"/>
                <a:cs typeface="Arial" pitchFamily="34" charset="0"/>
              </a:rPr>
              <a:t>エキスパート</a:t>
            </a:r>
            <a:r>
              <a:rPr lang="en-US" altLang="ja-JP" sz="1400" noProof="0">
                <a:solidFill>
                  <a:schemeClr val="bg1">
                    <a:lumMod val="65000"/>
                  </a:schemeClr>
                </a:solidFill>
                <a:latin typeface="Meiryo UI" panose="020B0604030504040204" pitchFamily="50" charset="-128"/>
                <a:ea typeface="Meiryo UI" panose="020B0604030504040204" pitchFamily="50" charset="-128"/>
                <a:cs typeface="Arial" pitchFamily="34" charset="0"/>
              </a:rPr>
              <a:t>MTG</a:t>
            </a:r>
            <a:r>
              <a:rPr lang="ja-JP" altLang="en-US" sz="1400" noProof="0">
                <a:solidFill>
                  <a:schemeClr val="bg1">
                    <a:lumMod val="65000"/>
                  </a:schemeClr>
                </a:solidFill>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lang="en-US" altLang="ja-JP" sz="1400" b="1">
                <a:solidFill>
                  <a:srgbClr val="000000"/>
                </a:solidFill>
                <a:latin typeface="Meiryo UI" panose="020B0604030504040204" pitchFamily="50" charset="-128"/>
                <a:ea typeface="Meiryo UI" panose="020B0604030504040204" pitchFamily="50" charset="-128"/>
                <a:cs typeface="Arial" pitchFamily="34" charset="0"/>
              </a:rPr>
              <a:t>K</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ick-off Meeting</a:t>
            </a:r>
            <a:endPar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err="1">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1" i="0" u="none" strike="noStrike" kern="1200" cap="none" spc="0" normalizeH="0" baseline="0" noProof="0" err="1">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pec Comparison from Base Model</a:t>
            </a:r>
            <a:b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Project information / Non-Bosch</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 </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Components</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and</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EMS Sheet</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Expert Meeting</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667800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3" name="Text Box 2"/>
          <p:cNvSpPr txBox="1">
            <a:spLocks noChangeArrowheads="1"/>
          </p:cNvSpPr>
          <p:nvPr/>
        </p:nvSpPr>
        <p:spPr bwMode="auto">
          <a:xfrm>
            <a:off x="107504" y="2683244"/>
            <a:ext cx="6234399" cy="14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ja-JP" altLang="en-US" sz="1600" b="1" u="sng">
                <a:latin typeface="Meiryo UI" panose="020B0604030504040204" pitchFamily="50" charset="-128"/>
                <a:ea typeface="Meiryo UI" panose="020B0604030504040204" pitchFamily="50" charset="-128"/>
              </a:rPr>
              <a:t>キックオフミーティングの目的</a:t>
            </a:r>
          </a:p>
          <a:p>
            <a:pPr algn="l" eaLnBrk="1" hangingPunct="1">
              <a:lnSpc>
                <a:spcPct val="120000"/>
              </a:lnSpc>
              <a:spcBef>
                <a:spcPts val="300"/>
              </a:spcBef>
            </a:pPr>
            <a:r>
              <a:rPr lang="ja-JP" altLang="en-US" sz="12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1)</a:t>
            </a:r>
            <a:r>
              <a:rPr lang="ja-JP" altLang="en-US" sz="1400">
                <a:latin typeface="Meiryo UI" panose="020B0604030504040204" pitchFamily="50" charset="-128"/>
                <a:ea typeface="Meiryo UI" panose="020B0604030504040204" pitchFamily="50" charset="-128"/>
              </a:rPr>
              <a:t>  開発をスタートするための前提条件を合意する。</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2)</a:t>
            </a:r>
            <a:r>
              <a:rPr lang="ja-JP" altLang="en-US" sz="1400">
                <a:latin typeface="Meiryo UI" panose="020B0604030504040204" pitchFamily="50" charset="-128"/>
                <a:ea typeface="Meiryo UI" panose="020B0604030504040204" pitchFamily="50" charset="-128"/>
              </a:rPr>
              <a:t>  開発の進め方について合意する</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3)</a:t>
            </a:r>
            <a:r>
              <a:rPr lang="ja-JP" altLang="en-US" sz="1400">
                <a:latin typeface="Meiryo UI" panose="020B0604030504040204" pitchFamily="50" charset="-128"/>
                <a:ea typeface="Meiryo UI" panose="020B0604030504040204" pitchFamily="50" charset="-128"/>
              </a:rPr>
              <a:t>  展開項目、役割分担、開発日程について合意する。</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4)  </a:t>
            </a:r>
            <a:r>
              <a:rPr lang="ja-JP" altLang="en-US" sz="1400">
                <a:latin typeface="Meiryo UI" panose="020B0604030504040204" pitchFamily="50" charset="-128"/>
                <a:ea typeface="Meiryo UI" panose="020B0604030504040204" pitchFamily="50" charset="-128"/>
              </a:rPr>
              <a:t>委託開発の具体的成果物を規定し、契約書添付資料として合意する</a:t>
            </a:r>
            <a:r>
              <a:rPr lang="en-US" altLang="ja-JP" sz="1400">
                <a:latin typeface="Meiryo UI" panose="020B0604030504040204" pitchFamily="50" charset="-128"/>
                <a:ea typeface="Meiryo UI" panose="020B0604030504040204" pitchFamily="50" charset="-128"/>
              </a:rPr>
              <a:t>     </a:t>
            </a:r>
          </a:p>
        </p:txBody>
      </p:sp>
      <p:sp>
        <p:nvSpPr>
          <p:cNvPr id="20487" name="Text Box 2"/>
          <p:cNvSpPr txBox="1">
            <a:spLocks noChangeArrowheads="1"/>
          </p:cNvSpPr>
          <p:nvPr/>
        </p:nvSpPr>
        <p:spPr bwMode="auto">
          <a:xfrm>
            <a:off x="107504" y="620690"/>
            <a:ext cx="8739789" cy="239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en-US" altLang="ja-JP" sz="1600" b="1" u="sng">
                <a:latin typeface="Meiryo UI" panose="020B0604030504040204" pitchFamily="50" charset="-128"/>
                <a:ea typeface="Meiryo UI" panose="020B0604030504040204" pitchFamily="50" charset="-128"/>
                <a:cs typeface="Arial" pitchFamily="34" charset="0"/>
              </a:rPr>
              <a:t>Purpose of Kick-off Meeting</a:t>
            </a:r>
            <a:endParaRPr lang="ja-JP" altLang="en-US" sz="1600" b="1" u="sng">
              <a:latin typeface="Meiryo UI" panose="020B0604030504040204" pitchFamily="50" charset="-128"/>
              <a:ea typeface="Meiryo UI" panose="020B0604030504040204" pitchFamily="50" charset="-128"/>
              <a:cs typeface="Arial" pitchFamily="34" charset="0"/>
            </a:endParaRPr>
          </a:p>
          <a:p>
            <a:pPr algn="l" eaLnBrk="1" hangingPunct="1">
              <a:lnSpc>
                <a:spcPct val="12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1)</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agree on the precondition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start the development</a:t>
            </a:r>
            <a:endParaRPr lang="ja-JP" altLang="en-US" sz="1400">
              <a:latin typeface="Meiryo UI" panose="020B0604030504040204" pitchFamily="50" charset="-128"/>
              <a:ea typeface="Meiryo UI" panose="020B0604030504040204" pitchFamily="50" charset="-128"/>
              <a:cs typeface="Arial" pitchFamily="34" charset="0"/>
            </a:endParaRPr>
          </a:p>
          <a:p>
            <a:pPr algn="l" eaLnBrk="1" hangingPunct="1">
              <a:lnSpc>
                <a:spcPct val="12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2)</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agree 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how to proceed the development</a:t>
            </a:r>
            <a:endParaRPr lang="ja-JP" altLang="en-US" sz="1400">
              <a:latin typeface="Meiryo UI" panose="020B0604030504040204" pitchFamily="50" charset="-128"/>
              <a:ea typeface="Meiryo UI" panose="020B0604030504040204" pitchFamily="50" charset="-128"/>
              <a:cs typeface="Arial" pitchFamily="34" charset="0"/>
            </a:endParaRPr>
          </a:p>
          <a:p>
            <a:pPr algn="l" eaLnBrk="1" hangingPunct="1">
              <a:lnSpc>
                <a:spcPct val="12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3)</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agree on roll-out items, role &amp; responsibility and development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schedule</a:t>
            </a:r>
          </a:p>
          <a:p>
            <a:pPr algn="l" eaLnBrk="1" hangingPunct="1">
              <a:lnSpc>
                <a:spcPct val="12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4)  To agree on attachment of the document to the contract, which provides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detailed deliverables for the Development Work (hereinafter defined) entrusted by Honda </a:t>
            </a:r>
          </a:p>
          <a:p>
            <a:pPr algn="l" eaLnBrk="1" hangingPunct="1">
              <a:lnSpc>
                <a:spcPct val="12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and rendered by the Entrustee. </a:t>
            </a:r>
          </a:p>
          <a:p>
            <a:pPr algn="l" eaLnBrk="1" hangingPunct="1">
              <a:lnSpc>
                <a:spcPct val="12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p>
        </p:txBody>
      </p:sp>
      <p:sp>
        <p:nvSpPr>
          <p:cNvPr id="9"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 Purpose</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of</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Kick-off</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Meeting</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Text Box 46"/>
          <p:cNvSpPr txBox="1">
            <a:spLocks noChangeArrowheads="1"/>
          </p:cNvSpPr>
          <p:nvPr/>
        </p:nvSpPr>
        <p:spPr bwMode="auto">
          <a:xfrm>
            <a:off x="133630" y="4148827"/>
            <a:ext cx="8713663"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This document is a meeting minutes of Kick-off meeting and a development guide for </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a:solidFill>
                  <a:srgbClr val="000000"/>
                </a:solidFill>
                <a:latin typeface="Meiryo UI" panose="020B0604030504040204" pitchFamily="50" charset="-128"/>
                <a:ea typeface="Meiryo UI" panose="020B0604030504040204" pitchFamily="50" charset="-128"/>
                <a:cs typeface="Arial" pitchFamily="34" charset="0"/>
              </a:rPr>
              <a:t>Honda</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Engine</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Management System(EMS) components</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development. </a:t>
            </a:r>
          </a:p>
          <a:p>
            <a:pPr algn="l" eaLnBrk="1" hangingPunct="1">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Please use this document for effective development work with recognizing role &amp; responsibility, schedule and communication rule at each party. </a:t>
            </a:r>
          </a:p>
          <a:p>
            <a:pPr algn="l" eaLnBrk="1" hangingPunct="1">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This</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document revision must be done with related teams’ agreement.</a:t>
            </a:r>
          </a:p>
          <a:p>
            <a:pPr algn="l" eaLnBrk="1" hangingPunct="1">
              <a:spcBef>
                <a:spcPts val="300"/>
              </a:spcBef>
            </a:pPr>
            <a:endParaRPr lang="en-US" altLang="ja-JP" sz="1400">
              <a:latin typeface="HGPｺﾞｼｯｸE" pitchFamily="50" charset="-128"/>
              <a:ea typeface="HGPｺﾞｼｯｸE" pitchFamily="50" charset="-128"/>
              <a:cs typeface="Arial" pitchFamily="34" charset="0"/>
            </a:endParaRPr>
          </a:p>
          <a:p>
            <a:pPr algn="l" eaLnBrk="1" hangingPunct="1">
              <a:spcBef>
                <a:spcPts val="300"/>
              </a:spcBef>
            </a:pPr>
            <a:r>
              <a:rPr lang="ja-JP" altLang="en-US" sz="1400">
                <a:latin typeface="Meiryo UI" panose="020B0604030504040204" pitchFamily="50" charset="-128"/>
                <a:ea typeface="Meiryo UI" panose="020B0604030504040204" pitchFamily="50" charset="-128"/>
                <a:cs typeface="Arial" pitchFamily="34" charset="0"/>
              </a:rPr>
              <a:t>本資料はキックオフミーティングの議事録であり、</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におけるエンジン部品開発のための開発進め方の手引きである。</a:t>
            </a:r>
          </a:p>
          <a:p>
            <a:pPr algn="l" eaLnBrk="1" hangingPunct="1">
              <a:spcBef>
                <a:spcPts val="300"/>
              </a:spcBef>
            </a:pPr>
            <a:r>
              <a:rPr lang="ja-JP" altLang="en-US" sz="1400">
                <a:latin typeface="Meiryo UI" panose="020B0604030504040204" pitchFamily="50" charset="-128"/>
                <a:ea typeface="Meiryo UI" panose="020B0604030504040204" pitchFamily="50" charset="-128"/>
                <a:cs typeface="Arial" pitchFamily="34" charset="0"/>
              </a:rPr>
              <a:t>関係各部署がそれぞれの役割分担</a:t>
            </a: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日程</a:t>
            </a: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コミニケーションルールを認識し</a:t>
            </a: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抜け漏れの無い効率的な開発を進めるために</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spcBef>
                <a:spcPts val="300"/>
              </a:spcBef>
            </a:pPr>
            <a:r>
              <a:rPr lang="ja-JP" altLang="en-US" sz="1400">
                <a:latin typeface="Meiryo UI" panose="020B0604030504040204" pitchFamily="50" charset="-128"/>
                <a:ea typeface="Meiryo UI" panose="020B0604030504040204" pitchFamily="50" charset="-128"/>
                <a:cs typeface="Arial" pitchFamily="34" charset="0"/>
              </a:rPr>
              <a:t>活用すること。</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spcBef>
                <a:spcPts val="300"/>
              </a:spcBef>
            </a:pPr>
            <a:r>
              <a:rPr lang="ja-JP" altLang="en-US" sz="1400">
                <a:latin typeface="Meiryo UI" panose="020B0604030504040204" pitchFamily="50" charset="-128"/>
                <a:ea typeface="Meiryo UI" panose="020B0604030504040204" pitchFamily="50" charset="-128"/>
                <a:cs typeface="Arial" pitchFamily="34" charset="0"/>
              </a:rPr>
              <a:t>内容の改廃に際しては関係各部署の合意の基に行う。 </a:t>
            </a:r>
            <a:endParaRPr lang="en-US" altLang="ja-JP" sz="1400">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285443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Scope</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of</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Development Work</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6" name="Text Box 2"/>
          <p:cNvSpPr txBox="1">
            <a:spLocks noChangeArrowheads="1"/>
          </p:cNvSpPr>
          <p:nvPr/>
        </p:nvSpPr>
        <p:spPr bwMode="auto">
          <a:xfrm>
            <a:off x="107504" y="4063983"/>
            <a:ext cx="8918930" cy="2412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000" algn="l" eaLnBrk="1" hangingPunct="1">
              <a:lnSpc>
                <a:spcPct val="130000"/>
              </a:lnSpc>
            </a:pPr>
            <a:r>
              <a:rPr lang="ja-JP" altLang="en-US" sz="1600" b="1" u="sng">
                <a:latin typeface="Meiryo UI" panose="020B0604030504040204" pitchFamily="50" charset="-128"/>
                <a:ea typeface="Meiryo UI" panose="020B0604030504040204" pitchFamily="50" charset="-128"/>
              </a:rPr>
              <a:t>委託開発適用範囲</a:t>
            </a:r>
            <a:br>
              <a:rPr lang="en-US" altLang="ja-JP" sz="1600" b="1" u="sng">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この資料は、</a:t>
            </a:r>
            <a:r>
              <a:rPr lang="en-US" altLang="ja-JP" sz="1400">
                <a:solidFill>
                  <a:srgbClr val="FF0000"/>
                </a:solidFill>
                <a:latin typeface="Meiryo UI" panose="020B0604030504040204" pitchFamily="50" charset="-128"/>
                <a:ea typeface="Meiryo UI" panose="020B0604030504040204" pitchFamily="50" charset="-128"/>
              </a:rPr>
              <a:t>2027</a:t>
            </a:r>
            <a:r>
              <a:rPr lang="ja-JP" altLang="en-US" sz="1400">
                <a:solidFill>
                  <a:srgbClr val="FF0000"/>
                </a:solidFill>
                <a:latin typeface="Meiryo UI" panose="020B0604030504040204" pitchFamily="50" charset="-128"/>
                <a:ea typeface="Meiryo UI" panose="020B0604030504040204" pitchFamily="50" charset="-128"/>
              </a:rPr>
              <a:t>年</a:t>
            </a:r>
            <a:r>
              <a:rPr lang="en-US" altLang="ja-JP" sz="1400">
                <a:solidFill>
                  <a:srgbClr val="FF0000"/>
                </a:solidFill>
                <a:latin typeface="Meiryo UI" panose="020B0604030504040204" pitchFamily="50" charset="-128"/>
                <a:ea typeface="Meiryo UI" panose="020B0604030504040204" pitchFamily="50" charset="-128"/>
              </a:rPr>
              <a:t>04</a:t>
            </a:r>
            <a:r>
              <a:rPr lang="ja-JP" altLang="en-US" sz="1400">
                <a:solidFill>
                  <a:srgbClr val="FF0000"/>
                </a:solidFill>
                <a:latin typeface="Meiryo UI" panose="020B0604030504040204" pitchFamily="50" charset="-128"/>
                <a:ea typeface="Meiryo UI" panose="020B0604030504040204" pitchFamily="50" charset="-128"/>
              </a:rPr>
              <a:t>月</a:t>
            </a:r>
            <a:r>
              <a:rPr lang="ja-JP" altLang="en-US" sz="1400">
                <a:latin typeface="Meiryo UI" panose="020B0604030504040204" pitchFamily="50" charset="-128"/>
                <a:ea typeface="Meiryo UI" panose="020B0604030504040204" pitchFamily="50" charset="-128"/>
              </a:rPr>
              <a:t>から</a:t>
            </a:r>
            <a:r>
              <a:rPr lang="en-US" altLang="ja-JP" sz="1400">
                <a:solidFill>
                  <a:srgbClr val="FF0000"/>
                </a:solidFill>
                <a:latin typeface="Meiryo UI" panose="020B0604030504040204" pitchFamily="50" charset="-128"/>
                <a:ea typeface="Meiryo UI" panose="020B0604030504040204" pitchFamily="50" charset="-128"/>
              </a:rPr>
              <a:t>HCIL</a:t>
            </a:r>
            <a:r>
              <a:rPr lang="zh-TW" altLang="en-US" sz="1400">
                <a:latin typeface="Meiryo UI" panose="020B0604030504040204" pitchFamily="50" charset="-128"/>
                <a:ea typeface="Meiryo UI" panose="020B0604030504040204" pitchFamily="50" charset="-128"/>
              </a:rPr>
              <a:t>完成車工場</a:t>
            </a:r>
            <a:r>
              <a:rPr lang="ja-JP" altLang="en-US" sz="1400">
                <a:latin typeface="Meiryo UI" panose="020B0604030504040204" pitchFamily="50" charset="-128"/>
                <a:ea typeface="Meiryo UI" panose="020B0604030504040204" pitchFamily="50" charset="-128"/>
              </a:rPr>
              <a:t>にて量産される</a:t>
            </a:r>
            <a:r>
              <a:rPr lang="en-US" altLang="ja-JP" sz="1400">
                <a:solidFill>
                  <a:srgbClr val="FF0000"/>
                </a:solidFill>
                <a:latin typeface="Meiryo UI" panose="020B0604030504040204" pitchFamily="50" charset="-128"/>
                <a:ea typeface="Meiryo UI" panose="020B0604030504040204" pitchFamily="50" charset="-128"/>
              </a:rPr>
              <a:t>28</a:t>
            </a:r>
            <a:r>
              <a:rPr lang="en-US" altLang="ja-JP" sz="1400">
                <a:latin typeface="Meiryo UI" panose="020B0604030504040204" pitchFamily="50" charset="-128"/>
                <a:ea typeface="Meiryo UI" panose="020B0604030504040204" pitchFamily="50" charset="-128"/>
              </a:rPr>
              <a:t>MY</a:t>
            </a:r>
            <a:r>
              <a:rPr lang="ja-JP" altLang="en-US" sz="1400">
                <a:solidFill>
                  <a:srgbClr val="FF0000"/>
                </a:solidFill>
                <a:latin typeface="Meiryo UI" panose="020B0604030504040204" pitchFamily="50" charset="-128"/>
                <a:ea typeface="Meiryo UI" panose="020B0604030504040204" pitchFamily="50" charset="-128"/>
              </a:rPr>
              <a:t> </a:t>
            </a:r>
            <a:r>
              <a:rPr lang="en-US" altLang="ja-JP" sz="1400">
                <a:solidFill>
                  <a:srgbClr val="FF0000"/>
                </a:solidFill>
                <a:latin typeface="Meiryo UI" panose="020B0604030504040204" pitchFamily="50" charset="-128"/>
                <a:ea typeface="Meiryo UI" panose="020B0604030504040204" pitchFamily="50" charset="-128"/>
              </a:rPr>
              <a:t>6SAA-MMC </a:t>
            </a:r>
            <a:r>
              <a:rPr lang="en-US" altLang="ja-JP" sz="1400">
                <a:latin typeface="Meiryo UI" panose="020B0604030504040204" pitchFamily="50" charset="-128"/>
                <a:ea typeface="Meiryo UI" panose="020B0604030504040204" pitchFamily="50" charset="-128"/>
              </a:rPr>
              <a:t>(</a:t>
            </a:r>
            <a:r>
              <a:rPr lang="en-US" altLang="ja-JP" sz="1400">
                <a:solidFill>
                  <a:srgbClr val="FF0000"/>
                </a:solidFill>
                <a:latin typeface="Meiryo UI" panose="020B0604030504040204" pitchFamily="50" charset="-128"/>
                <a:ea typeface="Meiryo UI" panose="020B0604030504040204" pitchFamily="50" charset="-128"/>
              </a:rPr>
              <a:t>12L GDI 4</a:t>
            </a:r>
            <a:r>
              <a:rPr lang="ja-JP" altLang="en-US" sz="1400">
                <a:solidFill>
                  <a:srgbClr val="FF0000"/>
                </a:solidFill>
                <a:latin typeface="Meiryo UI" panose="020B0604030504040204" pitchFamily="50" charset="-128"/>
                <a:ea typeface="Meiryo UI" panose="020B0604030504040204" pitchFamily="50" charset="-128"/>
              </a:rPr>
              <a:t>気筒</a:t>
            </a:r>
            <a:r>
              <a:rPr lang="ja-JP" altLang="en-US" sz="1400">
                <a:latin typeface="Meiryo UI" panose="020B0604030504040204" pitchFamily="50" charset="-128"/>
                <a:ea typeface="Meiryo UI" panose="020B0604030504040204" pitchFamily="50" charset="-128"/>
              </a:rPr>
              <a:t>） に適用する</a:t>
            </a:r>
            <a:br>
              <a:rPr lang="en-US" altLang="ja-JP" sz="1400">
                <a:latin typeface="Meiryo UI" panose="020B0604030504040204" pitchFamily="50" charset="-128"/>
                <a:ea typeface="Meiryo UI" panose="020B0604030504040204" pitchFamily="50" charset="-128"/>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部品、及び </a:t>
            </a:r>
            <a:r>
              <a:rPr lang="en-US" altLang="ja-JP" sz="1400">
                <a:latin typeface="Meiryo UI" panose="020B0604030504040204" pitchFamily="50" charset="-128"/>
                <a:ea typeface="Meiryo UI" panose="020B0604030504040204" pitchFamily="50" charset="-128"/>
              </a:rPr>
              <a:t>Model </a:t>
            </a:r>
            <a:r>
              <a:rPr lang="ja-JP" altLang="en-US" sz="1400">
                <a:latin typeface="Meiryo UI" panose="020B0604030504040204" pitchFamily="50" charset="-128"/>
                <a:ea typeface="Meiryo UI" panose="020B0604030504040204" pitchFamily="50" charset="-128"/>
              </a:rPr>
              <a:t>開発の指針である。</a:t>
            </a:r>
            <a:br>
              <a:rPr lang="ja-JP" altLang="en-US"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ここに示す内容は主にキックオフミーティングから</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による最終技術判断</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開発完了</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、及び量産立上げまでの量産品質</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熟成期間に於ける委託開発技術項目に適用される。</a:t>
            </a:r>
            <a:endParaRPr lang="en-US" altLang="ja-JP" sz="1400" strike="sngStrike">
              <a:latin typeface="Meiryo UI" panose="020B0604030504040204" pitchFamily="50" charset="-128"/>
              <a:ea typeface="Meiryo UI" panose="020B0604030504040204" pitchFamily="50" charset="-128"/>
            </a:endParaRPr>
          </a:p>
          <a:p>
            <a:pPr marL="180000" algn="l">
              <a:lnSpc>
                <a:spcPct val="130000"/>
              </a:lnSpc>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本資料は技術詳細説明、開発実態に合わせた役割責任を記述するものであり、開発契約に添付されて開発契約の</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一部を構成する。</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契約条件は別途開発契約に規定される。</a:t>
            </a:r>
          </a:p>
        </p:txBody>
      </p:sp>
      <p:sp>
        <p:nvSpPr>
          <p:cNvPr id="8" name="Text Box 2"/>
          <p:cNvSpPr txBox="1">
            <a:spLocks noChangeArrowheads="1"/>
          </p:cNvSpPr>
          <p:nvPr/>
        </p:nvSpPr>
        <p:spPr bwMode="auto">
          <a:xfrm>
            <a:off x="107504" y="568438"/>
            <a:ext cx="8918930" cy="2976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a:latin typeface="Meiryo UI" panose="020B0604030504040204" pitchFamily="50" charset="-128"/>
                <a:ea typeface="Meiryo UI" panose="020B0604030504040204" pitchFamily="50" charset="-128"/>
                <a:cs typeface="Arial" pitchFamily="34" charset="0"/>
              </a:rPr>
              <a:t>Scope of Development Work  </a:t>
            </a:r>
          </a:p>
          <a:p>
            <a:pPr marL="180000" indent="0" algn="l" eaLnBrk="1" hangingPunct="1">
              <a:lnSpc>
                <a:spcPct val="12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This material is the guideline for</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EMS components and the full-model development</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a:solidFill>
                  <a:srgbClr val="000000"/>
                </a:solidFill>
                <a:latin typeface="Meiryo UI" panose="020B0604030504040204" pitchFamily="50" charset="-128"/>
                <a:ea typeface="Meiryo UI" panose="020B0604030504040204" pitchFamily="50" charset="-128"/>
                <a:cs typeface="Arial" pitchFamily="34" charset="0"/>
              </a:rPr>
              <a:t>for</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below</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models</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which</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will</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be</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equipped</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with</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1.2L DOHC 4-cylinder</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engine:</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28</a:t>
            </a:r>
            <a:r>
              <a:rPr lang="en-US" altLang="ja-JP" sz="1400">
                <a:latin typeface="Meiryo UI" panose="020B0604030504040204" pitchFamily="50" charset="-128"/>
                <a:ea typeface="Meiryo UI" panose="020B0604030504040204" pitchFamily="50" charset="-128"/>
                <a:cs typeface="Arial" pitchFamily="34" charset="0"/>
              </a:rPr>
              <a:t>MY</a:t>
            </a:r>
            <a:r>
              <a:rPr lang="ja-JP" altLang="en-US" sz="140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6SAA-MMC</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t>
            </a:r>
          </a:p>
          <a:p>
            <a:pPr marL="180000" indent="0" algn="l" eaLnBrk="1" hangingPunct="1">
              <a:lnSpc>
                <a:spcPct val="12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engine</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and vehicle will be produced at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HCIL</a:t>
            </a:r>
            <a:r>
              <a:rPr lang="en-US" altLang="ja-JP" sz="1400">
                <a:solidFill>
                  <a:srgbClr val="FF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Automobile Plant</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India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from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Apr.2027</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a:solidFill>
                  <a:srgbClr val="000000"/>
                </a:solidFill>
                <a:latin typeface="Meiryo UI" panose="020B0604030504040204" pitchFamily="50" charset="-128"/>
                <a:ea typeface="Meiryo UI" panose="020B0604030504040204" pitchFamily="50" charset="-128"/>
                <a:cs typeface="Arial" pitchFamily="34" charset="0"/>
              </a:rPr>
              <a:t>The contents herein shall be applied to the technical items of the consigned development mainly </a:t>
            </a:r>
          </a:p>
          <a:p>
            <a:pPr marL="180000" lvl="0" indent="0" algn="l" eaLnBrk="1" hangingPunct="1">
              <a:lnSpc>
                <a:spcPct val="12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from the kick-off meeting through the final technical judgment (prototype development </a:t>
            </a:r>
          </a:p>
          <a:p>
            <a:pPr marL="180000" lvl="0" indent="0" algn="l" eaLnBrk="1" hangingPunct="1">
              <a:lnSpc>
                <a:spcPct val="12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completion) and launch of SOP</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(Start of Production) for maturation of mass production quality</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a:solidFill>
                  <a:srgbClr val="000000"/>
                </a:solidFill>
                <a:latin typeface="Meiryo UI" panose="020B0604030504040204" pitchFamily="50" charset="-128"/>
                <a:ea typeface="Meiryo UI" panose="020B0604030504040204" pitchFamily="50" charset="-128"/>
                <a:cs typeface="Arial" pitchFamily="34" charset="0"/>
              </a:rPr>
              <a:t>in the Development Work. </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a:solidFill>
                  <a:srgbClr val="000000"/>
                </a:solidFill>
                <a:latin typeface="Meiryo UI" panose="020B0604030504040204" pitchFamily="50" charset="-128"/>
                <a:ea typeface="Meiryo UI" panose="020B0604030504040204" pitchFamily="50" charset="-128"/>
              </a:rPr>
              <a:t>This document describes the technical explanation, the responsibility of actual development </a:t>
            </a:r>
          </a:p>
          <a:p>
            <a:pPr marL="180000" lvl="0" indent="0" algn="l" eaLnBrk="1" hangingPunct="1">
              <a:lnSpc>
                <a:spcPct val="120000"/>
              </a:lnSpc>
            </a:pPr>
            <a:r>
              <a:rPr lang="en-US" altLang="ja-JP" sz="1400">
                <a:solidFill>
                  <a:srgbClr val="000000"/>
                </a:solidFill>
                <a:latin typeface="Meiryo UI" panose="020B0604030504040204" pitchFamily="50" charset="-128"/>
                <a:ea typeface="Meiryo UI" panose="020B0604030504040204" pitchFamily="50" charset="-128"/>
              </a:rPr>
              <a:t>condition and this document shall be attached to the development contract. </a:t>
            </a:r>
            <a:br>
              <a:rPr lang="en-US" altLang="ja-JP" sz="1400">
                <a:solidFill>
                  <a:srgbClr val="000000"/>
                </a:solidFill>
                <a:latin typeface="Meiryo UI" panose="020B0604030504040204" pitchFamily="50" charset="-128"/>
                <a:ea typeface="Meiryo UI" panose="020B0604030504040204" pitchFamily="50" charset="-128"/>
              </a:rPr>
            </a:br>
            <a:r>
              <a:rPr lang="en-US" altLang="ja-JP" sz="1400">
                <a:solidFill>
                  <a:srgbClr val="000000"/>
                </a:solidFill>
                <a:latin typeface="Meiryo UI" panose="020B0604030504040204" pitchFamily="50" charset="-128"/>
                <a:ea typeface="Meiryo UI" panose="020B0604030504040204" pitchFamily="50" charset="-128"/>
              </a:rPr>
              <a:t>The terms and condition shall be provided in the development agreement otherwise</a:t>
            </a:r>
            <a:r>
              <a:rPr lang="en-US" altLang="ja-JP" sz="1600">
                <a:latin typeface="Meiryo UI" panose="020B0604030504040204" pitchFamily="50" charset="-128"/>
                <a:ea typeface="Meiryo UI" panose="020B0604030504040204" pitchFamily="50" charset="-128"/>
                <a:cs typeface="Arial" pitchFamily="34" charset="0"/>
              </a:rPr>
              <a:t>.</a:t>
            </a:r>
          </a:p>
        </p:txBody>
      </p:sp>
    </p:spTree>
    <p:extLst>
      <p:ext uri="{BB962C8B-B14F-4D97-AF65-F5344CB8AC3E}">
        <p14:creationId xmlns:p14="http://schemas.microsoft.com/office/powerpoint/2010/main" val="2858604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p:cNvGraphicFramePr>
            <a:graphicFrameLocks noGrp="1"/>
          </p:cNvGraphicFramePr>
          <p:nvPr>
            <p:extLst>
              <p:ext uri="{D42A27DB-BD31-4B8C-83A1-F6EECF244321}">
                <p14:modId xmlns:p14="http://schemas.microsoft.com/office/powerpoint/2010/main" val="1595230967"/>
              </p:ext>
            </p:extLst>
          </p:nvPr>
        </p:nvGraphicFramePr>
        <p:xfrm>
          <a:off x="107832" y="845499"/>
          <a:ext cx="8928000" cy="4437726"/>
        </p:xfrm>
        <a:graphic>
          <a:graphicData uri="http://schemas.openxmlformats.org/drawingml/2006/table">
            <a:tbl>
              <a:tblPr firstRow="1" bandRow="1">
                <a:tableStyleId>{5940675A-B579-460E-94D1-54222C63F5DA}</a:tableStyleId>
              </a:tblPr>
              <a:tblGrid>
                <a:gridCol w="3204000">
                  <a:extLst>
                    <a:ext uri="{9D8B030D-6E8A-4147-A177-3AD203B41FA5}">
                      <a16:colId xmlns:a16="http://schemas.microsoft.com/office/drawing/2014/main" val="2758113192"/>
                    </a:ext>
                  </a:extLst>
                </a:gridCol>
                <a:gridCol w="5724000">
                  <a:extLst>
                    <a:ext uri="{9D8B030D-6E8A-4147-A177-3AD203B41FA5}">
                      <a16:colId xmlns:a16="http://schemas.microsoft.com/office/drawing/2014/main" val="319493319"/>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800" b="1">
                          <a:latin typeface="Meiryo UI" panose="020B0604030504040204" pitchFamily="50" charset="-128"/>
                          <a:ea typeface="Meiryo UI" panose="020B0604030504040204" pitchFamily="50" charset="-128"/>
                          <a:cs typeface="Arial" pitchFamily="34" charset="0"/>
                        </a:rPr>
                        <a:t>Object:</a:t>
                      </a:r>
                      <a:endParaRPr lang="en-US" altLang="ja-JP" sz="1800">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800" b="1">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8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800" b="1">
                          <a:latin typeface="Meiryo UI" panose="020B0604030504040204" pitchFamily="50" charset="-128"/>
                          <a:ea typeface="Meiryo UI" panose="020B0604030504040204" pitchFamily="50" charset="-128"/>
                          <a:cs typeface="Arial" pitchFamily="34" charset="0"/>
                        </a:rPr>
                        <a:t>Engine Management System and </a:t>
                      </a:r>
                      <a:br>
                        <a:rPr lang="en-US" altLang="ja-JP" sz="1800" b="1">
                          <a:latin typeface="Meiryo UI" panose="020B0604030504040204" pitchFamily="50" charset="-128"/>
                          <a:ea typeface="Meiryo UI" panose="020B0604030504040204" pitchFamily="50" charset="-128"/>
                          <a:cs typeface="Arial" pitchFamily="34" charset="0"/>
                        </a:rPr>
                      </a:br>
                      <a:r>
                        <a:rPr lang="en-US" altLang="ja-JP" sz="1800" b="1">
                          <a:latin typeface="Meiryo UI" panose="020B0604030504040204" pitchFamily="50" charset="-128"/>
                          <a:ea typeface="Meiryo UI" panose="020B0604030504040204" pitchFamily="50" charset="-128"/>
                          <a:cs typeface="Arial" pitchFamily="34" charset="0"/>
                        </a:rPr>
                        <a:t>Parts Development</a:t>
                      </a:r>
                    </a:p>
                  </a:txBody>
                  <a:tcPr/>
                </a:tc>
                <a:extLst>
                  <a:ext uri="{0D108BD9-81ED-4DB2-BD59-A6C34878D82A}">
                    <a16:rowId xmlns:a16="http://schemas.microsoft.com/office/drawing/2014/main" val="781586341"/>
                  </a:ext>
                </a:extLst>
              </a:tr>
              <a:tr h="741680">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800" b="1">
                          <a:latin typeface="Meiryo UI" panose="020B0604030504040204" pitchFamily="50" charset="-128"/>
                          <a:ea typeface="Meiryo UI" panose="020B0604030504040204" pitchFamily="50" charset="-128"/>
                          <a:cs typeface="Arial" pitchFamily="34" charset="0"/>
                        </a:rPr>
                        <a:t>Entrustee</a:t>
                      </a:r>
                      <a:r>
                        <a:rPr lang="ja-JP" altLang="en-US" sz="1800">
                          <a:latin typeface="Meiryo UI" panose="020B0604030504040204" pitchFamily="50" charset="-128"/>
                          <a:ea typeface="Meiryo UI" panose="020B0604030504040204" pitchFamily="50" charset="-128"/>
                          <a:cs typeface="Arial" pitchFamily="34" charset="0"/>
                        </a:rPr>
                        <a:t> （受託者）</a:t>
                      </a:r>
                      <a:endParaRPr lang="en-US" altLang="ja-JP" sz="1800">
                        <a:latin typeface="Meiryo UI" panose="020B0604030504040204" pitchFamily="50" charset="-128"/>
                        <a:ea typeface="Meiryo UI" panose="020B0604030504040204" pitchFamily="50" charset="-128"/>
                        <a:cs typeface="Arial" pitchFamily="34" charset="0"/>
                      </a:endParaRPr>
                    </a:p>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600">
                          <a:latin typeface="Meiryo UI" panose="020B0604030504040204" pitchFamily="50" charset="-128"/>
                          <a:ea typeface="Meiryo UI" panose="020B0604030504040204" pitchFamily="50" charset="-128"/>
                          <a:cs typeface="Arial" pitchFamily="34" charset="0"/>
                        </a:rPr>
                        <a:t> Development</a:t>
                      </a:r>
                      <a:r>
                        <a:rPr lang="ja-JP" altLang="en-US" sz="1600">
                          <a:latin typeface="Meiryo UI" panose="020B0604030504040204" pitchFamily="50" charset="-128"/>
                          <a:ea typeface="Meiryo UI" panose="020B0604030504040204" pitchFamily="50" charset="-128"/>
                          <a:cs typeface="Arial" pitchFamily="34" charset="0"/>
                        </a:rPr>
                        <a:t> </a:t>
                      </a:r>
                      <a:r>
                        <a:rPr lang="en-US" altLang="ja-JP" sz="1600">
                          <a:latin typeface="Meiryo UI" panose="020B0604030504040204" pitchFamily="50" charset="-128"/>
                          <a:ea typeface="Meiryo UI" panose="020B0604030504040204" pitchFamily="50" charset="-128"/>
                          <a:cs typeface="Arial" pitchFamily="34" charset="0"/>
                        </a:rPr>
                        <a:t>Location</a:t>
                      </a:r>
                      <a:r>
                        <a:rPr lang="ja-JP" altLang="en-US" sz="1600">
                          <a:latin typeface="Meiryo UI" panose="020B0604030504040204" pitchFamily="50" charset="-128"/>
                          <a:ea typeface="Meiryo UI" panose="020B0604030504040204" pitchFamily="50" charset="-128"/>
                          <a:cs typeface="Arial" pitchFamily="34" charset="0"/>
                        </a:rPr>
                        <a:t> </a:t>
                      </a:r>
                      <a:r>
                        <a:rPr lang="en-US" altLang="ja-JP" sz="1800">
                          <a:latin typeface="Meiryo UI" panose="020B0604030504040204" pitchFamily="50" charset="-128"/>
                          <a:ea typeface="Meiryo UI" panose="020B0604030504040204" pitchFamily="50" charset="-128"/>
                          <a:cs typeface="Arial" pitchFamily="34" charset="0"/>
                        </a:rPr>
                        <a:t>:</a:t>
                      </a:r>
                    </a:p>
                  </a:txBody>
                  <a:tcPr/>
                </a:tc>
                <a:tc>
                  <a:txBody>
                    <a:bodyPr/>
                    <a:lstStyle/>
                    <a:p>
                      <a:pPr algn="l" eaLnBrk="1" hangingPunct="1">
                        <a:lnSpc>
                          <a:spcPct val="150000"/>
                        </a:lnSpc>
                      </a:pPr>
                      <a:r>
                        <a:rPr lang="en-US" altLang="ja-JP" sz="1800" b="1" baseline="0" dirty="0">
                          <a:solidFill>
                            <a:srgbClr val="0000FF"/>
                          </a:solidFill>
                          <a:latin typeface="Meiryo UI" panose="020B0604030504040204" pitchFamily="50" charset="-128"/>
                          <a:ea typeface="Meiryo UI" panose="020B0604030504040204" pitchFamily="50" charset="-128"/>
                          <a:cs typeface="Arial" pitchFamily="34" charset="0"/>
                        </a:rPr>
                        <a:t>Bosch Co. Ltd.</a:t>
                      </a:r>
                      <a:r>
                        <a:rPr lang="en-US" altLang="ja-JP" sz="1800" b="1" dirty="0">
                          <a:latin typeface="Meiryo UI" panose="020B0604030504040204" pitchFamily="50" charset="-128"/>
                          <a:ea typeface="Meiryo UI" panose="020B0604030504040204" pitchFamily="50" charset="-128"/>
                          <a:cs typeface="Arial" pitchFamily="34" charset="0"/>
                        </a:rPr>
                        <a:t> </a:t>
                      </a:r>
                      <a:endParaRPr lang="en-US" altLang="ja-JP" sz="1600" b="0" dirty="0">
                        <a:latin typeface="Meiryo UI" panose="020B0604030504040204" pitchFamily="50" charset="-128"/>
                        <a:ea typeface="Meiryo UI" panose="020B0604030504040204" pitchFamily="50" charset="-128"/>
                        <a:cs typeface="Arial" pitchFamily="34" charset="0"/>
                      </a:endParaRPr>
                    </a:p>
                    <a:p>
                      <a:pPr algn="l" eaLnBrk="1" hangingPunct="1">
                        <a:lnSpc>
                          <a:spcPct val="150000"/>
                        </a:lnSpc>
                      </a:pPr>
                      <a:r>
                        <a:rPr lang="en-US" altLang="ja-JP" sz="1600" dirty="0">
                          <a:latin typeface="Meiryo UI" panose="020B0604030504040204" pitchFamily="50" charset="-128"/>
                          <a:ea typeface="Meiryo UI" panose="020B0604030504040204" pitchFamily="50" charset="-128"/>
                          <a:cs typeface="Arial" pitchFamily="34" charset="0"/>
                        </a:rPr>
                        <a:t>Project Management</a:t>
                      </a:r>
                      <a:r>
                        <a:rPr lang="ja-JP" altLang="en-US" sz="1600" dirty="0">
                          <a:latin typeface="Meiryo UI" panose="020B0604030504040204" pitchFamily="50" charset="-128"/>
                          <a:ea typeface="Meiryo UI" panose="020B0604030504040204" pitchFamily="50" charset="-128"/>
                          <a:cs typeface="Arial" pitchFamily="34" charset="0"/>
                        </a:rPr>
                        <a:t> </a:t>
                      </a:r>
                      <a:r>
                        <a:rPr lang="en-US" altLang="ja-JP" sz="1600" dirty="0">
                          <a:latin typeface="Meiryo UI" panose="020B0604030504040204" pitchFamily="50" charset="-128"/>
                          <a:ea typeface="Meiryo UI" panose="020B0604030504040204" pitchFamily="50" charset="-128"/>
                          <a:cs typeface="Arial" pitchFamily="34" charset="0"/>
                        </a:rPr>
                        <a:t>:</a:t>
                      </a:r>
                      <a:r>
                        <a:rPr lang="en-US" altLang="ja-JP" sz="1600" dirty="0">
                          <a:solidFill>
                            <a:srgbClr val="0000FF"/>
                          </a:solidFill>
                          <a:latin typeface="Meiryo UI" panose="020B0604030504040204" pitchFamily="50" charset="-128"/>
                          <a:ea typeface="Meiryo UI" panose="020B0604030504040204" pitchFamily="50" charset="-128"/>
                          <a:cs typeface="Arial" pitchFamily="34" charset="0"/>
                        </a:rPr>
                        <a:t>Bosch Japan</a:t>
                      </a:r>
                      <a:endParaRPr lang="en-US" altLang="ja-JP" sz="1600" dirty="0">
                        <a:latin typeface="Meiryo UI" panose="020B0604030504040204" pitchFamily="50" charset="-128"/>
                        <a:ea typeface="Meiryo UI" panose="020B0604030504040204" pitchFamily="50" charset="-128"/>
                        <a:cs typeface="Arial" pitchFamily="34" charset="0"/>
                      </a:endParaRPr>
                    </a:p>
                    <a:p>
                      <a:pPr algn="l" eaLnBrk="1" hangingPunct="1">
                        <a:lnSpc>
                          <a:spcPct val="150000"/>
                        </a:lnSpc>
                      </a:pPr>
                      <a:r>
                        <a:rPr lang="en-US" altLang="ja-JP" sz="1600" dirty="0">
                          <a:latin typeface="Meiryo UI" panose="020B0604030504040204" pitchFamily="50" charset="-128"/>
                          <a:ea typeface="Meiryo UI" panose="020B0604030504040204" pitchFamily="50" charset="-128"/>
                          <a:cs typeface="Arial" pitchFamily="34" charset="0"/>
                        </a:rPr>
                        <a:t>Software</a:t>
                      </a:r>
                      <a:r>
                        <a:rPr lang="ja-JP" altLang="en-US" sz="1600" dirty="0">
                          <a:latin typeface="Meiryo UI" panose="020B0604030504040204" pitchFamily="50" charset="-128"/>
                          <a:ea typeface="Meiryo UI" panose="020B0604030504040204" pitchFamily="50" charset="-128"/>
                          <a:cs typeface="Arial" pitchFamily="34" charset="0"/>
                        </a:rPr>
                        <a:t>   </a:t>
                      </a:r>
                      <a:r>
                        <a:rPr lang="en-US" altLang="ja-JP" sz="1600" dirty="0">
                          <a:latin typeface="Meiryo UI" panose="020B0604030504040204" pitchFamily="50" charset="-128"/>
                          <a:ea typeface="Meiryo UI" panose="020B0604030504040204" pitchFamily="50" charset="-128"/>
                          <a:cs typeface="Arial" pitchFamily="34" charset="0"/>
                        </a:rPr>
                        <a:t>:	</a:t>
                      </a:r>
                      <a:r>
                        <a:rPr lang="en-US" altLang="ja-JP" sz="1600" dirty="0">
                          <a:solidFill>
                            <a:srgbClr val="0000FF"/>
                          </a:solidFill>
                          <a:latin typeface="Meiryo UI" panose="020B0604030504040204" pitchFamily="50" charset="-128"/>
                          <a:ea typeface="Meiryo UI" panose="020B0604030504040204" pitchFamily="50" charset="-128"/>
                          <a:cs typeface="Arial" pitchFamily="34" charset="0"/>
                        </a:rPr>
                        <a:t>Not Fixed</a:t>
                      </a:r>
                      <a:endParaRPr lang="en-US" altLang="ja-JP" sz="1600" dirty="0">
                        <a:latin typeface="Meiryo UI" panose="020B0604030504040204" pitchFamily="50" charset="-128"/>
                        <a:ea typeface="Meiryo UI" panose="020B0604030504040204" pitchFamily="50" charset="-128"/>
                        <a:cs typeface="Arial" pitchFamily="34" charset="0"/>
                      </a:endParaRPr>
                    </a:p>
                    <a:p>
                      <a:pPr algn="l" eaLnBrk="1" hangingPunct="1">
                        <a:lnSpc>
                          <a:spcPct val="150000"/>
                        </a:lnSpc>
                      </a:pPr>
                      <a:r>
                        <a:rPr lang="en-US" altLang="ja-JP" sz="1600" dirty="0">
                          <a:latin typeface="Meiryo UI" panose="020B0604030504040204" pitchFamily="50" charset="-128"/>
                          <a:ea typeface="Meiryo UI" panose="020B0604030504040204" pitchFamily="50" charset="-128"/>
                          <a:cs typeface="Arial" pitchFamily="34" charset="0"/>
                        </a:rPr>
                        <a:t>Hardware </a:t>
                      </a:r>
                      <a:r>
                        <a:rPr lang="ja-JP" altLang="en-US" sz="1600" dirty="0">
                          <a:latin typeface="Meiryo UI" panose="020B0604030504040204" pitchFamily="50" charset="-128"/>
                          <a:ea typeface="Meiryo UI" panose="020B0604030504040204" pitchFamily="50" charset="-128"/>
                          <a:cs typeface="Arial" pitchFamily="34" charset="0"/>
                        </a:rPr>
                        <a:t> </a:t>
                      </a:r>
                      <a:r>
                        <a:rPr lang="en-US" altLang="ja-JP" sz="1600" dirty="0">
                          <a:latin typeface="Meiryo UI" panose="020B0604030504040204" pitchFamily="50" charset="-128"/>
                          <a:ea typeface="Meiryo UI" panose="020B0604030504040204" pitchFamily="50" charset="-128"/>
                          <a:cs typeface="Arial" pitchFamily="34" charset="0"/>
                        </a:rPr>
                        <a:t>:	</a:t>
                      </a:r>
                      <a:r>
                        <a:rPr lang="en-US" altLang="ja-JP" sz="1600" dirty="0">
                          <a:solidFill>
                            <a:srgbClr val="0000FF"/>
                          </a:solidFill>
                          <a:latin typeface="Meiryo UI" panose="020B0604030504040204" pitchFamily="50" charset="-128"/>
                          <a:ea typeface="Meiryo UI" panose="020B0604030504040204" pitchFamily="50" charset="-128"/>
                          <a:cs typeface="Arial" pitchFamily="34" charset="0"/>
                        </a:rPr>
                        <a:t>Bosch India</a:t>
                      </a:r>
                      <a:endParaRPr lang="en-US" altLang="ja-JP" sz="1600" dirty="0">
                        <a:latin typeface="Meiryo UI" panose="020B0604030504040204" pitchFamily="50" charset="-128"/>
                        <a:ea typeface="Meiryo UI" panose="020B0604030504040204" pitchFamily="50" charset="-128"/>
                        <a:cs typeface="Arial" pitchFamily="34" charset="0"/>
                      </a:endParaRPr>
                    </a:p>
                    <a:p>
                      <a:pPr algn="l" eaLnBrk="1" hangingPunct="1">
                        <a:lnSpc>
                          <a:spcPct val="150000"/>
                        </a:lnSpc>
                      </a:pPr>
                      <a:r>
                        <a:rPr lang="en-US" altLang="ja-JP" sz="1600" dirty="0">
                          <a:latin typeface="Meiryo UI" panose="020B0604030504040204" pitchFamily="50" charset="-128"/>
                          <a:ea typeface="Meiryo UI" panose="020B0604030504040204" pitchFamily="50" charset="-128"/>
                          <a:cs typeface="Arial" pitchFamily="34" charset="0"/>
                        </a:rPr>
                        <a:t>Calibration</a:t>
                      </a:r>
                      <a:r>
                        <a:rPr lang="ja-JP" altLang="en-US" sz="1600" dirty="0">
                          <a:latin typeface="Meiryo UI" panose="020B0604030504040204" pitchFamily="50" charset="-128"/>
                          <a:ea typeface="Meiryo UI" panose="020B0604030504040204" pitchFamily="50" charset="-128"/>
                          <a:cs typeface="Arial" pitchFamily="34" charset="0"/>
                        </a:rPr>
                        <a:t> </a:t>
                      </a:r>
                      <a:r>
                        <a:rPr lang="en-US" altLang="ja-JP" sz="1600" dirty="0">
                          <a:latin typeface="Meiryo UI" panose="020B0604030504040204" pitchFamily="50" charset="-128"/>
                          <a:ea typeface="Meiryo UI" panose="020B0604030504040204" pitchFamily="50" charset="-128"/>
                          <a:cs typeface="Arial" pitchFamily="34" charset="0"/>
                        </a:rPr>
                        <a:t>:	</a:t>
                      </a:r>
                      <a:r>
                        <a:rPr lang="en-US" altLang="ja-JP" sz="1600" dirty="0">
                          <a:solidFill>
                            <a:srgbClr val="0000FF"/>
                          </a:solidFill>
                          <a:latin typeface="Meiryo UI" panose="020B0604030504040204" pitchFamily="50" charset="-128"/>
                          <a:ea typeface="Meiryo UI" panose="020B0604030504040204" pitchFamily="50" charset="-128"/>
                          <a:cs typeface="Arial" pitchFamily="34" charset="0"/>
                        </a:rPr>
                        <a:t>Bosch India</a:t>
                      </a:r>
                      <a:endParaRPr lang="en-US" altLang="ja-JP" sz="1600" dirty="0">
                        <a:latin typeface="Meiryo UI" panose="020B0604030504040204" pitchFamily="50" charset="-128"/>
                        <a:ea typeface="Meiryo UI" panose="020B0604030504040204" pitchFamily="50" charset="-128"/>
                        <a:cs typeface="Arial" pitchFamily="34" charset="0"/>
                      </a:endParaRPr>
                    </a:p>
                    <a:p>
                      <a:pPr algn="l" eaLnBrk="1" hangingPunct="1">
                        <a:lnSpc>
                          <a:spcPct val="150000"/>
                        </a:lnSpc>
                      </a:pPr>
                      <a:endParaRPr lang="en-US" altLang="ja-JP" sz="1600" dirty="0">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947897534"/>
                  </a:ext>
                </a:extLst>
              </a:tr>
              <a:tr h="28800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000" dirty="0">
                        <a:latin typeface="Meiryo UI" panose="020B0604030504040204" pitchFamily="50" charset="-128"/>
                        <a:ea typeface="Meiryo UI" panose="020B0604030504040204" pitchFamily="50" charset="-128"/>
                        <a:cs typeface="Arial" pitchFamily="34" charset="0"/>
                      </a:endParaRPr>
                    </a:p>
                  </a:txBody>
                  <a:tcPr anchor="ct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800" b="1">
                        <a:latin typeface="Meiryo UI" panose="020B0604030504040204" pitchFamily="50" charset="-128"/>
                        <a:ea typeface="Meiryo UI" panose="020B0604030504040204" pitchFamily="50" charset="-128"/>
                        <a:cs typeface="Arial" pitchFamily="34" charset="0"/>
                      </a:endParaRPr>
                    </a:p>
                  </a:txBody>
                  <a:tcPr anchor="ctr"/>
                </a:tc>
                <a:extLst>
                  <a:ext uri="{0D108BD9-81ED-4DB2-BD59-A6C34878D82A}">
                    <a16:rowId xmlns:a16="http://schemas.microsoft.com/office/drawing/2014/main" val="4176649906"/>
                  </a:ext>
                </a:extLst>
              </a:tr>
              <a:tr h="468000">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800" b="1">
                          <a:latin typeface="Meiryo UI" panose="020B0604030504040204" pitchFamily="50" charset="-128"/>
                          <a:ea typeface="Meiryo UI" panose="020B0604030504040204" pitchFamily="50" charset="-128"/>
                          <a:cs typeface="Arial" pitchFamily="34" charset="0"/>
                        </a:rPr>
                        <a:t>Entrustor</a:t>
                      </a:r>
                      <a:r>
                        <a:rPr lang="ja-JP" altLang="en-US" sz="1800">
                          <a:latin typeface="Meiryo UI" panose="020B0604030504040204" pitchFamily="50" charset="-128"/>
                          <a:ea typeface="Meiryo UI" panose="020B0604030504040204" pitchFamily="50" charset="-128"/>
                          <a:cs typeface="Arial" pitchFamily="34" charset="0"/>
                        </a:rPr>
                        <a:t> （委託者）</a:t>
                      </a:r>
                      <a:endParaRPr lang="en-US" altLang="ja-JP" sz="1800">
                        <a:latin typeface="Meiryo UI" panose="020B0604030504040204" pitchFamily="50" charset="-128"/>
                        <a:ea typeface="Meiryo UI" panose="020B0604030504040204" pitchFamily="50" charset="-128"/>
                        <a:cs typeface="Arial" pitchFamily="34" charset="0"/>
                      </a:endParaRPr>
                    </a:p>
                    <a:p>
                      <a:pPr marL="0" marR="0" indent="0" algn="l" defTabSz="914400" rtl="0" eaLnBrk="1" fontAlgn="auto" latinLnBrk="0" hangingPunct="1">
                        <a:lnSpc>
                          <a:spcPct val="15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p>
                    <a:p>
                      <a:pPr marL="0" marR="0" indent="0" algn="l" defTabSz="914400" rtl="0" eaLnBrk="1" fontAlgn="auto" latinLnBrk="0" hangingPunct="1">
                        <a:lnSpc>
                          <a:spcPct val="150000"/>
                        </a:lnSpc>
                        <a:spcBef>
                          <a:spcPts val="0"/>
                        </a:spcBef>
                        <a:spcAft>
                          <a:spcPts val="0"/>
                        </a:spcAft>
                        <a:buClrTx/>
                        <a:buSzTx/>
                        <a:buFontTx/>
                        <a:buNone/>
                        <a:tabLst/>
                        <a:defRPr/>
                      </a:pPr>
                      <a:endPar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altLang="ja-JP" sz="1800" b="1" dirty="0">
                          <a:solidFill>
                            <a:schemeClr val="tx1"/>
                          </a:solidFill>
                          <a:latin typeface="Meiryo UI" panose="020B0604030504040204" pitchFamily="50" charset="-128"/>
                          <a:ea typeface="Meiryo UI" panose="020B0604030504040204" pitchFamily="50" charset="-128"/>
                          <a:cs typeface="Arial" pitchFamily="34" charset="0"/>
                        </a:rPr>
                        <a:t>Honda R&amp;D Asia Pacific Co., Ltd.</a:t>
                      </a:r>
                    </a:p>
                  </a:txBody>
                  <a:tcPr/>
                </a:tc>
                <a:extLst>
                  <a:ext uri="{0D108BD9-81ED-4DB2-BD59-A6C34878D82A}">
                    <a16:rowId xmlns:a16="http://schemas.microsoft.com/office/drawing/2014/main" val="3566861884"/>
                  </a:ext>
                </a:extLst>
              </a:tr>
            </a:tbl>
          </a:graphicData>
        </a:graphic>
      </p:graphicFrame>
      <p:sp>
        <p:nvSpPr>
          <p:cNvPr id="18434" name="Text Box 2"/>
          <p:cNvSpPr txBox="1">
            <a:spLocks noChangeArrowheads="1"/>
          </p:cNvSpPr>
          <p:nvPr/>
        </p:nvSpPr>
        <p:spPr bwMode="auto">
          <a:xfrm>
            <a:off x="120199" y="4320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3.</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Entrustor and Entrustee</a:t>
            </a:r>
            <a:endParaRPr lang="en-US" altLang="ja-JP" sz="1100">
              <a:solidFill>
                <a:srgbClr val="FFFFFF"/>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692653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4. Basic</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Concept</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Deliverables</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9" name="Text Box 2"/>
          <p:cNvSpPr txBox="1">
            <a:spLocks noChangeArrowheads="1"/>
          </p:cNvSpPr>
          <p:nvPr/>
        </p:nvSpPr>
        <p:spPr bwMode="auto">
          <a:xfrm>
            <a:off x="107504" y="542312"/>
            <a:ext cx="8918930" cy="330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a:latin typeface="Meiryo UI" panose="020B0604030504040204" pitchFamily="50" charset="-128"/>
                <a:ea typeface="Meiryo UI" panose="020B0604030504040204" pitchFamily="50" charset="-128"/>
                <a:cs typeface="Arial" pitchFamily="34" charset="0"/>
              </a:rPr>
              <a:t>Basic Concept / Deliverable</a:t>
            </a:r>
          </a:p>
          <a:p>
            <a:pPr algn="l" eaLnBrk="1" hangingPunct="1">
              <a:spcBef>
                <a:spcPts val="300"/>
              </a:spcBef>
              <a:spcAft>
                <a:spcPts val="300"/>
              </a:spcAft>
            </a:pPr>
            <a:r>
              <a:rPr lang="en-US" altLang="ja-JP" sz="1400">
                <a:latin typeface="Meiryo UI" panose="020B0604030504040204" pitchFamily="50" charset="-128"/>
                <a:ea typeface="Meiryo UI" panose="020B0604030504040204" pitchFamily="50" charset="-128"/>
                <a:cs typeface="Arial" pitchFamily="34" charset="0"/>
              </a:rPr>
              <a:t>    </a:t>
            </a:r>
            <a:r>
              <a:rPr lang="en-US" altLang="ja-JP" sz="1200">
                <a:latin typeface="Meiryo UI" panose="020B0604030504040204" pitchFamily="50" charset="-128"/>
                <a:ea typeface="Meiryo UI" panose="020B0604030504040204" pitchFamily="50" charset="-128"/>
                <a:cs typeface="Arial" pitchFamily="34" charset="0"/>
              </a:rPr>
              <a:t>1) </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(HM)</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Honda requests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for the Development Work and calibration of an Engine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Management System(EMS) to meet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6SAA-MMC</a:t>
            </a:r>
            <a:r>
              <a:rPr lang="en-US" altLang="ja-JP" sz="1400">
                <a:latin typeface="Meiryo UI" panose="020B0604030504040204" pitchFamily="50" charset="-128"/>
                <a:ea typeface="Meiryo UI" panose="020B0604030504040204" pitchFamily="50" charset="-128"/>
                <a:cs typeface="Arial" pitchFamily="34" charset="0"/>
              </a:rPr>
              <a:t> vehicles with proper functions and its cost competitive EMS components.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The deliverables of the development are to satisfy the vehicle ENG management system control workmanship (marketability), target of the EMS requirements, and provide technical reports (data, graph, component evaluation actual part) for each development stage.  </a:t>
            </a:r>
          </a:p>
          <a:p>
            <a:pPr algn="l" eaLnBrk="1" hangingPunct="1">
              <a:spcBef>
                <a:spcPts val="300"/>
              </a:spcBef>
              <a:spcAft>
                <a:spcPts val="300"/>
              </a:spcAft>
            </a:pPr>
            <a:r>
              <a:rPr lang="en-US" altLang="ja-JP" sz="1400">
                <a:latin typeface="Meiryo UI" panose="020B0604030504040204" pitchFamily="50" charset="-128"/>
                <a:ea typeface="Meiryo UI" panose="020B0604030504040204" pitchFamily="50" charset="-128"/>
                <a:cs typeface="Arial" pitchFamily="34" charset="0"/>
              </a:rPr>
              <a:t>    2)</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簡略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develops and calibrates an Engine Management System which meets Honda target</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values, target requirements and reliability, as well as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internal requirements and quality.</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The deliverables from</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(vehicle workmanship, technical report, graph, test result, HEX</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data) </a:t>
            </a:r>
            <a:r>
              <a:rPr lang="en-US" altLang="ja-JP" sz="1400" u="sng">
                <a:latin typeface="Meiryo UI" panose="020B0604030504040204" pitchFamily="50" charset="-128"/>
                <a:ea typeface="Meiryo UI" panose="020B0604030504040204" pitchFamily="50" charset="-128"/>
                <a:cs typeface="Arial" pitchFamily="34" charset="0"/>
              </a:rPr>
              <a:t>MUST</a:t>
            </a:r>
            <a:r>
              <a:rPr lang="en-US" altLang="ja-JP" sz="1400">
                <a:latin typeface="Meiryo UI" panose="020B0604030504040204" pitchFamily="50" charset="-128"/>
                <a:ea typeface="Meiryo UI" panose="020B0604030504040204" pitchFamily="50" charset="-128"/>
                <a:cs typeface="Arial" pitchFamily="34" charset="0"/>
              </a:rPr>
              <a:t> meet the assignment schedule of each Honda development stage.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Also,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continues to supply MP with competitive-cost and high quality </a:t>
            </a:r>
            <a:r>
              <a:rPr lang="en-US" altLang="ja-JP" sz="1200">
                <a:latin typeface="Meiryo UI" panose="020B0604030504040204" pitchFamily="50" charset="-128"/>
                <a:ea typeface="Meiryo UI" panose="020B0604030504040204" pitchFamily="50" charset="-128"/>
                <a:cs typeface="Arial" pitchFamily="34" charset="0"/>
              </a:rPr>
              <a:t>products.</a:t>
            </a:r>
            <a:endParaRPr lang="en-US" altLang="ja-JP" sz="160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107504" y="3959479"/>
            <a:ext cx="9036496" cy="28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spcBef>
                <a:spcPts val="300"/>
              </a:spcBef>
            </a:pPr>
            <a:r>
              <a:rPr lang="ja-JP" altLang="en-US" sz="1600" b="1" u="sng">
                <a:latin typeface="Meiryo UI" panose="020B0604030504040204" pitchFamily="50" charset="-128"/>
                <a:ea typeface="Meiryo UI" panose="020B0604030504040204" pitchFamily="50" charset="-128"/>
              </a:rPr>
              <a:t>基本コンセプト</a:t>
            </a:r>
            <a:r>
              <a:rPr lang="en-US" altLang="ja-JP" sz="1600" b="1" u="sng">
                <a:latin typeface="Meiryo UI" panose="020B0604030504040204" pitchFamily="50" charset="-128"/>
                <a:ea typeface="Meiryo UI" panose="020B0604030504040204" pitchFamily="50" charset="-128"/>
              </a:rPr>
              <a:t>/</a:t>
            </a:r>
            <a:r>
              <a:rPr lang="ja-JP" altLang="en-US" sz="1600" b="1" u="sng">
                <a:latin typeface="Meiryo UI" panose="020B0604030504040204" pitchFamily="50" charset="-128"/>
                <a:ea typeface="Meiryo UI" panose="020B0604030504040204" pitchFamily="50" charset="-128"/>
              </a:rPr>
              <a:t>成果物</a:t>
            </a:r>
            <a:endParaRPr lang="en-US" altLang="ja-JP" sz="1600" b="1" u="sng">
              <a:latin typeface="Meiryo UI" panose="020B0604030504040204" pitchFamily="50" charset="-128"/>
              <a:ea typeface="Meiryo UI" panose="020B0604030504040204" pitchFamily="50" charset="-128"/>
            </a:endParaRPr>
          </a:p>
          <a:p>
            <a:pPr algn="l" eaLnBrk="1" hangingPunct="1">
              <a:spcBef>
                <a:spcPts val="300"/>
              </a:spcBef>
              <a:spcAft>
                <a:spcPts val="300"/>
              </a:spcAft>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1)Honda</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(HM)</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に対し、</a:t>
            </a:r>
            <a:r>
              <a:rPr lang="en-US" altLang="ja-JP" sz="1400">
                <a:latin typeface="Meiryo UI" panose="020B0604030504040204" pitchFamily="50" charset="-128"/>
                <a:ea typeface="Meiryo UI" panose="020B0604030504040204" pitchFamily="50" charset="-128"/>
              </a:rPr>
              <a:t> </a:t>
            </a:r>
            <a:r>
              <a:rPr lang="en-US" altLang="ja-JP" sz="1400">
                <a:solidFill>
                  <a:srgbClr val="FF0000"/>
                </a:solidFill>
                <a:latin typeface="Meiryo UI" panose="020B0604030504040204" pitchFamily="50" charset="-128"/>
                <a:ea typeface="Meiryo UI" panose="020B0604030504040204" pitchFamily="50" charset="-128"/>
              </a:rPr>
              <a:t>6SAA-MMC</a:t>
            </a:r>
            <a:r>
              <a:rPr lang="ja-JP" altLang="en-US" sz="1400">
                <a:latin typeface="Meiryo UI" panose="020B0604030504040204" pitchFamily="50" charset="-128"/>
                <a:ea typeface="Meiryo UI" panose="020B0604030504040204" pitchFamily="50" charset="-128"/>
              </a:rPr>
              <a:t>の車両に対し、適切に機能するエンジンマネジメントシステム</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の適合開発、</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及びそれを構成する廉価な</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部品の委託開発を依頼するものである。</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本委託開発の成果は、完成車に於けるエンジンマネージメント制御の出来栄え（商品性）と、</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要求項目を</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各開発ステージ毎に、要求ターゲットを満足し、技術レポート（データ、グラフ、部品評価現物）を提出して頂く事である。</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spcAft>
                <a:spcPts val="300"/>
              </a:spcAft>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2)</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簡略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a:t>
            </a:r>
            <a:br>
              <a:rPr lang="en-US" altLang="ja-JP" sz="1400">
                <a:latin typeface="Meiryo UI" panose="020B0604030504040204" pitchFamily="50" charset="-128"/>
                <a:ea typeface="Meiryo UI" panose="020B0604030504040204" pitchFamily="50" charset="-128"/>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開発スケジュールに沿って、</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が要求する目標値、目標要件及び信頼性目標を確保し、</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且つ</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社内要件を満たすエンジンマネジメントシステムの開発、及び</a:t>
            </a:r>
            <a:r>
              <a:rPr lang="en-US" altLang="ja-JP" sz="1400">
                <a:latin typeface="Meiryo UI" panose="020B0604030504040204" pitchFamily="50" charset="-128"/>
                <a:ea typeface="Meiryo UI" panose="020B0604030504040204" pitchFamily="50" charset="-128"/>
              </a:rPr>
              <a:t>Data</a:t>
            </a:r>
            <a:r>
              <a:rPr lang="ja-JP" altLang="en-US" sz="1400">
                <a:latin typeface="Meiryo UI" panose="020B0604030504040204" pitchFamily="50" charset="-128"/>
                <a:ea typeface="Meiryo UI" panose="020B0604030504040204" pitchFamily="50" charset="-128"/>
              </a:rPr>
              <a:t>キャリブレーションの開発を行う。</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本受託開発に於いて、成果物（完成車出来栄え・技術レポート・グラフ・テスト結果データ・</a:t>
            </a:r>
            <a:r>
              <a:rPr lang="en-US" altLang="ja-JP" sz="1400">
                <a:latin typeface="Meiryo UI" panose="020B0604030504040204" pitchFamily="50" charset="-128"/>
                <a:ea typeface="Meiryo UI" panose="020B0604030504040204" pitchFamily="50" charset="-128"/>
              </a:rPr>
              <a:t>HEX</a:t>
            </a:r>
            <a:r>
              <a:rPr lang="ja-JP" altLang="en-US" sz="1400">
                <a:latin typeface="Meiryo UI" panose="020B0604030504040204" pitchFamily="50" charset="-128"/>
                <a:ea typeface="Meiryo UI" panose="020B0604030504040204" pitchFamily="50" charset="-128"/>
              </a:rPr>
              <a:t>データ）は、</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開発ステージ毎に指定日程までに、提出する。</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また、製品は量産に於いて、廉価で高品質且つ安定して供給するものとする。</a:t>
            </a:r>
          </a:p>
        </p:txBody>
      </p:sp>
    </p:spTree>
    <p:extLst>
      <p:ext uri="{BB962C8B-B14F-4D97-AF65-F5344CB8AC3E}">
        <p14:creationId xmlns:p14="http://schemas.microsoft.com/office/powerpoint/2010/main" val="2890212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1" name="Group 7"/>
          <p:cNvGraphicFramePr>
            <a:graphicFrameLocks noGrp="1"/>
          </p:cNvGraphicFramePr>
          <p:nvPr>
            <p:extLst>
              <p:ext uri="{D42A27DB-BD31-4B8C-83A1-F6EECF244321}">
                <p14:modId xmlns:p14="http://schemas.microsoft.com/office/powerpoint/2010/main" val="3308181521"/>
              </p:ext>
            </p:extLst>
          </p:nvPr>
        </p:nvGraphicFramePr>
        <p:xfrm>
          <a:off x="35496" y="674100"/>
          <a:ext cx="9036049" cy="5771578"/>
        </p:xfrm>
        <a:graphic>
          <a:graphicData uri="http://schemas.openxmlformats.org/drawingml/2006/table">
            <a:tbl>
              <a:tblPr/>
              <a:tblGrid>
                <a:gridCol w="2895673">
                  <a:extLst>
                    <a:ext uri="{9D8B030D-6E8A-4147-A177-3AD203B41FA5}">
                      <a16:colId xmlns:a16="http://schemas.microsoft.com/office/drawing/2014/main" val="20000"/>
                    </a:ext>
                  </a:extLst>
                </a:gridCol>
                <a:gridCol w="591415">
                  <a:extLst>
                    <a:ext uri="{9D8B030D-6E8A-4147-A177-3AD203B41FA5}">
                      <a16:colId xmlns:a16="http://schemas.microsoft.com/office/drawing/2014/main" val="20001"/>
                    </a:ext>
                  </a:extLst>
                </a:gridCol>
                <a:gridCol w="591415">
                  <a:extLst>
                    <a:ext uri="{9D8B030D-6E8A-4147-A177-3AD203B41FA5}">
                      <a16:colId xmlns:a16="http://schemas.microsoft.com/office/drawing/2014/main" val="20002"/>
                    </a:ext>
                  </a:extLst>
                </a:gridCol>
                <a:gridCol w="591415">
                  <a:extLst>
                    <a:ext uri="{9D8B030D-6E8A-4147-A177-3AD203B41FA5}">
                      <a16:colId xmlns:a16="http://schemas.microsoft.com/office/drawing/2014/main" val="20003"/>
                    </a:ext>
                  </a:extLst>
                </a:gridCol>
                <a:gridCol w="591415">
                  <a:extLst>
                    <a:ext uri="{9D8B030D-6E8A-4147-A177-3AD203B41FA5}">
                      <a16:colId xmlns:a16="http://schemas.microsoft.com/office/drawing/2014/main" val="20004"/>
                    </a:ext>
                  </a:extLst>
                </a:gridCol>
                <a:gridCol w="591415">
                  <a:extLst>
                    <a:ext uri="{9D8B030D-6E8A-4147-A177-3AD203B41FA5}">
                      <a16:colId xmlns:a16="http://schemas.microsoft.com/office/drawing/2014/main" val="20005"/>
                    </a:ext>
                  </a:extLst>
                </a:gridCol>
                <a:gridCol w="591415">
                  <a:extLst>
                    <a:ext uri="{9D8B030D-6E8A-4147-A177-3AD203B41FA5}">
                      <a16:colId xmlns:a16="http://schemas.microsoft.com/office/drawing/2014/main" val="20006"/>
                    </a:ext>
                  </a:extLst>
                </a:gridCol>
                <a:gridCol w="2591886">
                  <a:extLst>
                    <a:ext uri="{9D8B030D-6E8A-4147-A177-3AD203B41FA5}">
                      <a16:colId xmlns:a16="http://schemas.microsoft.com/office/drawing/2014/main" val="20007"/>
                    </a:ext>
                  </a:extLst>
                </a:gridCol>
              </a:tblGrid>
              <a:tr h="45725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Content of development</a:t>
                      </a: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Request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/Proposal</a:t>
                      </a:r>
                      <a:endParaRPr kumimoji="1" lang="ja-JP" altLang="en-US"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Active Test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/Design</a:t>
                      </a:r>
                      <a:endParaRPr kumimoji="1" lang="ja-JP" altLang="en-US"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1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Final Container Release</a:t>
                      </a:r>
                      <a:endParaRPr kumimoji="1" lang="ja-JP" altLang="en-US" sz="11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ja-JP" altLang="ja-JP" sz="11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horzOverflow="overflow">
                    <a:lnL w="28575"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9554">
                <a:tc vMerge="1">
                  <a:txBody>
                    <a:bodyPr/>
                    <a:lstStyle/>
                    <a:p>
                      <a:endParaRPr kumimoji="1" lang="ja-JP"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kumimoji="1" lang="ja-JP" altLang="en-US"/>
                    </a:p>
                  </a:txBody>
                  <a:tcPr/>
                </a:tc>
                <a:extLst>
                  <a:ext uri="{0D108BD9-81ED-4DB2-BD59-A6C34878D82A}">
                    <a16:rowId xmlns:a16="http://schemas.microsoft.com/office/drawing/2014/main" val="10001"/>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&lt;Basic Engine Performance/Target Value&gt;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Power, Torque/Engine NVH</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Marketability/Fuel consumption </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Provide target requirements</a:t>
                      </a: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Reflect tests and requirements</a:t>
                      </a: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&lt;Engine Calibration&gt;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Fuel Injection/DBW/OBD </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Target of fail-safe</a:t>
                      </a:r>
                      <a:r>
                        <a:rPr kumimoji="1" lang="ja-JP" altLang="en-US"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values are given by Honda. Control function is built up by</a:t>
                      </a:r>
                      <a:r>
                        <a:rPr kumimoji="1" lang="ja-JP" altLang="en-US"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based on Honda fail-safe Value</a:t>
                      </a:r>
                      <a:endParaRPr kumimoji="1" lang="ja-JP" altLang="en-US"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&lt;Vehicle Calibration&gt;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Emission, Mode fuel consumption,  Fuel consumption in actual use</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Target of regulation rerated items  are given by Honda. Calibration is done by</a:t>
                      </a:r>
                      <a:r>
                        <a:rPr kumimoji="1" lang="ja-JP" altLang="en-US"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based on Honda requirement</a:t>
                      </a:r>
                      <a:endParaRPr kumimoji="1" lang="ja-JP" altLang="en-US" sz="1400" b="0" i="0" u="none" strike="noStrike" kern="1200"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&lt;</a:t>
                      </a:r>
                      <a:r>
                        <a:rPr lang="en-US" altLang="ja-JP" sz="1400" baseline="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chemeClr val="tx1"/>
                          </a:solidFill>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Components Performance&gt;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Injector performance,  Reliability</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The performance and reliability of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components are guaranteed by</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 (include market environment conformity)</a:t>
                      </a: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7" name="Text Box 2_"/>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5. Role &amp; Responsibility (Samples of RASIC)</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9" name="テキスト ボックス 8"/>
          <p:cNvSpPr txBox="1"/>
          <p:nvPr/>
        </p:nvSpPr>
        <p:spPr>
          <a:xfrm>
            <a:off x="107951" y="6499625"/>
            <a:ext cx="9036049" cy="307777"/>
          </a:xfrm>
          <a:prstGeom prst="rect">
            <a:avLst/>
          </a:prstGeom>
          <a:noFill/>
        </p:spPr>
        <p:txBody>
          <a:bodyPr wrap="square" rtlCol="0">
            <a:spAutoFit/>
          </a:bodyPr>
          <a:lstStyle/>
          <a:p>
            <a:pPr algn="l"/>
            <a:r>
              <a:rPr kumimoji="1" lang="en-US" altLang="ja-JP" sz="1400">
                <a:solidFill>
                  <a:srgbClr val="FF0000"/>
                </a:solidFill>
                <a:latin typeface="Meiryo UI" panose="020B0604030504040204" pitchFamily="50" charset="-128"/>
                <a:ea typeface="Meiryo UI" panose="020B0604030504040204" pitchFamily="50" charset="-128"/>
              </a:rPr>
              <a:t>The detail RASIC shall be followed the “</a:t>
            </a:r>
            <a:r>
              <a:rPr lang="en-US" altLang="ja-JP" sz="1400">
                <a:solidFill>
                  <a:srgbClr val="FF0000"/>
                </a:solidFill>
                <a:latin typeface="Meiryo UI" panose="020B0604030504040204" pitchFamily="50" charset="-128"/>
                <a:ea typeface="Meiryo UI" panose="020B0604030504040204" pitchFamily="50" charset="-128"/>
              </a:rPr>
              <a:t>EMS development </a:t>
            </a:r>
            <a:r>
              <a:rPr lang="en-US" altLang="ja-JP" sz="1400" err="1">
                <a:solidFill>
                  <a:srgbClr val="FF0000"/>
                </a:solidFill>
                <a:latin typeface="Meiryo UI" panose="020B0604030504040204" pitchFamily="50" charset="-128"/>
                <a:ea typeface="Meiryo UI" panose="020B0604030504040204" pitchFamily="50" charset="-128"/>
              </a:rPr>
              <a:t>RASIC_Honda</a:t>
            </a:r>
            <a:r>
              <a:rPr lang="en-US" altLang="ja-JP" sz="1400">
                <a:solidFill>
                  <a:srgbClr val="FF0000"/>
                </a:solidFill>
                <a:latin typeface="Meiryo UI" panose="020B0604030504040204" pitchFamily="50" charset="-128"/>
                <a:ea typeface="Meiryo UI" panose="020B0604030504040204" pitchFamily="50" charset="-128"/>
              </a:rPr>
              <a:t>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FF0000"/>
                </a:solidFill>
                <a:latin typeface="Meiryo UI" panose="020B0604030504040204" pitchFamily="50" charset="-128"/>
                <a:ea typeface="Meiryo UI" panose="020B0604030504040204" pitchFamily="50" charset="-128"/>
              </a:rPr>
              <a:t>_r0_E” </a:t>
            </a:r>
            <a:endParaRPr kumimoji="1" lang="ja-JP" altLang="en-US" sz="1400">
              <a:solidFill>
                <a:srgbClr val="FF0000"/>
              </a:solidFill>
              <a:latin typeface="Meiryo UI" panose="020B0604030504040204" pitchFamily="50" charset="-128"/>
              <a:ea typeface="Meiryo UI" panose="020B0604030504040204" pitchFamily="50" charset="-128"/>
            </a:endParaRPr>
          </a:p>
        </p:txBody>
      </p:sp>
      <p:sp>
        <p:nvSpPr>
          <p:cNvPr id="10" name="Text Box 103"/>
          <p:cNvSpPr txBox="1">
            <a:spLocks noChangeArrowheads="1"/>
          </p:cNvSpPr>
          <p:nvPr/>
        </p:nvSpPr>
        <p:spPr bwMode="auto">
          <a:xfrm>
            <a:off x="6647819" y="624301"/>
            <a:ext cx="15696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R</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Responsibility </a:t>
            </a: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A</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 Approve</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endParaRPr lang="en-US" altLang="ja-JP" sz="120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S</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Support</a:t>
            </a: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I </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Information</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endParaRPr lang="en-US" altLang="ja-JP" sz="120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C</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Consult</a:t>
            </a:r>
          </a:p>
        </p:txBody>
      </p:sp>
    </p:spTree>
    <p:extLst>
      <p:ext uri="{BB962C8B-B14F-4D97-AF65-F5344CB8AC3E}">
        <p14:creationId xmlns:p14="http://schemas.microsoft.com/office/powerpoint/2010/main" val="198619543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1" name="Group 7"/>
          <p:cNvGraphicFramePr>
            <a:graphicFrameLocks noGrp="1"/>
          </p:cNvGraphicFramePr>
          <p:nvPr>
            <p:extLst>
              <p:ext uri="{D42A27DB-BD31-4B8C-83A1-F6EECF244321}">
                <p14:modId xmlns:p14="http://schemas.microsoft.com/office/powerpoint/2010/main" val="664466741"/>
              </p:ext>
            </p:extLst>
          </p:nvPr>
        </p:nvGraphicFramePr>
        <p:xfrm>
          <a:off x="35496" y="674100"/>
          <a:ext cx="9036049" cy="5749874"/>
        </p:xfrm>
        <a:graphic>
          <a:graphicData uri="http://schemas.openxmlformats.org/drawingml/2006/table">
            <a:tbl>
              <a:tblPr/>
              <a:tblGrid>
                <a:gridCol w="2895673">
                  <a:extLst>
                    <a:ext uri="{9D8B030D-6E8A-4147-A177-3AD203B41FA5}">
                      <a16:colId xmlns:a16="http://schemas.microsoft.com/office/drawing/2014/main" val="20000"/>
                    </a:ext>
                  </a:extLst>
                </a:gridCol>
                <a:gridCol w="591415">
                  <a:extLst>
                    <a:ext uri="{9D8B030D-6E8A-4147-A177-3AD203B41FA5}">
                      <a16:colId xmlns:a16="http://schemas.microsoft.com/office/drawing/2014/main" val="20001"/>
                    </a:ext>
                  </a:extLst>
                </a:gridCol>
                <a:gridCol w="591415">
                  <a:extLst>
                    <a:ext uri="{9D8B030D-6E8A-4147-A177-3AD203B41FA5}">
                      <a16:colId xmlns:a16="http://schemas.microsoft.com/office/drawing/2014/main" val="20002"/>
                    </a:ext>
                  </a:extLst>
                </a:gridCol>
                <a:gridCol w="591415">
                  <a:extLst>
                    <a:ext uri="{9D8B030D-6E8A-4147-A177-3AD203B41FA5}">
                      <a16:colId xmlns:a16="http://schemas.microsoft.com/office/drawing/2014/main" val="20003"/>
                    </a:ext>
                  </a:extLst>
                </a:gridCol>
                <a:gridCol w="591415">
                  <a:extLst>
                    <a:ext uri="{9D8B030D-6E8A-4147-A177-3AD203B41FA5}">
                      <a16:colId xmlns:a16="http://schemas.microsoft.com/office/drawing/2014/main" val="20004"/>
                    </a:ext>
                  </a:extLst>
                </a:gridCol>
                <a:gridCol w="591415">
                  <a:extLst>
                    <a:ext uri="{9D8B030D-6E8A-4147-A177-3AD203B41FA5}">
                      <a16:colId xmlns:a16="http://schemas.microsoft.com/office/drawing/2014/main" val="20005"/>
                    </a:ext>
                  </a:extLst>
                </a:gridCol>
                <a:gridCol w="591415">
                  <a:extLst>
                    <a:ext uri="{9D8B030D-6E8A-4147-A177-3AD203B41FA5}">
                      <a16:colId xmlns:a16="http://schemas.microsoft.com/office/drawing/2014/main" val="20006"/>
                    </a:ext>
                  </a:extLst>
                </a:gridCol>
                <a:gridCol w="2591886">
                  <a:extLst>
                    <a:ext uri="{9D8B030D-6E8A-4147-A177-3AD203B41FA5}">
                      <a16:colId xmlns:a16="http://schemas.microsoft.com/office/drawing/2014/main" val="20007"/>
                    </a:ext>
                  </a:extLst>
                </a:gridCol>
              </a:tblGrid>
              <a:tr h="45725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Content of development</a:t>
                      </a:r>
                      <a:endParaRPr kumimoji="1" lang="ja-JP" altLang="en-US" sz="16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Request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/Proposal</a:t>
                      </a:r>
                      <a:endParaRPr kumimoji="1" lang="ja-JP" altLang="en-US"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Active Test</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/Design</a:t>
                      </a:r>
                      <a:endParaRPr kumimoji="1" lang="ja-JP" altLang="en-US" sz="12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1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Final Container Release</a:t>
                      </a:r>
                      <a:endParaRPr kumimoji="1" lang="ja-JP" altLang="en-US" sz="11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ja-JP" altLang="ja-JP" sz="11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T="45700" marB="45700" horzOverflow="overflow">
                    <a:lnL w="28575"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9554">
                <a:tc vMerge="1">
                  <a:txBody>
                    <a:bodyPr/>
                    <a:lstStyle/>
                    <a:p>
                      <a:endParaRPr kumimoji="1" lang="ja-JP"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p>
                  </a:txBody>
                  <a:tcPr marL="36000" marR="36000" marT="46780" marB="467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ja-JP" sz="1000">
                          <a:solidFill>
                            <a:srgbClr val="0000FF"/>
                          </a:solidFill>
                          <a:latin typeface="Meiryo UI" panose="020B0604030504040204" pitchFamily="50" charset="-128"/>
                          <a:ea typeface="Meiryo UI" panose="020B0604030504040204" pitchFamily="50" charset="-128"/>
                          <a:cs typeface="Arial" pitchFamily="34" charset="0"/>
                        </a:rPr>
                        <a:t>Bosch</a:t>
                      </a:r>
                      <a:endParaRPr kumimoji="1" lang="en-US" altLang="ja-JP" sz="10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cs typeface="Arial" pitchFamily="34" charset="0"/>
                      </a:endParaRPr>
                    </a:p>
                  </a:txBody>
                  <a:tcPr marL="36000" marR="36000" marT="46780" marB="467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kumimoji="1" lang="ja-JP" altLang="en-US"/>
                    </a:p>
                  </a:txBody>
                  <a:tcPr/>
                </a:tc>
                <a:extLst>
                  <a:ext uri="{0D108BD9-81ED-4DB2-BD59-A6C34878D82A}">
                    <a16:rowId xmlns:a16="http://schemas.microsoft.com/office/drawing/2014/main" val="10001"/>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1"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&lt;Honda’s  Components Performance&gt;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DBW performance, Crank, KCS</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The reliability of Honda components already proved because of the off-the-shelf(include market environment conformity) </a:t>
                      </a: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Vehicle Calibration (Cooling/Vibration/Water/Heat damage</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Honda</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Set vehicle body performance target value</a:t>
                      </a:r>
                    </a:p>
                    <a:p>
                      <a:pPr marL="0" marR="0" lvl="0" indent="0" algn="l" defTabSz="914400" rtl="0" eaLnBrk="1" fontAlgn="base" latinLnBrk="0" hangingPunct="1">
                        <a:lnSpc>
                          <a:spcPct val="100000"/>
                        </a:lnSpc>
                        <a:spcBef>
                          <a:spcPct val="20000"/>
                        </a:spcBef>
                        <a:spcAft>
                          <a:spcPct val="0"/>
                        </a:spcAft>
                        <a:buClrTx/>
                        <a:buSzTx/>
                        <a:buFontTx/>
                        <a:buNone/>
                        <a:tabLst/>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Test, Verification</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Partially, Honda will follow the test</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p>
                  </a:txBody>
                  <a:tcPr marL="90000" marR="90000" marT="46780" marB="4678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Vehicle Calibration </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(Radio disturbance, EMI</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etc.</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extLst>
                  <a:ext uri="{0D108BD9-81ED-4DB2-BD59-A6C34878D82A}">
                    <a16:rowId xmlns:a16="http://schemas.microsoft.com/office/drawing/2014/main" val="10008"/>
                  </a:ext>
                </a:extLst>
              </a:tr>
              <a:tr h="1224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Diagnoses Relevant </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LET, OBS, Reprogramming,</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etc.</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S/C</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R</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Ｒ</a:t>
                      </a:r>
                      <a:endPar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a:t>
                      </a:r>
                    </a:p>
                  </a:txBody>
                  <a:tcPr marL="90000" marR="90000" marT="46780" marB="467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extLst>
                  <a:ext uri="{0D108BD9-81ED-4DB2-BD59-A6C34878D82A}">
                    <a16:rowId xmlns:a16="http://schemas.microsoft.com/office/drawing/2014/main" val="10009"/>
                  </a:ext>
                </a:extLst>
              </a:tr>
            </a:tbl>
          </a:graphicData>
        </a:graphic>
      </p:graphicFrame>
      <p:sp>
        <p:nvSpPr>
          <p:cNvPr id="7" name="Text Box 2_"/>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5.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Role &amp; Responsibility (Samples of RASIC)</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Text Box 103"/>
          <p:cNvSpPr txBox="1">
            <a:spLocks noChangeArrowheads="1"/>
          </p:cNvSpPr>
          <p:nvPr/>
        </p:nvSpPr>
        <p:spPr bwMode="auto">
          <a:xfrm>
            <a:off x="6647819" y="624301"/>
            <a:ext cx="15696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R</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Responsibility </a:t>
            </a: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A</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 Approve</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endParaRPr lang="en-US" altLang="ja-JP" sz="120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S</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Support</a:t>
            </a: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I </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Information</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endParaRPr lang="en-US" altLang="ja-JP" sz="120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90000"/>
              </a:lnSpc>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C</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Consult</a:t>
            </a:r>
          </a:p>
        </p:txBody>
      </p:sp>
      <p:sp>
        <p:nvSpPr>
          <p:cNvPr id="5" name="テキスト ボックス 4"/>
          <p:cNvSpPr txBox="1"/>
          <p:nvPr/>
        </p:nvSpPr>
        <p:spPr>
          <a:xfrm>
            <a:off x="107951" y="6499625"/>
            <a:ext cx="9036049" cy="307777"/>
          </a:xfrm>
          <a:prstGeom prst="rect">
            <a:avLst/>
          </a:prstGeom>
          <a:noFill/>
        </p:spPr>
        <p:txBody>
          <a:bodyPr wrap="square" rtlCol="0">
            <a:spAutoFit/>
          </a:bodyPr>
          <a:lstStyle/>
          <a:p>
            <a:pPr algn="l"/>
            <a:r>
              <a:rPr kumimoji="1" lang="en-US" altLang="ja-JP" sz="1400">
                <a:solidFill>
                  <a:srgbClr val="FF0000"/>
                </a:solidFill>
                <a:latin typeface="Meiryo UI" panose="020B0604030504040204" pitchFamily="50" charset="-128"/>
                <a:ea typeface="Meiryo UI" panose="020B0604030504040204" pitchFamily="50" charset="-128"/>
              </a:rPr>
              <a:t>The detail RASIC shall be followed the “</a:t>
            </a:r>
            <a:r>
              <a:rPr lang="en-US" altLang="ja-JP" sz="1400">
                <a:solidFill>
                  <a:srgbClr val="FF0000"/>
                </a:solidFill>
                <a:latin typeface="Meiryo UI" panose="020B0604030504040204" pitchFamily="50" charset="-128"/>
                <a:ea typeface="Meiryo UI" panose="020B0604030504040204" pitchFamily="50" charset="-128"/>
              </a:rPr>
              <a:t>EMS development </a:t>
            </a:r>
            <a:r>
              <a:rPr lang="en-US" altLang="ja-JP" sz="1400" err="1">
                <a:solidFill>
                  <a:srgbClr val="FF0000"/>
                </a:solidFill>
                <a:latin typeface="Meiryo UI" panose="020B0604030504040204" pitchFamily="50" charset="-128"/>
                <a:ea typeface="Meiryo UI" panose="020B0604030504040204" pitchFamily="50" charset="-128"/>
              </a:rPr>
              <a:t>RASIC_Honda</a:t>
            </a:r>
            <a:r>
              <a:rPr lang="en-US" altLang="ja-JP" sz="1400">
                <a:solidFill>
                  <a:srgbClr val="FF0000"/>
                </a:solidFill>
                <a:latin typeface="Meiryo UI" panose="020B0604030504040204" pitchFamily="50" charset="-128"/>
                <a:ea typeface="Meiryo UI" panose="020B0604030504040204" pitchFamily="50" charset="-128"/>
              </a:rPr>
              <a:t>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FF0000"/>
                </a:solidFill>
                <a:latin typeface="Meiryo UI" panose="020B0604030504040204" pitchFamily="50" charset="-128"/>
                <a:ea typeface="Meiryo UI" panose="020B0604030504040204" pitchFamily="50" charset="-128"/>
              </a:rPr>
              <a:t>_r0_E” </a:t>
            </a:r>
            <a:endParaRPr kumimoji="1" lang="ja-JP" altLang="en-US" sz="140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503589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indent="-342900" algn="l" eaLnBrk="1" hangingPunct="1">
              <a:spcBef>
                <a:spcPts val="0"/>
              </a:spcBef>
              <a:buFont typeface="+mj-lt"/>
              <a:buAutoNum type="arabicPeriod"/>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・プロジェクト情報</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関連部品</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Spec</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EMS</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シート</a:t>
            </a:r>
            <a:endParaRPr lang="en-US" altLang="ja-JP" sz="1400" noProof="0">
              <a:solidFill>
                <a:schemeClr val="bg1">
                  <a:lumMod val="65000"/>
                </a:schemeClr>
              </a:solidFill>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ja-JP" altLang="en-US" sz="1400" noProof="0">
                <a:solidFill>
                  <a:schemeClr val="bg1">
                    <a:lumMod val="65000"/>
                  </a:schemeClr>
                </a:solidFill>
                <a:latin typeface="Meiryo UI" panose="020B0604030504040204" pitchFamily="50" charset="-128"/>
                <a:ea typeface="Meiryo UI" panose="020B0604030504040204" pitchFamily="50" charset="-128"/>
                <a:cs typeface="Arial" pitchFamily="34" charset="0"/>
              </a:rPr>
              <a:t>エキスパート</a:t>
            </a:r>
            <a:r>
              <a:rPr lang="en-US" altLang="ja-JP" sz="1400" noProof="0">
                <a:solidFill>
                  <a:schemeClr val="bg1">
                    <a:lumMod val="65000"/>
                  </a:schemeClr>
                </a:solidFill>
                <a:latin typeface="Meiryo UI" panose="020B0604030504040204" pitchFamily="50" charset="-128"/>
                <a:ea typeface="Meiryo UI" panose="020B0604030504040204" pitchFamily="50" charset="-128"/>
                <a:cs typeface="Arial" pitchFamily="34" charset="0"/>
              </a:rPr>
              <a:t>MTG</a:t>
            </a:r>
            <a:r>
              <a:rPr lang="ja-JP" altLang="en-US" sz="1400" noProof="0">
                <a:solidFill>
                  <a:schemeClr val="bg1">
                    <a:lumMod val="65000"/>
                  </a:schemeClr>
                </a:solidFill>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K</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pec Comparison from Base Model</a:t>
            </a:r>
            <a:b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Project information / Non-Bosch</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 </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Components</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and</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EMS Sheet</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Expert Meeting</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237210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71882" y="545508"/>
            <a:ext cx="9072122" cy="562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600" b="1"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Preconditions</a:t>
            </a:r>
            <a:endParaRPr lang="en-US" altLang="ja-JP" sz="1600" b="1" u="sng">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1) The “performance”, “emission”, “drivability”, “marketability”, “NV</a:t>
            </a:r>
            <a:r>
              <a:rPr kumimoji="1" lang="en-US" altLang="ja-JP" sz="1400" b="0" i="0" u="none" strike="noStrike" kern="1200" cap="none" spc="0" normalizeH="0" noProof="0">
                <a:ln>
                  <a:noFill/>
                </a:ln>
                <a:effectLst/>
                <a:uLnTx/>
                <a:uFillTx/>
                <a:latin typeface="Meiryo UI" panose="020B0604030504040204" pitchFamily="50" charset="-128"/>
                <a:ea typeface="Meiryo UI" panose="020B0604030504040204" pitchFamily="50" charset="-128"/>
                <a:cs typeface="Arial" pitchFamily="34" charset="0"/>
              </a:rPr>
              <a:t> m</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arketability” and</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durability”</a:t>
            </a:r>
            <a:br>
              <a:rPr lang="en-US" altLang="ja-JP" sz="1400">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shall meet targets which</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are presented and required in Honda EMS sheets.</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This requirement shall control the hardware components’</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tolerances</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(both</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Honda/</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br>
              <a:rPr lang="en-US" altLang="ja-JP" sz="1400">
                <a:solidFill>
                  <a:srgbClr val="0000FF"/>
                </a:solidFill>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components) and part endurance deterioration in order to ensure</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`s ENG</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management</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system robustness.</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endPar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endParaRPr>
          </a:p>
          <a:p>
            <a:pPr lvl="0" algn="l" eaLnBrk="1" hangingPunct="1">
              <a:lnSpc>
                <a:spcPct val="110000"/>
              </a:lnSpc>
              <a:spcBef>
                <a:spcPts val="600"/>
              </a:spcBef>
              <a:defRPr/>
            </a:pPr>
            <a:r>
              <a:rPr lang="en-US" altLang="ja-JP" sz="140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Performance, emission and durability shall be tested with</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`s internal endurance test</a:t>
            </a:r>
            <a:r>
              <a:rPr lang="ja-JP" altLang="en-US" sz="140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modes. Also, they shall be tested with Honda`s endurance test modes and all certification</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endurance modes.</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Details shall be discussed based on</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endurance test mode criteria and</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margin (including</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emission toughness using </a:t>
            </a:r>
            <a:r>
              <a:rPr lang="en-US" altLang="ja-JP" sz="1400">
                <a:latin typeface="Meiryo UI" panose="020B0604030504040204" pitchFamily="50" charset="-128"/>
                <a:ea typeface="Meiryo UI" panose="020B0604030504040204" pitchFamily="50" charset="-128"/>
                <a:cs typeface="Arial" pitchFamily="34" charset="0"/>
              </a:rPr>
              <a:t>aged</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catalyst</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endPar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endParaRPr>
          </a:p>
          <a:p>
            <a:pPr lvl="0" algn="l" eaLnBrk="1" hangingPunct="1">
              <a:lnSpc>
                <a:spcPct val="110000"/>
              </a:lnSpc>
              <a:spcBef>
                <a:spcPts val="600"/>
              </a:spcBef>
              <a:defRPr/>
            </a:pPr>
            <a:r>
              <a:rPr lang="en-US" altLang="ja-JP" sz="1400">
                <a:latin typeface="Meiryo UI" panose="020B0604030504040204" pitchFamily="50" charset="-128"/>
                <a:ea typeface="Meiryo UI" panose="020B0604030504040204" pitchFamily="50" charset="-128"/>
                <a:cs typeface="Arial" pitchFamily="34" charset="0"/>
              </a:rPr>
              <a:t>     -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Durability or reliability of parts which are NOT specified in</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drawings and specifications shall be verified with test modes which both</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and Honda agree upon. </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All the test results shall be recorded in EMS sheets and submitted to Honda</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t>
            </a:r>
          </a:p>
          <a:p>
            <a:pPr lvl="0" algn="l" eaLnBrk="1" hangingPunct="1">
              <a:lnSpc>
                <a:spcPct val="110000"/>
              </a:lnSpc>
              <a:spcBef>
                <a:spcPts val="600"/>
              </a:spcBef>
              <a:defRPr/>
            </a:pPr>
            <a:r>
              <a:rPr lang="en-US" altLang="ja-JP" sz="140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Regarding new architecture (structure/material without production experience) for Honda, </a:t>
            </a:r>
            <a:br>
              <a:rPr lang="en-US" altLang="ja-JP" sz="1400">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the concept of</a:t>
            </a:r>
            <a:r>
              <a:rPr kumimoji="1" lang="en-US" altLang="ja-JP" sz="1400" b="0" i="0" u="none" strike="noStrike" kern="1200" cap="none" spc="0" normalizeH="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durability test method and its validity shall be provided to Honda. </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and Honda shall discuss the test mode to ensure that it satisfies the market requirements after durability deterioration. The performance, emission,  drivability, marketability, NV marketability shall meet these targets.</a:t>
            </a:r>
            <a:endPar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endParaRPr>
          </a:p>
        </p:txBody>
      </p:sp>
      <p:sp>
        <p:nvSpPr>
          <p:cNvPr id="5"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161300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 (2/5)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Text Box 2"/>
          <p:cNvSpPr txBox="1">
            <a:spLocks noChangeArrowheads="1"/>
          </p:cNvSpPr>
          <p:nvPr/>
        </p:nvSpPr>
        <p:spPr bwMode="auto">
          <a:xfrm>
            <a:off x="71882" y="545508"/>
            <a:ext cx="9072122" cy="483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600" b="1"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Preconditions</a:t>
            </a:r>
          </a:p>
          <a:p>
            <a:pPr marL="92075" lvl="1" indent="0" algn="l" eaLnBrk="1" hangingPunct="1">
              <a:lnSpc>
                <a:spcPct val="110000"/>
              </a:lnSpc>
              <a:spcBef>
                <a:spcPts val="600"/>
              </a:spcBef>
              <a:defRPr/>
            </a:pPr>
            <a:r>
              <a:rPr lang="en-US" altLang="ja-JP" sz="1400">
                <a:latin typeface="Meiryo UI" panose="020B0604030504040204" pitchFamily="50" charset="-128"/>
                <a:ea typeface="Meiryo UI" panose="020B0604030504040204" pitchFamily="50" charset="-128"/>
                <a:cs typeface="Arial" pitchFamily="34" charset="0"/>
              </a:rPr>
              <a:t>  2) Regarding the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stance for</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EMS reliability guarantee as consigned development</a:t>
            </a:r>
            <a:r>
              <a:rPr lang="ja-JP" altLang="en-US" sz="1400">
                <a:latin typeface="Meiryo UI" panose="020B0604030504040204" pitchFamily="50" charset="-128"/>
                <a:ea typeface="Meiryo UI" panose="020B0604030504040204" pitchFamily="50" charset="-128"/>
                <a:cs typeface="Arial" pitchFamily="34" charset="0"/>
              </a:rPr>
              <a:t>；</a:t>
            </a:r>
            <a:endParaRPr lang="en-US" altLang="ja-JP" sz="1400" u="sng">
              <a:latin typeface="Meiryo UI" panose="020B0604030504040204" pitchFamily="50" charset="-128"/>
              <a:ea typeface="Meiryo UI" panose="020B0604030504040204" pitchFamily="50" charset="-128"/>
              <a:cs typeface="Arial" pitchFamily="34" charset="0"/>
            </a:endParaRPr>
          </a:p>
          <a:p>
            <a:pPr marL="492125" lvl="2" indent="0" algn="l" eaLnBrk="1" hangingPunct="1">
              <a:lnSpc>
                <a:spcPct val="110000"/>
              </a:lnSpc>
              <a:spcBef>
                <a:spcPts val="6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 shall guarantee reliability of</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EMS including</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parts specifications,</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control algorisms, and data calibration after</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fulfilling</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the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target performance and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the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durability set by Honda in EMS sheets.</a:t>
            </a:r>
            <a:r>
              <a:rPr lang="ja-JP" altLang="en-US" sz="1400">
                <a:latin typeface="Meiryo UI" panose="020B0604030504040204" pitchFamily="50" charset="-128"/>
                <a:ea typeface="Meiryo UI" panose="020B0604030504040204" pitchFamily="50" charset="-128"/>
                <a:cs typeface="Arial" pitchFamily="34" charset="0"/>
              </a:rPr>
              <a:t>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Also, adaptability and marketability to market environments shall be assured by</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After SOP,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correspond to analysis the root cause and make the countermeasure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Quickly</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if the market problem occur. </a:t>
            </a:r>
            <a:br>
              <a:rPr lang="en-US" altLang="ja-JP" sz="1400">
                <a:latin typeface="Meiryo UI" panose="020B0604030504040204" pitchFamily="50" charset="-128"/>
                <a:ea typeface="Meiryo UI" panose="020B0604030504040204" pitchFamily="50" charset="-128"/>
                <a:cs typeface="Arial" pitchFamily="34" charset="0"/>
              </a:rPr>
            </a:br>
            <a:endParaRPr lang="en-US" altLang="ja-JP" sz="1400">
              <a:latin typeface="Meiryo UI" panose="020B0604030504040204" pitchFamily="50" charset="-128"/>
              <a:ea typeface="Meiryo UI" panose="020B0604030504040204" pitchFamily="50" charset="-128"/>
              <a:cs typeface="Arial" pitchFamily="34" charset="0"/>
            </a:endParaRPr>
          </a:p>
          <a:p>
            <a:pPr marL="92075" lvl="1" indent="0" algn="l" eaLnBrk="1" hangingPunct="1">
              <a:lnSpc>
                <a:spcPct val="110000"/>
              </a:lnSpc>
              <a:spcBef>
                <a:spcPts val="600"/>
              </a:spcBef>
              <a:defRPr/>
            </a:pP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parts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reliability</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duration</a:t>
            </a:r>
            <a:r>
              <a:rPr lang="ja-JP" altLang="en-US" sz="1400">
                <a:latin typeface="Meiryo UI" panose="020B0604030504040204" pitchFamily="50" charset="-128"/>
                <a:ea typeface="Meiryo UI" panose="020B0604030504040204" pitchFamily="50" charset="-128"/>
                <a:cs typeface="Arial" pitchFamily="34" charset="0"/>
              </a:rPr>
              <a:t>；</a:t>
            </a:r>
            <a:endParaRPr lang="en-US" altLang="ja-JP" sz="1400">
              <a:latin typeface="Meiryo UI" panose="020B0604030504040204" pitchFamily="50" charset="-128"/>
              <a:ea typeface="Meiryo UI" panose="020B0604030504040204" pitchFamily="50" charset="-128"/>
              <a:cs typeface="Arial" pitchFamily="34" charset="0"/>
            </a:endParaRPr>
          </a:p>
          <a:p>
            <a:pPr marL="492125" lvl="2" indent="0" algn="l" eaLnBrk="1" hangingPunct="1">
              <a:lnSpc>
                <a:spcPct val="110000"/>
              </a:lnSpc>
              <a:spcBef>
                <a:spcPts val="6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standard parts’ reliability duration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shall</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be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160,000km/10yrs, 200,000km/14yrs for **Fuel parts.</a:t>
            </a:r>
            <a:r>
              <a:rPr lang="ja-JP" altLang="en-US" sz="1400">
                <a:latin typeface="Meiryo UI" panose="020B0604030504040204" pitchFamily="50" charset="-128"/>
                <a:ea typeface="Meiryo UI" panose="020B0604030504040204" pitchFamily="50" charset="-128"/>
                <a:cs typeface="Arial" pitchFamily="34" charset="0"/>
              </a:rPr>
              <a:t>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Design and test condition for the durability duration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of respective parts shall be based on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 standards.</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Honda’s quality improvement measure requirements would be added as additional requirements. </a:t>
            </a:r>
          </a:p>
          <a:p>
            <a:pPr marL="492125" lvl="2" indent="0" algn="l" eaLnBrk="1" hangingPunct="1">
              <a:lnSpc>
                <a:spcPct val="110000"/>
              </a:lnSpc>
              <a:spcBef>
                <a:spcPts val="600"/>
              </a:spcBef>
              <a:defRPr/>
            </a:pPr>
            <a:endParaRPr lang="en-US" altLang="ja-JP" sz="1400">
              <a:latin typeface="Meiryo UI" panose="020B0604030504040204" pitchFamily="50" charset="-128"/>
              <a:ea typeface="Meiryo UI" panose="020B0604030504040204" pitchFamily="50" charset="-128"/>
              <a:cs typeface="Arial" pitchFamily="34" charset="0"/>
            </a:endParaRPr>
          </a:p>
          <a:p>
            <a:pPr marL="92075" lvl="1" indent="0" algn="l" eaLnBrk="1" hangingPunct="1">
              <a:lnSpc>
                <a:spcPct val="110000"/>
              </a:lnSpc>
              <a:spcBef>
                <a:spcPts val="600"/>
              </a:spcBef>
              <a:defRPr/>
            </a:pPr>
            <a:r>
              <a:rPr lang="en-US" altLang="ja-JP" sz="1400">
                <a:latin typeface="Meiryo UI" panose="020B0604030504040204" pitchFamily="50" charset="-128"/>
                <a:ea typeface="Meiryo UI" panose="020B0604030504040204" pitchFamily="50" charset="-128"/>
                <a:cs typeface="Arial" pitchFamily="34" charset="0"/>
              </a:rPr>
              <a:t>    -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components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adaptability</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the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vehicle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(G</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measurement/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Temperature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measurement)</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be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measured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by</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Please refer</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EMS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sheet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for</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details.</a:t>
            </a:r>
          </a:p>
        </p:txBody>
      </p:sp>
    </p:spTree>
    <p:extLst>
      <p:ext uri="{BB962C8B-B14F-4D97-AF65-F5344CB8AC3E}">
        <p14:creationId xmlns:p14="http://schemas.microsoft.com/office/powerpoint/2010/main" val="3158371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(3/5)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Text Box 2"/>
          <p:cNvSpPr txBox="1">
            <a:spLocks noChangeArrowheads="1"/>
          </p:cNvSpPr>
          <p:nvPr/>
        </p:nvSpPr>
        <p:spPr bwMode="auto">
          <a:xfrm>
            <a:off x="71882" y="591013"/>
            <a:ext cx="9072122" cy="6123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ja-JP" altLang="en-US" sz="1600" b="1" i="0" u="sng" strike="noStrike" kern="1200" cap="none" spc="0" normalizeH="0" baseline="0" noProof="0">
                <a:ln>
                  <a:noFill/>
                </a:ln>
                <a:effectLst/>
                <a:uLnTx/>
                <a:uFillTx/>
                <a:latin typeface="Meiryo UI" panose="020B0604030504040204" pitchFamily="50" charset="-128"/>
                <a:ea typeface="Meiryo UI" panose="020B0604030504040204" pitchFamily="50" charset="-128"/>
              </a:rPr>
              <a:t>前提条件</a:t>
            </a:r>
          </a:p>
          <a:p>
            <a:pPr marL="360000" lvl="1" indent="-179388" algn="l" eaLnBrk="1" hangingPunct="1">
              <a:lnSpc>
                <a:spcPct val="110000"/>
              </a:lnSpc>
              <a:spcBef>
                <a:spcPts val="600"/>
              </a:spcBef>
              <a:buFontTx/>
              <a:buAutoNum type="arabicParenR"/>
              <a:defRPr/>
            </a:pP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は、</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EMS</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要求項目にて提示する、性能、</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EM</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DRB</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、商品性、</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NV</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商品性、耐久信頼性項目を満足する事を</a:t>
            </a:r>
            <a:br>
              <a:rPr lang="en-US" altLang="ja-JP" sz="1400">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要求する。</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この要求は、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ENG</a:t>
            </a:r>
            <a:r>
              <a:rPr lang="ja-JP" altLang="en-US" sz="1400" noProof="0">
                <a:latin typeface="Meiryo UI" panose="020B0604030504040204" pitchFamily="50" charset="-128"/>
                <a:ea typeface="Meiryo UI" panose="020B0604030504040204" pitchFamily="50" charset="-128"/>
              </a:rPr>
              <a:t>マネージメントシステム</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のロバスト性も含め、</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ENG</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構成部品</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(Honda/</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部品</a:t>
            </a:r>
            <a:r>
              <a:rPr lang="en-US" altLang="ja-JP" sz="1400">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の</a:t>
            </a:r>
            <a:br>
              <a:rPr lang="en-US" altLang="ja-JP" sz="1400">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量産バラツキ、耐久劣化の影響を含めて満足しなければならない。</a:t>
            </a:r>
            <a:endPar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a:p>
            <a:pPr marL="360000" lvl="1" indent="-179388" algn="l" eaLnBrk="1" hangingPunct="1">
              <a:lnSpc>
                <a:spcPct val="110000"/>
              </a:lnSpc>
              <a:spcBef>
                <a:spcPts val="600"/>
              </a:spcBef>
              <a:defRPr/>
            </a:pP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	</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また、</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社内評価、一般特性を満足し、</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の評価を満足する事。</a:t>
            </a:r>
            <a:br>
              <a:rPr lang="en-US" altLang="ja-JP" sz="1400">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詳細については、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耐久評価を</a:t>
            </a:r>
            <a:r>
              <a:rPr lang="ja-JP" altLang="en-US" sz="1400">
                <a:latin typeface="Meiryo UI" panose="020B0604030504040204" pitchFamily="50" charset="-128"/>
                <a:ea typeface="Meiryo UI" panose="020B0604030504040204" pitchFamily="50" charset="-128"/>
              </a:rPr>
              <a:t>ベース</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に打合せを実施し対処する。（劣化</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CAT</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を用いた</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EM</a:t>
            </a:r>
            <a:r>
              <a:rPr lang="ja-JP" altLang="en-US" sz="1400">
                <a:latin typeface="Meiryo UI" panose="020B0604030504040204" pitchFamily="50" charset="-128"/>
                <a:ea typeface="Meiryo UI" panose="020B0604030504040204" pitchFamily="50" charset="-128"/>
              </a:rPr>
              <a:t>タフネス</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検証など）</a:t>
            </a:r>
            <a:endPar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a:p>
            <a:pPr marL="360000" lvl="1" indent="-179388"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 図面</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/SPEC</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で規定されていない耐久性項目が生じた場合、両社協議して対応を決める。</a:t>
            </a:r>
            <a:endParaRPr lang="en-US" altLang="ja-JP" sz="1400">
              <a:latin typeface="Meiryo UI" panose="020B0604030504040204" pitchFamily="50" charset="-128"/>
              <a:ea typeface="Meiryo UI" panose="020B0604030504040204" pitchFamily="50" charset="-128"/>
            </a:endParaRPr>
          </a:p>
          <a:p>
            <a:pPr marL="360000" lvl="1" indent="-179388" algn="l" eaLnBrk="1" hangingPunct="1">
              <a:lnSpc>
                <a:spcPct val="110000"/>
              </a:lnSpc>
              <a:spcBef>
                <a:spcPts val="600"/>
              </a:spcBef>
              <a:defRPr/>
            </a:pP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 （合意した試験ﾓｰﾄﾞで検証し</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シート</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に結果を記載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etc.</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a:t>
            </a:r>
            <a:endPar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a:p>
            <a:pPr marL="360000" marR="0" lvl="1" indent="-179388" algn="l" defTabSz="914400" rtl="0" eaLnBrk="1" fontAlgn="base" latinLnBrk="0" hangingPunct="1">
              <a:lnSpc>
                <a:spcPct val="110000"/>
              </a:lnSpc>
              <a:spcBef>
                <a:spcPts val="600"/>
              </a:spcBef>
              <a:spcAft>
                <a:spcPct val="0"/>
              </a:spcAft>
              <a:buClrTx/>
              <a:buSzTx/>
              <a:buFontTx/>
              <a:buNone/>
              <a:tabLst/>
              <a:defRPr/>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に於いて新機構（量産実績の無い構造・材料）と判断された項目は、耐久信頼性評価方法の考え方・妥当性を示し、耐久劣化後も含めて</a:t>
            </a:r>
            <a:r>
              <a:rPr lang="ja-JP" altLang="en-US" sz="1400">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市場環境を満足できる評価手法である事を協議する。</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br>
            <a:endParaRPr lang="en-US" altLang="ja-JP" sz="1400">
              <a:latin typeface="Meiryo UI" panose="020B0604030504040204" pitchFamily="50" charset="-128"/>
              <a:ea typeface="Meiryo UI" panose="020B0604030504040204" pitchFamily="50" charset="-128"/>
            </a:endParaRPr>
          </a:p>
          <a:p>
            <a:pPr marL="360000" marR="0" lvl="1" indent="-179388" algn="l" defTabSz="914400" rtl="0" eaLnBrk="1" fontAlgn="base" latinLnBrk="0" hangingPunct="1">
              <a:lnSpc>
                <a:spcPct val="110000"/>
              </a:lnSpc>
              <a:spcBef>
                <a:spcPts val="600"/>
              </a:spcBef>
              <a:spcAft>
                <a:spcPct val="0"/>
              </a:spcAft>
              <a:buClrTx/>
              <a:buSzTx/>
              <a:buFontTx/>
              <a:buNone/>
              <a:tabLst/>
              <a:defRPr/>
            </a:pPr>
            <a:r>
              <a:rPr lang="en-US" altLang="ja-JP" sz="1400">
                <a:latin typeface="Meiryo UI" panose="020B0604030504040204" pitchFamily="50" charset="-128"/>
                <a:ea typeface="Meiryo UI" panose="020B0604030504040204" pitchFamily="50" charset="-128"/>
              </a:rPr>
              <a:t>2)</a:t>
            </a:r>
            <a:r>
              <a:rPr lang="ja-JP" altLang="en-US" sz="1400">
                <a:latin typeface="Meiryo UI" panose="020B0604030504040204" pitchFamily="50" charset="-128"/>
                <a:ea typeface="Meiryo UI" panose="020B0604030504040204" pitchFamily="50" charset="-128"/>
              </a:rPr>
              <a:t> 委託開発としての</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の信頼性保証について；</a:t>
            </a:r>
            <a:br>
              <a:rPr lang="en-US" altLang="ja-JP" sz="1400">
                <a:latin typeface="Meiryo UI" panose="020B0604030504040204" pitchFamily="50" charset="-128"/>
                <a:ea typeface="Meiryo UI" panose="020B0604030504040204" pitchFamily="50" charset="-128"/>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a:t>
            </a:r>
            <a:r>
              <a:rPr lang="en-US" altLang="ja-JP" sz="1400">
                <a:latin typeface="Meiryo UI" panose="020B0604030504040204" pitchFamily="50" charset="-128"/>
                <a:ea typeface="Meiryo UI" panose="020B0604030504040204" pitchFamily="50" charset="-128"/>
              </a:rPr>
              <a:t>FI</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SYSTEM</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SPECIFICATION/EMS</a:t>
            </a:r>
            <a:r>
              <a:rPr lang="ja-JP" altLang="en-US" sz="1400">
                <a:latin typeface="Meiryo UI" panose="020B0604030504040204" pitchFamily="50" charset="-128"/>
                <a:ea typeface="Meiryo UI" panose="020B0604030504040204" pitchFamily="50" charset="-128"/>
              </a:rPr>
              <a:t>シートで</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が定めた目標性能および耐久信頼性を満足した上で、部品仕様制御アルゴリズム、データ設定を含む</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の信頼性を保証すること。</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SOP</a:t>
            </a:r>
            <a:r>
              <a:rPr lang="ja-JP" altLang="en-US" sz="1400">
                <a:latin typeface="Meiryo UI" panose="020B0604030504040204" pitchFamily="50" charset="-128"/>
                <a:ea typeface="Meiryo UI" panose="020B0604030504040204" pitchFamily="50" charset="-128"/>
              </a:rPr>
              <a:t>後、市場不具合が発生した際は、</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は迅速に解決</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対策へ向けた対応を行うこと。</a:t>
            </a:r>
            <a:endParaRPr lang="en-US" altLang="ja-JP" sz="1400">
              <a:latin typeface="Meiryo UI" panose="020B0604030504040204" pitchFamily="50" charset="-128"/>
              <a:ea typeface="Meiryo UI" panose="020B0604030504040204" pitchFamily="50" charset="-128"/>
            </a:endParaRPr>
          </a:p>
          <a:p>
            <a:pPr marL="466362" marR="0" lvl="1" algn="l" defTabSz="914400" rtl="0" eaLnBrk="1" fontAlgn="base" latinLnBrk="0" hangingPunct="1">
              <a:lnSpc>
                <a:spcPct val="110000"/>
              </a:lnSpc>
              <a:spcBef>
                <a:spcPts val="600"/>
              </a:spcBef>
              <a:spcAft>
                <a:spcPct val="0"/>
              </a:spcAft>
              <a:buClrTx/>
              <a:buSzTx/>
              <a:buFontTx/>
              <a:buChar char="-"/>
              <a:tabLst/>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部品の信頼性寿命</a:t>
            </a:r>
            <a:br>
              <a:rPr lang="en-US" altLang="ja-JP" sz="1400" u="sng">
                <a:latin typeface="Meiryo UI" panose="020B0604030504040204" pitchFamily="50" charset="-128"/>
                <a:ea typeface="Meiryo UI" panose="020B0604030504040204" pitchFamily="50" charset="-128"/>
                <a:cs typeface="Arial" pitchFamily="34" charset="0"/>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部品の信頼性寿命期間は、</a:t>
            </a:r>
            <a:r>
              <a:rPr lang="en-US" altLang="ja-JP" sz="1400">
                <a:latin typeface="Meiryo UI" panose="020B0604030504040204" pitchFamily="50" charset="-128"/>
                <a:ea typeface="Meiryo UI" panose="020B0604030504040204" pitchFamily="50" charset="-128"/>
              </a:rPr>
              <a:t> </a:t>
            </a:r>
            <a:r>
              <a:rPr lang="en-US" altLang="ja-JP" sz="1400">
                <a:solidFill>
                  <a:srgbClr val="FF0000"/>
                </a:solidFill>
                <a:latin typeface="Meiryo UI" panose="020B0604030504040204" pitchFamily="50" charset="-128"/>
                <a:ea typeface="Meiryo UI" panose="020B0604030504040204" pitchFamily="50" charset="-128"/>
              </a:rPr>
              <a:t>10</a:t>
            </a:r>
            <a:r>
              <a:rPr lang="ja-JP" altLang="en-US" sz="1400">
                <a:solidFill>
                  <a:srgbClr val="FF0000"/>
                </a:solidFill>
                <a:latin typeface="Meiryo UI" panose="020B0604030504040204" pitchFamily="50" charset="-128"/>
                <a:ea typeface="Meiryo UI" panose="020B0604030504040204" pitchFamily="50" charset="-128"/>
              </a:rPr>
              <a:t>年</a:t>
            </a:r>
            <a:r>
              <a:rPr lang="en-US" altLang="ja-JP" sz="1400">
                <a:solidFill>
                  <a:srgbClr val="FF0000"/>
                </a:solidFill>
                <a:latin typeface="Meiryo UI" panose="020B0604030504040204" pitchFamily="50" charset="-128"/>
                <a:ea typeface="Meiryo UI" panose="020B0604030504040204" pitchFamily="50" charset="-128"/>
              </a:rPr>
              <a:t>/16</a:t>
            </a:r>
            <a:r>
              <a:rPr lang="ja-JP" altLang="en-US" sz="1400">
                <a:solidFill>
                  <a:srgbClr val="FF0000"/>
                </a:solidFill>
                <a:latin typeface="Meiryo UI" panose="020B0604030504040204" pitchFamily="50" charset="-128"/>
                <a:ea typeface="Meiryo UI" panose="020B0604030504040204" pitchFamily="50" charset="-128"/>
              </a:rPr>
              <a:t>万ｋｍ、**燃料系部品は</a:t>
            </a:r>
            <a:r>
              <a:rPr lang="en-US" altLang="ja-JP" sz="1400">
                <a:solidFill>
                  <a:srgbClr val="FF0000"/>
                </a:solidFill>
                <a:latin typeface="Meiryo UI" panose="020B0604030504040204" pitchFamily="50" charset="-128"/>
                <a:ea typeface="Meiryo UI" panose="020B0604030504040204" pitchFamily="50" charset="-128"/>
              </a:rPr>
              <a:t>14</a:t>
            </a:r>
            <a:r>
              <a:rPr lang="ja-JP" altLang="en-US" sz="1400">
                <a:solidFill>
                  <a:srgbClr val="FF0000"/>
                </a:solidFill>
                <a:latin typeface="Meiryo UI" panose="020B0604030504040204" pitchFamily="50" charset="-128"/>
                <a:ea typeface="Meiryo UI" panose="020B0604030504040204" pitchFamily="50" charset="-128"/>
              </a:rPr>
              <a:t>年</a:t>
            </a:r>
            <a:r>
              <a:rPr lang="en-US" altLang="ja-JP" sz="1400">
                <a:solidFill>
                  <a:srgbClr val="FF0000"/>
                </a:solidFill>
                <a:latin typeface="Meiryo UI" panose="020B0604030504040204" pitchFamily="50" charset="-128"/>
                <a:ea typeface="Meiryo UI" panose="020B0604030504040204" pitchFamily="50" charset="-128"/>
              </a:rPr>
              <a:t>20</a:t>
            </a:r>
            <a:r>
              <a:rPr lang="ja-JP" altLang="en-US" sz="1400">
                <a:solidFill>
                  <a:srgbClr val="FF0000"/>
                </a:solidFill>
                <a:latin typeface="Meiryo UI" panose="020B0604030504040204" pitchFamily="50" charset="-128"/>
                <a:ea typeface="Meiryo UI" panose="020B0604030504040204" pitchFamily="50" charset="-128"/>
              </a:rPr>
              <a:t>万ｋｍ</a:t>
            </a:r>
            <a:r>
              <a:rPr lang="ja-JP" altLang="en-US" sz="1400">
                <a:latin typeface="Meiryo UI" panose="020B0604030504040204" pitchFamily="50" charset="-128"/>
                <a:ea typeface="Meiryo UI" panose="020B0604030504040204" pitchFamily="50" charset="-128"/>
              </a:rPr>
              <a:t>とすること。</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各部品の信頼性寿命期間に対する設計および耐久試験項目は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基準を基本とし、</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品質向上施策　　については別途追加要求し、これを満足するものとする。   </a:t>
            </a:r>
            <a:endParaRPr lang="en-US" altLang="ja-JP" sz="1400">
              <a:latin typeface="Meiryo UI" panose="020B0604030504040204" pitchFamily="50" charset="-128"/>
              <a:ea typeface="Meiryo UI" panose="020B0604030504040204" pitchFamily="50" charset="-128"/>
            </a:endParaRPr>
          </a:p>
          <a:p>
            <a:pPr marL="360363" lvl="0" indent="-360363" algn="l" eaLnBrk="1" hangingPunct="1">
              <a:lnSpc>
                <a:spcPct val="120000"/>
              </a:lnSpc>
              <a:spcBef>
                <a:spcPts val="600"/>
              </a:spcBef>
              <a:defRPr/>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部品の車両適合性</a:t>
            </a:r>
            <a:r>
              <a:rPr lang="en-US" altLang="ja-JP" sz="1400">
                <a:latin typeface="Meiryo UI" panose="020B0604030504040204" pitchFamily="50" charset="-128"/>
                <a:ea typeface="Meiryo UI" panose="020B0604030504040204" pitchFamily="50" charset="-128"/>
              </a:rPr>
              <a:t>(G</a:t>
            </a:r>
            <a:r>
              <a:rPr lang="ja-JP" altLang="en-US" sz="1400">
                <a:latin typeface="Meiryo UI" panose="020B0604030504040204" pitchFamily="50" charset="-128"/>
                <a:ea typeface="Meiryo UI" panose="020B0604030504040204" pitchFamily="50" charset="-128"/>
              </a:rPr>
              <a:t>測、測温</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評価判断の為、</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にて測定；詳細は、</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シート</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参照のこと。</a:t>
            </a:r>
            <a:endParaRPr lang="en-US" altLang="ja-JP" sz="14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3044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 (4/5)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Text Box 2"/>
          <p:cNvSpPr txBox="1">
            <a:spLocks noChangeArrowheads="1"/>
          </p:cNvSpPr>
          <p:nvPr/>
        </p:nvSpPr>
        <p:spPr bwMode="auto">
          <a:xfrm>
            <a:off x="71882" y="545508"/>
            <a:ext cx="8876175" cy="5525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600" b="1"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Preconditions</a:t>
            </a:r>
          </a:p>
          <a:p>
            <a:pPr lvl="0" algn="l" eaLnBrk="1" hangingPunct="1">
              <a:lnSpc>
                <a:spcPct val="110000"/>
              </a:lnSpc>
              <a:spcBef>
                <a:spcPts val="600"/>
              </a:spcBef>
              <a:defRPr/>
            </a:pPr>
            <a:r>
              <a:rPr lang="en-US" altLang="ja-JP" sz="1600">
                <a:latin typeface="Meiryo UI" panose="020B0604030504040204" pitchFamily="50" charset="-128"/>
                <a:ea typeface="Meiryo UI" panose="020B0604030504040204" pitchFamily="50" charset="-128"/>
                <a:cs typeface="Arial" pitchFamily="34" charset="0"/>
              </a:rPr>
              <a:t>   </a:t>
            </a:r>
            <a:r>
              <a:rPr lang="en-US" altLang="ja-JP" sz="1200">
                <a:latin typeface="Meiryo UI" panose="020B0604030504040204" pitchFamily="50" charset="-128"/>
                <a:ea typeface="Meiryo UI" panose="020B0604030504040204" pitchFamily="50" charset="-128"/>
                <a:cs typeface="Arial" pitchFamily="34" charset="0"/>
              </a:rPr>
              <a:t>3) </a:t>
            </a:r>
            <a:r>
              <a:rPr lang="en-US" altLang="ja-JP" sz="1400">
                <a:latin typeface="Meiryo UI" panose="020B0604030504040204" pitchFamily="50" charset="-128"/>
                <a:ea typeface="Meiryo UI" panose="020B0604030504040204" pitchFamily="50" charset="-128"/>
                <a:cs typeface="Arial" pitchFamily="34" charset="0"/>
              </a:rPr>
              <a:t>Regarding the evaluation of</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component (ex.</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production variation, dimension tolerance);</a:t>
            </a:r>
          </a:p>
          <a:p>
            <a:pPr lvl="0"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shall guarantee the component manufacturing quality and durability, as well as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the hardware and production tolerances to meet the requirements for their engine management system.</a:t>
            </a:r>
          </a:p>
          <a:p>
            <a:pPr lvl="0"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Honda will request limit samples with production and dimensional tolerances to fulfill the testing required by the EMS  sheet. Detailed requirements and definition of “limit samples”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to be decided between Honda &amp;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a:t>
            </a:r>
          </a:p>
          <a:p>
            <a:pPr lvl="0"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4) Manufacturing technique and quality control technique (including the items in the verifications of process control sheet) shall be stablished before SOP (DAN Lot, HIN Lot).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After the establishment of verifications, no changes shall be made to the process control items, quality control items, and specifications without prior approval from Honda.</a:t>
            </a:r>
          </a:p>
          <a:p>
            <a:pPr lvl="0"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Production process quality control items shall be clarified throughout manufacturing line verifications.</a:t>
            </a:r>
          </a:p>
          <a:p>
            <a:pPr lvl="0" algn="l" eaLnBrk="1" hangingPunct="1">
              <a:lnSpc>
                <a:spcPct val="110000"/>
              </a:lnSpc>
              <a:spcBef>
                <a:spcPts val="600"/>
              </a:spcBef>
              <a:defRPr/>
            </a:pPr>
            <a:r>
              <a:rPr lang="en-US" altLang="ja-JP" sz="1600" b="1">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5) SOP shall be achieved as scheduled for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6SAA-MMC</a:t>
            </a:r>
          </a:p>
          <a:p>
            <a:pPr marL="450850" lvl="1" indent="-358775" algn="l" eaLnBrk="1" hangingPunct="1">
              <a:lnSpc>
                <a:spcPct val="110000"/>
              </a:lnSpc>
              <a:spcBef>
                <a:spcPts val="600"/>
              </a:spcBef>
              <a:defRPr/>
            </a:pPr>
            <a:r>
              <a:rPr lang="en-US" altLang="ja-JP" sz="1400">
                <a:latin typeface="Meiryo UI" panose="020B0604030504040204" pitchFamily="50" charset="-128"/>
                <a:ea typeface="Meiryo UI" panose="020B0604030504040204" pitchFamily="50" charset="-128"/>
                <a:cs typeface="Arial" pitchFamily="34" charset="0"/>
              </a:rPr>
              <a:t>  6)</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In any cases where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can Not achieve target performance required by Honda just with optimization of engine management system (software, data calibration ),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shall report  that to Honda (without delay), and measures to be determined through discussions between the two parties (HONDA and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t>
            </a:r>
          </a:p>
          <a:p>
            <a:pPr marL="450850" lvl="1" indent="-358775" algn="l" eaLnBrk="1" hangingPunct="1">
              <a:lnSpc>
                <a:spcPct val="110000"/>
              </a:lnSpc>
              <a:spcBef>
                <a:spcPts val="600"/>
              </a:spcBef>
              <a:defRPr/>
            </a:pPr>
            <a:r>
              <a:rPr lang="en-US" altLang="ja-JP" sz="1400">
                <a:latin typeface="Meiryo UI" panose="020B0604030504040204" pitchFamily="50" charset="-128"/>
                <a:ea typeface="Meiryo UI" panose="020B0604030504040204" pitchFamily="50" charset="-128"/>
                <a:cs typeface="Arial" pitchFamily="34" charset="0"/>
              </a:rPr>
              <a:t>  7) HRAP may ask Honda Japan to help the verification at the Expert meeting with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a:t>
            </a:r>
            <a:endParaRPr lang="en-US" altLang="ja-JP" sz="1400">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4207213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6.</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Preconditions (5/5)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1" name="Text Box 2"/>
          <p:cNvSpPr txBox="1">
            <a:spLocks noChangeArrowheads="1"/>
          </p:cNvSpPr>
          <p:nvPr/>
        </p:nvSpPr>
        <p:spPr bwMode="auto">
          <a:xfrm>
            <a:off x="71882" y="574986"/>
            <a:ext cx="9072118" cy="5065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ja-JP" altLang="en-US" sz="1400" b="1" i="0" u="sng" strike="noStrike" kern="1200" cap="none" spc="0" normalizeH="0" baseline="0" noProof="0">
                <a:ln>
                  <a:noFill/>
                </a:ln>
                <a:effectLst/>
                <a:uLnTx/>
                <a:uFillTx/>
                <a:latin typeface="Meiryo UI" panose="020B0604030504040204" pitchFamily="50" charset="-128"/>
                <a:ea typeface="Meiryo UI" panose="020B0604030504040204" pitchFamily="50" charset="-128"/>
              </a:rPr>
              <a:t>前提条件</a:t>
            </a:r>
            <a:endParaRPr lang="en-US" altLang="ja-JP" sz="1400" b="1" u="sng">
              <a:latin typeface="Meiryo UI" panose="020B0604030504040204" pitchFamily="50" charset="-128"/>
              <a:ea typeface="Meiryo UI" panose="020B0604030504040204" pitchFamily="50" charset="-128"/>
            </a:endParaRPr>
          </a:p>
          <a:p>
            <a:pPr lvl="0" algn="l" eaLnBrk="1" hangingPunct="1">
              <a:lnSpc>
                <a:spcPct val="110000"/>
              </a:lnSpc>
              <a:spcBef>
                <a:spcPts val="600"/>
              </a:spcBef>
              <a:defRPr/>
            </a:pPr>
            <a:r>
              <a:rPr lang="en-US" altLang="ja-JP" sz="1400">
                <a:latin typeface="Meiryo UI" panose="020B0604030504040204" pitchFamily="50" charset="-128"/>
                <a:ea typeface="Meiryo UI" panose="020B0604030504040204" pitchFamily="50" charset="-128"/>
              </a:rPr>
              <a:t>     3)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適用部品のバラツキ（製造バラツキ</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寸法バラツキなど）評価について；</a:t>
            </a:r>
            <a:endParaRPr lang="en-US" altLang="ja-JP" sz="1400">
              <a:latin typeface="Meiryo UI" panose="020B0604030504040204" pitchFamily="50" charset="-128"/>
              <a:ea typeface="Meiryo UI" panose="020B0604030504040204" pitchFamily="50" charset="-128"/>
            </a:endParaRPr>
          </a:p>
          <a:p>
            <a:pPr lvl="0"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製品の製造バラツキ</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寸法バラツキ</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耐久劣化を含め、社内耐久評価基準を満足し、</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 信頼性を保証すること。</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は、評価に於いて</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製品の寸法、製造ﾊﾞﾗﾂｷ上下限品でのﾃｽﾄ結果が必要になった場合、</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要求書</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  に記載し、それを請求する。</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 要求詳細（バラツキ）については、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と</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との間で協議の上、設定すること</a:t>
            </a:r>
            <a:br>
              <a:rPr lang="en-US" altLang="ja-JP" sz="1400">
                <a:latin typeface="Meiryo UI" panose="020B0604030504040204" pitchFamily="50" charset="-128"/>
                <a:ea typeface="Meiryo UI" panose="020B0604030504040204" pitchFamily="50" charset="-128"/>
              </a:rPr>
            </a:b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600"/>
              </a:spcBef>
              <a:defRPr/>
            </a:pPr>
            <a:r>
              <a:rPr kumimoji="1" lang="en-US" altLang="ja-JP" sz="1400" b="0" i="0" u="none" strike="noStrike" kern="1200" cap="none" spc="0" normalizeH="0" noProof="0">
                <a:ln>
                  <a:noFill/>
                </a:ln>
                <a:effectLst/>
                <a:uLnTx/>
                <a:uFillTx/>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4) </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量産開始前（段確</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Lot/</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品確</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Lot</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）迄に、製造技術と品質管理技術（工程管理表項目検証含む）を確立すること。</a:t>
            </a:r>
            <a:endPar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a:p>
            <a:pPr marL="179388" marR="0" lvl="0" indent="0" algn="l" defTabSz="914400" rtl="0" eaLnBrk="1" fontAlgn="base" latinLnBrk="0" hangingPunct="1">
              <a:lnSpc>
                <a:spcPct val="110000"/>
              </a:lnSpc>
              <a:spcBef>
                <a:spcPts val="600"/>
              </a:spcBef>
              <a:spcAft>
                <a:spcPct val="0"/>
              </a:spcAft>
              <a:buClrTx/>
              <a:buSzTx/>
              <a:buFontTx/>
              <a:buNone/>
              <a:tabLst>
                <a:tab pos="442913" algn="l"/>
              </a:tabLst>
              <a:defRPr/>
            </a:pP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     確立後は、工程管理項目・品質管理項目・仕様変更を行わない。</a:t>
            </a:r>
            <a:endPar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a:p>
            <a:pPr marL="179388" marR="0" lvl="2" indent="0" algn="l" defTabSz="914400" rtl="0" eaLnBrk="1" fontAlgn="base" latinLnBrk="0" hangingPunct="1">
              <a:lnSpc>
                <a:spcPct val="110000"/>
              </a:lnSpc>
              <a:spcBef>
                <a:spcPts val="600"/>
              </a:spcBef>
              <a:spcAft>
                <a:spcPct val="0"/>
              </a:spcAft>
              <a:buClrTx/>
              <a:buSzTx/>
              <a:buFontTx/>
              <a:buNone/>
              <a:tabLst>
                <a:tab pos="442913" algn="l"/>
              </a:tabLst>
              <a:defRPr/>
            </a:pP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工程確認項目</a:t>
            </a:r>
            <a: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ライン品質管理項目は、生産ライン検証を実施し明確化する。</a:t>
            </a:r>
            <a:br>
              <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br>
            <a:endParaRPr lang="en-US" altLang="ja-JP" sz="1400">
              <a:latin typeface="Meiryo UI" panose="020B0604030504040204" pitchFamily="50" charset="-128"/>
              <a:ea typeface="Meiryo UI" panose="020B0604030504040204" pitchFamily="50" charset="-128"/>
            </a:endParaRPr>
          </a:p>
          <a:p>
            <a:pPr marL="179388" marR="0" lvl="2" indent="0" algn="l" defTabSz="914400" rtl="0" eaLnBrk="1" fontAlgn="base" latinLnBrk="0" hangingPunct="1">
              <a:lnSpc>
                <a:spcPct val="110000"/>
              </a:lnSpc>
              <a:spcBef>
                <a:spcPts val="600"/>
              </a:spcBef>
              <a:spcAft>
                <a:spcPct val="0"/>
              </a:spcAft>
              <a:buClrTx/>
              <a:buSzTx/>
              <a:tabLst>
                <a:tab pos="442913" algn="l"/>
              </a:tabLst>
              <a:defRPr/>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5)</a:t>
            </a:r>
            <a:r>
              <a:rPr lang="ja-JP" altLang="en-US" sz="1400">
                <a:latin typeface="Meiryo UI" panose="020B0604030504040204" pitchFamily="50" charset="-128"/>
                <a:ea typeface="Meiryo UI" panose="020B0604030504040204" pitchFamily="50" charset="-128"/>
              </a:rPr>
              <a:t> </a:t>
            </a:r>
            <a:r>
              <a:rPr lang="en-US" altLang="ja-JP" sz="1400">
                <a:solidFill>
                  <a:srgbClr val="FF0000"/>
                </a:solidFill>
                <a:latin typeface="Meiryo UI" panose="020B0604030504040204" pitchFamily="50" charset="-128"/>
                <a:ea typeface="Meiryo UI" panose="020B0604030504040204" pitchFamily="50" charset="-128"/>
              </a:rPr>
              <a:t>6SAA-MMC</a:t>
            </a:r>
            <a:r>
              <a:rPr lang="ja-JP" altLang="en-US" sz="1400">
                <a:latin typeface="Meiryo UI" panose="020B0604030504040204" pitchFamily="50" charset="-128"/>
                <a:ea typeface="Meiryo UI" panose="020B0604030504040204" pitchFamily="50" charset="-128"/>
              </a:rPr>
              <a:t>の量産立上り日程に量産開始できること。</a:t>
            </a:r>
            <a:endParaRPr lang="en-US" altLang="ja-JP" sz="1400">
              <a:latin typeface="Meiryo UI" panose="020B0604030504040204" pitchFamily="50" charset="-128"/>
              <a:ea typeface="Meiryo UI" panose="020B0604030504040204" pitchFamily="50" charset="-128"/>
            </a:endParaRPr>
          </a:p>
          <a:p>
            <a:pPr marL="179388" marR="0" lvl="2" indent="0" algn="l" defTabSz="914400" rtl="0" eaLnBrk="1" fontAlgn="base" latinLnBrk="0" hangingPunct="1">
              <a:lnSpc>
                <a:spcPct val="110000"/>
              </a:lnSpc>
              <a:spcBef>
                <a:spcPts val="600"/>
              </a:spcBef>
              <a:spcAft>
                <a:spcPct val="0"/>
              </a:spcAft>
              <a:buClrTx/>
              <a:buSzTx/>
              <a:tabLst>
                <a:tab pos="442913" algn="l"/>
              </a:tabLst>
              <a:defRPr/>
            </a:pPr>
            <a:endParaRPr lang="en-US" altLang="ja-JP" sz="1400">
              <a:solidFill>
                <a:srgbClr val="0000FF"/>
              </a:solidFill>
              <a:latin typeface="Meiryo UI" panose="020B0604030504040204" pitchFamily="50" charset="-128"/>
              <a:ea typeface="Meiryo UI" panose="020B0604030504040204" pitchFamily="50" charset="-128"/>
              <a:cs typeface="Arial" pitchFamily="34" charset="0"/>
            </a:endParaRPr>
          </a:p>
          <a:p>
            <a:pPr marL="179388" marR="0" lvl="2" indent="0" algn="l" defTabSz="914400" rtl="0" eaLnBrk="1" fontAlgn="base" latinLnBrk="0" hangingPunct="1">
              <a:lnSpc>
                <a:spcPct val="110000"/>
              </a:lnSpc>
              <a:spcBef>
                <a:spcPts val="600"/>
              </a:spcBef>
              <a:spcAft>
                <a:spcPct val="0"/>
              </a:spcAft>
              <a:buClrTx/>
              <a:buSzTx/>
              <a:tabLst>
                <a:tab pos="442913" algn="l"/>
              </a:tabLst>
              <a:defRPr/>
            </a:pP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6)</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の</a:t>
            </a:r>
            <a:r>
              <a:rPr lang="en-US" altLang="ja-JP" sz="1400">
                <a:latin typeface="Meiryo UI" panose="020B0604030504040204" pitchFamily="50" charset="-128"/>
                <a:ea typeface="Meiryo UI" panose="020B0604030504040204" pitchFamily="50" charset="-128"/>
              </a:rPr>
              <a:t>ENG</a:t>
            </a:r>
            <a:r>
              <a:rPr lang="ja-JP" altLang="en-US" sz="1400">
                <a:latin typeface="Meiryo UI" panose="020B0604030504040204" pitchFamily="50" charset="-128"/>
                <a:ea typeface="Meiryo UI" panose="020B0604030504040204" pitchFamily="50" charset="-128"/>
              </a:rPr>
              <a:t>マネージメントシステム最適化のみで、</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目標性能を達成できない事象が発生した場合は、</a:t>
            </a:r>
            <a:endParaRPr lang="en-US" altLang="ja-JP" sz="1400">
              <a:latin typeface="Meiryo UI" panose="020B0604030504040204" pitchFamily="50" charset="-128"/>
              <a:ea typeface="Meiryo UI" panose="020B0604030504040204" pitchFamily="50" charset="-128"/>
            </a:endParaRPr>
          </a:p>
          <a:p>
            <a:pPr marL="179388" lvl="1" indent="0" algn="l" eaLnBrk="1" hangingPunct="1">
              <a:lnSpc>
                <a:spcPct val="110000"/>
              </a:lnSpc>
              <a:spcBef>
                <a:spcPts val="300"/>
              </a:spcBef>
              <a:tabLst>
                <a:tab pos="442913" algn="l"/>
              </a:tabLst>
              <a:defRPr/>
            </a:pPr>
            <a:r>
              <a:rPr lang="ja-JP" altLang="en-US" sz="1400">
                <a:latin typeface="Meiryo UI" panose="020B0604030504040204" pitchFamily="50" charset="-128"/>
                <a:ea typeface="Meiryo UI" panose="020B0604030504040204" pitchFamily="50" charset="-128"/>
              </a:rPr>
              <a:t>     両社双方 </a:t>
            </a:r>
            <a:r>
              <a:rPr lang="en-US" altLang="ja-JP" sz="1400">
                <a:latin typeface="Meiryo UI" panose="020B0604030504040204" pitchFamily="50" charset="-128"/>
                <a:ea typeface="Meiryo UI" panose="020B0604030504040204" pitchFamily="50" charset="-128"/>
              </a:rPr>
              <a:t>(HONDA </a:t>
            </a:r>
            <a:r>
              <a:rPr lang="ja-JP" altLang="en-US" sz="1400">
                <a:latin typeface="Meiryo UI" panose="020B0604030504040204" pitchFamily="50" charset="-128"/>
                <a:ea typeface="Meiryo UI" panose="020B0604030504040204" pitchFamily="50" charset="-128"/>
              </a:rPr>
              <a:t>および</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で協議の上、対応を決める。</a:t>
            </a:r>
            <a:br>
              <a:rPr lang="en-US" altLang="ja-JP" sz="1400">
                <a:latin typeface="Meiryo UI" panose="020B0604030504040204" pitchFamily="50" charset="-128"/>
                <a:ea typeface="Meiryo UI" panose="020B0604030504040204" pitchFamily="50" charset="-128"/>
              </a:rPr>
            </a:br>
            <a:br>
              <a:rPr lang="en-US" altLang="ja-JP" sz="1400">
                <a:latin typeface="Meiryo UI" panose="020B0604030504040204" pitchFamily="50" charset="-128"/>
                <a:ea typeface="Meiryo UI" panose="020B0604030504040204" pitchFamily="50" charset="-128"/>
              </a:rPr>
            </a:br>
            <a:r>
              <a:rPr lang="en-US" altLang="ja-JP" sz="1400">
                <a:solidFill>
                  <a:srgbClr val="FF0000"/>
                </a:solidFill>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7)</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HRAP</a:t>
            </a:r>
            <a:r>
              <a:rPr lang="ja-JP" altLang="en-US" sz="1400">
                <a:latin typeface="Meiryo UI" panose="020B0604030504040204" pitchFamily="50" charset="-128"/>
                <a:ea typeface="Meiryo UI" panose="020B0604030504040204" pitchFamily="50" charset="-128"/>
              </a:rPr>
              <a:t>が委託する機種は、</a:t>
            </a:r>
            <a:r>
              <a:rPr lang="en-US" altLang="ja-JP" sz="1400">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との</a:t>
            </a:r>
            <a:r>
              <a:rPr lang="en-US" altLang="ja-JP" sz="1400">
                <a:latin typeface="Meiryo UI" panose="020B0604030504040204" pitchFamily="50" charset="-128"/>
                <a:ea typeface="Meiryo UI" panose="020B0604030504040204" pitchFamily="50" charset="-128"/>
                <a:cs typeface="Arial" pitchFamily="34" charset="0"/>
              </a:rPr>
              <a:t>Expert meeting</a:t>
            </a:r>
            <a:r>
              <a:rPr lang="ja-JP" altLang="en-US" sz="1400">
                <a:latin typeface="Meiryo UI" panose="020B0604030504040204" pitchFamily="50" charset="-128"/>
                <a:ea typeface="Meiryo UI" panose="020B0604030504040204" pitchFamily="50" charset="-128"/>
                <a:cs typeface="Arial" pitchFamily="34" charset="0"/>
              </a:rPr>
              <a:t>において、</a:t>
            </a:r>
            <a:r>
              <a:rPr lang="en-US" altLang="ja-JP" sz="1400">
                <a:latin typeface="Meiryo UI" panose="020B0604030504040204" pitchFamily="50" charset="-128"/>
                <a:ea typeface="Meiryo UI" panose="020B0604030504040204" pitchFamily="50" charset="-128"/>
                <a:cs typeface="Arial" pitchFamily="34" charset="0"/>
              </a:rPr>
              <a:t>4MOC</a:t>
            </a:r>
            <a:r>
              <a:rPr lang="ja-JP" altLang="en-US" sz="1400">
                <a:latin typeface="Meiryo UI" panose="020B0604030504040204" pitchFamily="50" charset="-128"/>
                <a:ea typeface="Meiryo UI" panose="020B0604030504040204" pitchFamily="50" charset="-128"/>
                <a:cs typeface="Arial" pitchFamily="34" charset="0"/>
              </a:rPr>
              <a:t>へその検証のサポート依頼する場合がある。</a:t>
            </a:r>
            <a:endPar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12050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245100" y="571728"/>
            <a:ext cx="40513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a:t>
            </a:r>
            <a:r>
              <a:rPr lang="ja-JP" altLang="en-US" sz="1400" b="1">
                <a:solidFill>
                  <a:srgbClr val="000000"/>
                </a:solidFill>
                <a:latin typeface="Meiryo UI" panose="020B0604030504040204" pitchFamily="50" charset="-128"/>
                <a:ea typeface="Meiryo UI" panose="020B0604030504040204" pitchFamily="50" charset="-128"/>
                <a:cs typeface="Arial" pitchFamily="34" charset="0"/>
              </a:rPr>
              <a:t>およびタイミング</a:t>
            </a:r>
            <a:b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開発費定義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indent="-342900" algn="l" eaLnBrk="1" hangingPunct="1">
              <a:spcBef>
                <a:spcPts val="0"/>
              </a:spcBef>
              <a:buFont typeface="+mj-lt"/>
              <a:buAutoNum type="arabicPeriod"/>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・プロジェクト情報</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関連部品</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Spec</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EMS</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シート</a:t>
            </a:r>
            <a:endParaRPr lang="en-US" altLang="ja-JP" sz="1400" noProof="0">
              <a:solidFill>
                <a:schemeClr val="bg1">
                  <a:lumMod val="65000"/>
                </a:schemeClr>
              </a:solidFill>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lang="ja-JP" altLang="en-US" sz="1400" noProof="0">
                <a:solidFill>
                  <a:schemeClr val="bg1">
                    <a:lumMod val="65000"/>
                  </a:schemeClr>
                </a:solidFill>
                <a:latin typeface="Meiryo UI" panose="020B0604030504040204" pitchFamily="50" charset="-128"/>
                <a:ea typeface="Meiryo UI" panose="020B0604030504040204" pitchFamily="50" charset="-128"/>
                <a:cs typeface="Arial" pitchFamily="34" charset="0"/>
              </a:rPr>
              <a:t>エキスパート</a:t>
            </a:r>
            <a:r>
              <a:rPr lang="en-US" altLang="ja-JP" sz="1400" noProof="0">
                <a:solidFill>
                  <a:schemeClr val="bg1">
                    <a:lumMod val="65000"/>
                  </a:schemeClr>
                </a:solidFill>
                <a:latin typeface="Meiryo UI" panose="020B0604030504040204" pitchFamily="50" charset="-128"/>
                <a:ea typeface="Meiryo UI" panose="020B0604030504040204" pitchFamily="50" charset="-128"/>
                <a:cs typeface="Arial" pitchFamily="34" charset="0"/>
              </a:rPr>
              <a:t>MTG</a:t>
            </a:r>
            <a:r>
              <a:rPr lang="ja-JP" altLang="en-US" sz="1400" noProof="0">
                <a:solidFill>
                  <a:schemeClr val="bg1">
                    <a:lumMod val="65000"/>
                  </a:schemeClr>
                </a:solidFill>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0" y="571728"/>
            <a:ext cx="5321300" cy="6124754"/>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K</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pec Comparison from Base Model</a:t>
            </a:r>
            <a:b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b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Project information / Non-Bosch</a:t>
            </a:r>
            <a:r>
              <a:rPr lang="ja-JP" altLang="en-US" sz="1400">
                <a:solidFill>
                  <a:schemeClr val="bg1">
                    <a:lumMod val="65000"/>
                  </a:schemeClr>
                </a:solidFill>
                <a:latin typeface="Meiryo UI" panose="020B0604030504040204" pitchFamily="50" charset="-128"/>
                <a:ea typeface="Meiryo UI" panose="020B0604030504040204" pitchFamily="50" charset="-128"/>
                <a:cs typeface="Arial" pitchFamily="34" charset="0"/>
              </a:rPr>
              <a:t> </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Components</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t>
            </a:r>
            <a:r>
              <a:rPr lang="en-US" altLang="ja-JP" sz="1400">
                <a:solidFill>
                  <a:schemeClr val="bg1">
                    <a:lumMod val="65000"/>
                  </a:schemeClr>
                </a:solidFill>
                <a:latin typeface="Meiryo UI" panose="020B0604030504040204" pitchFamily="50" charset="-128"/>
                <a:ea typeface="Meiryo UI" panose="020B0604030504040204" pitchFamily="50" charset="-128"/>
                <a:cs typeface="Arial" pitchFamily="34" charset="0"/>
              </a:rPr>
              <a:t>and</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EMS Sheet</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lang="en-US" altLang="ja-JP" sz="1400">
                <a:solidFill>
                  <a:schemeClr val="bg1">
                    <a:lumMod val="65000"/>
                  </a:schemeClr>
                </a:solidFill>
                <a:latin typeface="Meiryo UI" panose="020B0604030504040204" pitchFamily="50" charset="-128"/>
                <a:ea typeface="Meiryo UI" panose="020B0604030504040204" pitchFamily="50" charset="-128"/>
                <a:cs typeface="Arial" panose="020B0604020202020204" pitchFamily="34" charset="0"/>
              </a:rPr>
              <a:t>Expert Meeting</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3530605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Judgments and Timings (1/7)</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81378" y="557829"/>
            <a:ext cx="9036496" cy="601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en-US" altLang="ja-JP" sz="1600" b="1" u="sng">
                <a:latin typeface="Meiryo UI" panose="020B0604030504040204" pitchFamily="50" charset="-128"/>
                <a:ea typeface="Meiryo UI" panose="020B0604030504040204" pitchFamily="50" charset="-128"/>
                <a:cs typeface="Arial" pitchFamily="34" charset="0"/>
              </a:rPr>
              <a:t>Judgments (Evaluation, Completion of Development Work, Payment Amount)</a:t>
            </a:r>
            <a:endParaRPr lang="ja-JP" altLang="en-US" sz="1600" b="1" u="sng">
              <a:latin typeface="Meiryo UI" panose="020B0604030504040204" pitchFamily="50" charset="-128"/>
              <a:ea typeface="Meiryo UI" panose="020B0604030504040204" pitchFamily="50" charset="-128"/>
              <a:cs typeface="Arial" pitchFamily="34" charset="0"/>
            </a:endParaRPr>
          </a:p>
          <a:p>
            <a:pPr marL="360363" lvl="1" indent="-257175"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1)</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Honda will make a final judgment of the prototype development completion at the end of the development stage to determine that trial manufacturing at Honda can proceed to mass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production manufacturing at manufacturer, it define as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Setsu Kata GO </a:t>
            </a:r>
            <a:r>
              <a:rPr lang="en-US" altLang="ja-JP" sz="1400">
                <a:latin typeface="Meiryo UI" panose="020B0604030504040204" pitchFamily="50" charset="-128"/>
                <a:ea typeface="Meiryo UI" panose="020B0604030504040204" pitchFamily="50" charset="-128"/>
                <a:cs typeface="Arial" pitchFamily="34" charset="0"/>
              </a:rPr>
              <a:t>prototype technical evaluation.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b="1">
                <a:latin typeface="Meiryo UI" panose="020B0604030504040204" pitchFamily="50" charset="-128"/>
                <a:ea typeface="Meiryo UI" panose="020B0604030504040204" pitchFamily="50" charset="-128"/>
                <a:cs typeface="Arial" pitchFamily="34" charset="0"/>
              </a:rPr>
              <a:t>= </a:t>
            </a:r>
            <a:r>
              <a:rPr lang="en-US" altLang="ja-JP" sz="1400" b="1">
                <a:solidFill>
                  <a:srgbClr val="FF0000"/>
                </a:solidFill>
                <a:latin typeface="Meiryo UI" panose="020B0604030504040204" pitchFamily="50" charset="-128"/>
                <a:ea typeface="Meiryo UI" panose="020B0604030504040204" pitchFamily="50" charset="-128"/>
                <a:cs typeface="Arial" pitchFamily="34" charset="0"/>
              </a:rPr>
              <a:t>Setsu Kata Go </a:t>
            </a:r>
            <a:r>
              <a:rPr lang="en-US" altLang="ja-JP" sz="1400" b="1">
                <a:latin typeface="Meiryo UI" panose="020B0604030504040204" pitchFamily="50" charset="-128"/>
                <a:ea typeface="Meiryo UI" panose="020B0604030504040204" pitchFamily="50" charset="-128"/>
                <a:cs typeface="Arial" pitchFamily="34" charset="0"/>
              </a:rPr>
              <a:t>judgment </a:t>
            </a:r>
            <a:r>
              <a:rPr lang="en-US" altLang="ja-JP" sz="1400">
                <a:latin typeface="Meiryo UI" panose="020B0604030504040204" pitchFamily="50" charset="-128"/>
                <a:ea typeface="Meiryo UI" panose="020B0604030504040204" pitchFamily="50" charset="-128"/>
                <a:cs typeface="Arial" pitchFamily="34" charset="0"/>
              </a:rPr>
              <a:t>(Honda)</a:t>
            </a:r>
            <a:br>
              <a:rPr lang="en-US" altLang="ja-JP" sz="1400">
                <a:latin typeface="Meiryo UI" panose="020B0604030504040204" pitchFamily="50" charset="-128"/>
                <a:ea typeface="Meiryo UI" panose="020B0604030504040204" pitchFamily="50" charset="-128"/>
                <a:cs typeface="Arial" pitchFamily="34" charset="0"/>
              </a:rPr>
            </a:br>
            <a:endParaRPr lang="ja-JP" altLang="en-US" sz="1400">
              <a:latin typeface="Meiryo UI" panose="020B0604030504040204" pitchFamily="50" charset="-128"/>
              <a:ea typeface="Meiryo UI" panose="020B0604030504040204" pitchFamily="50" charset="-128"/>
              <a:cs typeface="Arial" pitchFamily="34" charset="0"/>
            </a:endParaRPr>
          </a:p>
          <a:p>
            <a:pPr marL="360363" lvl="1" indent="-257175"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2)</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After the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final prototype technical judgment by Honda, the mass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production preparation stage will</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be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started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and judged for mass production quality maturation at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HCIL</a:t>
            </a: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b="1">
                <a:latin typeface="Meiryo UI" panose="020B0604030504040204" pitchFamily="50" charset="-128"/>
                <a:ea typeface="Meiryo UI" panose="020B0604030504040204" pitchFamily="50" charset="-128"/>
                <a:cs typeface="Arial" pitchFamily="34" charset="0"/>
              </a:rPr>
              <a:t>=  DAN/QC</a:t>
            </a:r>
            <a:r>
              <a:rPr lang="ja-JP" altLang="en-US" sz="1400" b="1">
                <a:latin typeface="Meiryo UI" panose="020B0604030504040204" pitchFamily="50" charset="-128"/>
                <a:ea typeface="Meiryo UI" panose="020B0604030504040204" pitchFamily="50" charset="-128"/>
                <a:cs typeface="Arial" pitchFamily="34" charset="0"/>
              </a:rPr>
              <a:t> </a:t>
            </a:r>
            <a:r>
              <a:rPr lang="en-US" altLang="ja-JP" sz="1400" b="1">
                <a:latin typeface="Meiryo UI" panose="020B0604030504040204" pitchFamily="50" charset="-128"/>
                <a:ea typeface="Meiryo UI" panose="020B0604030504040204" pitchFamily="50" charset="-128"/>
                <a:cs typeface="Arial" pitchFamily="34" charset="0"/>
              </a:rPr>
              <a:t>Stage judgment</a:t>
            </a:r>
            <a:br>
              <a:rPr lang="en-US" altLang="ja-JP" sz="1400" b="1">
                <a:latin typeface="Meiryo UI" panose="020B0604030504040204" pitchFamily="50" charset="-128"/>
                <a:ea typeface="Meiryo UI" panose="020B0604030504040204" pitchFamily="50" charset="-128"/>
                <a:cs typeface="Arial" pitchFamily="34" charset="0"/>
              </a:rPr>
            </a:br>
            <a:endParaRPr lang="ja-JP" altLang="en-US" sz="1400" b="1">
              <a:latin typeface="Meiryo UI" panose="020B0604030504040204" pitchFamily="50" charset="-128"/>
              <a:ea typeface="Meiryo UI" panose="020B0604030504040204" pitchFamily="50" charset="-128"/>
              <a:cs typeface="Arial" pitchFamily="34" charset="0"/>
            </a:endParaRPr>
          </a:p>
          <a:p>
            <a:pPr marL="360363" lvl="1" indent="-257175" algn="l" eaLnBrk="1" hangingPunct="1">
              <a:lnSpc>
                <a:spcPct val="110000"/>
              </a:lnSpc>
              <a:spcBef>
                <a:spcPts val="300"/>
              </a:spcBef>
              <a:buAutoNum type="arabicParenR" startAt="3"/>
            </a:pPr>
            <a:r>
              <a:rPr lang="en-US" altLang="ja-JP" sz="1400">
                <a:latin typeface="Meiryo UI" panose="020B0604030504040204" pitchFamily="50" charset="-128"/>
                <a:ea typeface="Meiryo UI" panose="020B0604030504040204" pitchFamily="50" charset="-128"/>
                <a:cs typeface="Arial" pitchFamily="34" charset="0"/>
              </a:rPr>
              <a:t>The determination of SOP is judged by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HCIL</a:t>
            </a:r>
            <a:r>
              <a:rPr lang="en-US" altLang="ja-JP" sz="1400">
                <a:latin typeface="Meiryo UI" panose="020B0604030504040204" pitchFamily="50" charset="-128"/>
                <a:ea typeface="Meiryo UI" panose="020B0604030504040204" pitchFamily="50" charset="-128"/>
                <a:cs typeface="Arial" pitchFamily="34" charset="0"/>
              </a:rPr>
              <a:t>, it includes quality inspection of process line with observers, it is defined as the E2 (T-Kaku) judgment </a:t>
            </a:r>
            <a:r>
              <a:rPr lang="en-US" altLang="ja-JP" sz="1400" b="1">
                <a:latin typeface="Meiryo UI" panose="020B0604030504040204" pitchFamily="50" charset="-128"/>
                <a:ea typeface="Meiryo UI" panose="020B0604030504040204" pitchFamily="50" charset="-128"/>
                <a:cs typeface="Arial" pitchFamily="34" charset="0"/>
              </a:rPr>
              <a:t>= E2-Stage judgment</a:t>
            </a:r>
            <a:br>
              <a:rPr lang="en-US" altLang="ja-JP" sz="1400" b="1">
                <a:latin typeface="Meiryo UI" panose="020B0604030504040204" pitchFamily="50" charset="-128"/>
                <a:ea typeface="Meiryo UI" panose="020B0604030504040204" pitchFamily="50" charset="-128"/>
                <a:cs typeface="Arial" pitchFamily="34" charset="0"/>
              </a:rPr>
            </a:br>
            <a:endParaRPr lang="en-US" altLang="ja-JP" sz="1400" b="1">
              <a:latin typeface="Meiryo UI" panose="020B0604030504040204" pitchFamily="50" charset="-128"/>
              <a:ea typeface="Meiryo UI" panose="020B0604030504040204" pitchFamily="50" charset="-128"/>
              <a:cs typeface="Arial" pitchFamily="34" charset="0"/>
            </a:endParaRPr>
          </a:p>
          <a:p>
            <a:pPr marL="103188" lvl="1" indent="0"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4)</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The evaluation judgment of Development Work is made by the vehicle calibration results and </a:t>
            </a:r>
          </a:p>
          <a:p>
            <a:pPr marL="103188" lvl="1" indent="0"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the judgment of EMS output each of the above stated evaluation events. </a:t>
            </a:r>
          </a:p>
          <a:p>
            <a:pPr marL="103188" lvl="1" indent="0"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The deliverables will be assessed to determine an equivalent value for payment after the each </a:t>
            </a:r>
          </a:p>
          <a:p>
            <a:pPr marL="103188" lvl="1" indent="0"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evaluation result. </a:t>
            </a:r>
          </a:p>
          <a:p>
            <a:pPr marL="103188" lvl="1" indent="0"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The payment is judged and approved based on each deliverable`s equivalent value ( technical </a:t>
            </a:r>
          </a:p>
          <a:p>
            <a:pPr marL="103188" lvl="1" indent="0"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report, electrical data, graph, actual test part) </a:t>
            </a:r>
            <a:r>
              <a:rPr lang="en-US" altLang="ja-JP" sz="1400" b="1">
                <a:latin typeface="Meiryo UI" panose="020B0604030504040204" pitchFamily="50" charset="-128"/>
                <a:ea typeface="Meiryo UI" panose="020B0604030504040204" pitchFamily="50" charset="-128"/>
                <a:cs typeface="Arial" pitchFamily="34" charset="0"/>
              </a:rPr>
              <a:t>= deliverable midterm inspection. </a:t>
            </a:r>
          </a:p>
          <a:p>
            <a:pPr marL="360363" lvl="1" indent="0"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The payment, equivalent value, shall be correlated at the initial development stage</a:t>
            </a:r>
          </a:p>
          <a:p>
            <a:pPr marL="360363" lvl="1" indent="0"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according to the payment ratio on the following page. The agreed upon payment will be</a:t>
            </a:r>
          </a:p>
          <a:p>
            <a:pPr marL="360363" lvl="1" indent="0"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clearly stated on the contract. </a:t>
            </a:r>
            <a:endParaRPr lang="en-US" altLang="ja-JP" sz="1600" u="sng">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543351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p:cNvSpPr txBox="1">
            <a:spLocks noChangeArrowheads="1"/>
          </p:cNvSpPr>
          <p:nvPr/>
        </p:nvSpPr>
        <p:spPr bwMode="auto">
          <a:xfrm>
            <a:off x="81378" y="557829"/>
            <a:ext cx="9062622" cy="1402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en-US" altLang="ja-JP" sz="1600" b="1" u="sng">
                <a:latin typeface="Meiryo UI" panose="020B0604030504040204" pitchFamily="50" charset="-128"/>
                <a:ea typeface="Meiryo UI" panose="020B0604030504040204" pitchFamily="50" charset="-128"/>
                <a:cs typeface="Arial" pitchFamily="34" charset="0"/>
              </a:rPr>
              <a:t>Judgments (Evaluation, Completion of Development Work, Payment Amount)</a:t>
            </a:r>
          </a:p>
          <a:p>
            <a:pPr marL="103188" lvl="1" indent="0"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5) The judgment on completion of Development Work is determined when the mass production </a:t>
            </a:r>
          </a:p>
          <a:p>
            <a:pPr marL="74613" indent="0"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data is release (MP-1) to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HCIL </a:t>
            </a:r>
            <a:r>
              <a:rPr lang="en-US" altLang="ja-JP" sz="1400">
                <a:latin typeface="Meiryo UI" panose="020B0604030504040204" pitchFamily="50" charset="-128"/>
                <a:ea typeface="Meiryo UI" panose="020B0604030504040204" pitchFamily="50" charset="-128"/>
                <a:cs typeface="Arial" pitchFamily="34" charset="0"/>
              </a:rPr>
              <a:t>for the launch up production line event. </a:t>
            </a:r>
          </a:p>
          <a:p>
            <a:pPr marL="533400" lvl="1" indent="-266700"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(Considering the development flow, the mass production data application timing is DAN-lot or QC-lot, however it is defined at Kick-off timing. )</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Judgments and Timings (2/7)</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12117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Judgments and Timings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(3/7)</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6" name="Text Box 2"/>
          <p:cNvSpPr txBox="1">
            <a:spLocks noChangeArrowheads="1"/>
          </p:cNvSpPr>
          <p:nvPr/>
        </p:nvSpPr>
        <p:spPr bwMode="auto">
          <a:xfrm>
            <a:off x="81379" y="565544"/>
            <a:ext cx="9062621" cy="4233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ja-JP" altLang="en-US" sz="1600" b="1" u="sng">
                <a:latin typeface="Meiryo UI" panose="020B0604030504040204" pitchFamily="50" charset="-128"/>
                <a:ea typeface="Meiryo UI" panose="020B0604030504040204" pitchFamily="50" charset="-128"/>
              </a:rPr>
              <a:t>判断（評価判断・委託完了判断・対価の判断）</a:t>
            </a:r>
          </a:p>
          <a:p>
            <a:pPr marL="539750" lvl="1" indent="-366713" algn="l" eaLnBrk="1" hangingPunct="1">
              <a:spcBef>
                <a:spcPts val="300"/>
              </a:spcBef>
            </a:pPr>
            <a:r>
              <a:rPr lang="ja-JP" altLang="en-US" sz="1400">
                <a:latin typeface="Meiryo UI" panose="020B0604030504040204" pitchFamily="50" charset="-128"/>
                <a:ea typeface="Meiryo UI" panose="020B0604030504040204" pitchFamily="50" charset="-128"/>
              </a:rPr>
              <a:t>１）</a:t>
            </a:r>
            <a:r>
              <a:rPr lang="en-US" altLang="ja-JP" sz="1400">
                <a:latin typeface="Meiryo UI" panose="020B0604030504040204" pitchFamily="50" charset="-128"/>
                <a:ea typeface="Meiryo UI" panose="020B0604030504040204" pitchFamily="50" charset="-128"/>
              </a:rPr>
              <a:t>Kick-off</a:t>
            </a:r>
            <a:r>
              <a:rPr lang="ja-JP" altLang="en-US" sz="1400">
                <a:latin typeface="Meiryo UI" panose="020B0604030504040204" pitchFamily="50" charset="-128"/>
                <a:ea typeface="Meiryo UI" panose="020B0604030504040204" pitchFamily="50" charset="-128"/>
              </a:rPr>
              <a:t>から量産移行時の、量産</a:t>
            </a:r>
            <a:r>
              <a:rPr lang="en-US" altLang="ja-JP" sz="1400">
                <a:latin typeface="Meiryo UI" panose="020B0604030504040204" pitchFamily="50" charset="-128"/>
                <a:ea typeface="Meiryo UI" panose="020B0604030504040204" pitchFamily="50" charset="-128"/>
              </a:rPr>
              <a:t>Go</a:t>
            </a:r>
            <a:r>
              <a:rPr lang="ja-JP" altLang="en-US" sz="1400">
                <a:latin typeface="Meiryo UI" panose="020B0604030504040204" pitchFamily="50" charset="-128"/>
                <a:ea typeface="Meiryo UI" panose="020B0604030504040204" pitchFamily="50" charset="-128"/>
              </a:rPr>
              <a:t>判断を設型</a:t>
            </a:r>
            <a:r>
              <a:rPr lang="en-US" altLang="ja-JP" sz="1400">
                <a:latin typeface="Meiryo UI" panose="020B0604030504040204" pitchFamily="50" charset="-128"/>
                <a:ea typeface="Meiryo UI" panose="020B0604030504040204" pitchFamily="50" charset="-128"/>
              </a:rPr>
              <a:t>Go</a:t>
            </a:r>
            <a:r>
              <a:rPr lang="ja-JP" altLang="en-US" sz="1400">
                <a:latin typeface="Meiryo UI" panose="020B0604030504040204" pitchFamily="50" charset="-128"/>
                <a:ea typeface="Meiryo UI" panose="020B0604030504040204" pitchFamily="50" charset="-128"/>
              </a:rPr>
              <a:t>評価と定義され、この量産</a:t>
            </a:r>
            <a:r>
              <a:rPr lang="en-US" altLang="ja-JP" sz="1400">
                <a:latin typeface="Meiryo UI" panose="020B0604030504040204" pitchFamily="50" charset="-128"/>
                <a:ea typeface="Meiryo UI" panose="020B0604030504040204" pitchFamily="50" charset="-128"/>
              </a:rPr>
              <a:t>Go</a:t>
            </a:r>
            <a:r>
              <a:rPr lang="ja-JP" altLang="en-US" sz="1400">
                <a:latin typeface="Meiryo UI" panose="020B0604030504040204" pitchFamily="50" charset="-128"/>
                <a:ea typeface="Meiryo UI" panose="020B0604030504040204" pitchFamily="50" charset="-128"/>
              </a:rPr>
              <a:t>可否に対する試作最終技術判断は</a:t>
            </a:r>
            <a:endParaRPr lang="en-US" altLang="ja-JP" sz="1400">
              <a:latin typeface="Meiryo UI" panose="020B0604030504040204" pitchFamily="50" charset="-128"/>
              <a:ea typeface="Meiryo UI" panose="020B0604030504040204" pitchFamily="50" charset="-128"/>
            </a:endParaRPr>
          </a:p>
          <a:p>
            <a:pPr marL="539750" lvl="1" indent="-366713" algn="l" eaLnBrk="1" hangingPunct="1">
              <a:spcBef>
                <a:spcPts val="300"/>
              </a:spcBef>
            </a:pPr>
            <a:r>
              <a:rPr lang="ja-JP" altLang="en-US" sz="1400">
                <a:latin typeface="Meiryo UI" panose="020B0604030504040204" pitchFamily="50" charset="-128"/>
                <a:ea typeface="Meiryo UI" panose="020B0604030504040204" pitchFamily="50" charset="-128"/>
              </a:rPr>
              <a:t>      生産工場が行う。 </a:t>
            </a:r>
            <a:r>
              <a:rPr lang="en-US" altLang="ja-JP" sz="1400" b="1">
                <a:latin typeface="Meiryo UI" panose="020B0604030504040204" pitchFamily="50" charset="-128"/>
                <a:ea typeface="Meiryo UI" panose="020B0604030504040204" pitchFamily="50" charset="-128"/>
              </a:rPr>
              <a:t>= </a:t>
            </a:r>
            <a:r>
              <a:rPr lang="ja-JP" altLang="en-US" sz="1400" b="1">
                <a:latin typeface="Meiryo UI" panose="020B0604030504040204" pitchFamily="50" charset="-128"/>
                <a:ea typeface="Meiryo UI" panose="020B0604030504040204" pitchFamily="50" charset="-128"/>
              </a:rPr>
              <a:t>設型</a:t>
            </a:r>
            <a:r>
              <a:rPr lang="en-US" altLang="ja-JP" sz="1400" b="1">
                <a:latin typeface="Meiryo UI" panose="020B0604030504040204" pitchFamily="50" charset="-128"/>
                <a:ea typeface="Meiryo UI" panose="020B0604030504040204" pitchFamily="50" charset="-128"/>
              </a:rPr>
              <a:t>Go</a:t>
            </a:r>
            <a:r>
              <a:rPr lang="ja-JP" altLang="en-US" sz="1400" b="1">
                <a:latin typeface="Meiryo UI" panose="020B0604030504040204" pitchFamily="50" charset="-128"/>
                <a:ea typeface="Meiryo UI" panose="020B0604030504040204" pitchFamily="50" charset="-128"/>
              </a:rPr>
              <a:t>判断（</a:t>
            </a:r>
            <a:r>
              <a:rPr lang="en-US" altLang="ja-JP" sz="1400">
                <a:latin typeface="Meiryo UI" panose="020B0604030504040204" pitchFamily="50" charset="-128"/>
                <a:ea typeface="Meiryo UI" panose="020B0604030504040204" pitchFamily="50" charset="-128"/>
              </a:rPr>
              <a:t>Honda</a:t>
            </a:r>
            <a:r>
              <a:rPr lang="ja-JP" altLang="en-US" sz="1400" b="1">
                <a:latin typeface="Meiryo UI" panose="020B0604030504040204" pitchFamily="50" charset="-128"/>
                <a:ea typeface="Meiryo UI" panose="020B0604030504040204" pitchFamily="50" charset="-128"/>
              </a:rPr>
              <a:t>）</a:t>
            </a:r>
            <a:br>
              <a:rPr lang="en-US" altLang="ja-JP" sz="1400" b="1">
                <a:latin typeface="Meiryo UI" panose="020B0604030504040204" pitchFamily="50" charset="-128"/>
                <a:ea typeface="Meiryo UI" panose="020B0604030504040204" pitchFamily="50" charset="-128"/>
              </a:rPr>
            </a:br>
            <a:endParaRPr lang="ja-JP" altLang="en-US" sz="1400" b="1">
              <a:latin typeface="Meiryo UI" panose="020B0604030504040204" pitchFamily="50" charset="-128"/>
              <a:ea typeface="Meiryo UI" panose="020B0604030504040204" pitchFamily="50" charset="-128"/>
            </a:endParaRPr>
          </a:p>
          <a:p>
            <a:pPr marL="539750" lvl="1" indent="-366713" algn="l" eaLnBrk="1" hangingPunct="1">
              <a:spcBef>
                <a:spcPts val="300"/>
              </a:spcBef>
            </a:pPr>
            <a:r>
              <a:rPr lang="ja-JP" altLang="en-US" sz="1400">
                <a:latin typeface="Meiryo UI" panose="020B0604030504040204" pitchFamily="50" charset="-128"/>
                <a:ea typeface="Meiryo UI" panose="020B0604030504040204" pitchFamily="50" charset="-128"/>
              </a:rPr>
              <a:t>２）</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の最終技術判断の後、</a:t>
            </a:r>
            <a:r>
              <a:rPr lang="ja-JP" altLang="en-US" sz="1400">
                <a:solidFill>
                  <a:srgbClr val="FF0000"/>
                </a:solidFill>
                <a:latin typeface="Meiryo UI" panose="020B0604030504040204" pitchFamily="50" charset="-128"/>
                <a:ea typeface="Meiryo UI" panose="020B0604030504040204" pitchFamily="50" charset="-128"/>
              </a:rPr>
              <a:t>生産工場</a:t>
            </a:r>
            <a:r>
              <a:rPr lang="ja-JP" altLang="en-US" sz="1400">
                <a:latin typeface="Meiryo UI" panose="020B0604030504040204" pitchFamily="50" charset="-128"/>
                <a:ea typeface="Meiryo UI" panose="020B0604030504040204" pitchFamily="50" charset="-128"/>
              </a:rPr>
              <a:t>にて量産品質熟成判断が行われる　</a:t>
            </a:r>
            <a:r>
              <a:rPr lang="en-US" altLang="ja-JP" sz="1400" b="1">
                <a:latin typeface="Meiryo UI" panose="020B0604030504040204" pitchFamily="50" charset="-128"/>
                <a:ea typeface="Meiryo UI" panose="020B0604030504040204" pitchFamily="50" charset="-128"/>
              </a:rPr>
              <a:t>= </a:t>
            </a:r>
            <a:r>
              <a:rPr lang="ja-JP" altLang="en-US" sz="1400" b="1">
                <a:latin typeface="Meiryo UI" panose="020B0604030504040204" pitchFamily="50" charset="-128"/>
                <a:ea typeface="Meiryo UI" panose="020B0604030504040204" pitchFamily="50" charset="-128"/>
              </a:rPr>
              <a:t>段確</a:t>
            </a:r>
            <a:r>
              <a:rPr lang="en-US" altLang="ja-JP" sz="1400" b="1">
                <a:latin typeface="Meiryo UI" panose="020B0604030504040204" pitchFamily="50" charset="-128"/>
                <a:ea typeface="Meiryo UI" panose="020B0604030504040204" pitchFamily="50" charset="-128"/>
              </a:rPr>
              <a:t>/</a:t>
            </a:r>
            <a:r>
              <a:rPr lang="ja-JP" altLang="en-US" sz="1400" b="1">
                <a:latin typeface="Meiryo UI" panose="020B0604030504040204" pitchFamily="50" charset="-128"/>
                <a:ea typeface="Meiryo UI" panose="020B0604030504040204" pitchFamily="50" charset="-128"/>
              </a:rPr>
              <a:t>品確判断（</a:t>
            </a:r>
            <a:r>
              <a:rPr lang="en-US" altLang="ja-JP" sz="1400">
                <a:latin typeface="Meiryo UI" panose="020B0604030504040204" pitchFamily="50" charset="-128"/>
                <a:ea typeface="Meiryo UI" panose="020B0604030504040204" pitchFamily="50" charset="-128"/>
              </a:rPr>
              <a:t> </a:t>
            </a:r>
            <a:r>
              <a:rPr lang="ja-JP" altLang="en-US" sz="1400">
                <a:solidFill>
                  <a:srgbClr val="FF0000"/>
                </a:solidFill>
                <a:latin typeface="Meiryo UI" panose="020B0604030504040204" pitchFamily="50" charset="-128"/>
                <a:ea typeface="Meiryo UI" panose="020B0604030504040204" pitchFamily="50" charset="-128"/>
              </a:rPr>
              <a:t>生産工場</a:t>
            </a:r>
            <a:r>
              <a:rPr lang="en-US" altLang="ja-JP" sz="1400" b="1">
                <a:latin typeface="Meiryo UI" panose="020B0604030504040204" pitchFamily="50" charset="-128"/>
                <a:ea typeface="Meiryo UI" panose="020B0604030504040204" pitchFamily="50" charset="-128"/>
              </a:rPr>
              <a:t> </a:t>
            </a:r>
            <a:r>
              <a:rPr lang="ja-JP" altLang="en-US" sz="1400" b="1">
                <a:latin typeface="Meiryo UI" panose="020B0604030504040204" pitchFamily="50" charset="-128"/>
                <a:ea typeface="Meiryo UI" panose="020B0604030504040204" pitchFamily="50" charset="-128"/>
              </a:rPr>
              <a:t>）</a:t>
            </a:r>
            <a:br>
              <a:rPr lang="en-US" altLang="ja-JP" sz="1400" b="1">
                <a:latin typeface="Meiryo UI" panose="020B0604030504040204" pitchFamily="50" charset="-128"/>
                <a:ea typeface="Meiryo UI" panose="020B0604030504040204" pitchFamily="50" charset="-128"/>
              </a:rPr>
            </a:br>
            <a:endParaRPr lang="ja-JP" altLang="en-US" sz="1400" b="1">
              <a:latin typeface="Meiryo UI" panose="020B0604030504040204" pitchFamily="50" charset="-128"/>
              <a:ea typeface="Meiryo UI" panose="020B0604030504040204" pitchFamily="50" charset="-128"/>
            </a:endParaRPr>
          </a:p>
          <a:p>
            <a:pPr marL="539750" lvl="1" indent="-366713" algn="l" eaLnBrk="1" hangingPunct="1">
              <a:spcBef>
                <a:spcPts val="300"/>
              </a:spcBef>
            </a:pPr>
            <a:r>
              <a:rPr lang="ja-JP" altLang="en-US" sz="1400">
                <a:latin typeface="Meiryo UI" panose="020B0604030504040204" pitchFamily="50" charset="-128"/>
                <a:ea typeface="Meiryo UI" panose="020B0604030504040204" pitchFamily="50" charset="-128"/>
              </a:rPr>
              <a:t>３）量産開始の決定は</a:t>
            </a:r>
            <a:r>
              <a:rPr lang="ja-JP" altLang="en-US" sz="1400">
                <a:solidFill>
                  <a:srgbClr val="FF0000"/>
                </a:solidFill>
                <a:latin typeface="Meiryo UI" panose="020B0604030504040204" pitchFamily="50" charset="-128"/>
                <a:ea typeface="Meiryo UI" panose="020B0604030504040204" pitchFamily="50" charset="-128"/>
              </a:rPr>
              <a:t>生産工場</a:t>
            </a:r>
            <a:r>
              <a:rPr lang="ja-JP" altLang="en-US" sz="1400">
                <a:latin typeface="Meiryo UI" panose="020B0604030504040204" pitchFamily="50" charset="-128"/>
                <a:ea typeface="Meiryo UI" panose="020B0604030504040204" pitchFamily="50" charset="-128"/>
              </a:rPr>
              <a:t>にて、</a:t>
            </a:r>
            <a:r>
              <a:rPr lang="en-US" altLang="ja-JP" sz="1400">
                <a:latin typeface="Meiryo UI" panose="020B0604030504040204" pitchFamily="50" charset="-128"/>
                <a:ea typeface="Meiryo UI" panose="020B0604030504040204" pitchFamily="50" charset="-128"/>
              </a:rPr>
              <a:t>E2</a:t>
            </a:r>
            <a:r>
              <a:rPr lang="ja-JP" altLang="en-US" sz="1400">
                <a:latin typeface="Meiryo UI" panose="020B0604030504040204" pitchFamily="50" charset="-128"/>
                <a:ea typeface="Meiryo UI" panose="020B0604030504040204" pitchFamily="50" charset="-128"/>
              </a:rPr>
              <a:t>判断（Ｔ確判断）で定義され、品質立会いイベントや工程監査結果を含めて</a:t>
            </a:r>
            <a:endParaRPr lang="en-US" altLang="ja-JP" sz="1400">
              <a:latin typeface="Meiryo UI" panose="020B0604030504040204" pitchFamily="50" charset="-128"/>
              <a:ea typeface="Meiryo UI" panose="020B0604030504040204" pitchFamily="50" charset="-128"/>
            </a:endParaRPr>
          </a:p>
          <a:p>
            <a:pPr marL="539750" lvl="1" indent="-366713" algn="l" eaLnBrk="1" hangingPunct="1">
              <a:spcBef>
                <a:spcPts val="300"/>
              </a:spcBef>
            </a:pPr>
            <a:r>
              <a:rPr lang="ja-JP" altLang="en-US" sz="1400">
                <a:latin typeface="Meiryo UI" panose="020B0604030504040204" pitchFamily="50" charset="-128"/>
                <a:ea typeface="Meiryo UI" panose="020B0604030504040204" pitchFamily="50" charset="-128"/>
              </a:rPr>
              <a:t>      行われる </a:t>
            </a:r>
            <a:r>
              <a:rPr lang="en-US" altLang="ja-JP" sz="1400" b="1">
                <a:latin typeface="Meiryo UI" panose="020B0604030504040204" pitchFamily="50" charset="-128"/>
                <a:ea typeface="Meiryo UI" panose="020B0604030504040204" pitchFamily="50" charset="-128"/>
              </a:rPr>
              <a:t>= E2</a:t>
            </a:r>
            <a:r>
              <a:rPr lang="ja-JP" altLang="en-US" sz="1400" b="1">
                <a:latin typeface="Meiryo UI" panose="020B0604030504040204" pitchFamily="50" charset="-128"/>
                <a:ea typeface="Meiryo UI" panose="020B0604030504040204" pitchFamily="50" charset="-128"/>
              </a:rPr>
              <a:t>判断（</a:t>
            </a:r>
            <a:r>
              <a:rPr lang="en-US" altLang="ja-JP" sz="1400" b="1">
                <a:latin typeface="Meiryo UI" panose="020B0604030504040204" pitchFamily="50" charset="-128"/>
                <a:ea typeface="Meiryo UI" panose="020B0604030504040204" pitchFamily="50" charset="-128"/>
              </a:rPr>
              <a:t> </a:t>
            </a:r>
            <a:r>
              <a:rPr lang="ja-JP" altLang="en-US" sz="1400">
                <a:solidFill>
                  <a:srgbClr val="FF0000"/>
                </a:solidFill>
                <a:latin typeface="Meiryo UI" panose="020B0604030504040204" pitchFamily="50" charset="-128"/>
                <a:ea typeface="Meiryo UI" panose="020B0604030504040204" pitchFamily="50" charset="-128"/>
              </a:rPr>
              <a:t>生産工場</a:t>
            </a:r>
            <a:r>
              <a:rPr lang="en-US" altLang="ja-JP" sz="1400" b="1">
                <a:latin typeface="Meiryo UI" panose="020B0604030504040204" pitchFamily="50" charset="-128"/>
                <a:ea typeface="Meiryo UI" panose="020B0604030504040204" pitchFamily="50" charset="-128"/>
              </a:rPr>
              <a:t> </a:t>
            </a:r>
            <a:r>
              <a:rPr lang="ja-JP" altLang="en-US" sz="1400" b="1">
                <a:latin typeface="Meiryo UI" panose="020B0604030504040204" pitchFamily="50" charset="-128"/>
                <a:ea typeface="Meiryo UI" panose="020B0604030504040204" pitchFamily="50" charset="-128"/>
              </a:rPr>
              <a:t>）</a:t>
            </a:r>
            <a:br>
              <a:rPr lang="en-US" altLang="ja-JP" sz="1400" b="1">
                <a:latin typeface="Meiryo UI" panose="020B0604030504040204" pitchFamily="50" charset="-128"/>
                <a:ea typeface="Meiryo UI" panose="020B0604030504040204" pitchFamily="50" charset="-128"/>
              </a:rPr>
            </a:br>
            <a:endParaRPr lang="en-US" altLang="ja-JP" sz="1400" b="1">
              <a:latin typeface="Meiryo UI" panose="020B0604030504040204" pitchFamily="50" charset="-128"/>
              <a:ea typeface="Meiryo UI" panose="020B0604030504040204" pitchFamily="50" charset="-128"/>
            </a:endParaRPr>
          </a:p>
          <a:p>
            <a:pPr marL="539750" lvl="2" indent="-366713" algn="l" eaLnBrk="1" hangingPunct="1">
              <a:spcBef>
                <a:spcPts val="300"/>
              </a:spcBef>
            </a:pPr>
            <a:r>
              <a:rPr lang="ja-JP" altLang="en-US" sz="1400">
                <a:latin typeface="Meiryo UI" panose="020B0604030504040204" pitchFamily="50" charset="-128"/>
                <a:ea typeface="Meiryo UI" panose="020B0604030504040204" pitchFamily="50" charset="-128"/>
              </a:rPr>
              <a:t>４）委託評価判断は、上記評価イベント時に</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シートで設定した要求回答及び車両の出来栄えで判断される。</a:t>
            </a:r>
            <a:r>
              <a:rPr lang="en-US" altLang="ja-JP" sz="1400">
                <a:latin typeface="Meiryo UI" panose="020B0604030504040204" pitchFamily="50" charset="-128"/>
                <a:ea typeface="Meiryo UI" panose="020B0604030504040204" pitchFamily="50" charset="-128"/>
              </a:rPr>
              <a:t> </a:t>
            </a:r>
          </a:p>
          <a:p>
            <a:pPr marL="539750" lvl="2" indent="-366713" algn="l" eaLnBrk="1" hangingPunct="1">
              <a:spcBef>
                <a:spcPts val="300"/>
              </a:spcBef>
            </a:pPr>
            <a:r>
              <a:rPr lang="ja-JP" altLang="en-US" sz="1400">
                <a:latin typeface="Meiryo UI" panose="020B0604030504040204" pitchFamily="50" charset="-128"/>
                <a:ea typeface="Meiryo UI" panose="020B0604030504040204" pitchFamily="50" charset="-128"/>
              </a:rPr>
              <a:t>      この評価結果後、成果物を束ね対価の判断を行う。対価は、成果物（技術レポート、データ、グラフ、</a:t>
            </a:r>
            <a:endParaRPr lang="en-US" altLang="ja-JP" sz="1400">
              <a:latin typeface="Meiryo UI" panose="020B0604030504040204" pitchFamily="50" charset="-128"/>
              <a:ea typeface="Meiryo UI" panose="020B0604030504040204" pitchFamily="50" charset="-128"/>
            </a:endParaRPr>
          </a:p>
          <a:p>
            <a:pPr marL="539750" lvl="2" indent="-366713" algn="l" eaLnBrk="1" hangingPunct="1">
              <a:spcBef>
                <a:spcPts val="300"/>
              </a:spcBef>
            </a:pPr>
            <a:r>
              <a:rPr lang="ja-JP" altLang="en-US" sz="1400">
                <a:latin typeface="Meiryo UI" panose="020B0604030504040204" pitchFamily="50" charset="-128"/>
                <a:ea typeface="Meiryo UI" panose="020B0604030504040204" pitchFamily="50" charset="-128"/>
              </a:rPr>
              <a:t>      部品評価現物）が提出された段階で承認判断される。</a:t>
            </a:r>
            <a:r>
              <a:rPr lang="en-US" altLang="ja-JP" sz="1400" b="1">
                <a:latin typeface="Meiryo UI" panose="020B0604030504040204" pitchFamily="50" charset="-128"/>
                <a:ea typeface="Meiryo UI" panose="020B0604030504040204" pitchFamily="50" charset="-128"/>
              </a:rPr>
              <a:t>= </a:t>
            </a:r>
            <a:r>
              <a:rPr lang="ja-JP" altLang="en-US" sz="1400" b="1">
                <a:latin typeface="Meiryo UI" panose="020B0604030504040204" pitchFamily="50" charset="-128"/>
                <a:ea typeface="Meiryo UI" panose="020B0604030504040204" pitchFamily="50" charset="-128"/>
              </a:rPr>
              <a:t>成果物中間検収</a:t>
            </a:r>
            <a:endParaRPr lang="en-US" altLang="ja-JP" sz="1400" b="1">
              <a:latin typeface="Meiryo UI" panose="020B0604030504040204" pitchFamily="50" charset="-128"/>
              <a:ea typeface="Meiryo UI" panose="020B0604030504040204" pitchFamily="50" charset="-128"/>
            </a:endParaRPr>
          </a:p>
          <a:p>
            <a:pPr marL="539750" lvl="2" indent="-366713" algn="l" eaLnBrk="1" hangingPunct="1">
              <a:spcBef>
                <a:spcPts val="300"/>
              </a:spcBef>
            </a:pPr>
            <a:r>
              <a:rPr lang="ja-JP" altLang="en-US" sz="1400" b="1">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対価は、次ページ比率に沿って、契書（</a:t>
            </a:r>
            <a:r>
              <a:rPr lang="en-US" altLang="ja-JP" sz="1400">
                <a:latin typeface="Meiryo UI" panose="020B0604030504040204" pitchFamily="50" charset="-128"/>
                <a:ea typeface="Meiryo UI" panose="020B0604030504040204" pitchFamily="50" charset="-128"/>
              </a:rPr>
              <a:t>SOW</a:t>
            </a:r>
            <a:r>
              <a:rPr lang="ja-JP" altLang="en-US" sz="1400">
                <a:latin typeface="Meiryo UI" panose="020B0604030504040204" pitchFamily="50" charset="-128"/>
                <a:ea typeface="Meiryo UI" panose="020B0604030504040204" pitchFamily="50" charset="-128"/>
              </a:rPr>
              <a:t>）に明記し、支払い額を初期段階で合意する。</a:t>
            </a:r>
            <a:endParaRPr lang="en-US" altLang="ja-JP" sz="1400">
              <a:latin typeface="Meiryo UI" panose="020B0604030504040204" pitchFamily="50" charset="-128"/>
              <a:ea typeface="Meiryo UI" panose="020B0604030504040204" pitchFamily="50" charset="-128"/>
            </a:endParaRPr>
          </a:p>
          <a:p>
            <a:pPr marL="539750" lvl="2" indent="-366713" algn="l" eaLnBrk="1" hangingPunct="1">
              <a:spcBef>
                <a:spcPts val="300"/>
              </a:spcBef>
            </a:pPr>
            <a:endParaRPr lang="en-US" altLang="ja-JP" sz="1400">
              <a:latin typeface="Meiryo UI" panose="020B0604030504040204" pitchFamily="50" charset="-128"/>
              <a:ea typeface="Meiryo UI" panose="020B0604030504040204" pitchFamily="50" charset="-128"/>
            </a:endParaRPr>
          </a:p>
          <a:p>
            <a:pPr marL="539750" lvl="2" indent="-366713" algn="l" eaLnBrk="1" hangingPunct="1">
              <a:spcBef>
                <a:spcPts val="300"/>
              </a:spcBef>
            </a:pPr>
            <a:r>
              <a:rPr lang="ja-JP" altLang="en-US" sz="1400">
                <a:latin typeface="Meiryo UI" panose="020B0604030504040204" pitchFamily="50" charset="-128"/>
                <a:ea typeface="Meiryo UI" panose="020B0604030504040204" pitchFamily="50" charset="-128"/>
              </a:rPr>
              <a:t>５）委託開発完了判断は、量産適用データ（</a:t>
            </a:r>
            <a:r>
              <a:rPr lang="en-US" altLang="ja-JP" sz="1400">
                <a:latin typeface="Meiryo UI" panose="020B0604030504040204" pitchFamily="50" charset="-128"/>
                <a:ea typeface="Meiryo UI" panose="020B0604030504040204" pitchFamily="50" charset="-128"/>
              </a:rPr>
              <a:t>MP1</a:t>
            </a:r>
            <a:r>
              <a:rPr lang="ja-JP" altLang="en-US" sz="1400">
                <a:latin typeface="Meiryo UI" panose="020B0604030504040204" pitchFamily="50" charset="-128"/>
                <a:ea typeface="Meiryo UI" panose="020B0604030504040204" pitchFamily="50" charset="-128"/>
              </a:rPr>
              <a:t>）が</a:t>
            </a:r>
            <a:r>
              <a:rPr lang="ja-JP" altLang="en-US" sz="1400">
                <a:solidFill>
                  <a:srgbClr val="FF0000"/>
                </a:solidFill>
                <a:latin typeface="Meiryo UI" panose="020B0604030504040204" pitchFamily="50" charset="-128"/>
                <a:ea typeface="Meiryo UI" panose="020B0604030504040204" pitchFamily="50" charset="-128"/>
              </a:rPr>
              <a:t>生産工場</a:t>
            </a:r>
            <a:r>
              <a:rPr lang="ja-JP" altLang="en-US" sz="1400">
                <a:latin typeface="Meiryo UI" panose="020B0604030504040204" pitchFamily="50" charset="-128"/>
                <a:ea typeface="Meiryo UI" panose="020B0604030504040204" pitchFamily="50" charset="-128"/>
              </a:rPr>
              <a:t>立上げ</a:t>
            </a:r>
            <a:r>
              <a:rPr lang="en-US" altLang="ja-JP" sz="1400">
                <a:latin typeface="Meiryo UI" panose="020B0604030504040204" pitchFamily="50" charset="-128"/>
                <a:ea typeface="Meiryo UI" panose="020B0604030504040204" pitchFamily="50" charset="-128"/>
              </a:rPr>
              <a:t>Lot</a:t>
            </a:r>
            <a:r>
              <a:rPr lang="ja-JP" altLang="en-US" sz="1400">
                <a:latin typeface="Meiryo UI" panose="020B0604030504040204" pitchFamily="50" charset="-128"/>
                <a:ea typeface="Meiryo UI" panose="020B0604030504040204" pitchFamily="50" charset="-128"/>
              </a:rPr>
              <a:t>へ適用出来た段階と定義する。</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開発フローに依って、</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量産品質</a:t>
            </a:r>
            <a:r>
              <a:rPr lang="en-US" altLang="ja-JP" sz="1400">
                <a:latin typeface="Meiryo UI" panose="020B0604030504040204" pitchFamily="50" charset="-128"/>
                <a:ea typeface="Meiryo UI" panose="020B0604030504040204" pitchFamily="50" charset="-128"/>
              </a:rPr>
              <a:t>Lot</a:t>
            </a:r>
            <a:r>
              <a:rPr lang="ja-JP" altLang="en-US" sz="1400">
                <a:latin typeface="Meiryo UI" panose="020B0604030504040204" pitchFamily="50" charset="-128"/>
                <a:ea typeface="Meiryo UI" panose="020B0604030504040204" pitchFamily="50" charset="-128"/>
              </a:rPr>
              <a:t>とは、段確</a:t>
            </a:r>
            <a:r>
              <a:rPr lang="en-US" altLang="ja-JP" sz="1400">
                <a:latin typeface="Meiryo UI" panose="020B0604030504040204" pitchFamily="50" charset="-128"/>
                <a:ea typeface="Meiryo UI" panose="020B0604030504040204" pitchFamily="50" charset="-128"/>
              </a:rPr>
              <a:t>Lot</a:t>
            </a:r>
            <a:r>
              <a:rPr lang="ja-JP" altLang="en-US" sz="1400">
                <a:latin typeface="Meiryo UI" panose="020B0604030504040204" pitchFamily="50" charset="-128"/>
                <a:ea typeface="Meiryo UI" panose="020B0604030504040204" pitchFamily="50" charset="-128"/>
              </a:rPr>
              <a:t>又は品確</a:t>
            </a:r>
            <a:r>
              <a:rPr lang="en-US" altLang="ja-JP" sz="1400">
                <a:latin typeface="Meiryo UI" panose="020B0604030504040204" pitchFamily="50" charset="-128"/>
                <a:ea typeface="Meiryo UI" panose="020B0604030504040204" pitchFamily="50" charset="-128"/>
              </a:rPr>
              <a:t>Lot</a:t>
            </a:r>
            <a:r>
              <a:rPr lang="ja-JP" altLang="en-US" sz="1400">
                <a:latin typeface="Meiryo UI" panose="020B0604030504040204" pitchFamily="50" charset="-128"/>
                <a:ea typeface="Meiryo UI" panose="020B0604030504040204" pitchFamily="50" charset="-128"/>
              </a:rPr>
              <a:t>を示す：</a:t>
            </a:r>
            <a:r>
              <a:rPr lang="en-US" altLang="ja-JP" sz="1400">
                <a:latin typeface="Meiryo UI" panose="020B0604030504040204" pitchFamily="50" charset="-128"/>
                <a:ea typeface="Meiryo UI" panose="020B0604030504040204" pitchFamily="50" charset="-128"/>
              </a:rPr>
              <a:t>Kick-off </a:t>
            </a:r>
            <a:r>
              <a:rPr lang="ja-JP" altLang="en-US" sz="1400">
                <a:latin typeface="Meiryo UI" panose="020B0604030504040204" pitchFamily="50" charset="-128"/>
                <a:ea typeface="Meiryo UI" panose="020B0604030504040204" pitchFamily="50" charset="-128"/>
              </a:rPr>
              <a:t>時に定義</a:t>
            </a:r>
            <a:r>
              <a:rPr lang="en-US" altLang="ja-JP" sz="1400">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3729210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p:cNvGraphicFramePr>
            <a:graphicFrameLocks noGrp="1"/>
          </p:cNvGraphicFramePr>
          <p:nvPr>
            <p:extLst>
              <p:ext uri="{D42A27DB-BD31-4B8C-83A1-F6EECF244321}">
                <p14:modId xmlns:p14="http://schemas.microsoft.com/office/powerpoint/2010/main" val="488408935"/>
              </p:ext>
            </p:extLst>
          </p:nvPr>
        </p:nvGraphicFramePr>
        <p:xfrm>
          <a:off x="207223" y="1525553"/>
          <a:ext cx="8775605" cy="3257133"/>
        </p:xfrm>
        <a:graphic>
          <a:graphicData uri="http://schemas.openxmlformats.org/drawingml/2006/table">
            <a:tbl>
              <a:tblPr firstRow="1" bandRow="1">
                <a:tableStyleId>{5940675A-B579-460E-94D1-54222C63F5DA}</a:tableStyleId>
              </a:tblPr>
              <a:tblGrid>
                <a:gridCol w="310874">
                  <a:extLst>
                    <a:ext uri="{9D8B030D-6E8A-4147-A177-3AD203B41FA5}">
                      <a16:colId xmlns:a16="http://schemas.microsoft.com/office/drawing/2014/main" val="20000"/>
                    </a:ext>
                  </a:extLst>
                </a:gridCol>
                <a:gridCol w="5016137">
                  <a:extLst>
                    <a:ext uri="{9D8B030D-6E8A-4147-A177-3AD203B41FA5}">
                      <a16:colId xmlns:a16="http://schemas.microsoft.com/office/drawing/2014/main" val="20001"/>
                    </a:ext>
                  </a:extLst>
                </a:gridCol>
                <a:gridCol w="3448594">
                  <a:extLst>
                    <a:ext uri="{9D8B030D-6E8A-4147-A177-3AD203B41FA5}">
                      <a16:colId xmlns:a16="http://schemas.microsoft.com/office/drawing/2014/main" val="20002"/>
                    </a:ext>
                  </a:extLst>
                </a:gridCol>
              </a:tblGrid>
              <a:tr h="144016">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r>
                        <a:rPr kumimoji="1" lang="en-US" altLang="ja-JP" sz="1400">
                          <a:solidFill>
                            <a:schemeClr val="tx1"/>
                          </a:solidFill>
                        </a:rPr>
                        <a:t>Milestone/content</a:t>
                      </a:r>
                      <a:endParaRPr kumimoji="1" lang="ja-JP" altLang="en-US" sz="1400">
                        <a:solidFill>
                          <a:schemeClr val="tx1"/>
                        </a:solidFill>
                        <a:latin typeface="Meiryo UI" panose="020B0604030504040204" pitchFamily="50" charset="-128"/>
                        <a:cs typeface="Arial" pitchFamily="34" charset="0"/>
                      </a:endParaRPr>
                    </a:p>
                  </a:txBody>
                  <a:tcPr/>
                </a:tc>
                <a:tc>
                  <a:txBody>
                    <a:bodyPr/>
                    <a:lstStyle/>
                    <a:p>
                      <a:r>
                        <a:rPr kumimoji="1" lang="en-US" altLang="ja-JP" sz="1400">
                          <a:solidFill>
                            <a:schemeClr val="tx1"/>
                          </a:solidFill>
                        </a:rPr>
                        <a:t>Payment schedule</a:t>
                      </a:r>
                      <a:endParaRPr kumimoji="1" lang="ja-JP" altLang="en-US" sz="1400">
                        <a:solidFill>
                          <a:schemeClr val="tx1"/>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0"/>
                  </a:ext>
                </a:extLst>
              </a:tr>
              <a:tr h="362312">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Meet the </a:t>
                      </a:r>
                      <a:r>
                        <a:rPr kumimoji="1" lang="en-US" altLang="ja-JP" sz="1400">
                          <a:solidFill>
                            <a:srgbClr val="FF0000"/>
                          </a:solidFill>
                        </a:rPr>
                        <a:t>A00-1</a:t>
                      </a:r>
                      <a:r>
                        <a:rPr kumimoji="1" lang="ja-JP" altLang="en-US" sz="1400">
                          <a:solidFill>
                            <a:schemeClr val="tx1"/>
                          </a:solidFill>
                        </a:rPr>
                        <a:t> </a:t>
                      </a:r>
                      <a:r>
                        <a:rPr kumimoji="1" lang="en-US" altLang="ja-JP" sz="1400">
                          <a:solidFill>
                            <a:schemeClr val="tx1"/>
                          </a:solidFill>
                        </a:rPr>
                        <a:t>phase planning achievement level</a:t>
                      </a:r>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Within 1 month after all deliverable is delivered for </a:t>
                      </a:r>
                      <a:r>
                        <a:rPr kumimoji="1" lang="en-US" altLang="ja-JP" sz="1400">
                          <a:solidFill>
                            <a:srgbClr val="FF0000"/>
                          </a:solidFill>
                        </a:rPr>
                        <a:t>A00-1</a:t>
                      </a:r>
                      <a:endParaRPr kumimoji="1" lang="en-US" altLang="ja-JP" sz="140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2"/>
                  </a:ext>
                </a:extLst>
              </a:tr>
              <a:tr h="520206">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Meet the </a:t>
                      </a:r>
                      <a:r>
                        <a:rPr kumimoji="1" lang="en-US" altLang="ja-JP" sz="1400">
                          <a:solidFill>
                            <a:srgbClr val="FF0000"/>
                          </a:solidFill>
                        </a:rPr>
                        <a:t>A00-2</a:t>
                      </a:r>
                      <a:r>
                        <a:rPr kumimoji="1" lang="en-US" altLang="ja-JP" sz="1400">
                          <a:solidFill>
                            <a:schemeClr val="tx1"/>
                          </a:solidFill>
                        </a:rPr>
                        <a:t> phase planning achievement level</a:t>
                      </a:r>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Within 1 month after all deliverable is delivered for</a:t>
                      </a:r>
                      <a:r>
                        <a:rPr kumimoji="1" lang="en-US" altLang="ja-JP" sz="1400" baseline="0">
                          <a:solidFill>
                            <a:schemeClr val="tx1"/>
                          </a:solidFill>
                        </a:rPr>
                        <a:t> </a:t>
                      </a:r>
                      <a:r>
                        <a:rPr kumimoji="1" lang="en-US" altLang="ja-JP" sz="1400">
                          <a:solidFill>
                            <a:srgbClr val="FF0000"/>
                          </a:solidFill>
                        </a:rPr>
                        <a:t>A00-2</a:t>
                      </a:r>
                      <a:endParaRPr kumimoji="1" lang="en-US" altLang="ja-JP" sz="140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3"/>
                  </a:ext>
                </a:extLst>
              </a:tr>
              <a:tr h="520206">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Meet the </a:t>
                      </a:r>
                      <a:r>
                        <a:rPr kumimoji="1" lang="en-US" altLang="ja-JP" sz="1400">
                          <a:solidFill>
                            <a:srgbClr val="FF0000"/>
                          </a:solidFill>
                        </a:rPr>
                        <a:t>Setsu Die Go</a:t>
                      </a:r>
                      <a:r>
                        <a:rPr kumimoji="1" lang="en-US" altLang="ja-JP" sz="1400" baseline="0">
                          <a:solidFill>
                            <a:schemeClr val="tx1"/>
                          </a:solidFill>
                        </a:rPr>
                        <a:t> </a:t>
                      </a:r>
                      <a:r>
                        <a:rPr kumimoji="1" lang="en-US" altLang="ja-JP" sz="1400">
                          <a:solidFill>
                            <a:schemeClr val="tx1"/>
                          </a:solidFill>
                        </a:rPr>
                        <a:t>phase planning achievement level</a:t>
                      </a:r>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Within 1 month after all deliverable is delivered for</a:t>
                      </a:r>
                      <a:r>
                        <a:rPr kumimoji="1" lang="en-US" altLang="ja-JP" sz="1400" baseline="0">
                          <a:solidFill>
                            <a:schemeClr val="tx1"/>
                          </a:solidFill>
                        </a:rPr>
                        <a:t> </a:t>
                      </a:r>
                      <a:r>
                        <a:rPr kumimoji="1" lang="en-US" altLang="ja-JP" sz="1400">
                          <a:solidFill>
                            <a:srgbClr val="FF0000"/>
                          </a:solidFill>
                        </a:rPr>
                        <a:t>Setsu Die Go</a:t>
                      </a:r>
                      <a:endParaRPr kumimoji="1" lang="en-US" altLang="ja-JP" sz="140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2193407975"/>
                  </a:ext>
                </a:extLst>
              </a:tr>
              <a:tr h="520206">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Meet the </a:t>
                      </a:r>
                      <a:r>
                        <a:rPr kumimoji="1" lang="en-US" altLang="ja-JP" sz="1400">
                          <a:solidFill>
                            <a:srgbClr val="FF0000"/>
                          </a:solidFill>
                        </a:rPr>
                        <a:t>MP0</a:t>
                      </a:r>
                      <a:r>
                        <a:rPr kumimoji="1" lang="en-US" altLang="ja-JP" sz="1400">
                          <a:solidFill>
                            <a:schemeClr val="tx1"/>
                          </a:solidFill>
                        </a:rPr>
                        <a:t> evaluation which means no problem for future</a:t>
                      </a:r>
                      <a:r>
                        <a:rPr kumimoji="1" lang="en-US" altLang="ja-JP" sz="1400" baseline="0">
                          <a:solidFill>
                            <a:schemeClr val="tx1"/>
                          </a:solidFill>
                        </a:rPr>
                        <a:t> mass production. </a:t>
                      </a:r>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Within 1 month after all deliverable is delivered for</a:t>
                      </a:r>
                      <a:r>
                        <a:rPr kumimoji="1" lang="en-US" altLang="ja-JP" sz="1400" baseline="0">
                          <a:solidFill>
                            <a:schemeClr val="tx1"/>
                          </a:solidFill>
                        </a:rPr>
                        <a:t> </a:t>
                      </a:r>
                      <a:r>
                        <a:rPr kumimoji="1" lang="en-US" altLang="ja-JP" sz="1400" baseline="0">
                          <a:solidFill>
                            <a:srgbClr val="FF0000"/>
                          </a:solidFill>
                        </a:rPr>
                        <a:t>MP0</a:t>
                      </a:r>
                      <a:endParaRPr kumimoji="1" lang="en-US" altLang="ja-JP" sz="140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2636506996"/>
                  </a:ext>
                </a:extLst>
              </a:tr>
              <a:tr h="562352">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r>
                        <a:rPr kumimoji="1" lang="en-US" altLang="ja-JP" sz="1400">
                          <a:solidFill>
                            <a:schemeClr val="tx1"/>
                          </a:solidFill>
                        </a:rPr>
                        <a:t>At</a:t>
                      </a:r>
                      <a:r>
                        <a:rPr kumimoji="1" lang="en-US" altLang="ja-JP" sz="1400" baseline="0">
                          <a:solidFill>
                            <a:schemeClr val="tx1"/>
                          </a:solidFill>
                        </a:rPr>
                        <a:t> </a:t>
                      </a:r>
                      <a:r>
                        <a:rPr kumimoji="1" lang="en-US" altLang="ja-JP" sz="1400" baseline="0">
                          <a:solidFill>
                            <a:srgbClr val="FF0000"/>
                          </a:solidFill>
                        </a:rPr>
                        <a:t>E2 </a:t>
                      </a:r>
                      <a:r>
                        <a:rPr kumimoji="1" lang="en-US" altLang="ja-JP" sz="1400" baseline="0">
                          <a:solidFill>
                            <a:schemeClr val="tx1"/>
                          </a:solidFill>
                        </a:rPr>
                        <a:t>evaluation, </a:t>
                      </a:r>
                      <a:r>
                        <a:rPr kumimoji="1" lang="en-US" altLang="ja-JP" sz="1400">
                          <a:solidFill>
                            <a:schemeClr val="tx1"/>
                          </a:solidFill>
                        </a:rPr>
                        <a:t>No concern of mass production variation which include all</a:t>
                      </a:r>
                      <a:r>
                        <a:rPr kumimoji="1" lang="en-US" altLang="ja-JP" sz="1400" baseline="0">
                          <a:solidFill>
                            <a:schemeClr val="tx1"/>
                          </a:solidFill>
                        </a:rPr>
                        <a:t> variants. </a:t>
                      </a:r>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Within 1 month after all deliverable is delivered for </a:t>
                      </a:r>
                      <a:r>
                        <a:rPr kumimoji="1" lang="en-US" altLang="ja-JP" sz="1400">
                          <a:solidFill>
                            <a:srgbClr val="FF0000"/>
                          </a:solidFill>
                        </a:rPr>
                        <a:t>E2</a:t>
                      </a:r>
                      <a:endParaRPr kumimoji="1" lang="en-US" altLang="ja-JP" sz="1400">
                        <a:solidFill>
                          <a:srgbClr val="FF0000"/>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4"/>
                  </a:ext>
                </a:extLst>
              </a:tr>
              <a:tr h="311203">
                <a:tc>
                  <a:txBody>
                    <a:bodyPr/>
                    <a:lstStyle/>
                    <a:p>
                      <a:endParaRPr kumimoji="1" lang="ja-JP" altLang="en-US" sz="1400">
                        <a:solidFill>
                          <a:schemeClr val="tx1"/>
                        </a:solidFill>
                        <a:latin typeface="Meiryo UI" panose="020B0604030504040204" pitchFamily="50" charset="-128"/>
                        <a:cs typeface="Arial" pitchFamily="34" charset="0"/>
                      </a:endParaRPr>
                    </a:p>
                  </a:txBody>
                  <a:tcPr/>
                </a:tc>
                <a:tc>
                  <a:txBody>
                    <a:bodyPr/>
                    <a:lstStyle/>
                    <a:p>
                      <a:r>
                        <a:rPr kumimoji="1" lang="en-US" altLang="ja-JP" sz="1400">
                          <a:solidFill>
                            <a:schemeClr val="tx1"/>
                          </a:solidFill>
                        </a:rPr>
                        <a:t>SOP</a:t>
                      </a:r>
                      <a:endParaRPr kumimoji="1" lang="ja-JP" altLang="en-US" sz="1400">
                        <a:solidFill>
                          <a:schemeClr val="tx1"/>
                        </a:solidFill>
                        <a:latin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Within 2</a:t>
                      </a:r>
                      <a:r>
                        <a:rPr kumimoji="1" lang="en-US" altLang="ja-JP" sz="1400" baseline="0">
                          <a:solidFill>
                            <a:schemeClr val="tx1"/>
                          </a:solidFill>
                        </a:rPr>
                        <a:t> months </a:t>
                      </a:r>
                      <a:r>
                        <a:rPr kumimoji="1" lang="en-US" altLang="ja-JP" sz="1400">
                          <a:solidFill>
                            <a:schemeClr val="tx1"/>
                          </a:solidFill>
                        </a:rPr>
                        <a:t>After</a:t>
                      </a:r>
                      <a:r>
                        <a:rPr kumimoji="1" lang="en-US" altLang="ja-JP" sz="1400" baseline="0">
                          <a:solidFill>
                            <a:schemeClr val="tx1"/>
                          </a:solidFill>
                        </a:rPr>
                        <a:t> SOP </a:t>
                      </a:r>
                      <a:endParaRPr kumimoji="1" lang="ja-JP" altLang="en-US" sz="1400">
                        <a:solidFill>
                          <a:schemeClr val="tx1"/>
                        </a:solidFill>
                        <a:latin typeface="Meiryo UI" panose="020B0604030504040204" pitchFamily="50" charset="-128"/>
                        <a:cs typeface="Arial" pitchFamily="34" charset="0"/>
                      </a:endParaRPr>
                    </a:p>
                  </a:txBody>
                  <a:tcPr/>
                </a:tc>
                <a:extLst>
                  <a:ext uri="{0D108BD9-81ED-4DB2-BD59-A6C34878D82A}">
                    <a16:rowId xmlns:a16="http://schemas.microsoft.com/office/drawing/2014/main" val="10005"/>
                  </a:ext>
                </a:extLst>
              </a:tr>
            </a:tbl>
          </a:graphicData>
        </a:graphic>
      </p:graphicFrame>
      <p:sp>
        <p:nvSpPr>
          <p:cNvPr id="9" name="Text Box 2"/>
          <p:cNvSpPr txBox="1">
            <a:spLocks noChangeArrowheads="1"/>
          </p:cNvSpPr>
          <p:nvPr/>
        </p:nvSpPr>
        <p:spPr bwMode="auto">
          <a:xfrm>
            <a:off x="24344" y="620690"/>
            <a:ext cx="8936778"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600" b="1" u="sng">
                <a:latin typeface="Meiryo UI" panose="020B0604030504040204" pitchFamily="50" charset="-128"/>
                <a:ea typeface="Meiryo UI" panose="020B0604030504040204" pitchFamily="50" charset="-128"/>
                <a:cs typeface="Arial" pitchFamily="34" charset="0"/>
              </a:rPr>
              <a:t>Payment Schedule Guideline ( prescription)</a:t>
            </a:r>
          </a:p>
          <a:p>
            <a:pPr algn="l" eaLnBrk="1" hangingPunct="1">
              <a:lnSpc>
                <a:spcPct val="110000"/>
              </a:lnSpc>
            </a:pPr>
            <a:r>
              <a:rPr lang="en-US" altLang="ja-JP" sz="16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The detail payment of development will be described in the Statement of Work which includes the destination and model variations. </a:t>
            </a:r>
            <a:endParaRPr lang="ja-JP" altLang="en-US" sz="120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23025" y="5419633"/>
            <a:ext cx="91440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600" b="1" u="sng">
                <a:latin typeface="Meiryo UI" panose="020B0604030504040204" pitchFamily="50" charset="-128"/>
                <a:ea typeface="Meiryo UI" panose="020B0604030504040204" pitchFamily="50" charset="-128"/>
                <a:cs typeface="Arial" pitchFamily="34" charset="0"/>
              </a:rPr>
              <a:t>Payment  Amount and schedule</a:t>
            </a:r>
            <a:r>
              <a:rPr lang="en-US" altLang="ja-JP" sz="1600">
                <a:latin typeface="Meiryo UI" panose="020B0604030504040204" pitchFamily="50" charset="-128"/>
                <a:ea typeface="Meiryo UI" panose="020B0604030504040204" pitchFamily="50" charset="-128"/>
                <a:cs typeface="Arial" pitchFamily="34" charset="0"/>
              </a:rPr>
              <a:t>     </a:t>
            </a:r>
          </a:p>
          <a:p>
            <a:pPr algn="l" eaLnBrk="1" hangingPunct="1">
              <a:lnSpc>
                <a:spcPct val="110000"/>
              </a:lnSpc>
            </a:pPr>
            <a:r>
              <a:rPr lang="en-US" altLang="ja-JP" sz="16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Payment amount and  schedule shall be discussed after getting quotation, and will show it in SOW.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*Payment amount is mainly related to deliverables and payment schedule is at least once / year (based on discussion between Honda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Judgments and Timings (4/7)</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35070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p:cNvGraphicFramePr>
            <a:graphicFrameLocks noGrp="1"/>
          </p:cNvGraphicFramePr>
          <p:nvPr>
            <p:extLst>
              <p:ext uri="{D42A27DB-BD31-4B8C-83A1-F6EECF244321}">
                <p14:modId xmlns:p14="http://schemas.microsoft.com/office/powerpoint/2010/main" val="2796188160"/>
              </p:ext>
            </p:extLst>
          </p:nvPr>
        </p:nvGraphicFramePr>
        <p:xfrm>
          <a:off x="207223" y="1294891"/>
          <a:ext cx="8775605" cy="4100078"/>
        </p:xfrm>
        <a:graphic>
          <a:graphicData uri="http://schemas.openxmlformats.org/drawingml/2006/table">
            <a:tbl>
              <a:tblPr firstRow="1" bandRow="1">
                <a:tableStyleId>{5940675A-B579-460E-94D1-54222C63F5DA}</a:tableStyleId>
              </a:tblPr>
              <a:tblGrid>
                <a:gridCol w="310874">
                  <a:extLst>
                    <a:ext uri="{9D8B030D-6E8A-4147-A177-3AD203B41FA5}">
                      <a16:colId xmlns:a16="http://schemas.microsoft.com/office/drawing/2014/main" val="20000"/>
                    </a:ext>
                  </a:extLst>
                </a:gridCol>
                <a:gridCol w="5016137">
                  <a:extLst>
                    <a:ext uri="{9D8B030D-6E8A-4147-A177-3AD203B41FA5}">
                      <a16:colId xmlns:a16="http://schemas.microsoft.com/office/drawing/2014/main" val="20001"/>
                    </a:ext>
                  </a:extLst>
                </a:gridCol>
                <a:gridCol w="3448594">
                  <a:extLst>
                    <a:ext uri="{9D8B030D-6E8A-4147-A177-3AD203B41FA5}">
                      <a16:colId xmlns:a16="http://schemas.microsoft.com/office/drawing/2014/main" val="20002"/>
                    </a:ext>
                  </a:extLst>
                </a:gridCol>
              </a:tblGrid>
              <a:tr h="144016">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r>
                        <a:rPr kumimoji="1" lang="ja-JP" altLang="en-US" sz="1400">
                          <a:solidFill>
                            <a:schemeClr val="tx1"/>
                          </a:solidFill>
                        </a:rPr>
                        <a:t>マイルストーン</a:t>
                      </a:r>
                      <a:r>
                        <a:rPr kumimoji="1" lang="en-US" altLang="ja-JP" sz="1400">
                          <a:solidFill>
                            <a:schemeClr val="tx1"/>
                          </a:solidFill>
                        </a:rPr>
                        <a:t>/</a:t>
                      </a:r>
                      <a:r>
                        <a:rPr kumimoji="1" lang="ja-JP" altLang="en-US" sz="1400">
                          <a:solidFill>
                            <a:schemeClr val="tx1"/>
                          </a:solidFill>
                        </a:rPr>
                        <a:t>内容</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r>
                        <a:rPr kumimoji="1" lang="ja-JP" altLang="en-US" sz="1400">
                          <a:solidFill>
                            <a:schemeClr val="tx1"/>
                          </a:solidFill>
                        </a:rPr>
                        <a:t>支払い時期</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0"/>
                  </a:ext>
                </a:extLst>
              </a:tr>
              <a:tr h="362312">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rgbClr val="FF0000"/>
                          </a:solidFill>
                        </a:rPr>
                        <a:t>A00-1</a:t>
                      </a:r>
                      <a:r>
                        <a:rPr kumimoji="1" lang="ja-JP" altLang="en-US" sz="1400">
                          <a:solidFill>
                            <a:schemeClr val="tx1"/>
                          </a:solidFill>
                        </a:rPr>
                        <a:t> 時点での計画された目標を達成</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rgbClr val="FF0000"/>
                          </a:solidFill>
                        </a:rPr>
                        <a:t>A00-1</a:t>
                      </a:r>
                      <a:r>
                        <a:rPr kumimoji="1" lang="ja-JP" altLang="en-US" sz="1400">
                          <a:solidFill>
                            <a:srgbClr val="FF0000"/>
                          </a:solidFill>
                        </a:rPr>
                        <a:t> </a:t>
                      </a:r>
                      <a:r>
                        <a:rPr kumimoji="1" lang="ja-JP" altLang="en-US" sz="1400">
                          <a:solidFill>
                            <a:schemeClr val="tx1"/>
                          </a:solidFill>
                        </a:rPr>
                        <a:t>での成果物がすべて納入されてから</a:t>
                      </a:r>
                      <a:endParaRPr kumimoji="1" lang="en-US" altLang="ja-JP" sz="140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1</a:t>
                      </a:r>
                      <a:r>
                        <a:rPr kumimoji="1" lang="ja-JP" altLang="en-US" sz="1400">
                          <a:solidFill>
                            <a:schemeClr val="tx1"/>
                          </a:solidFill>
                        </a:rPr>
                        <a:t>か月以内</a:t>
                      </a:r>
                      <a:endParaRPr kumimoji="1" lang="en-US" altLang="ja-JP" sz="140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2"/>
                  </a:ext>
                </a:extLst>
              </a:tr>
              <a:tr h="520206">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rgbClr val="FF0000"/>
                          </a:solidFill>
                        </a:rPr>
                        <a:t>A00-2</a:t>
                      </a:r>
                      <a:r>
                        <a:rPr kumimoji="1" lang="ja-JP" altLang="en-US" sz="1400">
                          <a:solidFill>
                            <a:srgbClr val="FF0000"/>
                          </a:solidFill>
                        </a:rPr>
                        <a:t> </a:t>
                      </a:r>
                      <a:r>
                        <a:rPr kumimoji="1" lang="ja-JP" altLang="en-US" sz="1400">
                          <a:solidFill>
                            <a:schemeClr val="tx1"/>
                          </a:solidFill>
                        </a:rPr>
                        <a:t>時点での計画された目標を達成</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a:solidFill>
                            <a:srgbClr val="FF0000"/>
                          </a:solidFill>
                        </a:rPr>
                        <a:t>A00-2</a:t>
                      </a:r>
                      <a:r>
                        <a:rPr kumimoji="1" lang="ja-JP" altLang="en-US" sz="1400" baseline="0">
                          <a:solidFill>
                            <a:srgbClr val="FF0000"/>
                          </a:solidFill>
                        </a:rPr>
                        <a:t> </a:t>
                      </a:r>
                      <a:r>
                        <a:rPr kumimoji="1" lang="ja-JP" altLang="en-US" sz="1400">
                          <a:solidFill>
                            <a:schemeClr val="tx1"/>
                          </a:solidFill>
                        </a:rPr>
                        <a:t>での成果物がすべて納入されてから</a:t>
                      </a:r>
                      <a:endParaRPr kumimoji="1" lang="en-US" altLang="ja-JP" sz="14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1</a:t>
                      </a:r>
                      <a:r>
                        <a:rPr kumimoji="1" lang="ja-JP" altLang="en-US" sz="1400">
                          <a:solidFill>
                            <a:schemeClr val="tx1"/>
                          </a:solidFill>
                        </a:rPr>
                        <a:t>か月以内</a:t>
                      </a:r>
                      <a:endParaRPr kumimoji="1" lang="en-US" altLang="ja-JP" sz="140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3"/>
                  </a:ext>
                </a:extLst>
              </a:tr>
              <a:tr h="520206">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rgbClr val="FF0000"/>
                          </a:solidFill>
                        </a:rPr>
                        <a:t>設型</a:t>
                      </a:r>
                      <a:r>
                        <a:rPr kumimoji="1" lang="en-US" altLang="ja-JP" sz="1400">
                          <a:solidFill>
                            <a:srgbClr val="FF0000"/>
                          </a:solidFill>
                        </a:rPr>
                        <a:t>Go</a:t>
                      </a:r>
                      <a:r>
                        <a:rPr kumimoji="1" lang="ja-JP" altLang="en-US" sz="1400">
                          <a:solidFill>
                            <a:srgbClr val="FF0000"/>
                          </a:solidFill>
                        </a:rPr>
                        <a:t> </a:t>
                      </a:r>
                      <a:r>
                        <a:rPr kumimoji="1" lang="ja-JP" altLang="en-US" sz="1400">
                          <a:solidFill>
                            <a:schemeClr val="tx1"/>
                          </a:solidFill>
                        </a:rPr>
                        <a:t>時点での計画された目標を達成</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aseline="0">
                          <a:solidFill>
                            <a:srgbClr val="FF0000"/>
                          </a:solidFill>
                        </a:rPr>
                        <a:t>設型</a:t>
                      </a:r>
                      <a:r>
                        <a:rPr kumimoji="1" lang="en-US" altLang="ja-JP" sz="1400" baseline="0">
                          <a:solidFill>
                            <a:srgbClr val="FF0000"/>
                          </a:solidFill>
                        </a:rPr>
                        <a:t>Go</a:t>
                      </a:r>
                      <a:r>
                        <a:rPr kumimoji="1" lang="ja-JP" altLang="en-US" sz="1400" baseline="0">
                          <a:solidFill>
                            <a:srgbClr val="FF0000"/>
                          </a:solidFill>
                        </a:rPr>
                        <a:t> </a:t>
                      </a:r>
                      <a:r>
                        <a:rPr kumimoji="1" lang="ja-JP" altLang="en-US" sz="1400">
                          <a:solidFill>
                            <a:schemeClr val="tx1"/>
                          </a:solidFill>
                        </a:rPr>
                        <a:t>での成果物がすべて納入されてから</a:t>
                      </a:r>
                      <a:endParaRPr kumimoji="1" lang="en-US" altLang="ja-JP" sz="14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1</a:t>
                      </a:r>
                      <a:r>
                        <a:rPr kumimoji="1" lang="ja-JP" altLang="en-US" sz="1400">
                          <a:solidFill>
                            <a:schemeClr val="tx1"/>
                          </a:solidFill>
                        </a:rPr>
                        <a:t>か月以内</a:t>
                      </a:r>
                      <a:endParaRPr kumimoji="1" lang="en-US" altLang="ja-JP" sz="140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2193407975"/>
                  </a:ext>
                </a:extLst>
              </a:tr>
              <a:tr h="520206">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rgbClr val="FF0000"/>
                          </a:solidFill>
                        </a:rPr>
                        <a:t>MP0</a:t>
                      </a:r>
                      <a:r>
                        <a:rPr kumimoji="1" lang="en-US" altLang="ja-JP" sz="1400">
                          <a:solidFill>
                            <a:schemeClr val="tx1"/>
                          </a:solidFill>
                        </a:rPr>
                        <a:t> </a:t>
                      </a:r>
                      <a:r>
                        <a:rPr kumimoji="1" lang="ja-JP" altLang="en-US" sz="1400">
                          <a:solidFill>
                            <a:schemeClr val="tx1"/>
                          </a:solidFill>
                        </a:rPr>
                        <a:t>評価での将来の量産に向けての不具合ない開発達成</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a:solidFill>
                            <a:srgbClr val="FF0000"/>
                          </a:solidFill>
                        </a:rPr>
                        <a:t>MP0</a:t>
                      </a:r>
                      <a:r>
                        <a:rPr kumimoji="1" lang="ja-JP" altLang="en-US" sz="1400" baseline="0">
                          <a:solidFill>
                            <a:srgbClr val="FF0000"/>
                          </a:solidFill>
                        </a:rPr>
                        <a:t> </a:t>
                      </a:r>
                      <a:r>
                        <a:rPr kumimoji="1" lang="ja-JP" altLang="en-US" sz="1400">
                          <a:solidFill>
                            <a:schemeClr val="tx1"/>
                          </a:solidFill>
                        </a:rPr>
                        <a:t>での成果物がすべて納入されてから</a:t>
                      </a:r>
                      <a:endParaRPr kumimoji="1" lang="en-US" altLang="ja-JP" sz="14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1</a:t>
                      </a:r>
                      <a:r>
                        <a:rPr kumimoji="1" lang="ja-JP" altLang="en-US" sz="1400">
                          <a:solidFill>
                            <a:schemeClr val="tx1"/>
                          </a:solidFill>
                        </a:rPr>
                        <a:t>か月以内</a:t>
                      </a:r>
                      <a:endParaRPr kumimoji="1" lang="en-US" altLang="ja-JP" sz="140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2636506996"/>
                  </a:ext>
                </a:extLst>
              </a:tr>
              <a:tr h="562352">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r>
                        <a:rPr kumimoji="1" lang="en-US" altLang="ja-JP" sz="1400" baseline="0">
                          <a:solidFill>
                            <a:srgbClr val="FF0000"/>
                          </a:solidFill>
                        </a:rPr>
                        <a:t>E2</a:t>
                      </a:r>
                      <a:r>
                        <a:rPr kumimoji="1" lang="ja-JP" altLang="en-US" sz="1400" baseline="0">
                          <a:solidFill>
                            <a:srgbClr val="FF0000"/>
                          </a:solidFill>
                        </a:rPr>
                        <a:t> </a:t>
                      </a:r>
                      <a:r>
                        <a:rPr kumimoji="1" lang="ja-JP" altLang="en-US" sz="1400" baseline="0">
                          <a:solidFill>
                            <a:schemeClr val="tx1"/>
                          </a:solidFill>
                        </a:rPr>
                        <a:t>評価にてすべての仕様に対して残項目なく開発が完了</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rgbClr val="FF0000"/>
                          </a:solidFill>
                        </a:rPr>
                        <a:t>E2</a:t>
                      </a:r>
                      <a:r>
                        <a:rPr kumimoji="1" lang="ja-JP" altLang="en-US" sz="1400">
                          <a:solidFill>
                            <a:srgbClr val="FF0000"/>
                          </a:solidFill>
                        </a:rPr>
                        <a:t> </a:t>
                      </a:r>
                      <a:r>
                        <a:rPr kumimoji="1" lang="ja-JP" altLang="en-US" sz="1400">
                          <a:solidFill>
                            <a:schemeClr val="tx1"/>
                          </a:solidFill>
                        </a:rPr>
                        <a:t>での成果物がすべて納入されてから</a:t>
                      </a:r>
                      <a:endParaRPr kumimoji="1" lang="en-US" altLang="ja-JP" sz="14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rPr>
                        <a:t>1</a:t>
                      </a:r>
                      <a:r>
                        <a:rPr kumimoji="1" lang="ja-JP" altLang="en-US" sz="1400">
                          <a:solidFill>
                            <a:schemeClr val="tx1"/>
                          </a:solidFill>
                        </a:rPr>
                        <a:t>か月以内</a:t>
                      </a:r>
                      <a:endParaRPr kumimoji="1" lang="en-US" altLang="ja-JP" sz="1400">
                        <a:solidFill>
                          <a:srgbClr val="FF0000"/>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4"/>
                  </a:ext>
                </a:extLst>
              </a:tr>
              <a:tr h="311203">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r>
                        <a:rPr kumimoji="1" lang="en-US" altLang="ja-JP" sz="1400">
                          <a:solidFill>
                            <a:schemeClr val="tx1"/>
                          </a:solidFill>
                        </a:rPr>
                        <a:t>SOP</a:t>
                      </a:r>
                      <a:r>
                        <a:rPr kumimoji="1" lang="ja-JP" altLang="en-US" sz="1400">
                          <a:solidFill>
                            <a:schemeClr val="tx1"/>
                          </a:solidFill>
                        </a:rPr>
                        <a:t>（量産開始）</a:t>
                      </a:r>
                      <a:endParaRPr kumimoji="1" lang="en-US" altLang="ja-JP" sz="1400">
                        <a:solidFill>
                          <a:schemeClr val="tx1"/>
                        </a:solidFill>
                      </a:endParaRPr>
                    </a:p>
                    <a:p>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rPr>
                        <a:t>量産開始から</a:t>
                      </a:r>
                      <a:r>
                        <a:rPr kumimoji="1" lang="en-US" altLang="ja-JP" sz="1400">
                          <a:solidFill>
                            <a:schemeClr val="tx1"/>
                          </a:solidFill>
                        </a:rPr>
                        <a:t>2</a:t>
                      </a:r>
                      <a:r>
                        <a:rPr kumimoji="1" lang="ja-JP" altLang="en-US" sz="1400">
                          <a:solidFill>
                            <a:schemeClr val="tx1"/>
                          </a:solidFill>
                        </a:rPr>
                        <a:t>か月以内</a:t>
                      </a:r>
                      <a:endParaRPr kumimoji="1" lang="ja-JP" altLang="en-US" sz="1400">
                        <a:solidFill>
                          <a:schemeClr val="tx1"/>
                        </a:solidFill>
                        <a:latin typeface="Meiryo UI" panose="020B0604030504040204" pitchFamily="50" charset="-128"/>
                        <a:ea typeface="Meiryo UI" panose="020B0604030504040204" pitchFamily="50" charset="-128"/>
                        <a:cs typeface="Arial" pitchFamily="34" charset="0"/>
                      </a:endParaRPr>
                    </a:p>
                  </a:txBody>
                  <a:tcPr/>
                </a:tc>
                <a:extLst>
                  <a:ext uri="{0D108BD9-81ED-4DB2-BD59-A6C34878D82A}">
                    <a16:rowId xmlns:a16="http://schemas.microsoft.com/office/drawing/2014/main" val="10005"/>
                  </a:ext>
                </a:extLst>
              </a:tr>
            </a:tbl>
          </a:graphicData>
        </a:graphic>
      </p:graphicFrame>
      <p:sp>
        <p:nvSpPr>
          <p:cNvPr id="9" name="Text Box 2"/>
          <p:cNvSpPr txBox="1">
            <a:spLocks noChangeArrowheads="1"/>
          </p:cNvSpPr>
          <p:nvPr/>
        </p:nvSpPr>
        <p:spPr bwMode="auto">
          <a:xfrm>
            <a:off x="24344" y="620690"/>
            <a:ext cx="8936778" cy="63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ja-JP" altLang="en-US" sz="1600" b="1" u="sng">
                <a:latin typeface="Meiryo UI" panose="020B0604030504040204" pitchFamily="50" charset="-128"/>
                <a:ea typeface="Meiryo UI" panose="020B0604030504040204" pitchFamily="50" charset="-128"/>
                <a:cs typeface="Arial" pitchFamily="34" charset="0"/>
              </a:rPr>
              <a:t>支払い時期のガイドライン</a:t>
            </a:r>
            <a:r>
              <a:rPr lang="en-US" altLang="ja-JP" sz="1600" b="1" u="sng">
                <a:latin typeface="Meiryo UI" panose="020B0604030504040204" pitchFamily="50" charset="-128"/>
                <a:ea typeface="Meiryo UI" panose="020B0604030504040204" pitchFamily="50" charset="-128"/>
                <a:cs typeface="Arial" pitchFamily="34" charset="0"/>
              </a:rPr>
              <a:t> (</a:t>
            </a:r>
            <a:r>
              <a:rPr lang="ja-JP" altLang="en-US" sz="1600" b="1" u="sng">
                <a:latin typeface="Meiryo UI" panose="020B0604030504040204" pitchFamily="50" charset="-128"/>
                <a:ea typeface="Meiryo UI" panose="020B0604030504040204" pitchFamily="50" charset="-128"/>
                <a:cs typeface="Arial" pitchFamily="34" charset="0"/>
              </a:rPr>
              <a:t>規定</a:t>
            </a:r>
            <a:r>
              <a:rPr lang="en-US" altLang="ja-JP" sz="1600" b="1" u="sng">
                <a:latin typeface="Meiryo UI" panose="020B0604030504040204" pitchFamily="50" charset="-128"/>
                <a:ea typeface="Meiryo UI" panose="020B0604030504040204" pitchFamily="50" charset="-128"/>
                <a:cs typeface="Arial" pitchFamily="34" charset="0"/>
              </a:rPr>
              <a:t>)</a:t>
            </a:r>
          </a:p>
          <a:p>
            <a:pPr algn="l" eaLnBrk="1" hangingPunct="1">
              <a:lnSpc>
                <a:spcPct val="110000"/>
              </a:lnSpc>
            </a:pPr>
            <a:r>
              <a:rPr lang="en-US" altLang="ja-JP" sz="16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開発の支払いについての詳細は、開発の詳細支払いは、仕向地と生産機種の仕様を含んでいる作業明細書に述べられる。</a:t>
            </a:r>
            <a:endParaRPr lang="ja-JP" altLang="en-US" sz="110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23025" y="5419633"/>
            <a:ext cx="91440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ja-JP" altLang="en-US" sz="1600" b="1" u="sng">
                <a:latin typeface="Meiryo UI" panose="020B0604030504040204" pitchFamily="50" charset="-128"/>
                <a:ea typeface="Meiryo UI" panose="020B0604030504040204" pitchFamily="50" charset="-128"/>
                <a:cs typeface="Arial" pitchFamily="34" charset="0"/>
              </a:rPr>
              <a:t>支払額と日程について</a:t>
            </a:r>
            <a:r>
              <a:rPr lang="en-US" altLang="ja-JP" sz="1600">
                <a:latin typeface="Meiryo UI" panose="020B0604030504040204" pitchFamily="50" charset="-128"/>
                <a:ea typeface="Meiryo UI" panose="020B0604030504040204" pitchFamily="50" charset="-128"/>
                <a:cs typeface="Arial" pitchFamily="34" charset="0"/>
              </a:rPr>
              <a:t>     </a:t>
            </a:r>
          </a:p>
          <a:p>
            <a:pPr algn="l" eaLnBrk="1" hangingPunct="1">
              <a:lnSpc>
                <a:spcPct val="110000"/>
              </a:lnSpc>
            </a:pPr>
            <a:r>
              <a:rPr lang="ja-JP" altLang="en-US" sz="16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支払い額および日程は見積書を得た後に議論され、</a:t>
            </a:r>
            <a:r>
              <a:rPr lang="en-US" altLang="ja-JP" sz="1400">
                <a:latin typeface="Meiryo UI" panose="020B0604030504040204" pitchFamily="50" charset="-128"/>
                <a:ea typeface="Meiryo UI" panose="020B0604030504040204" pitchFamily="50" charset="-128"/>
                <a:cs typeface="Arial" pitchFamily="34" charset="0"/>
              </a:rPr>
              <a:t>SOW</a:t>
            </a:r>
            <a:r>
              <a:rPr lang="ja-JP" altLang="en-US" sz="1400">
                <a:latin typeface="Meiryo UI" panose="020B0604030504040204" pitchFamily="50" charset="-128"/>
                <a:ea typeface="Meiryo UI" panose="020B0604030504040204" pitchFamily="50" charset="-128"/>
                <a:cs typeface="Arial" pitchFamily="34" charset="0"/>
              </a:rPr>
              <a:t>の中でそれを示すこと。 </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支払い額は主として成果物と関連付けられる、また支払い日程については最低 年</a:t>
            </a:r>
            <a:r>
              <a:rPr lang="en-US" altLang="ja-JP" sz="1400">
                <a:latin typeface="Meiryo UI" panose="020B0604030504040204" pitchFamily="50" charset="-128"/>
                <a:ea typeface="Meiryo UI" panose="020B0604030504040204" pitchFamily="50" charset="-128"/>
                <a:cs typeface="Arial" pitchFamily="34" charset="0"/>
              </a:rPr>
              <a:t>1</a:t>
            </a:r>
            <a:r>
              <a:rPr lang="ja-JP" altLang="en-US" sz="1400">
                <a:latin typeface="Meiryo UI" panose="020B0604030504040204" pitchFamily="50" charset="-128"/>
                <a:ea typeface="Meiryo UI" panose="020B0604030504040204" pitchFamily="50" charset="-128"/>
                <a:cs typeface="Arial" pitchFamily="34" charset="0"/>
              </a:rPr>
              <a:t>回とする</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と</a:t>
            </a:r>
            <a:r>
              <a:rPr lang="en-US" altLang="ja-JP"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にて協議される</a:t>
            </a:r>
            <a:r>
              <a:rPr lang="en-US" altLang="ja-JP" sz="1400">
                <a:latin typeface="Meiryo UI" panose="020B0604030504040204" pitchFamily="50" charset="-128"/>
                <a:ea typeface="Meiryo UI" panose="020B0604030504040204" pitchFamily="50" charset="-128"/>
                <a:cs typeface="Arial" pitchFamily="34" charset="0"/>
              </a:rPr>
              <a:t>).</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Judgments and Timings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(5/7)</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58046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07223" y="555373"/>
            <a:ext cx="8936778" cy="35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a:latin typeface="Meiryo UI" panose="020B0604030504040204" pitchFamily="50" charset="-128"/>
                <a:ea typeface="Meiryo UI" panose="020B0604030504040204" pitchFamily="50" charset="-128"/>
                <a:cs typeface="Arial" pitchFamily="34" charset="0"/>
              </a:rPr>
              <a:t>Supplementation</a:t>
            </a:r>
            <a:r>
              <a:rPr lang="ja-JP" altLang="en-US" sz="1600" b="1" u="sng">
                <a:latin typeface="Meiryo UI" panose="020B0604030504040204" pitchFamily="50" charset="-128"/>
                <a:ea typeface="Meiryo UI" panose="020B0604030504040204" pitchFamily="50" charset="-128"/>
                <a:cs typeface="Arial" pitchFamily="34" charset="0"/>
              </a:rPr>
              <a:t>：</a:t>
            </a:r>
            <a:r>
              <a:rPr lang="en-US" altLang="ja-JP" sz="1600" b="1" u="sng">
                <a:latin typeface="Meiryo UI" panose="020B0604030504040204" pitchFamily="50" charset="-128"/>
                <a:ea typeface="Meiryo UI" panose="020B0604030504040204" pitchFamily="50" charset="-128"/>
                <a:cs typeface="Arial" pitchFamily="34" charset="0"/>
              </a:rPr>
              <a:t>Definition of </a:t>
            </a:r>
            <a:r>
              <a:rPr lang="en-US" altLang="ja-JP" sz="1600" b="1" u="sng">
                <a:latin typeface="Meiryo UI" panose="020B0604030504040204" pitchFamily="50" charset="-128"/>
                <a:ea typeface="+mn-ea"/>
                <a:cs typeface="Arial" pitchFamily="34" charset="0"/>
              </a:rPr>
              <a:t>Development Fee (Agreement of estimated cost) </a:t>
            </a:r>
            <a:endParaRPr lang="ja-JP" altLang="en-US" sz="1400" b="1">
              <a:latin typeface="Meiryo UI" panose="020B0604030504040204" pitchFamily="50" charset="-128"/>
              <a:ea typeface="+mn-ea"/>
              <a:cs typeface="Arial" pitchFamily="34" charset="0"/>
            </a:endParaRPr>
          </a:p>
        </p:txBody>
      </p:sp>
      <p:sp>
        <p:nvSpPr>
          <p:cNvPr id="7" name="Text Box 2"/>
          <p:cNvSpPr txBox="1">
            <a:spLocks noChangeArrowheads="1"/>
          </p:cNvSpPr>
          <p:nvPr/>
        </p:nvSpPr>
        <p:spPr bwMode="auto">
          <a:xfrm>
            <a:off x="61818" y="890919"/>
            <a:ext cx="9082182"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79388" indent="-1793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Background: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Honda receives inexpensive production part from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what Honda applies it Honda model with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standard specification part ( size, connector specification.)</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guarantees the market quality with STD specification and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develops to satisfy Honda requirement quality target. </a:t>
            </a:r>
          </a:p>
          <a:p>
            <a:pPr marL="179388" indent="-179388" algn="l" eaLnBrk="1" hangingPunct="1">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marL="179388" indent="-1793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Development fee: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Development area is defined as changes or additions to the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standard design or specification. </a:t>
            </a:r>
          </a:p>
          <a:p>
            <a:pPr marL="179388" indent="-1793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These changes or additions will be paid under the Development Work fee by Honda for Honda exclusive modifications.</a:t>
            </a:r>
          </a:p>
          <a:p>
            <a:pPr marL="179388" indent="-179388" algn="l" eaLnBrk="1" hangingPunct="1">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marL="179388" indent="-1793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Piece price (Part cost):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This will be correlated between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and Honda to establish the single part unit cost. </a:t>
            </a:r>
          </a:p>
          <a:p>
            <a:pPr marL="179388" indent="-1793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This cost covers the regulation of the assignment destination and standard features/specifications of</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parts that are applied to other OEMs.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Specifically, standard specification covers and guarantees the regulation of assignment destination, basic features of the hardware structure, fundamental software which is applied to other OEMs, license fees, and patent fees.</a:t>
            </a:r>
          </a:p>
          <a:p>
            <a:pPr marL="179388" indent="-179388" algn="l" eaLnBrk="1" hangingPunct="1">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marL="179388" indent="-1793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Quotation release timing: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Submission of quotation shall be given to Honda within one month from kick-off meeting.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To see the end page that show the quotation boundary condition. (agree both party.)</a:t>
            </a:r>
          </a:p>
        </p:txBody>
      </p:sp>
      <p:sp>
        <p:nvSpPr>
          <p:cNvPr id="6"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Judgments and Timings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(6/7)</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676086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07223" y="555373"/>
            <a:ext cx="8936778" cy="35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ja-JP" altLang="en-US" sz="1600" b="1" u="sng">
                <a:latin typeface="Meiryo UI" panose="020B0604030504040204" pitchFamily="50" charset="-128"/>
                <a:ea typeface="Meiryo UI" panose="020B0604030504040204" pitchFamily="50" charset="-128"/>
                <a:cs typeface="Arial" pitchFamily="34" charset="0"/>
              </a:rPr>
              <a:t>補足：委託開発費定義（見積り額の合意）</a:t>
            </a:r>
            <a:endParaRPr lang="ja-JP" altLang="en-US" sz="1400" b="1">
              <a:latin typeface="Meiryo UI" panose="020B0604030504040204" pitchFamily="50" charset="-128"/>
              <a:ea typeface="Meiryo UI" panose="020B0604030504040204" pitchFamily="50" charset="-128"/>
              <a:cs typeface="Arial" pitchFamily="34" charset="0"/>
            </a:endParaRPr>
          </a:p>
        </p:txBody>
      </p:sp>
      <p:sp>
        <p:nvSpPr>
          <p:cNvPr id="6" name="テキスト ボックス 5"/>
          <p:cNvSpPr txBox="1"/>
          <p:nvPr/>
        </p:nvSpPr>
        <p:spPr>
          <a:xfrm>
            <a:off x="61818" y="890919"/>
            <a:ext cx="8807862" cy="4585871"/>
          </a:xfrm>
          <a:prstGeom prst="rect">
            <a:avLst/>
          </a:prstGeom>
          <a:noFill/>
        </p:spPr>
        <p:txBody>
          <a:bodyPr wrap="square" rtlCol="0">
            <a:spAutoFit/>
          </a:bodyPr>
          <a:lstStyle/>
          <a:p>
            <a:pPr algn="l">
              <a:spcBef>
                <a:spcPts val="300"/>
              </a:spcBef>
            </a:pPr>
            <a:r>
              <a:rPr lang="ja-JP" altLang="en-US" sz="1400">
                <a:latin typeface="Meiryo UI" panose="020B0604030504040204" pitchFamily="50" charset="-128"/>
                <a:ea typeface="Meiryo UI" panose="020B0604030504040204" pitchFamily="50" charset="-128"/>
              </a:rPr>
              <a:t>背景</a:t>
            </a:r>
            <a:r>
              <a:rPr kumimoji="1" lang="ja-JP" altLang="en-US" sz="1400">
                <a:latin typeface="Meiryo UI" panose="020B0604030504040204" pitchFamily="50" charset="-128"/>
                <a:ea typeface="Meiryo UI" panose="020B0604030504040204" pitchFamily="50" charset="-128"/>
              </a:rPr>
              <a:t>：</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a:t>
            </a:r>
            <a:r>
              <a:rPr kumimoji="1" lang="ja-JP" altLang="en-US" sz="1400">
                <a:latin typeface="Meiryo UI" panose="020B0604030504040204" pitchFamily="50" charset="-128"/>
                <a:ea typeface="Meiryo UI" panose="020B0604030504040204" pitchFamily="50" charset="-128"/>
              </a:rPr>
              <a:t>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a:latin typeface="Meiryo UI" panose="020B0604030504040204" pitchFamily="50" charset="-128"/>
                <a:ea typeface="Meiryo UI" panose="020B0604030504040204" pitchFamily="50" charset="-128"/>
              </a:rPr>
              <a:t>標準仕様（</a:t>
            </a:r>
            <a:r>
              <a:rPr lang="ja-JP" altLang="en-US" sz="1400">
                <a:latin typeface="Meiryo UI" panose="020B0604030504040204" pitchFamily="50" charset="-128"/>
                <a:ea typeface="Meiryo UI" panose="020B0604030504040204" pitchFamily="50" charset="-128"/>
              </a:rPr>
              <a:t>サイズ</a:t>
            </a:r>
            <a:r>
              <a:rPr kumimoji="1" lang="ja-JP" altLang="en-US" sz="1400">
                <a:latin typeface="Meiryo UI" panose="020B0604030504040204" pitchFamily="50" charset="-128"/>
                <a:ea typeface="Meiryo UI" panose="020B0604030504040204" pitchFamily="50" charset="-128"/>
              </a:rPr>
              <a:t>、コネクター仕様）を踏襲し、適用する事で安価な製品提供を受ける</a:t>
            </a:r>
            <a:endParaRPr kumimoji="1"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solidFill>
                  <a:srgbClr val="FF0000"/>
                </a:solidFill>
                <a:latin typeface="Meiryo UI" panose="020B0604030504040204" pitchFamily="50" charset="-128"/>
                <a:ea typeface="Meiryo UI" panose="020B0604030504040204" pitchFamily="50" charset="-128"/>
              </a:rPr>
              <a:t>  </a:t>
            </a:r>
            <a:r>
              <a:rPr lang="ja-JP" altLang="en-US" sz="1400">
                <a:solidFill>
                  <a:srgbClr val="FF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は、標準仕様の市場品質を保証し、且つ</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が要求する品質目標を満足する開発を行う</a:t>
            </a:r>
            <a:endParaRPr lang="en-US" altLang="ja-JP" sz="1400">
              <a:latin typeface="Meiryo UI" panose="020B0604030504040204" pitchFamily="50" charset="-128"/>
              <a:ea typeface="Meiryo UI" panose="020B0604030504040204" pitchFamily="50" charset="-128"/>
            </a:endParaRPr>
          </a:p>
          <a:p>
            <a:pPr algn="l">
              <a:spcBef>
                <a:spcPts val="300"/>
              </a:spcBef>
            </a:pPr>
            <a:endParaRPr kumimoji="1"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開発費とは：</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上記を</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標準仕様に対して変更箇所を加えた項目を開発領域とする。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この開発領域は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特有領域であり、変更に伴う費用</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委託開発費で賄う</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部品費とは：</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と</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間で取交された単体部品単価を意味する。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この部品費には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が指定する仕向け地の</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殿が他社</a:t>
            </a:r>
            <a:r>
              <a:rPr lang="en-US" altLang="ja-JP" sz="1400">
                <a:latin typeface="Meiryo UI" panose="020B0604030504040204" pitchFamily="50" charset="-128"/>
                <a:ea typeface="Meiryo UI" panose="020B0604030504040204" pitchFamily="50" charset="-128"/>
              </a:rPr>
              <a:t>OEM</a:t>
            </a:r>
            <a:r>
              <a:rPr lang="ja-JP" altLang="en-US" sz="1400">
                <a:latin typeface="Meiryo UI" panose="020B0604030504040204" pitchFamily="50" charset="-128"/>
                <a:ea typeface="Meiryo UI" panose="020B0604030504040204" pitchFamily="50" charset="-128"/>
              </a:rPr>
              <a:t>へ販売する標準装備仕様を満足する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製品単価を意味する。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また、標準仕様とは、指定地区の法規、基本装備仕様を満足するハード構成と、他社</a:t>
            </a:r>
            <a:r>
              <a:rPr lang="en-US" altLang="ja-JP" sz="1400">
                <a:latin typeface="Meiryo UI" panose="020B0604030504040204" pitchFamily="50" charset="-128"/>
                <a:ea typeface="Meiryo UI" panose="020B0604030504040204" pitchFamily="50" charset="-128"/>
              </a:rPr>
              <a:t>OEM</a:t>
            </a:r>
            <a:r>
              <a:rPr lang="ja-JP" altLang="en-US" sz="1400">
                <a:latin typeface="Meiryo UI" panose="020B0604030504040204" pitchFamily="50" charset="-128"/>
                <a:ea typeface="Meiryo UI" panose="020B0604030504040204" pitchFamily="50" charset="-128"/>
              </a:rPr>
              <a:t>を含めた指定地区に</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対応した基本プログラム（プラットフォーム）を備えた仕様構成を意味する。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依って、指定地域で必要となる特許費・ライセンス費など含む。</a:t>
            </a:r>
            <a:r>
              <a:rPr lang="en-US" altLang="ja-JP" sz="1400">
                <a:latin typeface="Meiryo UI" panose="020B0604030504040204" pitchFamily="50" charset="-128"/>
                <a:ea typeface="Meiryo UI" panose="020B0604030504040204" pitchFamily="50" charset="-128"/>
              </a:rPr>
              <a:t>	</a:t>
            </a:r>
          </a:p>
          <a:p>
            <a:pPr marL="360363" indent="-360363" algn="l">
              <a:spcBef>
                <a:spcPts val="300"/>
              </a:spcBef>
            </a:pP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見積り提出規定：</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見積り額提出は、</a:t>
            </a:r>
            <a:r>
              <a:rPr lang="en-US" altLang="ja-JP" sz="1400">
                <a:latin typeface="Meiryo UI" panose="020B0604030504040204" pitchFamily="50" charset="-128"/>
                <a:ea typeface="Meiryo UI" panose="020B0604030504040204" pitchFamily="50" charset="-128"/>
              </a:rPr>
              <a:t>Kick-off meeting</a:t>
            </a:r>
            <a:r>
              <a:rPr lang="ja-JP" altLang="en-US" sz="1400">
                <a:latin typeface="Meiryo UI" panose="020B0604030504040204" pitchFamily="50" charset="-128"/>
                <a:ea typeface="Meiryo UI" panose="020B0604030504040204" pitchFamily="50" charset="-128"/>
              </a:rPr>
              <a:t>後、</a:t>
            </a:r>
            <a:r>
              <a:rPr lang="en-US" altLang="ja-JP" sz="1400">
                <a:latin typeface="Meiryo UI" panose="020B0604030504040204" pitchFamily="50" charset="-128"/>
                <a:ea typeface="Meiryo UI" panose="020B0604030504040204" pitchFamily="50" charset="-128"/>
              </a:rPr>
              <a:t>1</a:t>
            </a:r>
            <a:r>
              <a:rPr lang="ja-JP" altLang="en-US" sz="1400">
                <a:latin typeface="Meiryo UI" panose="020B0604030504040204" pitchFamily="50" charset="-128"/>
                <a:ea typeface="Meiryo UI" panose="020B0604030504040204" pitchFamily="50" charset="-128"/>
              </a:rPr>
              <a:t>ヵ月以内の事。また、見積り条件は、末尾参照の事</a:t>
            </a:r>
            <a:endParaRPr lang="en-US" altLang="ja-JP" sz="1400">
              <a:latin typeface="Meiryo UI" panose="020B0604030504040204" pitchFamily="50" charset="-128"/>
              <a:ea typeface="Meiryo UI" panose="020B0604030504040204" pitchFamily="50" charset="-128"/>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7.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Judgments and Timings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(7/7)</a:t>
            </a:r>
            <a:endParaRPr lang="en-US" altLang="ja-JP" sz="20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05595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363856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タイトル 1"/>
          <p:cNvSpPr txBox="1">
            <a:spLocks/>
          </p:cNvSpPr>
          <p:nvPr>
            <p:custDataLst>
              <p:tags r:id="rId1"/>
            </p:custDataLst>
          </p:nvPr>
        </p:nvSpPr>
        <p:spPr>
          <a:xfrm>
            <a:off x="133262" y="671732"/>
            <a:ext cx="6655668" cy="219163"/>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sp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a:lstStyle>
          <a:p>
            <a:pPr algn="l">
              <a:lnSpc>
                <a:spcPct val="89000"/>
              </a:lnSpc>
              <a:spcBef>
                <a:spcPts val="0"/>
              </a:spcBef>
              <a:spcAft>
                <a:spcPts val="0"/>
              </a:spcAft>
            </a:pPr>
            <a:r>
              <a:rPr lang="en-US" altLang="ja-JP" sz="1600" b="1" kern="0">
                <a:latin typeface="Meiryo UI" panose="020B0604030504040204" pitchFamily="50" charset="-128"/>
                <a:ea typeface="Meiryo UI" panose="020B0604030504040204" pitchFamily="50" charset="-128"/>
              </a:rPr>
              <a:t>Project Management</a:t>
            </a:r>
            <a:r>
              <a:rPr lang="en-GB" sz="1600" b="1" kern="0">
                <a:latin typeface="Meiryo UI" panose="020B0604030504040204" pitchFamily="50" charset="-128"/>
                <a:ea typeface="Meiryo UI" panose="020B0604030504040204" pitchFamily="50" charset="-128"/>
              </a:rPr>
              <a:t> </a:t>
            </a:r>
            <a:r>
              <a:rPr lang="en-GB" sz="1600" b="1" kern="0">
                <a:solidFill>
                  <a:srgbClr val="A80163"/>
                </a:solidFill>
                <a:latin typeface="Meiryo UI" panose="020B0604030504040204" pitchFamily="50" charset="-128"/>
                <a:ea typeface="Meiryo UI" panose="020B0604030504040204" pitchFamily="50" charset="-128"/>
              </a:rPr>
              <a:t>To Ensure the Schedule, and Deliverable</a:t>
            </a:r>
          </a:p>
        </p:txBody>
      </p:sp>
      <p:sp>
        <p:nvSpPr>
          <p:cNvPr id="7" name="コンテンツ プレースホルダー 2"/>
          <p:cNvSpPr txBox="1">
            <a:spLocks/>
          </p:cNvSpPr>
          <p:nvPr>
            <p:custDataLst>
              <p:tags r:id="rId2"/>
            </p:custDataLst>
          </p:nvPr>
        </p:nvSpPr>
        <p:spPr bwMode="auto">
          <a:xfrm>
            <a:off x="96897" y="1001772"/>
            <a:ext cx="8932804" cy="4902640"/>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300"/>
              </a:spcBef>
              <a:spcAft>
                <a:spcPts val="0"/>
              </a:spcAft>
            </a:pPr>
            <a:r>
              <a:rPr lang="en-US" altLang="ja-JP" sz="1400" b="1">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sz="1400" b="1" kern="0">
                <a:latin typeface="Meiryo UI" panose="020B0604030504040204" pitchFamily="50" charset="-128"/>
              </a:rPr>
              <a:t>will manage the agreed development schedule to deliver the deliverables in time based on the condition described in kick-off material and the contract, with </a:t>
            </a:r>
            <a:r>
              <a:rPr lang="en-GB" sz="1400" b="1" u="sng" kern="0">
                <a:latin typeface="Meiryo UI" panose="020B0604030504040204" pitchFamily="50" charset="-128"/>
              </a:rPr>
              <a:t>following joint cooperation</a:t>
            </a:r>
            <a:r>
              <a:rPr lang="en-GB" sz="1400" b="1" kern="0">
                <a:latin typeface="Meiryo UI" panose="020B0604030504040204" pitchFamily="50" charset="-128"/>
              </a:rPr>
              <a:t>:</a:t>
            </a:r>
          </a:p>
          <a:p>
            <a:pPr marL="266700" indent="-250825">
              <a:lnSpc>
                <a:spcPct val="105000"/>
              </a:lnSpc>
              <a:spcBef>
                <a:spcPts val="300"/>
              </a:spcBef>
              <a:spcAft>
                <a:spcPts val="0"/>
              </a:spcAft>
              <a:buFont typeface="Wingdings 3" panose="05040102010807070707" pitchFamily="18" charset="2"/>
              <a:buChar char=""/>
            </a:pPr>
            <a:r>
              <a:rPr lang="en-GB" sz="1400" kern="0">
                <a:latin typeface="Meiryo UI" panose="020B0604030504040204" pitchFamily="50" charset="-128"/>
              </a:rPr>
              <a:t>Both parties shall promptly inform any condition/schedule/requirement change during the development by using CR (Change Request) format and process. </a:t>
            </a:r>
            <a:br>
              <a:rPr lang="en-GB" sz="1400" kern="0">
                <a:latin typeface="Meiryo UI" panose="020B0604030504040204" pitchFamily="50" charset="-128"/>
              </a:rPr>
            </a:br>
            <a:endParaRPr lang="en-GB" sz="1400" kern="0">
              <a:latin typeface="Meiryo UI" panose="020B0604030504040204" pitchFamily="50" charset="-128"/>
            </a:endParaRPr>
          </a:p>
          <a:p>
            <a:pPr marL="266700" indent="-250825">
              <a:lnSpc>
                <a:spcPct val="105000"/>
              </a:lnSpc>
              <a:spcBef>
                <a:spcPts val="300"/>
              </a:spcBef>
              <a:spcAft>
                <a:spcPts val="0"/>
              </a:spcAft>
              <a:buFont typeface="Wingdings 3" panose="05040102010807070707" pitchFamily="18" charset="2"/>
              <a:buChar char=""/>
            </a:pPr>
            <a:r>
              <a:rPr lang="en-GB" altLang="ja-JP" sz="1400" kern="0">
                <a:latin typeface="Meiryo UI" panose="020B0604030504040204" pitchFamily="50" charset="-128"/>
              </a:rPr>
              <a:t>In case risk of endangering milestones found with above mentioned changes, both parties jointly share and discuss, and decide recovery measures.</a:t>
            </a:r>
            <a:br>
              <a:rPr lang="en-GB" altLang="ja-JP" sz="1400" kern="0">
                <a:latin typeface="Meiryo UI" panose="020B0604030504040204" pitchFamily="50" charset="-128"/>
              </a:rPr>
            </a:br>
            <a:endParaRPr lang="en-GB" sz="1400" kern="0">
              <a:latin typeface="Meiryo UI" panose="020B0604030504040204" pitchFamily="50" charset="-128"/>
            </a:endParaRPr>
          </a:p>
          <a:p>
            <a:pPr marL="266700" indent="-250825">
              <a:lnSpc>
                <a:spcPct val="105000"/>
              </a:lnSpc>
              <a:spcBef>
                <a:spcPts val="300"/>
              </a:spcBef>
              <a:spcAft>
                <a:spcPts val="0"/>
              </a:spcAft>
              <a:buFont typeface="Wingdings 3" panose="05040102010807070707" pitchFamily="18" charset="2"/>
              <a:buChar char=""/>
            </a:pP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sz="1400" kern="0">
                <a:latin typeface="Meiryo UI" panose="020B0604030504040204" pitchFamily="50" charset="-128"/>
              </a:rPr>
              <a:t>is responsible to provide transparent</a:t>
            </a:r>
            <a:r>
              <a:rPr lang="ja-JP" altLang="en-US" sz="1400" kern="0">
                <a:latin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sz="1400" kern="0">
                <a:latin typeface="Meiryo UI" panose="020B0604030504040204" pitchFamily="50" charset="-128"/>
              </a:rPr>
              <a:t>development schedule (Plan and Actual) and share with Honda the up-to-date development status as well as calibration maturity to visualize the schedule is kept.</a:t>
            </a:r>
            <a:br>
              <a:rPr lang="en-GB" sz="1400" kern="0">
                <a:latin typeface="Meiryo UI" panose="020B0604030504040204" pitchFamily="50" charset="-128"/>
              </a:rPr>
            </a:br>
            <a:endParaRPr lang="en-GB" sz="1400" kern="0">
              <a:latin typeface="Meiryo UI" panose="020B0604030504040204" pitchFamily="50" charset="-128"/>
            </a:endParaRPr>
          </a:p>
          <a:p>
            <a:pPr marL="266700" indent="-250825">
              <a:lnSpc>
                <a:spcPct val="105000"/>
              </a:lnSpc>
              <a:spcBef>
                <a:spcPts val="300"/>
              </a:spcBef>
              <a:spcAft>
                <a:spcPts val="0"/>
              </a:spcAft>
              <a:buFont typeface="Wingdings 3" panose="05040102010807070707" pitchFamily="18" charset="2"/>
              <a:buChar char=""/>
            </a:pPr>
            <a:r>
              <a:rPr lang="en-GB" sz="1400" kern="0">
                <a:latin typeface="Meiryo UI" panose="020B0604030504040204" pitchFamily="50" charset="-128"/>
              </a:rPr>
              <a:t>Addition to above measures,</a:t>
            </a:r>
            <a:r>
              <a:rPr lang="ja-JP" altLang="en-US" sz="1400" kern="0">
                <a:latin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sz="1400" kern="0">
                <a:latin typeface="Meiryo UI" panose="020B0604030504040204" pitchFamily="50" charset="-128"/>
              </a:rPr>
              <a:t>management shall confirm the project status at least 1 month prior to each quality gates (deliverable due date), and in case delay found, install task force (upper management) recovery team to recover the project schedule.</a:t>
            </a:r>
            <a:br>
              <a:rPr lang="en-GB" sz="1400" kern="0">
                <a:latin typeface="Meiryo UI" panose="020B0604030504040204" pitchFamily="50" charset="-128"/>
              </a:rPr>
            </a:br>
            <a:endParaRPr lang="en-GB" sz="1400" kern="0">
              <a:latin typeface="Meiryo UI" panose="020B0604030504040204" pitchFamily="50" charset="-128"/>
            </a:endParaRPr>
          </a:p>
          <a:p>
            <a:pPr marL="266700" indent="-250825">
              <a:lnSpc>
                <a:spcPct val="105000"/>
              </a:lnSpc>
              <a:spcBef>
                <a:spcPts val="300"/>
              </a:spcBef>
              <a:spcAft>
                <a:spcPts val="0"/>
              </a:spcAft>
              <a:buFont typeface="Wingdings 3" panose="05040102010807070707" pitchFamily="18" charset="2"/>
              <a:buChar char=""/>
            </a:pPr>
            <a:r>
              <a:rPr lang="en-GB" sz="1400" kern="0">
                <a:latin typeface="Meiryo UI" panose="020B0604030504040204" pitchFamily="50" charset="-128"/>
              </a:rPr>
              <a:t>At the end of the project, Honda and</a:t>
            </a:r>
            <a:r>
              <a:rPr lang="ja-JP" altLang="en-US" sz="1400" kern="0">
                <a:latin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sz="1400" kern="0">
                <a:latin typeface="Meiryo UI" panose="020B0604030504040204" pitchFamily="50" charset="-128"/>
              </a:rPr>
              <a:t>shall hold the joint review of the project achievements and </a:t>
            </a:r>
            <a:r>
              <a:rPr lang="en-GB" altLang="ja-JP" sz="1400" kern="0">
                <a:latin typeface="Meiryo UI" panose="020B0604030504040204" pitchFamily="50" charset="-128"/>
              </a:rPr>
              <a:t>conduct L&amp;L for any delayed incident. In case of needs, cost compensation shall be decided upon the route cause analysis.  </a:t>
            </a:r>
            <a:endParaRPr lang="en-GB" sz="1400" kern="0">
              <a:latin typeface="Meiryo UI" panose="020B0604030504040204" pitchFamily="50" charset="-128"/>
            </a:endParaRPr>
          </a:p>
        </p:txBody>
      </p:sp>
      <p:sp>
        <p:nvSpPr>
          <p:cNvPr id="6"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(1/5) </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724650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タイトル 1"/>
          <p:cNvSpPr txBox="1">
            <a:spLocks/>
          </p:cNvSpPr>
          <p:nvPr>
            <p:custDataLst>
              <p:tags r:id="rId1"/>
            </p:custDataLst>
          </p:nvPr>
        </p:nvSpPr>
        <p:spPr>
          <a:xfrm>
            <a:off x="96896" y="699551"/>
            <a:ext cx="5769208" cy="219163"/>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sp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a:lstStyle>
          <a:p>
            <a:pPr algn="l">
              <a:lnSpc>
                <a:spcPct val="89000"/>
              </a:lnSpc>
              <a:spcBef>
                <a:spcPts val="0"/>
              </a:spcBef>
              <a:spcAft>
                <a:spcPts val="0"/>
              </a:spcAft>
            </a:pPr>
            <a:r>
              <a:rPr lang="ja-JP" altLang="en-US" sz="1600" b="1" kern="0">
                <a:latin typeface="Meiryo UI" panose="020B0604030504040204" pitchFamily="50" charset="-128"/>
                <a:ea typeface="Meiryo UI" panose="020B0604030504040204" pitchFamily="50" charset="-128"/>
              </a:rPr>
              <a:t>プロジェクトマネージメント  </a:t>
            </a:r>
            <a:r>
              <a:rPr lang="ja-JP" altLang="en-US" sz="1600" b="1" kern="0">
                <a:solidFill>
                  <a:srgbClr val="A80163"/>
                </a:solidFill>
                <a:latin typeface="Meiryo UI" panose="020B0604030504040204" pitchFamily="50" charset="-128"/>
                <a:ea typeface="Meiryo UI" panose="020B0604030504040204" pitchFamily="50" charset="-128"/>
              </a:rPr>
              <a:t>開発日程、成果物提出期日遵守について</a:t>
            </a:r>
            <a:endParaRPr lang="en-GB" sz="1600" b="1" kern="0">
              <a:solidFill>
                <a:srgbClr val="A80163"/>
              </a:solidFill>
              <a:latin typeface="Meiryo UI" panose="020B0604030504040204" pitchFamily="50" charset="-128"/>
              <a:ea typeface="Meiryo UI" panose="020B0604030504040204" pitchFamily="50" charset="-128"/>
            </a:endParaRPr>
          </a:p>
        </p:txBody>
      </p:sp>
      <p:sp>
        <p:nvSpPr>
          <p:cNvPr id="9" name="コンテンツ プレースホルダー 2"/>
          <p:cNvSpPr txBox="1">
            <a:spLocks/>
          </p:cNvSpPr>
          <p:nvPr>
            <p:custDataLst>
              <p:tags r:id="rId2"/>
            </p:custDataLst>
          </p:nvPr>
        </p:nvSpPr>
        <p:spPr bwMode="auto">
          <a:xfrm>
            <a:off x="96896" y="1035919"/>
            <a:ext cx="8955664" cy="4777052"/>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ts val="2000"/>
              </a:lnSpc>
              <a:spcBef>
                <a:spcPts val="600"/>
              </a:spcBef>
              <a:spcAft>
                <a:spcPts val="0"/>
              </a:spcAft>
            </a:pP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b="1" kern="0">
                <a:latin typeface="Meiryo UI" panose="020B0604030504040204" pitchFamily="50" charset="-128"/>
                <a:ea typeface="Meiryo UI" panose="020B0604030504040204" pitchFamily="50" charset="-128"/>
              </a:rPr>
              <a:t>は</a:t>
            </a:r>
            <a:r>
              <a:rPr lang="ja-JP" altLang="en-US" sz="1400" b="1" u="sng" kern="0">
                <a:latin typeface="Meiryo UI" panose="020B0604030504040204" pitchFamily="50" charset="-128"/>
                <a:ea typeface="Meiryo UI" panose="020B0604030504040204" pitchFamily="50" charset="-128"/>
              </a:rPr>
              <a:t>下記協力を得て</a:t>
            </a:r>
            <a:r>
              <a:rPr lang="ja-JP" altLang="en-US" sz="1400" b="1" kern="0">
                <a:latin typeface="Meiryo UI" panose="020B0604030504040204" pitchFamily="50" charset="-128"/>
                <a:ea typeface="Meiryo UI" panose="020B0604030504040204" pitchFamily="50" charset="-128"/>
              </a:rPr>
              <a:t>、キックオフ資料・契約内容に基づき開発スケジュールの整合、また期日通りに成果物を提出する。</a:t>
            </a:r>
            <a:endParaRPr lang="en-GB" sz="1400" b="1" kern="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ja-JP" altLang="en-US" sz="1400" kern="0">
                <a:latin typeface="Meiryo UI" panose="020B0604030504040204" pitchFamily="50" charset="-128"/>
                <a:ea typeface="Meiryo UI" panose="020B0604030504040204" pitchFamily="50" charset="-128"/>
              </a:rPr>
              <a:t>両社は開発中に発生した変更（要求仕様、日程、契約条件）は、</a:t>
            </a:r>
            <a:r>
              <a:rPr lang="en-US" altLang="ja-JP" sz="1400" kern="0">
                <a:latin typeface="Meiryo UI" panose="020B0604030504040204" pitchFamily="50" charset="-128"/>
                <a:ea typeface="Meiryo UI" panose="020B0604030504040204" pitchFamily="50" charset="-128"/>
              </a:rPr>
              <a:t>CR(Change request)</a:t>
            </a:r>
            <a:r>
              <a:rPr lang="ja-JP" altLang="en-US" sz="1400" kern="0">
                <a:latin typeface="Meiryo UI" panose="020B0604030504040204" pitchFamily="50" charset="-128"/>
                <a:ea typeface="Meiryo UI" panose="020B0604030504040204" pitchFamily="50" charset="-128"/>
              </a:rPr>
              <a:t>要求書・プロセスに基づき </a:t>
            </a:r>
            <a:br>
              <a:rPr lang="en-US" altLang="ja-JP" sz="1400" kern="0">
                <a:latin typeface="Meiryo UI" panose="020B0604030504040204" pitchFamily="50" charset="-128"/>
                <a:ea typeface="Meiryo UI" panose="020B0604030504040204" pitchFamily="50" charset="-128"/>
              </a:rPr>
            </a:br>
            <a:r>
              <a:rPr lang="ja-JP" altLang="en-US" sz="1400" kern="0">
                <a:latin typeface="Meiryo UI" panose="020B0604030504040204" pitchFamily="50" charset="-128"/>
                <a:ea typeface="Meiryo UI" panose="020B0604030504040204" pitchFamily="50" charset="-128"/>
              </a:rPr>
              <a:t>速やかに連絡を行う。</a:t>
            </a:r>
            <a:br>
              <a:rPr lang="en-US" altLang="ja-JP" sz="1400" kern="0">
                <a:latin typeface="Meiryo UI" panose="020B0604030504040204" pitchFamily="50" charset="-128"/>
                <a:ea typeface="Meiryo UI" panose="020B0604030504040204" pitchFamily="50" charset="-128"/>
              </a:rPr>
            </a:br>
            <a:endParaRPr lang="en-GB" sz="1400" kern="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ja-JP" altLang="en-US" sz="1400" kern="0">
                <a:latin typeface="Meiryo UI" panose="020B0604030504040204" pitchFamily="50" charset="-128"/>
                <a:ea typeface="Meiryo UI" panose="020B0604030504040204" pitchFamily="50" charset="-128"/>
              </a:rPr>
              <a:t>上記変更に伴い日程の遅れが懸念される場合、両社は双方の協力を持ってリカバリー対策を検討、実施する。</a:t>
            </a:r>
            <a:br>
              <a:rPr lang="en-US" altLang="ja-JP" sz="1400" kern="0">
                <a:latin typeface="Meiryo UI" panose="020B0604030504040204" pitchFamily="50" charset="-128"/>
                <a:ea typeface="Meiryo UI" panose="020B0604030504040204" pitchFamily="50" charset="-128"/>
              </a:rPr>
            </a:br>
            <a:endParaRPr lang="en-GB" sz="1400" kern="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kern="0">
                <a:latin typeface="Meiryo UI" panose="020B0604030504040204" pitchFamily="50" charset="-128"/>
                <a:ea typeface="Meiryo UI" panose="020B0604030504040204" pitchFamily="50" charset="-128"/>
              </a:rPr>
              <a:t>は開発中、予実管理を徹底し、</a:t>
            </a:r>
            <a:r>
              <a:rPr lang="en-US" altLang="ja-JP" sz="1400" kern="0">
                <a:latin typeface="Meiryo UI" panose="020B0604030504040204" pitchFamily="50" charset="-128"/>
                <a:ea typeface="Meiryo UI" panose="020B0604030504040204" pitchFamily="50" charset="-128"/>
              </a:rPr>
              <a:t>Honda</a:t>
            </a:r>
            <a:r>
              <a:rPr lang="ja-JP" altLang="en-US" sz="1400" kern="0">
                <a:latin typeface="Meiryo UI" panose="020B0604030504040204" pitchFamily="50" charset="-128"/>
                <a:ea typeface="Meiryo UI" panose="020B0604030504040204" pitchFamily="50" charset="-128"/>
              </a:rPr>
              <a:t>に対し開発・適合品熟度の進捗報告を随時行い、開発進捗の見える化を図る。</a:t>
            </a:r>
            <a:br>
              <a:rPr lang="en-US" altLang="ja-JP" sz="1400" kern="0">
                <a:latin typeface="Meiryo UI" panose="020B0604030504040204" pitchFamily="50" charset="-128"/>
                <a:ea typeface="Meiryo UI" panose="020B0604030504040204" pitchFamily="50" charset="-128"/>
              </a:rPr>
            </a:br>
            <a:endParaRPr lang="en-GB" sz="1400" kern="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ja-JP" altLang="en-US" sz="1400" kern="0">
                <a:latin typeface="Meiryo UI" panose="020B0604030504040204" pitchFamily="50" charset="-128"/>
                <a:ea typeface="Meiryo UI" panose="020B0604030504040204" pitchFamily="50" charset="-128"/>
              </a:rPr>
              <a:t>上記に加え、</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kern="0">
                <a:latin typeface="Meiryo UI" panose="020B0604030504040204" pitchFamily="50" charset="-128"/>
                <a:ea typeface="Meiryo UI" panose="020B0604030504040204" pitchFamily="50" charset="-128"/>
              </a:rPr>
              <a:t>マネージメントは、</a:t>
            </a:r>
            <a:r>
              <a:rPr lang="en-US" altLang="ja-JP" sz="1400" kern="0">
                <a:latin typeface="Meiryo UI" panose="020B0604030504040204" pitchFamily="50" charset="-128"/>
                <a:ea typeface="Meiryo UI" panose="020B0604030504040204" pitchFamily="50" charset="-128"/>
              </a:rPr>
              <a:t>Honda</a:t>
            </a:r>
            <a:r>
              <a:rPr lang="ja-JP" altLang="en-US" sz="1400" kern="0">
                <a:latin typeface="Meiryo UI" panose="020B0604030504040204" pitchFamily="50" charset="-128"/>
                <a:ea typeface="Meiryo UI" panose="020B0604030504040204" pitchFamily="50" charset="-128"/>
              </a:rPr>
              <a:t>技評イベント（成果物提出期日）の最低</a:t>
            </a:r>
            <a:r>
              <a:rPr lang="en-US" altLang="ja-JP" sz="1400" kern="0">
                <a:latin typeface="Meiryo UI" panose="020B0604030504040204" pitchFamily="50" charset="-128"/>
                <a:ea typeface="Meiryo UI" panose="020B0604030504040204" pitchFamily="50" charset="-128"/>
              </a:rPr>
              <a:t>1</a:t>
            </a:r>
            <a:r>
              <a:rPr lang="ja-JP" altLang="en-US" sz="1400" kern="0">
                <a:latin typeface="Meiryo UI" panose="020B0604030504040204" pitchFamily="50" charset="-128"/>
                <a:ea typeface="Meiryo UI" panose="020B0604030504040204" pitchFamily="50" charset="-128"/>
              </a:rPr>
              <a:t>ヶ月前より開発進捗確認を</a:t>
            </a:r>
            <a:br>
              <a:rPr lang="en-US" altLang="ja-JP" sz="1400" kern="0">
                <a:latin typeface="Meiryo UI" panose="020B0604030504040204" pitchFamily="50" charset="-128"/>
                <a:ea typeface="Meiryo UI" panose="020B0604030504040204" pitchFamily="50" charset="-128"/>
              </a:rPr>
            </a:br>
            <a:r>
              <a:rPr lang="ja-JP" altLang="en-US" sz="1400" kern="0">
                <a:latin typeface="Meiryo UI" panose="020B0604030504040204" pitchFamily="50" charset="-128"/>
                <a:ea typeface="Meiryo UI" panose="020B0604030504040204" pitchFamily="50" charset="-128"/>
              </a:rPr>
              <a:t>行い、遅れが発生している場合はタスクフォース</a:t>
            </a:r>
            <a:r>
              <a:rPr lang="en-US" altLang="ja-JP" sz="1400" kern="0">
                <a:latin typeface="Meiryo UI" panose="020B0604030504040204" pitchFamily="50" charset="-128"/>
                <a:ea typeface="Meiryo UI" panose="020B0604030504040204" pitchFamily="50" charset="-128"/>
              </a:rPr>
              <a:t>(</a:t>
            </a:r>
            <a:r>
              <a:rPr lang="ja-JP" altLang="en-US" sz="1400" kern="0">
                <a:latin typeface="Meiryo UI" panose="020B0604030504040204" pitchFamily="50" charset="-128"/>
                <a:ea typeface="Meiryo UI" panose="020B0604030504040204" pitchFamily="50" charset="-128"/>
              </a:rPr>
              <a:t>上位者）による日程リカバリーを行う。</a:t>
            </a:r>
            <a:br>
              <a:rPr lang="en-US" altLang="ja-JP" sz="1400" kern="0">
                <a:latin typeface="Meiryo UI" panose="020B0604030504040204" pitchFamily="50" charset="-128"/>
                <a:ea typeface="Meiryo UI" panose="020B0604030504040204" pitchFamily="50" charset="-128"/>
              </a:rPr>
            </a:br>
            <a:endParaRPr lang="en-GB" sz="1400" kern="0">
              <a:latin typeface="Meiryo UI" panose="020B0604030504040204" pitchFamily="50" charset="-128"/>
              <a:ea typeface="Meiryo UI" panose="020B0604030504040204" pitchFamily="50" charset="-128"/>
            </a:endParaRPr>
          </a:p>
          <a:p>
            <a:pPr marL="266700" indent="-250825">
              <a:lnSpc>
                <a:spcPts val="2000"/>
              </a:lnSpc>
              <a:spcBef>
                <a:spcPts val="600"/>
              </a:spcBef>
              <a:spcAft>
                <a:spcPts val="0"/>
              </a:spcAft>
              <a:buFont typeface="Wingdings 3" panose="05040102010807070707" pitchFamily="18" charset="2"/>
              <a:buChar char=""/>
            </a:pPr>
            <a:r>
              <a:rPr lang="ja-JP" altLang="en-US" sz="1400" kern="0">
                <a:latin typeface="Meiryo UI" panose="020B0604030504040204" pitchFamily="50" charset="-128"/>
                <a:ea typeface="Meiryo UI" panose="020B0604030504040204" pitchFamily="50" charset="-128"/>
              </a:rPr>
              <a:t>開発終了時、両社は合同振り返りを実施し、開発の日程遅れがあった場合は原因解析を行い、必要に応じて費用相殺の</a:t>
            </a:r>
            <a:br>
              <a:rPr lang="en-US" altLang="ja-JP" sz="1400" kern="0">
                <a:latin typeface="Meiryo UI" panose="020B0604030504040204" pitchFamily="50" charset="-128"/>
                <a:ea typeface="Meiryo UI" panose="020B0604030504040204" pitchFamily="50" charset="-128"/>
              </a:rPr>
            </a:br>
            <a:r>
              <a:rPr lang="ja-JP" altLang="en-US" sz="1400" kern="0">
                <a:latin typeface="Meiryo UI" panose="020B0604030504040204" pitchFamily="50" charset="-128"/>
                <a:ea typeface="Meiryo UI" panose="020B0604030504040204" pitchFamily="50" charset="-128"/>
              </a:rPr>
              <a:t>判断を行う。</a:t>
            </a:r>
            <a:endParaRPr lang="en-GB" sz="1400" kern="0">
              <a:latin typeface="Meiryo UI" panose="020B0604030504040204" pitchFamily="50" charset="-128"/>
              <a:ea typeface="Meiryo UI" panose="020B0604030504040204" pitchFamily="50" charset="-128"/>
            </a:endParaRPr>
          </a:p>
        </p:txBody>
      </p:sp>
      <p:sp>
        <p:nvSpPr>
          <p:cNvPr id="6"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(2/5) </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199998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p:cNvSpPr txBox="1">
            <a:spLocks/>
          </p:cNvSpPr>
          <p:nvPr>
            <p:custDataLst>
              <p:tags r:id="rId1"/>
            </p:custDataLst>
          </p:nvPr>
        </p:nvSpPr>
        <p:spPr>
          <a:xfrm>
            <a:off x="250829" y="624927"/>
            <a:ext cx="3625993" cy="246542"/>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sp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a:lstStyle>
          <a:p>
            <a:pPr algn="l">
              <a:lnSpc>
                <a:spcPct val="89000"/>
              </a:lnSpc>
              <a:spcBef>
                <a:spcPts val="0"/>
              </a:spcBef>
              <a:spcAft>
                <a:spcPts val="0"/>
              </a:spcAft>
            </a:pPr>
            <a:r>
              <a:rPr lang="en-GB" altLang="ja-JP" sz="1800" kern="0">
                <a:solidFill>
                  <a:srgbClr val="A80163"/>
                </a:solidFill>
                <a:latin typeface="Meiryo UI" panose="020B0604030504040204" pitchFamily="50" charset="-128"/>
              </a:rPr>
              <a:t>Work Scope of Managerial Effort</a:t>
            </a:r>
            <a:endParaRPr lang="en-GB" sz="1800" kern="0">
              <a:solidFill>
                <a:srgbClr val="A80163"/>
              </a:solidFill>
              <a:latin typeface="Meiryo UI" panose="020B0604030504040204" pitchFamily="50" charset="-128"/>
            </a:endParaRPr>
          </a:p>
        </p:txBody>
      </p:sp>
      <p:sp>
        <p:nvSpPr>
          <p:cNvPr id="5" name="テキスト プレースホルダー 2_"/>
          <p:cNvSpPr txBox="1">
            <a:spLocks/>
          </p:cNvSpPr>
          <p:nvPr>
            <p:custDataLst>
              <p:tags r:id="rId2"/>
            </p:custDataLst>
          </p:nvPr>
        </p:nvSpPr>
        <p:spPr bwMode="auto">
          <a:xfrm>
            <a:off x="0" y="948233"/>
            <a:ext cx="9144000" cy="5870580"/>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a:lnSpc>
                <a:spcPct val="90000"/>
              </a:lnSpc>
              <a:spcAft>
                <a:spcPts val="0"/>
              </a:spcAft>
              <a:buFont typeface="Wingdings 3" panose="05040102010807070707" pitchFamily="18" charset="2"/>
              <a:buChar char=""/>
            </a:pPr>
            <a:r>
              <a:rPr lang="en-GB" sz="1400" b="1" u="sng" kern="0">
                <a:latin typeface="Meiryo UI" panose="020B0604030504040204" pitchFamily="50" charset="-128"/>
              </a:rPr>
              <a:t>Task and Responsibilities of Project Manager (</a:t>
            </a:r>
            <a:r>
              <a:rPr lang="en-GB" sz="1400" b="1" u="sng" kern="0" err="1">
                <a:latin typeface="Meiryo UI" panose="020B0604030504040204" pitchFamily="50" charset="-128"/>
              </a:rPr>
              <a:t>PjM</a:t>
            </a:r>
            <a:r>
              <a:rPr lang="en-GB" sz="1400" b="1" u="sng" kern="0">
                <a:latin typeface="Meiryo UI" panose="020B0604030504040204" pitchFamily="50" charset="-128"/>
              </a:rPr>
              <a:t>)</a:t>
            </a:r>
          </a:p>
          <a:p>
            <a:pPr marL="284163" indent="0">
              <a:lnSpc>
                <a:spcPct val="90000"/>
              </a:lnSpc>
              <a:spcAft>
                <a:spcPts val="0"/>
              </a:spcAft>
            </a:pPr>
            <a:r>
              <a:rPr lang="en-GB" altLang="ja-JP" sz="1400" kern="0">
                <a:latin typeface="Meiryo UI" panose="020B0604030504040204" pitchFamily="50" charset="-128"/>
              </a:rPr>
              <a:t> </a:t>
            </a:r>
            <a:r>
              <a:rPr lang="ja-JP" altLang="en-US" sz="1400" kern="0">
                <a:latin typeface="Meiryo UI" panose="020B0604030504040204" pitchFamily="50" charset="-128"/>
              </a:rPr>
              <a:t>    </a:t>
            </a:r>
            <a:r>
              <a:rPr lang="en-GB" altLang="ja-JP" sz="1400" kern="0">
                <a:latin typeface="Meiryo UI" panose="020B0604030504040204" pitchFamily="50" charset="-128"/>
              </a:rPr>
              <a:t> (1) Schedule management (to keep customer milestone)</a:t>
            </a:r>
          </a:p>
          <a:p>
            <a:pPr marL="284163" indent="0">
              <a:lnSpc>
                <a:spcPct val="90000"/>
              </a:lnSpc>
              <a:spcAft>
                <a:spcPts val="0"/>
              </a:spcAft>
            </a:pPr>
            <a:r>
              <a:rPr lang="en-GB" altLang="ja-JP" sz="1400" kern="0">
                <a:latin typeface="Meiryo UI" panose="020B0604030504040204" pitchFamily="50" charset="-128"/>
              </a:rPr>
              <a:t> </a:t>
            </a:r>
            <a:r>
              <a:rPr lang="ja-JP" altLang="en-US" sz="1400" kern="0">
                <a:latin typeface="Meiryo UI" panose="020B0604030504040204" pitchFamily="50" charset="-128"/>
              </a:rPr>
              <a:t>    </a:t>
            </a:r>
            <a:r>
              <a:rPr lang="en-GB" altLang="ja-JP" sz="1400" kern="0">
                <a:latin typeface="Meiryo UI" panose="020B0604030504040204" pitchFamily="50" charset="-128"/>
              </a:rPr>
              <a:t>     -  Schedule management and tracking</a:t>
            </a:r>
          </a:p>
          <a:p>
            <a:pPr marL="284163" indent="0">
              <a:lnSpc>
                <a:spcPct val="90000"/>
              </a:lnSpc>
              <a:spcAft>
                <a:spcPts val="0"/>
              </a:spcAft>
            </a:pPr>
            <a:r>
              <a:rPr lang="en-GB" altLang="ja-JP" sz="1400" kern="0">
                <a:latin typeface="Meiryo UI" panose="020B0604030504040204" pitchFamily="50" charset="-128"/>
              </a:rPr>
              <a:t>          -  Schedule update (in case of schedule changed)  </a:t>
            </a:r>
          </a:p>
          <a:p>
            <a:pPr marL="284163" indent="0">
              <a:lnSpc>
                <a:spcPct val="90000"/>
              </a:lnSpc>
              <a:spcBef>
                <a:spcPts val="600"/>
              </a:spcBef>
              <a:spcAft>
                <a:spcPts val="0"/>
              </a:spcAft>
            </a:pPr>
            <a:r>
              <a:rPr lang="en-GB" altLang="ja-JP" sz="1400" kern="0">
                <a:latin typeface="Meiryo UI" panose="020B0604030504040204" pitchFamily="50" charset="-128"/>
              </a:rPr>
              <a:t>          -  Coordination of development team with</a:t>
            </a:r>
            <a:r>
              <a:rPr lang="ja-JP" altLang="en-US" sz="1400" kern="0">
                <a:latin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altLang="ja-JP" sz="1400" kern="0">
                <a:latin typeface="Meiryo UI" panose="020B0604030504040204" pitchFamily="50" charset="-128"/>
              </a:rPr>
              <a:t>-Calibration, SW, HW, Comp. </a:t>
            </a:r>
            <a:br>
              <a:rPr lang="en-GB" altLang="ja-JP" sz="1400" kern="0">
                <a:latin typeface="Meiryo UI" panose="020B0604030504040204" pitchFamily="50" charset="-128"/>
              </a:rPr>
            </a:br>
            <a:r>
              <a:rPr lang="en-GB" altLang="ja-JP" sz="1400" kern="0">
                <a:latin typeface="Meiryo UI" panose="020B0604030504040204" pitchFamily="50" charset="-128"/>
              </a:rPr>
              <a:t>             &amp; plant team and customer .(by daily communication, team meeting, regular meeting.)</a:t>
            </a:r>
          </a:p>
          <a:p>
            <a:pPr marL="284163" indent="0">
              <a:lnSpc>
                <a:spcPct val="90000"/>
              </a:lnSpc>
              <a:spcAft>
                <a:spcPts val="0"/>
              </a:spcAft>
            </a:pPr>
            <a:endParaRPr lang="en-GB" altLang="ja-JP" sz="1400" kern="0">
              <a:latin typeface="Meiryo UI" panose="020B0604030504040204" pitchFamily="50" charset="-128"/>
            </a:endParaRPr>
          </a:p>
          <a:p>
            <a:pPr marL="284163" indent="0">
              <a:lnSpc>
                <a:spcPct val="90000"/>
              </a:lnSpc>
              <a:spcAft>
                <a:spcPts val="0"/>
              </a:spcAft>
            </a:pPr>
            <a:r>
              <a:rPr lang="en-GB" altLang="ja-JP" sz="1400" kern="0">
                <a:latin typeface="Meiryo UI" panose="020B0604030504040204" pitchFamily="50" charset="-128"/>
              </a:rPr>
              <a:t>      (2) Quality &amp; specification management (to avoid quality problem) </a:t>
            </a:r>
          </a:p>
          <a:p>
            <a:pPr marL="284163" indent="0">
              <a:lnSpc>
                <a:spcPct val="90000"/>
              </a:lnSpc>
              <a:spcAft>
                <a:spcPts val="0"/>
              </a:spcAft>
            </a:pPr>
            <a:r>
              <a:rPr lang="en-GB" altLang="ja-JP" sz="1400" kern="0">
                <a:latin typeface="Meiryo UI" panose="020B0604030504040204" pitchFamily="50" charset="-128"/>
              </a:rPr>
              <a:t>          -  Coordination of technical topic (Customer &amp;</a:t>
            </a:r>
            <a:r>
              <a:rPr lang="ja-JP" altLang="en-US" sz="1400" kern="0">
                <a:latin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altLang="ja-JP" sz="1400" kern="0">
                <a:latin typeface="Meiryo UI" panose="020B0604030504040204" pitchFamily="50" charset="-128"/>
              </a:rPr>
              <a:t>internal)</a:t>
            </a:r>
          </a:p>
          <a:p>
            <a:pPr marL="284163" indent="0">
              <a:lnSpc>
                <a:spcPct val="90000"/>
              </a:lnSpc>
              <a:spcAft>
                <a:spcPts val="0"/>
              </a:spcAft>
            </a:pPr>
            <a:r>
              <a:rPr lang="en-GB" altLang="ja-JP" sz="1400" kern="0">
                <a:latin typeface="Meiryo UI" panose="020B0604030504040204" pitchFamily="50" charset="-128"/>
              </a:rPr>
              <a:t>          -  List up of open items and follow up / review (with customer and</a:t>
            </a:r>
            <a:r>
              <a:rPr lang="ja-JP" altLang="en-US" sz="1400" kern="0">
                <a:latin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altLang="ja-JP" sz="1400" kern="0">
                <a:latin typeface="Meiryo UI" panose="020B0604030504040204" pitchFamily="50" charset="-128"/>
              </a:rPr>
              <a:t>internal)</a:t>
            </a:r>
          </a:p>
          <a:p>
            <a:pPr marL="284163" indent="0">
              <a:lnSpc>
                <a:spcPct val="90000"/>
              </a:lnSpc>
              <a:spcAft>
                <a:spcPts val="0"/>
              </a:spcAft>
            </a:pPr>
            <a:r>
              <a:rPr lang="en-GB" altLang="ja-JP" sz="1400" kern="0">
                <a:latin typeface="Meiryo UI" panose="020B0604030504040204" pitchFamily="50" charset="-128"/>
              </a:rPr>
              <a:t>          -  Risk management (in case of critical, escalation to higher management)</a:t>
            </a:r>
          </a:p>
          <a:p>
            <a:pPr marL="284163" indent="0">
              <a:lnSpc>
                <a:spcPct val="90000"/>
              </a:lnSpc>
              <a:spcAft>
                <a:spcPts val="0"/>
              </a:spcAft>
            </a:pPr>
            <a:r>
              <a:rPr lang="en-GB" altLang="ja-JP" sz="1400" kern="0">
                <a:latin typeface="Meiryo UI" panose="020B0604030504040204" pitchFamily="50" charset="-128"/>
              </a:rPr>
              <a:t>          -  Follow</a:t>
            </a:r>
            <a:r>
              <a:rPr lang="ja-JP" altLang="en-US" sz="1400" kern="0">
                <a:latin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altLang="ja-JP" sz="1400" kern="0">
                <a:latin typeface="Meiryo UI" panose="020B0604030504040204" pitchFamily="50" charset="-128"/>
              </a:rPr>
              <a:t>internal quality process</a:t>
            </a:r>
          </a:p>
          <a:p>
            <a:pPr marL="284163" indent="0">
              <a:lnSpc>
                <a:spcPct val="90000"/>
              </a:lnSpc>
              <a:spcAft>
                <a:spcPts val="0"/>
              </a:spcAft>
            </a:pPr>
            <a:r>
              <a:rPr lang="en-GB" altLang="ja-JP" sz="1400" kern="0">
                <a:latin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GB" altLang="ja-JP" sz="1400" kern="0">
                <a:latin typeface="Meiryo UI" panose="020B0604030504040204" pitchFamily="50" charset="-128"/>
              </a:rPr>
              <a:t>Quality gate, management process, document management,..) </a:t>
            </a:r>
          </a:p>
          <a:p>
            <a:pPr marL="284163" indent="0">
              <a:lnSpc>
                <a:spcPct val="90000"/>
              </a:lnSpc>
              <a:spcAft>
                <a:spcPts val="0"/>
              </a:spcAft>
            </a:pPr>
            <a:endParaRPr lang="en-GB" altLang="ja-JP" sz="1400" kern="0">
              <a:latin typeface="Meiryo UI" panose="020B0604030504040204" pitchFamily="50" charset="-128"/>
            </a:endParaRPr>
          </a:p>
          <a:p>
            <a:pPr marL="284163" indent="0">
              <a:lnSpc>
                <a:spcPct val="90000"/>
              </a:lnSpc>
              <a:spcAft>
                <a:spcPts val="0"/>
              </a:spcAft>
            </a:pPr>
            <a:r>
              <a:rPr lang="en-GB" altLang="ja-JP" sz="1400" kern="0">
                <a:latin typeface="Meiryo UI" panose="020B0604030504040204" pitchFamily="50" charset="-128"/>
              </a:rPr>
              <a:t>     (3) Cost management (to keep project budget)</a:t>
            </a:r>
          </a:p>
          <a:p>
            <a:pPr marL="284163" indent="0">
              <a:lnSpc>
                <a:spcPct val="90000"/>
              </a:lnSpc>
              <a:spcAft>
                <a:spcPts val="0"/>
              </a:spcAft>
            </a:pPr>
            <a:r>
              <a:rPr lang="en-GB" altLang="ja-JP" sz="1400" kern="0">
                <a:latin typeface="Meiryo UI" panose="020B0604030504040204" pitchFamily="50" charset="-128"/>
              </a:rPr>
              <a:t>          -  Management of project cost </a:t>
            </a:r>
          </a:p>
          <a:p>
            <a:pPr marL="284163" indent="0">
              <a:lnSpc>
                <a:spcPct val="90000"/>
              </a:lnSpc>
              <a:spcAft>
                <a:spcPts val="0"/>
              </a:spcAft>
            </a:pPr>
            <a:r>
              <a:rPr lang="en-GB" altLang="ja-JP" sz="1400" kern="0">
                <a:latin typeface="Meiryo UI" panose="020B0604030504040204" pitchFamily="50" charset="-128"/>
              </a:rPr>
              <a:t>          -  Management of Deliverable </a:t>
            </a:r>
          </a:p>
          <a:p>
            <a:pPr marL="284163" indent="0">
              <a:lnSpc>
                <a:spcPct val="90000"/>
              </a:lnSpc>
              <a:spcAft>
                <a:spcPts val="0"/>
              </a:spcAft>
            </a:pPr>
            <a:r>
              <a:rPr lang="en-GB" altLang="ja-JP" sz="1400" kern="0">
                <a:latin typeface="Meiryo UI" panose="020B0604030504040204" pitchFamily="50" charset="-128"/>
              </a:rPr>
              <a:t>          -  Coordination of CR topic</a:t>
            </a:r>
            <a:endParaRPr lang="en-GB" altLang="ja-JP" sz="1200" kern="0">
              <a:latin typeface="Meiryo UI" panose="020B0604030504040204" pitchFamily="50" charset="-128"/>
            </a:endParaRPr>
          </a:p>
          <a:p>
            <a:pPr marL="284163" indent="0">
              <a:lnSpc>
                <a:spcPct val="90000"/>
              </a:lnSpc>
              <a:spcAft>
                <a:spcPts val="0"/>
              </a:spcAft>
            </a:pPr>
            <a:endParaRPr lang="en-GB" altLang="ja-JP" sz="1400" kern="0">
              <a:latin typeface="Meiryo UI" panose="020B0604030504040204" pitchFamily="50" charset="-128"/>
            </a:endParaRPr>
          </a:p>
          <a:p>
            <a:pPr marL="284163" indent="0">
              <a:lnSpc>
                <a:spcPct val="90000"/>
              </a:lnSpc>
              <a:spcAft>
                <a:spcPts val="0"/>
              </a:spcAft>
            </a:pPr>
            <a:r>
              <a:rPr lang="en-GB" altLang="ja-JP" sz="1400" kern="0">
                <a:latin typeface="Meiryo UI" panose="020B0604030504040204" pitchFamily="50" charset="-128"/>
              </a:rPr>
              <a:t> </a:t>
            </a:r>
            <a:r>
              <a:rPr lang="en-GB" sz="1400" b="1" u="sng" kern="0">
                <a:latin typeface="Meiryo UI" panose="020B0604030504040204" pitchFamily="50" charset="-128"/>
              </a:rPr>
              <a:t>Main deliverable of </a:t>
            </a:r>
            <a:r>
              <a:rPr lang="en-GB" sz="1400" b="1" u="sng" kern="0" err="1">
                <a:latin typeface="Meiryo UI" panose="020B0604030504040204" pitchFamily="50" charset="-128"/>
              </a:rPr>
              <a:t>PjM</a:t>
            </a:r>
            <a:r>
              <a:rPr lang="en-GB" sz="1400" kern="0">
                <a:latin typeface="Meiryo UI" panose="020B0604030504040204" pitchFamily="50" charset="-128"/>
              </a:rPr>
              <a:t>		</a:t>
            </a:r>
          </a:p>
          <a:p>
            <a:pPr marL="284163" indent="0">
              <a:lnSpc>
                <a:spcPct val="90000"/>
              </a:lnSpc>
              <a:spcAft>
                <a:spcPts val="0"/>
              </a:spcAft>
            </a:pPr>
            <a:r>
              <a:rPr lang="en-GB" sz="1400" kern="0">
                <a:latin typeface="Meiryo UI" panose="020B0604030504040204" pitchFamily="50" charset="-128"/>
              </a:rPr>
              <a:t>   -  </a:t>
            </a:r>
            <a:r>
              <a:rPr lang="en-GB" sz="1400" b="1" kern="0">
                <a:latin typeface="Meiryo UI" panose="020B0604030504040204" pitchFamily="50" charset="-128"/>
              </a:rPr>
              <a:t>Overall project schedule </a:t>
            </a:r>
            <a:r>
              <a:rPr lang="ja-JP" altLang="en-US" sz="1400" b="1" kern="0">
                <a:latin typeface="Meiryo UI" panose="020B0604030504040204" pitchFamily="50" charset="-128"/>
              </a:rPr>
              <a:t>   </a:t>
            </a:r>
            <a:r>
              <a:rPr lang="en-GB" sz="1400" kern="0">
                <a:latin typeface="Meiryo UI" panose="020B0604030504040204" pitchFamily="50" charset="-128"/>
              </a:rPr>
              <a:t>commonly aligned with Honda (Schedule tracking &amp; updating)	</a:t>
            </a:r>
          </a:p>
          <a:p>
            <a:pPr marL="284163" indent="0">
              <a:lnSpc>
                <a:spcPct val="90000"/>
              </a:lnSpc>
              <a:spcAft>
                <a:spcPts val="0"/>
              </a:spcAft>
            </a:pPr>
            <a:r>
              <a:rPr lang="en-GB" sz="1400" kern="0">
                <a:latin typeface="Meiryo UI" panose="020B0604030504040204" pitchFamily="50" charset="-128"/>
              </a:rPr>
              <a:t>   -  </a:t>
            </a:r>
            <a:r>
              <a:rPr lang="en-GB" sz="1400" b="1" kern="0">
                <a:latin typeface="Meiryo UI" panose="020B0604030504040204" pitchFamily="50" charset="-128"/>
              </a:rPr>
              <a:t>OPL</a:t>
            </a:r>
            <a:r>
              <a:rPr lang="en-GB" sz="1400" kern="0">
                <a:latin typeface="Meiryo UI" panose="020B0604030504040204" pitchFamily="50" charset="-128"/>
              </a:rPr>
              <a:t> 		</a:t>
            </a:r>
            <a:r>
              <a:rPr lang="ja-JP" altLang="en-US" sz="1400" kern="0">
                <a:latin typeface="Meiryo UI" panose="020B0604030504040204" pitchFamily="50" charset="-128"/>
              </a:rPr>
              <a:t>       </a:t>
            </a:r>
            <a:r>
              <a:rPr lang="en-GB" sz="1400" kern="0">
                <a:latin typeface="Meiryo UI" panose="020B0604030504040204" pitchFamily="50" charset="-128"/>
              </a:rPr>
              <a:t>management file for schedule, quality, spec related items		</a:t>
            </a:r>
          </a:p>
          <a:p>
            <a:pPr marL="284163" indent="0">
              <a:lnSpc>
                <a:spcPct val="90000"/>
              </a:lnSpc>
              <a:spcAft>
                <a:spcPts val="0"/>
              </a:spcAft>
            </a:pPr>
            <a:r>
              <a:rPr lang="en-GB" sz="1400" kern="0">
                <a:latin typeface="Meiryo UI" panose="020B0604030504040204" pitchFamily="50" charset="-128"/>
              </a:rPr>
              <a:t>   -  </a:t>
            </a:r>
            <a:r>
              <a:rPr lang="en-GB" sz="1400" b="1" kern="0">
                <a:latin typeface="Meiryo UI" panose="020B0604030504040204" pitchFamily="50" charset="-128"/>
              </a:rPr>
              <a:t>Meeting minutes </a:t>
            </a:r>
            <a:r>
              <a:rPr lang="ja-JP" altLang="en-US" sz="1400" b="1" kern="0">
                <a:latin typeface="Meiryo UI" panose="020B0604030504040204" pitchFamily="50" charset="-128"/>
              </a:rPr>
              <a:t>    </a:t>
            </a:r>
            <a:r>
              <a:rPr lang="en-GB" sz="1400" kern="0">
                <a:latin typeface="Meiryo UI" panose="020B0604030504040204" pitchFamily="50" charset="-128"/>
              </a:rPr>
              <a:t>incl. schedule and quality management and also incl. common cost topics</a:t>
            </a: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(3/5) </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656472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p:cNvSpPr txBox="1">
            <a:spLocks/>
          </p:cNvSpPr>
          <p:nvPr>
            <p:custDataLst>
              <p:tags r:id="rId1"/>
            </p:custDataLst>
          </p:nvPr>
        </p:nvSpPr>
        <p:spPr>
          <a:xfrm>
            <a:off x="250829" y="664116"/>
            <a:ext cx="2156039" cy="246542"/>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t">
            <a:sp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pitchFamily="18" charset="0"/>
                <a:ea typeface="ＭＳ Ｐゴシック" pitchFamily="50" charset="-128"/>
              </a:defRPr>
            </a:lvl5pPr>
            <a:lvl6pPr marL="457200" algn="ctr" rtl="0" fontAlgn="base">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fontAlgn="base">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fontAlgn="base">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fontAlgn="base">
              <a:spcBef>
                <a:spcPct val="0"/>
              </a:spcBef>
              <a:spcAft>
                <a:spcPct val="0"/>
              </a:spcAft>
              <a:defRPr kumimoji="1" sz="4400">
                <a:solidFill>
                  <a:schemeClr val="tx2"/>
                </a:solidFill>
                <a:latin typeface="Times New Roman" pitchFamily="18" charset="0"/>
                <a:ea typeface="ＭＳ Ｐゴシック" pitchFamily="50" charset="-128"/>
              </a:defRPr>
            </a:lvl9pPr>
          </a:lstStyle>
          <a:p>
            <a:pPr algn="l">
              <a:lnSpc>
                <a:spcPct val="89000"/>
              </a:lnSpc>
              <a:spcBef>
                <a:spcPts val="0"/>
              </a:spcBef>
              <a:spcAft>
                <a:spcPts val="0"/>
              </a:spcAft>
            </a:pPr>
            <a:r>
              <a:rPr lang="ja-JP" altLang="en-US" sz="1800" kern="0">
                <a:solidFill>
                  <a:srgbClr val="A80163"/>
                </a:solidFill>
                <a:latin typeface="Meiryo UI" panose="020B0604030504040204" pitchFamily="50" charset="-128"/>
              </a:rPr>
              <a:t>管理業務の適用範囲 </a:t>
            </a:r>
            <a:endParaRPr lang="en-GB" sz="1800" kern="0">
              <a:solidFill>
                <a:srgbClr val="A80163"/>
              </a:solidFill>
              <a:latin typeface="Meiryo UI" panose="020B0604030504040204" pitchFamily="50" charset="-128"/>
            </a:endParaRPr>
          </a:p>
        </p:txBody>
      </p:sp>
      <p:sp>
        <p:nvSpPr>
          <p:cNvPr id="5" name="コンテンツ プレースホルダー 2"/>
          <p:cNvSpPr txBox="1">
            <a:spLocks/>
          </p:cNvSpPr>
          <p:nvPr>
            <p:custDataLst>
              <p:tags r:id="rId2"/>
            </p:custDataLst>
          </p:nvPr>
        </p:nvSpPr>
        <p:spPr bwMode="auto">
          <a:xfrm>
            <a:off x="73162" y="1039673"/>
            <a:ext cx="9018586" cy="56615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ts val="2000"/>
              </a:lnSpc>
              <a:spcBef>
                <a:spcPts val="600"/>
              </a:spcBef>
              <a:spcAft>
                <a:spcPts val="0"/>
              </a:spcAft>
            </a:pPr>
            <a:r>
              <a:rPr lang="en-US" altLang="ja-JP" sz="1400" b="1" kern="0" err="1">
                <a:solidFill>
                  <a:srgbClr val="000000"/>
                </a:solidFill>
                <a:latin typeface="Meiryo UI" panose="020B0604030504040204" pitchFamily="50" charset="-128"/>
                <a:ea typeface="Meiryo UI" panose="020B0604030504040204" pitchFamily="50" charset="-128"/>
              </a:rPr>
              <a:t>PjM</a:t>
            </a:r>
            <a:r>
              <a:rPr lang="en-US" altLang="ja-JP" sz="1400" b="1" kern="0">
                <a:solidFill>
                  <a:srgbClr val="000000"/>
                </a:solidFill>
                <a:latin typeface="Meiryo UI" panose="020B0604030504040204" pitchFamily="50" charset="-128"/>
                <a:ea typeface="Meiryo UI" panose="020B0604030504040204" pitchFamily="50" charset="-128"/>
              </a:rPr>
              <a:t>(</a:t>
            </a:r>
            <a:r>
              <a:rPr lang="ja-JP" altLang="en-US" sz="1400" b="1" kern="0">
                <a:solidFill>
                  <a:srgbClr val="000000"/>
                </a:solidFill>
                <a:latin typeface="Meiryo UI" panose="020B0604030504040204" pitchFamily="50" charset="-128"/>
                <a:ea typeface="Meiryo UI" panose="020B0604030504040204" pitchFamily="50" charset="-128"/>
              </a:rPr>
              <a:t>プロジェクト マネージャー</a:t>
            </a:r>
            <a:r>
              <a:rPr lang="en-US" altLang="ja-JP" sz="1400" b="1" kern="0">
                <a:solidFill>
                  <a:srgbClr val="000000"/>
                </a:solidFill>
                <a:latin typeface="Meiryo UI" panose="020B0604030504040204" pitchFamily="50" charset="-128"/>
                <a:ea typeface="Meiryo UI" panose="020B0604030504040204" pitchFamily="50" charset="-128"/>
              </a:rPr>
              <a:t>)</a:t>
            </a:r>
            <a:r>
              <a:rPr lang="ja-JP" altLang="en-US" sz="1400" b="1" kern="0">
                <a:solidFill>
                  <a:srgbClr val="000000"/>
                </a:solidFill>
                <a:latin typeface="Meiryo UI" panose="020B0604030504040204" pitchFamily="50" charset="-128"/>
                <a:ea typeface="Meiryo UI" panose="020B0604030504040204" pitchFamily="50" charset="-128"/>
              </a:rPr>
              <a:t>の業務内容と責任</a:t>
            </a:r>
            <a:endParaRPr lang="en-US" altLang="ja-JP" sz="1400" b="1" kern="0">
              <a:solidFill>
                <a:srgbClr val="000000"/>
              </a:solidFill>
              <a:latin typeface="Meiryo UI" panose="020B0604030504040204" pitchFamily="50" charset="-128"/>
              <a:ea typeface="Meiryo UI" panose="020B0604030504040204" pitchFamily="50" charset="-128"/>
            </a:endParaRPr>
          </a:p>
          <a:p>
            <a:pPr marL="512763" indent="-228600">
              <a:lnSpc>
                <a:spcPct val="90000"/>
              </a:lnSpc>
              <a:spcAft>
                <a:spcPts val="0"/>
              </a:spcAft>
              <a:buAutoNum type="arabicParenBoth"/>
            </a:pPr>
            <a:r>
              <a:rPr lang="ja-JP" altLang="en-US" sz="1400" kern="0">
                <a:solidFill>
                  <a:srgbClr val="000000"/>
                </a:solidFill>
                <a:latin typeface="Meiryo UI" panose="020B0604030504040204" pitchFamily="50" charset="-128"/>
                <a:ea typeface="Meiryo UI" panose="020B0604030504040204" pitchFamily="50" charset="-128"/>
              </a:rPr>
              <a:t>日程管理 </a:t>
            </a:r>
            <a:r>
              <a:rPr lang="en-US" altLang="ja-JP" sz="1400" kern="0">
                <a:solidFill>
                  <a:srgbClr val="000000"/>
                </a:solidFill>
                <a:latin typeface="Meiryo UI" panose="020B0604030504040204" pitchFamily="50" charset="-128"/>
                <a:ea typeface="Meiryo UI" panose="020B0604030504040204" pitchFamily="50" charset="-128"/>
              </a:rPr>
              <a:t>(Honda</a:t>
            </a:r>
            <a:r>
              <a:rPr lang="ja-JP" altLang="en-US" sz="1400" kern="0">
                <a:solidFill>
                  <a:srgbClr val="000000"/>
                </a:solidFill>
                <a:latin typeface="Meiryo UI" panose="020B0604030504040204" pitchFamily="50" charset="-128"/>
                <a:ea typeface="Meiryo UI" panose="020B0604030504040204" pitchFamily="50" charset="-128"/>
              </a:rPr>
              <a:t>のマイルストーンを守るため</a:t>
            </a:r>
            <a:r>
              <a:rPr lang="en-US" altLang="ja-JP" sz="1400" kern="0">
                <a:solidFill>
                  <a:srgbClr val="000000"/>
                </a:solidFill>
                <a:latin typeface="Meiryo UI" panose="020B0604030504040204" pitchFamily="50" charset="-128"/>
                <a:ea typeface="Meiryo UI" panose="020B0604030504040204" pitchFamily="50" charset="-128"/>
              </a:rPr>
              <a:t>)</a:t>
            </a: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  </a:t>
            </a:r>
            <a:r>
              <a:rPr lang="ja-JP" altLang="en-US" sz="1400" kern="0">
                <a:solidFill>
                  <a:srgbClr val="000000"/>
                </a:solidFill>
                <a:latin typeface="Meiryo UI" panose="020B0604030504040204" pitchFamily="50" charset="-128"/>
                <a:ea typeface="Meiryo UI" panose="020B0604030504040204" pitchFamily="50" charset="-128"/>
              </a:rPr>
              <a:t>日程の管理と推進</a:t>
            </a:r>
            <a:endParaRPr lang="en-US"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  </a:t>
            </a:r>
            <a:r>
              <a:rPr lang="ja-JP" altLang="en-US" sz="1400" kern="0">
                <a:solidFill>
                  <a:srgbClr val="000000"/>
                </a:solidFill>
                <a:latin typeface="Meiryo UI" panose="020B0604030504040204" pitchFamily="50" charset="-128"/>
                <a:ea typeface="Meiryo UI" panose="020B0604030504040204" pitchFamily="50" charset="-128"/>
              </a:rPr>
              <a:t>日程の更新（日程が変わった場合）</a:t>
            </a:r>
            <a:endParaRPr lang="en-GB"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  </a:t>
            </a:r>
            <a:r>
              <a:rPr lang="ja-JP" altLang="en-US" sz="1400" kern="0">
                <a:solidFill>
                  <a:srgbClr val="000000"/>
                </a:solidFill>
                <a:latin typeface="Meiryo UI" panose="020B0604030504040204" pitchFamily="50" charset="-128"/>
                <a:ea typeface="Meiryo UI" panose="020B0604030504040204" pitchFamily="50" charset="-128"/>
              </a:rPr>
              <a:t>開発チーム　</a:t>
            </a:r>
            <a:r>
              <a:rPr lang="en-US" altLang="ja-JP" sz="1400" kern="0">
                <a:solidFill>
                  <a:srgbClr val="000000"/>
                </a:solidFill>
                <a:latin typeface="Meiryo UI" panose="020B0604030504040204" pitchFamily="50" charset="-128"/>
                <a:ea typeface="Meiryo UI" panose="020B0604030504040204" pitchFamily="50" charset="-128"/>
              </a:rPr>
              <a:t>(</a:t>
            </a:r>
            <a:r>
              <a:rPr lang="en-US" altLang="ja-JP" sz="1400">
                <a:solidFill>
                  <a:srgbClr val="0000FF"/>
                </a:solidFill>
                <a:latin typeface="Meiryo UI" panose="020B0604030504040204" pitchFamily="50" charset="-128"/>
                <a:ea typeface="Meiryo UI" panose="020B0604030504040204" pitchFamily="50" charset="-128"/>
              </a:rPr>
              <a:t>Bosch</a:t>
            </a:r>
            <a:r>
              <a:rPr lang="en-GB" altLang="ja-JP" sz="1400" kern="0">
                <a:solidFill>
                  <a:srgbClr val="000000"/>
                </a:solidFill>
                <a:latin typeface="Meiryo UI" panose="020B0604030504040204" pitchFamily="50" charset="-128"/>
                <a:ea typeface="Meiryo UI" panose="020B0604030504040204" pitchFamily="50" charset="-128"/>
              </a:rPr>
              <a:t>- calibration, SW, HW, </a:t>
            </a:r>
            <a:r>
              <a:rPr lang="ja-JP" altLang="en-US" sz="1400" kern="0">
                <a:solidFill>
                  <a:srgbClr val="000000"/>
                </a:solidFill>
                <a:latin typeface="Meiryo UI" panose="020B0604030504040204" pitchFamily="50" charset="-128"/>
                <a:ea typeface="Meiryo UI" panose="020B0604030504040204" pitchFamily="50" charset="-128"/>
              </a:rPr>
              <a:t>工場</a:t>
            </a:r>
            <a:r>
              <a:rPr lang="en-US" altLang="ja-JP" sz="1400" kern="0">
                <a:solidFill>
                  <a:srgbClr val="000000"/>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と顧客との調整</a:t>
            </a:r>
            <a:br>
              <a:rPr lang="en-US" altLang="ja-JP" sz="1400" kern="0">
                <a:solidFill>
                  <a:srgbClr val="000000"/>
                </a:solidFill>
                <a:latin typeface="Meiryo UI" panose="020B0604030504040204" pitchFamily="50" charset="-128"/>
                <a:ea typeface="Meiryo UI" panose="020B0604030504040204" pitchFamily="50" charset="-128"/>
              </a:rPr>
            </a:br>
            <a:r>
              <a:rPr lang="ja-JP" altLang="en-US" sz="1400" kern="0">
                <a:solidFill>
                  <a:srgbClr val="000000"/>
                </a:solidFill>
                <a:latin typeface="Meiryo UI" panose="020B0604030504040204" pitchFamily="50" charset="-128"/>
                <a:ea typeface="Meiryo UI" panose="020B0604030504040204" pitchFamily="50" charset="-128"/>
              </a:rPr>
              <a:t>           （日々のコミュニケーション、チーム打合せ、定例会）</a:t>
            </a:r>
            <a:endParaRPr lang="en-GB"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endParaRPr lang="en-GB"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(2)</a:t>
            </a:r>
            <a:r>
              <a:rPr lang="ja-JP" altLang="en-US" sz="1400" kern="0">
                <a:solidFill>
                  <a:srgbClr val="000000"/>
                </a:solidFill>
                <a:latin typeface="Meiryo UI" panose="020B0604030504040204" pitchFamily="50" charset="-128"/>
                <a:ea typeface="Meiryo UI" panose="020B0604030504040204" pitchFamily="50" charset="-128"/>
              </a:rPr>
              <a:t>　品質と仕様の管理</a:t>
            </a:r>
            <a:r>
              <a:rPr lang="en-GB" altLang="ja-JP" sz="1400" kern="0">
                <a:solidFill>
                  <a:srgbClr val="000000"/>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（品質問題を避けるため）</a:t>
            </a:r>
            <a:endParaRPr lang="en-GB"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ja-JP" altLang="en-US" sz="1400" kern="0">
                <a:solidFill>
                  <a:srgbClr val="000000"/>
                </a:solidFill>
                <a:latin typeface="Meiryo UI" panose="020B0604030504040204" pitchFamily="50" charset="-128"/>
                <a:ea typeface="Meiryo UI" panose="020B0604030504040204" pitchFamily="50" charset="-128"/>
              </a:rPr>
              <a:t>　　　　 </a:t>
            </a:r>
            <a:r>
              <a:rPr lang="en-US" altLang="ja-JP" sz="1400" kern="0">
                <a:solidFill>
                  <a:srgbClr val="000000"/>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技術的なトピックの調整（</a:t>
            </a:r>
            <a:r>
              <a:rPr lang="en-US" altLang="ja-JP" sz="1400" kern="0">
                <a:solidFill>
                  <a:srgbClr val="000000"/>
                </a:solidFill>
                <a:latin typeface="Meiryo UI" panose="020B0604030504040204" pitchFamily="50" charset="-128"/>
                <a:ea typeface="Meiryo UI" panose="020B0604030504040204" pitchFamily="50" charset="-128"/>
              </a:rPr>
              <a:t>Honda </a:t>
            </a:r>
            <a:r>
              <a:rPr lang="ja-JP" altLang="en-US" sz="1400" kern="0">
                <a:solidFill>
                  <a:srgbClr val="000000"/>
                </a:solidFill>
                <a:latin typeface="Meiryo UI" panose="020B0604030504040204" pitchFamily="50" charset="-128"/>
                <a:ea typeface="Meiryo UI" panose="020B0604030504040204" pitchFamily="50" charset="-128"/>
              </a:rPr>
              <a:t>と</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kern="0">
                <a:solidFill>
                  <a:srgbClr val="000000"/>
                </a:solidFill>
                <a:latin typeface="Meiryo UI" panose="020B0604030504040204" pitchFamily="50" charset="-128"/>
                <a:ea typeface="Meiryo UI" panose="020B0604030504040204" pitchFamily="50" charset="-128"/>
              </a:rPr>
              <a:t>内部）</a:t>
            </a:r>
            <a:endParaRPr lang="en-GB"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ja-JP" altLang="en-US" sz="1400" kern="0">
                <a:solidFill>
                  <a:srgbClr val="000000"/>
                </a:solidFill>
                <a:latin typeface="Meiryo UI" panose="020B0604030504040204" pitchFamily="50" charset="-128"/>
                <a:ea typeface="Meiryo UI" panose="020B0604030504040204" pitchFamily="50" charset="-128"/>
              </a:rPr>
              <a:t>　　　　 </a:t>
            </a:r>
            <a:r>
              <a:rPr lang="en-GB" altLang="ja-JP" sz="1400" kern="0">
                <a:solidFill>
                  <a:srgbClr val="000000"/>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未解決項目のリストアップ、フォローとレビュー（</a:t>
            </a:r>
            <a:r>
              <a:rPr lang="en-US" altLang="ja-JP" sz="1400" kern="0">
                <a:solidFill>
                  <a:srgbClr val="000000"/>
                </a:solidFill>
                <a:latin typeface="Meiryo UI" panose="020B0604030504040204" pitchFamily="50" charset="-128"/>
                <a:ea typeface="Meiryo UI" panose="020B0604030504040204" pitchFamily="50" charset="-128"/>
              </a:rPr>
              <a:t>Honda </a:t>
            </a:r>
            <a:r>
              <a:rPr lang="ja-JP" altLang="en-US" sz="1400" kern="0">
                <a:solidFill>
                  <a:srgbClr val="000000"/>
                </a:solidFill>
                <a:latin typeface="Meiryo UI" panose="020B0604030504040204" pitchFamily="50" charset="-128"/>
                <a:ea typeface="Meiryo UI" panose="020B0604030504040204" pitchFamily="50" charset="-128"/>
              </a:rPr>
              <a:t>と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kern="0">
                <a:solidFill>
                  <a:srgbClr val="000000"/>
                </a:solidFill>
                <a:latin typeface="Meiryo UI" panose="020B0604030504040204" pitchFamily="50" charset="-128"/>
                <a:ea typeface="Meiryo UI" panose="020B0604030504040204" pitchFamily="50" charset="-128"/>
              </a:rPr>
              <a:t>内部）</a:t>
            </a:r>
            <a:endParaRPr lang="en-US"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ja-JP" altLang="en-US" sz="1400" kern="0">
                <a:solidFill>
                  <a:srgbClr val="000000"/>
                </a:solidFill>
                <a:latin typeface="Meiryo UI" panose="020B0604030504040204" pitchFamily="50" charset="-128"/>
                <a:ea typeface="Meiryo UI" panose="020B0604030504040204" pitchFamily="50" charset="-128"/>
              </a:rPr>
              <a:t>　　　　 </a:t>
            </a:r>
            <a:r>
              <a:rPr lang="en-US" altLang="ja-JP" sz="1400" kern="0">
                <a:solidFill>
                  <a:srgbClr val="000000"/>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リスク管理 </a:t>
            </a:r>
            <a:r>
              <a:rPr lang="en-US" altLang="ja-JP" sz="1400" kern="0">
                <a:solidFill>
                  <a:srgbClr val="000000"/>
                </a:solidFill>
                <a:latin typeface="Meiryo UI" panose="020B0604030504040204" pitchFamily="50" charset="-128"/>
                <a:ea typeface="Meiryo UI" panose="020B0604030504040204" pitchFamily="50" charset="-128"/>
              </a:rPr>
              <a:t>(</a:t>
            </a:r>
            <a:r>
              <a:rPr lang="ja-JP" altLang="en-US" sz="1400" kern="0">
                <a:solidFill>
                  <a:srgbClr val="000000"/>
                </a:solidFill>
                <a:latin typeface="Meiryo UI" panose="020B0604030504040204" pitchFamily="50" charset="-128"/>
                <a:ea typeface="Meiryo UI" panose="020B0604030504040204" pitchFamily="50" charset="-128"/>
              </a:rPr>
              <a:t>危機状況の場合は上位管理者への報告</a:t>
            </a:r>
            <a:r>
              <a:rPr lang="en-US" altLang="ja-JP" sz="1400" kern="0">
                <a:solidFill>
                  <a:srgbClr val="000000"/>
                </a:solidFill>
                <a:latin typeface="Meiryo UI" panose="020B0604030504040204" pitchFamily="50" charset="-128"/>
                <a:ea typeface="Meiryo UI" panose="020B0604030504040204" pitchFamily="50" charset="-128"/>
              </a:rPr>
              <a:t>)</a:t>
            </a:r>
          </a:p>
          <a:p>
            <a:pPr marL="284163" indent="0">
              <a:lnSpc>
                <a:spcPct val="90000"/>
              </a:lnSpc>
              <a:spcAft>
                <a:spcPts val="0"/>
              </a:spcAft>
            </a:pPr>
            <a:r>
              <a:rPr lang="ja-JP" altLang="en-US" sz="1400" kern="0">
                <a:solidFill>
                  <a:srgbClr val="000000"/>
                </a:solidFill>
                <a:latin typeface="Meiryo UI" panose="020B0604030504040204" pitchFamily="50" charset="-128"/>
                <a:ea typeface="Meiryo UI" panose="020B0604030504040204" pitchFamily="50" charset="-128"/>
              </a:rPr>
              <a:t>　　　　 </a:t>
            </a:r>
            <a:r>
              <a:rPr lang="en-US" altLang="ja-JP" sz="1400" kern="0">
                <a:solidFill>
                  <a:srgbClr val="000000"/>
                </a:solidFill>
                <a:latin typeface="Meiryo UI" panose="020B0604030504040204" pitchFamily="50" charset="-128"/>
                <a:ea typeface="Meiryo UI" panose="020B0604030504040204" pitchFamily="50" charset="-128"/>
              </a:rPr>
              <a:t>-</a:t>
            </a:r>
            <a:r>
              <a:rPr lang="ja-JP" altLang="en-US" sz="1400" kern="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kern="0">
                <a:solidFill>
                  <a:srgbClr val="000000"/>
                </a:solidFill>
                <a:latin typeface="Meiryo UI" panose="020B0604030504040204" pitchFamily="50" charset="-128"/>
                <a:ea typeface="Meiryo UI" panose="020B0604030504040204" pitchFamily="50" charset="-128"/>
              </a:rPr>
              <a:t>内部の品質プロセスに準じること </a:t>
            </a:r>
            <a:r>
              <a:rPr lang="en-US" altLang="ja-JP" sz="1400" kern="0">
                <a:solidFill>
                  <a:srgbClr val="000000"/>
                </a:solidFill>
                <a:latin typeface="Meiryo UI" panose="020B0604030504040204" pitchFamily="50" charset="-128"/>
                <a:ea typeface="Meiryo UI" panose="020B0604030504040204" pitchFamily="50" charset="-128"/>
              </a:rPr>
              <a:t>(</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クオリティゲート、管理プロセス，文書管理、など</a:t>
            </a:r>
            <a:r>
              <a:rPr lang="en-US" altLang="ja-JP" sz="1400" kern="0">
                <a:solidFill>
                  <a:srgbClr val="000000"/>
                </a:solidFill>
                <a:latin typeface="Meiryo UI" panose="020B0604030504040204" pitchFamily="50" charset="-128"/>
                <a:ea typeface="Meiryo UI" panose="020B0604030504040204" pitchFamily="50" charset="-128"/>
              </a:rPr>
              <a:t>)</a:t>
            </a:r>
            <a:endParaRPr lang="en-GB"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endParaRPr lang="en-GB"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(3) </a:t>
            </a:r>
            <a:r>
              <a:rPr lang="ja-JP" altLang="en-US" sz="1400" kern="0">
                <a:solidFill>
                  <a:srgbClr val="000000"/>
                </a:solidFill>
                <a:latin typeface="Meiryo UI" panose="020B0604030504040204" pitchFamily="50" charset="-128"/>
                <a:ea typeface="Meiryo UI" panose="020B0604030504040204" pitchFamily="50" charset="-128"/>
              </a:rPr>
              <a:t>コスト管理</a:t>
            </a:r>
            <a:r>
              <a:rPr lang="en-GB" altLang="ja-JP" sz="1400" kern="0">
                <a:solidFill>
                  <a:srgbClr val="000000"/>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プロジェクトの予算を守るため</a:t>
            </a:r>
            <a:r>
              <a:rPr lang="en-GB" altLang="ja-JP" sz="1400" kern="0">
                <a:solidFill>
                  <a:srgbClr val="000000"/>
                </a:solidFill>
                <a:latin typeface="Meiryo UI" panose="020B0604030504040204" pitchFamily="50" charset="-128"/>
                <a:ea typeface="Meiryo UI" panose="020B0604030504040204" pitchFamily="50" charset="-128"/>
              </a:rPr>
              <a:t>)</a:t>
            </a: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  </a:t>
            </a:r>
            <a:r>
              <a:rPr lang="ja-JP" altLang="en-US" sz="1400" kern="0">
                <a:solidFill>
                  <a:srgbClr val="000000"/>
                </a:solidFill>
                <a:latin typeface="Meiryo UI" panose="020B0604030504040204" pitchFamily="50" charset="-128"/>
                <a:ea typeface="Meiryo UI" panose="020B0604030504040204" pitchFamily="50" charset="-128"/>
              </a:rPr>
              <a:t>プロジェクトコストの管理</a:t>
            </a:r>
            <a:endParaRPr lang="en-US"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  </a:t>
            </a:r>
            <a:r>
              <a:rPr lang="ja-JP" altLang="en-US" sz="1400" kern="0">
                <a:solidFill>
                  <a:srgbClr val="000000"/>
                </a:solidFill>
                <a:latin typeface="Meiryo UI" panose="020B0604030504040204" pitchFamily="50" charset="-128"/>
                <a:ea typeface="Meiryo UI" panose="020B0604030504040204" pitchFamily="50" charset="-128"/>
              </a:rPr>
              <a:t>成果物の管理</a:t>
            </a:r>
            <a:endParaRPr lang="en-US"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  </a:t>
            </a:r>
            <a:r>
              <a:rPr lang="en-US" altLang="ja-JP" sz="1400" kern="0">
                <a:solidFill>
                  <a:srgbClr val="000000"/>
                </a:solidFill>
                <a:latin typeface="Meiryo UI" panose="020B0604030504040204" pitchFamily="50" charset="-128"/>
                <a:ea typeface="Meiryo UI" panose="020B0604030504040204" pitchFamily="50" charset="-128"/>
              </a:rPr>
              <a:t>CR</a:t>
            </a:r>
            <a:r>
              <a:rPr lang="ja-JP" altLang="en-US" sz="1400" kern="0">
                <a:solidFill>
                  <a:srgbClr val="000000"/>
                </a:solidFill>
                <a:latin typeface="Meiryo UI" panose="020B0604030504040204" pitchFamily="50" charset="-128"/>
                <a:ea typeface="Meiryo UI" panose="020B0604030504040204" pitchFamily="50" charset="-128"/>
              </a:rPr>
              <a:t>項目の調整</a:t>
            </a:r>
            <a:endParaRPr lang="en-US" altLang="ja-JP" sz="1400"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endParaRPr lang="en-US" altLang="ja-JP" sz="1400" b="1" u="sng" kern="0">
              <a:solidFill>
                <a:srgbClr val="000000"/>
              </a:solidFill>
              <a:latin typeface="Meiryo UI" panose="020B0604030504040204" pitchFamily="50" charset="-128"/>
              <a:ea typeface="Meiryo UI" panose="020B0604030504040204" pitchFamily="50" charset="-128"/>
            </a:endParaRPr>
          </a:p>
          <a:p>
            <a:pPr marL="284163" indent="0">
              <a:lnSpc>
                <a:spcPct val="90000"/>
              </a:lnSpc>
              <a:spcAft>
                <a:spcPts val="0"/>
              </a:spcAft>
            </a:pPr>
            <a:r>
              <a:rPr lang="en-US" altLang="ja-JP" sz="1400" b="1" u="sng" kern="0" err="1">
                <a:solidFill>
                  <a:srgbClr val="000000"/>
                </a:solidFill>
                <a:latin typeface="Meiryo UI" panose="020B0604030504040204" pitchFamily="50" charset="-128"/>
                <a:ea typeface="Meiryo UI" panose="020B0604030504040204" pitchFamily="50" charset="-128"/>
              </a:rPr>
              <a:t>PjM</a:t>
            </a:r>
            <a:r>
              <a:rPr lang="ja-JP" altLang="en-US" sz="1400" b="1" u="sng" kern="0">
                <a:solidFill>
                  <a:srgbClr val="000000"/>
                </a:solidFill>
                <a:latin typeface="Meiryo UI" panose="020B0604030504040204" pitchFamily="50" charset="-128"/>
                <a:ea typeface="Meiryo UI" panose="020B0604030504040204" pitchFamily="50" charset="-128"/>
              </a:rPr>
              <a:t>の主な成果物</a:t>
            </a:r>
            <a:r>
              <a:rPr lang="en-GB" altLang="ja-JP" sz="1400" kern="0">
                <a:solidFill>
                  <a:srgbClr val="000000"/>
                </a:solidFill>
                <a:latin typeface="Meiryo UI" panose="020B0604030504040204" pitchFamily="50" charset="-128"/>
                <a:ea typeface="Meiryo UI" panose="020B0604030504040204" pitchFamily="50" charset="-128"/>
              </a:rPr>
              <a:t>		</a:t>
            </a: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  </a:t>
            </a:r>
            <a:r>
              <a:rPr lang="ja-JP" altLang="en-US" sz="1400" b="1" kern="0">
                <a:solidFill>
                  <a:srgbClr val="000000"/>
                </a:solidFill>
                <a:latin typeface="Meiryo UI" panose="020B0604030504040204" pitchFamily="50" charset="-128"/>
                <a:ea typeface="Meiryo UI" panose="020B0604030504040204" pitchFamily="50" charset="-128"/>
              </a:rPr>
              <a:t>プロジェクトの大日程</a:t>
            </a:r>
            <a:r>
              <a:rPr lang="en-GB" altLang="ja-JP" sz="1400" b="1" kern="0">
                <a:solidFill>
                  <a:srgbClr val="000000"/>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スケジュールのトラッキングとアップデートを</a:t>
            </a:r>
            <a:r>
              <a:rPr lang="en-US" altLang="ja-JP" sz="1400" kern="0">
                <a:solidFill>
                  <a:srgbClr val="000000"/>
                </a:solidFill>
                <a:latin typeface="Meiryo UI" panose="020B0604030504040204" pitchFamily="50" charset="-128"/>
                <a:ea typeface="Meiryo UI" panose="020B0604030504040204" pitchFamily="50" charset="-128"/>
              </a:rPr>
              <a:t>Honda</a:t>
            </a:r>
            <a:r>
              <a:rPr lang="ja-JP" altLang="en-US" sz="1400" kern="0">
                <a:solidFill>
                  <a:srgbClr val="000000"/>
                </a:solidFill>
                <a:latin typeface="Meiryo UI" panose="020B0604030504040204" pitchFamily="50" charset="-128"/>
                <a:ea typeface="Meiryo UI" panose="020B0604030504040204" pitchFamily="50" charset="-128"/>
              </a:rPr>
              <a:t>と整合すること</a:t>
            </a:r>
            <a:r>
              <a:rPr lang="en-GB" altLang="ja-JP" sz="1400" kern="0">
                <a:solidFill>
                  <a:srgbClr val="000000"/>
                </a:solidFill>
                <a:latin typeface="Meiryo UI" panose="020B0604030504040204" pitchFamily="50" charset="-128"/>
                <a:ea typeface="Meiryo UI" panose="020B0604030504040204" pitchFamily="50" charset="-128"/>
              </a:rPr>
              <a:t>	</a:t>
            </a: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  </a:t>
            </a:r>
            <a:r>
              <a:rPr lang="en-GB" altLang="ja-JP" sz="1400" b="1" kern="0">
                <a:solidFill>
                  <a:srgbClr val="000000"/>
                </a:solidFill>
                <a:latin typeface="Meiryo UI" panose="020B0604030504040204" pitchFamily="50" charset="-128"/>
                <a:ea typeface="Meiryo UI" panose="020B0604030504040204" pitchFamily="50" charset="-128"/>
              </a:rPr>
              <a:t>OPL</a:t>
            </a:r>
            <a:r>
              <a:rPr lang="en-GB" altLang="ja-JP" sz="1400" kern="0">
                <a:solidFill>
                  <a:srgbClr val="000000"/>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スケジュール、品質、仕様に関するファイルの管理</a:t>
            </a:r>
            <a:r>
              <a:rPr lang="en-GB" altLang="ja-JP" sz="1400" kern="0">
                <a:solidFill>
                  <a:srgbClr val="000000"/>
                </a:solidFill>
                <a:latin typeface="Meiryo UI" panose="020B0604030504040204" pitchFamily="50" charset="-128"/>
                <a:ea typeface="Meiryo UI" panose="020B0604030504040204" pitchFamily="50" charset="-128"/>
              </a:rPr>
              <a:t>	</a:t>
            </a:r>
          </a:p>
          <a:p>
            <a:pPr marL="284163" indent="0">
              <a:lnSpc>
                <a:spcPct val="90000"/>
              </a:lnSpc>
              <a:spcAft>
                <a:spcPts val="0"/>
              </a:spcAft>
            </a:pPr>
            <a:r>
              <a:rPr lang="en-GB" altLang="ja-JP" sz="1400" kern="0">
                <a:solidFill>
                  <a:srgbClr val="000000"/>
                </a:solidFill>
                <a:latin typeface="Meiryo UI" panose="020B0604030504040204" pitchFamily="50" charset="-128"/>
                <a:ea typeface="Meiryo UI" panose="020B0604030504040204" pitchFamily="50" charset="-128"/>
              </a:rPr>
              <a:t>          -  </a:t>
            </a:r>
            <a:r>
              <a:rPr lang="ja-JP" altLang="en-US" sz="1400" b="1" kern="0">
                <a:solidFill>
                  <a:srgbClr val="000000"/>
                </a:solidFill>
                <a:latin typeface="Meiryo UI" panose="020B0604030504040204" pitchFamily="50" charset="-128"/>
                <a:ea typeface="Meiryo UI" panose="020B0604030504040204" pitchFamily="50" charset="-128"/>
              </a:rPr>
              <a:t>議事録</a:t>
            </a:r>
            <a:r>
              <a:rPr lang="en-US" altLang="ja-JP" sz="1400" b="1" kern="0">
                <a:solidFill>
                  <a:srgbClr val="000000"/>
                </a:solidFill>
                <a:latin typeface="Meiryo UI" panose="020B0604030504040204" pitchFamily="50" charset="-128"/>
                <a:ea typeface="Meiryo UI" panose="020B0604030504040204" pitchFamily="50" charset="-128"/>
              </a:rPr>
              <a:t>	</a:t>
            </a:r>
            <a:r>
              <a:rPr lang="en-GB" altLang="ja-JP" sz="1400" b="1" kern="0">
                <a:solidFill>
                  <a:srgbClr val="000000"/>
                </a:solidFill>
                <a:latin typeface="Meiryo UI" panose="020B0604030504040204" pitchFamily="50" charset="-128"/>
                <a:ea typeface="Meiryo UI" panose="020B0604030504040204" pitchFamily="50" charset="-128"/>
              </a:rPr>
              <a:t>	</a:t>
            </a:r>
            <a:r>
              <a:rPr lang="ja-JP" altLang="en-US" sz="1400" kern="0">
                <a:solidFill>
                  <a:srgbClr val="000000"/>
                </a:solidFill>
                <a:latin typeface="Meiryo UI" panose="020B0604030504040204" pitchFamily="50" charset="-128"/>
                <a:ea typeface="Meiryo UI" panose="020B0604030504040204" pitchFamily="50" charset="-128"/>
              </a:rPr>
              <a:t>スケジュール、品質、コスト管理に関する議事</a:t>
            </a:r>
            <a:endParaRPr lang="en-GB" altLang="ja-JP" sz="1400" kern="0">
              <a:solidFill>
                <a:srgbClr val="000000"/>
              </a:solidFill>
              <a:latin typeface="Meiryo UI" panose="020B0604030504040204" pitchFamily="50" charset="-128"/>
              <a:ea typeface="Meiryo UI" panose="020B0604030504040204" pitchFamily="50" charset="-128"/>
            </a:endParaRPr>
          </a:p>
        </p:txBody>
      </p:sp>
      <p:sp>
        <p:nvSpPr>
          <p:cNvPr id="7"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(4/5) </a:t>
            </a:r>
          </a:p>
        </p:txBody>
      </p:sp>
    </p:spTree>
    <p:extLst>
      <p:ext uri="{BB962C8B-B14F-4D97-AF65-F5344CB8AC3E}">
        <p14:creationId xmlns:p14="http://schemas.microsoft.com/office/powerpoint/2010/main" val="1702362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コンテンツ プレースホルダー 2"/>
          <p:cNvSpPr txBox="1">
            <a:spLocks/>
          </p:cNvSpPr>
          <p:nvPr>
            <p:custDataLst>
              <p:tags r:id="rId1"/>
            </p:custDataLst>
          </p:nvPr>
        </p:nvSpPr>
        <p:spPr bwMode="auto">
          <a:xfrm>
            <a:off x="525149" y="1400598"/>
            <a:ext cx="7939582" cy="130341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sz="1600" b="1" u="sng" kern="0">
                <a:latin typeface="Meiryo UI" panose="020B0604030504040204" pitchFamily="50" charset="-128"/>
                <a:ea typeface="Meiryo UI" panose="020B0604030504040204" pitchFamily="50" charset="-128"/>
              </a:rPr>
              <a:t>OPL Detail</a:t>
            </a:r>
          </a:p>
          <a:p>
            <a:pPr marL="0" indent="0">
              <a:lnSpc>
                <a:spcPct val="105000"/>
              </a:lnSpc>
              <a:spcBef>
                <a:spcPts val="600"/>
              </a:spcBef>
              <a:spcAft>
                <a:spcPts val="0"/>
              </a:spcAft>
            </a:pPr>
            <a:r>
              <a:rPr lang="en-US" sz="1400" kern="0">
                <a:latin typeface="Meiryo UI" panose="020B0604030504040204" pitchFamily="50" charset="-128"/>
                <a:ea typeface="Meiryo UI" panose="020B0604030504040204" pitchFamily="50" charset="-128"/>
              </a:rPr>
              <a:t>Meeting minutes to be written in OPL by</a:t>
            </a:r>
            <a:r>
              <a:rPr lang="ja-JP" altLang="en-US" sz="1400" kern="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US" sz="1400" kern="0" err="1">
                <a:latin typeface="Meiryo UI" panose="020B0604030504040204" pitchFamily="50" charset="-128"/>
                <a:ea typeface="Meiryo UI" panose="020B0604030504040204" pitchFamily="50" charset="-128"/>
              </a:rPr>
              <a:t>PjM</a:t>
            </a:r>
            <a:r>
              <a:rPr lang="en-US" sz="1400" kern="0">
                <a:latin typeface="Meiryo UI" panose="020B0604030504040204" pitchFamily="50" charset="-128"/>
                <a:ea typeface="Meiryo UI" panose="020B0604030504040204" pitchFamily="50" charset="-128"/>
              </a:rPr>
              <a:t> using OPL excel format.</a:t>
            </a:r>
          </a:p>
          <a:p>
            <a:pPr marL="0" indent="0">
              <a:lnSpc>
                <a:spcPct val="105000"/>
              </a:lnSpc>
              <a:spcBef>
                <a:spcPts val="600"/>
              </a:spcBef>
              <a:spcAft>
                <a:spcPts val="0"/>
              </a:spcAft>
            </a:pPr>
            <a:r>
              <a:rPr lang="en-US" sz="1400" kern="0">
                <a:latin typeface="Meiryo UI" panose="020B0604030504040204" pitchFamily="50" charset="-128"/>
                <a:ea typeface="Meiryo UI" panose="020B0604030504040204" pitchFamily="50" charset="-128"/>
              </a:rPr>
              <a:t>It shall be aligned with Honda in the meeting.</a:t>
            </a:r>
          </a:p>
          <a:p>
            <a:pPr marL="0" indent="0">
              <a:lnSpc>
                <a:spcPct val="105000"/>
              </a:lnSpc>
              <a:spcBef>
                <a:spcPts val="600"/>
              </a:spcBef>
              <a:spcAft>
                <a:spcPts val="0"/>
              </a:spcAft>
            </a:pPr>
            <a:r>
              <a:rPr lang="en-US" sz="1400" kern="0">
                <a:latin typeface="Meiryo UI" panose="020B0604030504040204" pitchFamily="50" charset="-128"/>
                <a:ea typeface="Meiryo UI" panose="020B0604030504040204" pitchFamily="50" charset="-128"/>
              </a:rPr>
              <a:t>Updated OPL and meeting material to be shared with Honda within meeting day.</a:t>
            </a:r>
          </a:p>
        </p:txBody>
      </p:sp>
      <p:sp>
        <p:nvSpPr>
          <p:cNvPr id="8" name="コンテンツ プレースホルダー 2"/>
          <p:cNvSpPr txBox="1">
            <a:spLocks/>
          </p:cNvSpPr>
          <p:nvPr>
            <p:custDataLst>
              <p:tags r:id="rId2"/>
            </p:custDataLst>
          </p:nvPr>
        </p:nvSpPr>
        <p:spPr bwMode="auto">
          <a:xfrm>
            <a:off x="525149" y="3618618"/>
            <a:ext cx="7508508" cy="1310370"/>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no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600" b="1" u="sng" kern="0">
                <a:latin typeface="Meiryo UI" panose="020B0604030504040204" pitchFamily="50" charset="-128"/>
                <a:ea typeface="Meiryo UI" panose="020B0604030504040204" pitchFamily="50" charset="-128"/>
              </a:rPr>
              <a:t>OPL</a:t>
            </a:r>
            <a:r>
              <a:rPr lang="ja-JP" altLang="en-US" sz="1600" b="1" u="sng" kern="0">
                <a:latin typeface="Meiryo UI" panose="020B0604030504040204" pitchFamily="50" charset="-128"/>
                <a:ea typeface="Meiryo UI" panose="020B0604030504040204" pitchFamily="50" charset="-128"/>
              </a:rPr>
              <a:t>詳細</a:t>
            </a:r>
            <a:endParaRPr lang="en-US" altLang="ja-JP" sz="1600" b="1" u="sng" kern="0">
              <a:latin typeface="Meiryo UI" panose="020B0604030504040204" pitchFamily="50" charset="-128"/>
              <a:ea typeface="Meiryo UI" panose="020B0604030504040204" pitchFamily="50" charset="-128"/>
            </a:endParaRPr>
          </a:p>
          <a:p>
            <a:pPr marL="0" indent="0">
              <a:lnSpc>
                <a:spcPct val="105000"/>
              </a:lnSpc>
              <a:spcBef>
                <a:spcPts val="600"/>
              </a:spcBef>
              <a:spcAft>
                <a:spcPts val="0"/>
              </a:spcAft>
            </a:pPr>
            <a:r>
              <a:rPr lang="en-US" altLang="ja-JP" sz="1400" kern="0">
                <a:latin typeface="Meiryo UI" panose="020B0604030504040204" pitchFamily="50" charset="-128"/>
                <a:ea typeface="Meiryo UI" panose="020B0604030504040204" pitchFamily="50" charset="-128"/>
              </a:rPr>
              <a:t>OPL</a:t>
            </a:r>
            <a:r>
              <a:rPr lang="ja-JP" altLang="en-US" sz="1400" kern="0">
                <a:latin typeface="Meiryo UI" panose="020B0604030504040204" pitchFamily="50" charset="-128"/>
                <a:ea typeface="Meiryo UI" panose="020B0604030504040204" pitchFamily="50" charset="-128"/>
              </a:rPr>
              <a:t>ファイルを基に、</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ja-JP" altLang="en-US" sz="1400" kern="0">
                <a:latin typeface="Meiryo UI" panose="020B0604030504040204" pitchFamily="50" charset="-128"/>
                <a:ea typeface="Meiryo UI" panose="020B0604030504040204" pitchFamily="50" charset="-128"/>
              </a:rPr>
              <a:t>プロジェクトマネージャーは議事録を記載すること</a:t>
            </a:r>
            <a:endParaRPr lang="en-US" sz="1400" kern="0">
              <a:latin typeface="Meiryo UI" panose="020B0604030504040204" pitchFamily="50" charset="-128"/>
              <a:ea typeface="Meiryo UI" panose="020B0604030504040204" pitchFamily="50" charset="-128"/>
            </a:endParaRPr>
          </a:p>
          <a:p>
            <a:pPr marL="0" indent="0">
              <a:lnSpc>
                <a:spcPct val="105000"/>
              </a:lnSpc>
              <a:spcBef>
                <a:spcPts val="600"/>
              </a:spcBef>
              <a:spcAft>
                <a:spcPts val="0"/>
              </a:spcAft>
            </a:pPr>
            <a:r>
              <a:rPr lang="ja-JP" altLang="en-US" sz="1400" kern="0">
                <a:latin typeface="Meiryo UI" panose="020B0604030504040204" pitchFamily="50" charset="-128"/>
                <a:ea typeface="Meiryo UI" panose="020B0604030504040204" pitchFamily="50" charset="-128"/>
              </a:rPr>
              <a:t>打合せ内で</a:t>
            </a:r>
            <a:r>
              <a:rPr lang="en-US" altLang="ja-JP" sz="1400" kern="0">
                <a:latin typeface="Meiryo UI" panose="020B0604030504040204" pitchFamily="50" charset="-128"/>
                <a:ea typeface="Meiryo UI" panose="020B0604030504040204" pitchFamily="50" charset="-128"/>
              </a:rPr>
              <a:t>Honda</a:t>
            </a:r>
            <a:r>
              <a:rPr lang="ja-JP" altLang="en-US" sz="1400" kern="0">
                <a:latin typeface="Meiryo UI" panose="020B0604030504040204" pitchFamily="50" charset="-128"/>
                <a:ea typeface="Meiryo UI" panose="020B0604030504040204" pitchFamily="50" charset="-128"/>
              </a:rPr>
              <a:t> と整合すること</a:t>
            </a:r>
            <a:endParaRPr lang="en-US" altLang="ja-JP" sz="1400" kern="0">
              <a:latin typeface="Meiryo UI" panose="020B0604030504040204" pitchFamily="50" charset="-128"/>
              <a:ea typeface="Meiryo UI" panose="020B0604030504040204" pitchFamily="50" charset="-128"/>
            </a:endParaRPr>
          </a:p>
          <a:p>
            <a:pPr marL="0" indent="0">
              <a:lnSpc>
                <a:spcPct val="105000"/>
              </a:lnSpc>
              <a:spcBef>
                <a:spcPts val="600"/>
              </a:spcBef>
              <a:spcAft>
                <a:spcPts val="0"/>
              </a:spcAft>
            </a:pPr>
            <a:r>
              <a:rPr lang="ja-JP" altLang="en-US" sz="1400" kern="0">
                <a:latin typeface="Meiryo UI" panose="020B0604030504040204" pitchFamily="50" charset="-128"/>
                <a:ea typeface="Meiryo UI" panose="020B0604030504040204" pitchFamily="50" charset="-128"/>
              </a:rPr>
              <a:t>更新された</a:t>
            </a:r>
            <a:r>
              <a:rPr lang="en-US" altLang="ja-JP" sz="1400" kern="0">
                <a:latin typeface="Meiryo UI" panose="020B0604030504040204" pitchFamily="50" charset="-128"/>
                <a:ea typeface="Meiryo UI" panose="020B0604030504040204" pitchFamily="50" charset="-128"/>
              </a:rPr>
              <a:t>OPL</a:t>
            </a:r>
            <a:r>
              <a:rPr lang="ja-JP" altLang="en-US" sz="1400" kern="0">
                <a:latin typeface="Meiryo UI" panose="020B0604030504040204" pitchFamily="50" charset="-128"/>
                <a:ea typeface="Meiryo UI" panose="020B0604030504040204" pitchFamily="50" charset="-128"/>
              </a:rPr>
              <a:t>ファイルと資料は、その日中に</a:t>
            </a:r>
            <a:r>
              <a:rPr lang="en-US" altLang="ja-JP" sz="1400" kern="0">
                <a:latin typeface="Meiryo UI" panose="020B0604030504040204" pitchFamily="50" charset="-128"/>
                <a:ea typeface="Meiryo UI" panose="020B0604030504040204" pitchFamily="50" charset="-128"/>
              </a:rPr>
              <a:t>Honda</a:t>
            </a:r>
            <a:r>
              <a:rPr lang="ja-JP" altLang="en-US" sz="1400" kern="0">
                <a:latin typeface="Meiryo UI" panose="020B0604030504040204" pitchFamily="50" charset="-128"/>
                <a:ea typeface="Meiryo UI" panose="020B0604030504040204" pitchFamily="50" charset="-128"/>
              </a:rPr>
              <a:t>と共有すること</a:t>
            </a:r>
            <a:endParaRPr lang="en-US" sz="1400" kern="0">
              <a:latin typeface="Meiryo UI" panose="020B0604030504040204" pitchFamily="50" charset="-128"/>
              <a:ea typeface="Meiryo UI" panose="020B0604030504040204" pitchFamily="50" charset="-128"/>
            </a:endParaRPr>
          </a:p>
        </p:txBody>
      </p:sp>
      <p:sp>
        <p:nvSpPr>
          <p:cNvPr id="9" name="Text Box 2"/>
          <p:cNvSpPr txBox="1">
            <a:spLocks noChangeArrowheads="1"/>
          </p:cNvSpPr>
          <p:nvPr/>
        </p:nvSpPr>
        <p:spPr bwMode="auto">
          <a:xfrm>
            <a:off x="133262"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8. Project Management (5/5) </a:t>
            </a:r>
          </a:p>
        </p:txBody>
      </p:sp>
      <p:sp>
        <p:nvSpPr>
          <p:cNvPr id="7" name="コンテンツ プレースホルダー 2"/>
          <p:cNvSpPr txBox="1">
            <a:spLocks/>
          </p:cNvSpPr>
          <p:nvPr>
            <p:custDataLst>
              <p:tags r:id="rId3"/>
            </p:custDataLst>
          </p:nvPr>
        </p:nvSpPr>
        <p:spPr bwMode="auto">
          <a:xfrm>
            <a:off x="4774396" y="5843595"/>
            <a:ext cx="4071627"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“Project OPL sample” excel file.</a:t>
            </a:r>
          </a:p>
          <a:p>
            <a:pPr marL="0" indent="0">
              <a:lnSpc>
                <a:spcPct val="105000"/>
              </a:lnSpc>
              <a:spcBef>
                <a:spcPts val="600"/>
              </a:spcBef>
              <a:spcAft>
                <a:spcPts val="0"/>
              </a:spcAft>
            </a:pPr>
            <a:r>
              <a:rPr lang="en-US" sz="1400" b="1" kern="0">
                <a:latin typeface="Meiryo UI" panose="020B0604030504040204" pitchFamily="50" charset="-128"/>
              </a:rPr>
              <a:t>In folder : “8. Project Management ”</a:t>
            </a:r>
          </a:p>
        </p:txBody>
      </p:sp>
    </p:spTree>
    <p:extLst>
      <p:ext uri="{BB962C8B-B14F-4D97-AF65-F5344CB8AC3E}">
        <p14:creationId xmlns:p14="http://schemas.microsoft.com/office/powerpoint/2010/main" val="1865471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98949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テキスト ボックス 171"/>
          <p:cNvSpPr txBox="1"/>
          <p:nvPr/>
        </p:nvSpPr>
        <p:spPr>
          <a:xfrm>
            <a:off x="65315" y="547062"/>
            <a:ext cx="2956066" cy="369332"/>
          </a:xfrm>
          <a:prstGeom prst="rect">
            <a:avLst/>
          </a:prstGeom>
          <a:noFill/>
        </p:spPr>
        <p:txBody>
          <a:bodyPr wrap="none" rtlCol="0">
            <a:spAutoFit/>
          </a:bodyPr>
          <a:lstStyle/>
          <a:p>
            <a:pPr algn="l" fontAlgn="auto">
              <a:spcBef>
                <a:spcPts val="0"/>
              </a:spcBef>
              <a:spcAft>
                <a:spcPts val="0"/>
              </a:spcAft>
            </a:pPr>
            <a:r>
              <a:rPr lang="en-US" altLang="ja-JP" sz="1800" b="1" u="sng">
                <a:solidFill>
                  <a:srgbClr val="000000"/>
                </a:solidFill>
                <a:latin typeface="Meiryo UI" pitchFamily="50" charset="-128"/>
                <a:ea typeface="Meiryo UI" pitchFamily="50" charset="-128"/>
                <a:cs typeface="Meiryo UI" pitchFamily="50" charset="-128"/>
              </a:rPr>
              <a:t>Development schedule</a:t>
            </a:r>
            <a:endParaRPr lang="ja-JP" altLang="en-US" sz="1800" b="1" u="sng">
              <a:solidFill>
                <a:srgbClr val="000000"/>
              </a:solidFill>
              <a:latin typeface="Meiryo UI" pitchFamily="50" charset="-128"/>
              <a:ea typeface="Meiryo UI" pitchFamily="50" charset="-128"/>
              <a:cs typeface="Meiryo UI" pitchFamily="50" charset="-128"/>
            </a:endParaRPr>
          </a:p>
        </p:txBody>
      </p:sp>
      <p:sp>
        <p:nvSpPr>
          <p:cNvPr id="168" name="Text Box 2"/>
          <p:cNvSpPr txBox="1">
            <a:spLocks noChangeArrowheads="1"/>
          </p:cNvSpPr>
          <p:nvPr/>
        </p:nvSpPr>
        <p:spPr bwMode="auto">
          <a:xfrm>
            <a:off x="1719687" y="83640"/>
            <a:ext cx="5720348"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r>
              <a:rPr lang="en-US" altLang="ja-JP" sz="2000"/>
              <a:t>9. Engine Overview and</a:t>
            </a:r>
            <a:r>
              <a:rPr lang="ja-JP" altLang="en-US" sz="2000"/>
              <a:t> </a:t>
            </a:r>
            <a:r>
              <a:rPr lang="en-US" altLang="ja-JP" sz="2000"/>
              <a:t>Basic Specification</a:t>
            </a:r>
          </a:p>
        </p:txBody>
      </p:sp>
      <p:pic>
        <p:nvPicPr>
          <p:cNvPr id="3" name="図 2">
            <a:extLst>
              <a:ext uri="{FF2B5EF4-FFF2-40B4-BE49-F238E27FC236}">
                <a16:creationId xmlns:a16="http://schemas.microsoft.com/office/drawing/2014/main" id="{821A4D3C-A9C8-29A3-8162-FDCEB0BF767A}"/>
              </a:ext>
            </a:extLst>
          </p:cNvPr>
          <p:cNvPicPr>
            <a:picLocks noChangeAspect="1"/>
          </p:cNvPicPr>
          <p:nvPr/>
        </p:nvPicPr>
        <p:blipFill>
          <a:blip r:embed="rId2"/>
          <a:stretch>
            <a:fillRect/>
          </a:stretch>
        </p:blipFill>
        <p:spPr>
          <a:xfrm>
            <a:off x="268026" y="2107676"/>
            <a:ext cx="8383939" cy="2167152"/>
          </a:xfrm>
          <a:prstGeom prst="rect">
            <a:avLst/>
          </a:prstGeom>
        </p:spPr>
      </p:pic>
    </p:spTree>
    <p:extLst>
      <p:ext uri="{BB962C8B-B14F-4D97-AF65-F5344CB8AC3E}">
        <p14:creationId xmlns:p14="http://schemas.microsoft.com/office/powerpoint/2010/main" val="3594915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val 22"/>
          <p:cNvSpPr>
            <a:spLocks noChangeArrowheads="1"/>
          </p:cNvSpPr>
          <p:nvPr/>
        </p:nvSpPr>
        <p:spPr bwMode="auto">
          <a:xfrm>
            <a:off x="-839283" y="4356458"/>
            <a:ext cx="3780000" cy="2628000"/>
          </a:xfrm>
          <a:prstGeom prst="ellipse">
            <a:avLst/>
          </a:prstGeom>
          <a:gradFill rotWithShape="1">
            <a:gsLst>
              <a:gs pos="0">
                <a:srgbClr val="00FF00"/>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800" b="0" i="0" u="none" strike="noStrike" kern="1200" cap="none" spc="0" normalizeH="0" baseline="0" noProof="0">
              <a:ln>
                <a:noFill/>
              </a:ln>
              <a:solidFill>
                <a:srgbClr val="000000"/>
              </a:solidFill>
              <a:effectLst/>
              <a:uLnTx/>
              <a:uFillTx/>
              <a:latin typeface="HGS創英角ｺﾞｼｯｸUB" pitchFamily="50" charset="-128"/>
              <a:ea typeface="HGS創英角ｺﾞｼｯｸUB" pitchFamily="50" charset="-128"/>
              <a:cs typeface="+mn-cs"/>
            </a:endParaRPr>
          </a:p>
        </p:txBody>
      </p:sp>
      <p:sp>
        <p:nvSpPr>
          <p:cNvPr id="35" name="Oval 22"/>
          <p:cNvSpPr>
            <a:spLocks noChangeArrowheads="1"/>
          </p:cNvSpPr>
          <p:nvPr/>
        </p:nvSpPr>
        <p:spPr bwMode="auto">
          <a:xfrm>
            <a:off x="-736330" y="439718"/>
            <a:ext cx="3780000" cy="2628000"/>
          </a:xfrm>
          <a:prstGeom prst="ellipse">
            <a:avLst/>
          </a:prstGeom>
          <a:gradFill rotWithShape="1">
            <a:gsLst>
              <a:gs pos="0">
                <a:srgbClr val="00FF00"/>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800" b="0" i="0" u="none" strike="noStrike" kern="1200" cap="none" spc="0" normalizeH="0" baseline="0" noProof="0">
              <a:ln>
                <a:noFill/>
              </a:ln>
              <a:solidFill>
                <a:srgbClr val="000000"/>
              </a:solidFill>
              <a:effectLst/>
              <a:uLnTx/>
              <a:uFillTx/>
              <a:latin typeface="HGS創英角ｺﾞｼｯｸUB" pitchFamily="50" charset="-128"/>
              <a:ea typeface="HGS創英角ｺﾞｼｯｸUB" pitchFamily="50" charset="-128"/>
              <a:cs typeface="+mn-cs"/>
            </a:endParaRPr>
          </a:p>
        </p:txBody>
      </p:sp>
      <p:sp>
        <p:nvSpPr>
          <p:cNvPr id="36" name="Oval 22"/>
          <p:cNvSpPr>
            <a:spLocks noChangeArrowheads="1"/>
          </p:cNvSpPr>
          <p:nvPr/>
        </p:nvSpPr>
        <p:spPr bwMode="auto">
          <a:xfrm>
            <a:off x="-752807" y="2533119"/>
            <a:ext cx="3780000" cy="2628000"/>
          </a:xfrm>
          <a:prstGeom prst="ellipse">
            <a:avLst/>
          </a:prstGeom>
          <a:gradFill rotWithShape="1">
            <a:gsLst>
              <a:gs pos="0">
                <a:srgbClr val="00FF00"/>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800" b="0" i="0" u="none" strike="noStrike" kern="1200" cap="none" spc="0" normalizeH="0" baseline="0" noProof="0">
              <a:ln>
                <a:noFill/>
              </a:ln>
              <a:solidFill>
                <a:srgbClr val="000000"/>
              </a:solidFill>
              <a:effectLst/>
              <a:uLnTx/>
              <a:uFillTx/>
              <a:latin typeface="HGS創英角ｺﾞｼｯｸUB" pitchFamily="50" charset="-128"/>
              <a:ea typeface="HGS創英角ｺﾞｼｯｸUB" pitchFamily="50" charset="-128"/>
              <a:cs typeface="+mn-cs"/>
            </a:endParaRPr>
          </a:p>
        </p:txBody>
      </p:sp>
      <p:sp>
        <p:nvSpPr>
          <p:cNvPr id="37" name="Oval 22"/>
          <p:cNvSpPr>
            <a:spLocks noChangeArrowheads="1"/>
          </p:cNvSpPr>
          <p:nvPr/>
        </p:nvSpPr>
        <p:spPr bwMode="auto">
          <a:xfrm>
            <a:off x="5532297" y="-47646"/>
            <a:ext cx="3780000" cy="2628000"/>
          </a:xfrm>
          <a:prstGeom prst="ellipse">
            <a:avLst/>
          </a:prstGeom>
          <a:gradFill rotWithShape="1">
            <a:gsLst>
              <a:gs pos="0">
                <a:srgbClr val="00FF00"/>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800" b="0" i="0" u="none" strike="noStrike" kern="1200" cap="none" spc="0" normalizeH="0" baseline="0" noProof="0">
              <a:ln>
                <a:noFill/>
              </a:ln>
              <a:solidFill>
                <a:srgbClr val="000000"/>
              </a:solidFill>
              <a:effectLst/>
              <a:uLnTx/>
              <a:uFillTx/>
              <a:latin typeface="HGS創英角ｺﾞｼｯｸUB" pitchFamily="50" charset="-128"/>
              <a:ea typeface="HGS創英角ｺﾞｼｯｸUB" pitchFamily="50" charset="-128"/>
              <a:cs typeface="+mn-cs"/>
            </a:endParaRPr>
          </a:p>
        </p:txBody>
      </p:sp>
      <p:sp>
        <p:nvSpPr>
          <p:cNvPr id="20" name="Oval 22"/>
          <p:cNvSpPr>
            <a:spLocks noChangeArrowheads="1"/>
          </p:cNvSpPr>
          <p:nvPr/>
        </p:nvSpPr>
        <p:spPr bwMode="auto">
          <a:xfrm>
            <a:off x="5631754" y="4221088"/>
            <a:ext cx="3780000" cy="2628000"/>
          </a:xfrm>
          <a:prstGeom prst="ellipse">
            <a:avLst/>
          </a:prstGeom>
          <a:gradFill rotWithShape="1">
            <a:gsLst>
              <a:gs pos="0">
                <a:srgbClr val="00FF00"/>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800" b="0" i="0" u="none" strike="noStrike" kern="1200" cap="none" spc="0" normalizeH="0" baseline="0" noProof="0">
              <a:ln>
                <a:noFill/>
              </a:ln>
              <a:solidFill>
                <a:srgbClr val="000000"/>
              </a:solidFill>
              <a:effectLst/>
              <a:uLnTx/>
              <a:uFillTx/>
              <a:latin typeface="HGS創英角ｺﾞｼｯｸUB" pitchFamily="50" charset="-128"/>
              <a:ea typeface="HGS創英角ｺﾞｼｯｸUB" pitchFamily="50" charset="-128"/>
              <a:cs typeface="+mn-cs"/>
            </a:endParaRPr>
          </a:p>
        </p:txBody>
      </p:sp>
      <p:sp>
        <p:nvSpPr>
          <p:cNvPr id="38" name="Text Box 2"/>
          <p:cNvSpPr txBox="1">
            <a:spLocks noChangeArrowheads="1"/>
          </p:cNvSpPr>
          <p:nvPr/>
        </p:nvSpPr>
        <p:spPr bwMode="auto">
          <a:xfrm>
            <a:off x="1738663" y="83640"/>
            <a:ext cx="5682389"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8. Engine &amp;</a:t>
            </a:r>
            <a:r>
              <a:rPr kumimoji="0"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a:t>
            </a: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Vehicle</a:t>
            </a:r>
            <a:r>
              <a:rPr kumimoji="0"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a:t>
            </a: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basic specification</a:t>
            </a:r>
            <a:r>
              <a:rPr kumimoji="0"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a:t>
            </a: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(1/5)</a:t>
            </a:r>
          </a:p>
        </p:txBody>
      </p:sp>
      <p:sp>
        <p:nvSpPr>
          <p:cNvPr id="33" name="Oval 4"/>
          <p:cNvSpPr>
            <a:spLocks noChangeArrowheads="1"/>
          </p:cNvSpPr>
          <p:nvPr/>
        </p:nvSpPr>
        <p:spPr bwMode="auto">
          <a:xfrm rot="21012876">
            <a:off x="3112384" y="4955569"/>
            <a:ext cx="3060386" cy="1036813"/>
          </a:xfrm>
          <a:prstGeom prst="ellipse">
            <a:avLst/>
          </a:prstGeom>
          <a:gradFill rotWithShape="1">
            <a:gsLst>
              <a:gs pos="0">
                <a:schemeClr val="bg1">
                  <a:lumMod val="65000"/>
                </a:schemeClr>
              </a:gs>
              <a:gs pos="100000">
                <a:schemeClr val="bg1">
                  <a:alpha val="0"/>
                </a:schemeClr>
              </a:gs>
            </a:gsLst>
            <a:path path="shape">
              <a:fillToRect l="50000" t="50000" r="50000" b="50000"/>
            </a:path>
          </a:gradFill>
          <a:ln>
            <a:noFill/>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ja-JP" sz="11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endParaRPr>
          </a:p>
        </p:txBody>
      </p:sp>
      <p:pic>
        <p:nvPicPr>
          <p:cNvPr id="40" name="図 38"/>
          <p:cNvPicPr>
            <a:picLocks noChangeAspect="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3004100" y="1316498"/>
            <a:ext cx="3032295" cy="4294870"/>
          </a:xfrm>
          <a:prstGeom prst="rect">
            <a:avLst/>
          </a:prstGeom>
        </p:spPr>
      </p:pic>
      <p:sp>
        <p:nvSpPr>
          <p:cNvPr id="41" name="Oval 4"/>
          <p:cNvSpPr>
            <a:spLocks noChangeArrowheads="1"/>
          </p:cNvSpPr>
          <p:nvPr/>
        </p:nvSpPr>
        <p:spPr bwMode="auto">
          <a:xfrm>
            <a:off x="6292892" y="4457107"/>
            <a:ext cx="2503503" cy="1036813"/>
          </a:xfrm>
          <a:prstGeom prst="ellipse">
            <a:avLst/>
          </a:prstGeom>
          <a:gradFill rotWithShape="1">
            <a:gsLst>
              <a:gs pos="0">
                <a:srgbClr val="00FF00"/>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ja-JP" sz="11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endParaRPr>
          </a:p>
        </p:txBody>
      </p:sp>
      <p:sp>
        <p:nvSpPr>
          <p:cNvPr id="42" name="Oval 4"/>
          <p:cNvSpPr>
            <a:spLocks noChangeArrowheads="1"/>
          </p:cNvSpPr>
          <p:nvPr/>
        </p:nvSpPr>
        <p:spPr bwMode="auto">
          <a:xfrm>
            <a:off x="5881169" y="2254299"/>
            <a:ext cx="3332162" cy="2444750"/>
          </a:xfrm>
          <a:prstGeom prst="ellipse">
            <a:avLst/>
          </a:prstGeom>
          <a:gradFill rotWithShape="1">
            <a:gsLst>
              <a:gs pos="0">
                <a:srgbClr val="00FF00"/>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ja-JP" sz="11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endParaRPr>
          </a:p>
        </p:txBody>
      </p:sp>
      <p:sp>
        <p:nvSpPr>
          <p:cNvPr id="43" name="Rectangle 8"/>
          <p:cNvSpPr>
            <a:spLocks noChangeArrowheads="1"/>
          </p:cNvSpPr>
          <p:nvPr/>
        </p:nvSpPr>
        <p:spPr bwMode="auto">
          <a:xfrm>
            <a:off x="6397018" y="2110514"/>
            <a:ext cx="2486026" cy="368300"/>
          </a:xfrm>
          <a:prstGeom prst="rect">
            <a:avLst/>
          </a:prstGeom>
          <a:solidFill>
            <a:srgbClr val="993366"/>
          </a:solidFill>
          <a:ln w="9525">
            <a:noFill/>
            <a:miter lim="800000"/>
            <a:headEnd/>
            <a:tailEnd/>
          </a:ln>
          <a:effectLst>
            <a:outerShdw dist="35921" dir="2700000" algn="ctr" rotWithShape="0">
              <a:schemeClr val="bg2"/>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Other</a:t>
            </a:r>
            <a:r>
              <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main</a:t>
            </a:r>
            <a:r>
              <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items</a:t>
            </a:r>
            <a:endPar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endParaRPr>
          </a:p>
        </p:txBody>
      </p:sp>
      <p:sp>
        <p:nvSpPr>
          <p:cNvPr id="44" name="Rectangle 14"/>
          <p:cNvSpPr>
            <a:spLocks noChangeArrowheads="1"/>
          </p:cNvSpPr>
          <p:nvPr/>
        </p:nvSpPr>
        <p:spPr bwMode="auto">
          <a:xfrm>
            <a:off x="6266766" y="2699308"/>
            <a:ext cx="295232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●SOHC</a:t>
            </a: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valve</a:t>
            </a: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train</a:t>
            </a:r>
            <a:endPar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endParaRPr>
          </a:p>
          <a:p>
            <a:pPr marL="358775" marR="0" lvl="1"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IN VTEC</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5MT and M-CVT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Tire (14”&amp;15”)</a:t>
            </a:r>
          </a:p>
        </p:txBody>
      </p:sp>
      <p:grpSp>
        <p:nvGrpSpPr>
          <p:cNvPr id="45" name="グループ化 2"/>
          <p:cNvGrpSpPr>
            <a:grpSpLocks/>
          </p:cNvGrpSpPr>
          <p:nvPr/>
        </p:nvGrpSpPr>
        <p:grpSpPr bwMode="auto">
          <a:xfrm>
            <a:off x="-260288" y="4963801"/>
            <a:ext cx="4097338" cy="1695450"/>
            <a:chOff x="-180975" y="3430588"/>
            <a:chExt cx="3783013" cy="1695450"/>
          </a:xfrm>
        </p:grpSpPr>
        <p:sp>
          <p:nvSpPr>
            <p:cNvPr id="46" name="Oval 5"/>
            <p:cNvSpPr>
              <a:spLocks noChangeArrowheads="1"/>
            </p:cNvSpPr>
            <p:nvPr/>
          </p:nvSpPr>
          <p:spPr bwMode="auto">
            <a:xfrm>
              <a:off x="-180975" y="3519488"/>
              <a:ext cx="3494088" cy="1606550"/>
            </a:xfrm>
            <a:prstGeom prst="ellipse">
              <a:avLst/>
            </a:prstGeom>
            <a:gradFill rotWithShape="1">
              <a:gsLst>
                <a:gs pos="0">
                  <a:srgbClr val="00FF00"/>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ja-JP" sz="24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endParaRPr>
            </a:p>
          </p:txBody>
        </p:sp>
        <p:sp>
          <p:nvSpPr>
            <p:cNvPr id="47" name="Rectangle 10"/>
            <p:cNvSpPr>
              <a:spLocks noChangeArrowheads="1"/>
            </p:cNvSpPr>
            <p:nvPr/>
          </p:nvSpPr>
          <p:spPr bwMode="auto">
            <a:xfrm>
              <a:off x="378929" y="3430588"/>
              <a:ext cx="1867322" cy="368300"/>
            </a:xfrm>
            <a:prstGeom prst="rect">
              <a:avLst/>
            </a:prstGeom>
            <a:solidFill>
              <a:srgbClr val="993366"/>
            </a:solidFill>
            <a:ln w="9525">
              <a:noFill/>
              <a:miter lim="800000"/>
              <a:headEnd/>
              <a:tailEnd/>
            </a:ln>
            <a:effectLst>
              <a:outerShdw dist="35921" dir="2700000" algn="ctr" rotWithShape="0">
                <a:schemeClr val="bg2"/>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Cylinder</a:t>
              </a:r>
              <a:r>
                <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Block</a:t>
              </a:r>
              <a:endPar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endParaRPr>
            </a:p>
          </p:txBody>
        </p:sp>
        <p:sp>
          <p:nvSpPr>
            <p:cNvPr id="48" name="Rectangle 15"/>
            <p:cNvSpPr>
              <a:spLocks noChangeArrowheads="1"/>
            </p:cNvSpPr>
            <p:nvPr/>
          </p:nvSpPr>
          <p:spPr bwMode="auto">
            <a:xfrm>
              <a:off x="296863" y="3871913"/>
              <a:ext cx="33051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Bore x Stroke</a:t>
              </a: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73.0</a:t>
              </a:r>
              <a:r>
                <a:rPr kumimoji="1" lang="ja-JP" altLang="el-GR"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l-GR"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71.6</a:t>
              </a:r>
              <a:endParaRPr kumimoji="1" lang="en-US" altLang="ja-JP" sz="14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Displacement</a:t>
              </a: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1199cc</a:t>
              </a:r>
            </a:p>
          </p:txBody>
        </p:sp>
      </p:grpSp>
      <p:grpSp>
        <p:nvGrpSpPr>
          <p:cNvPr id="49" name="グループ化 1"/>
          <p:cNvGrpSpPr>
            <a:grpSpLocks/>
          </p:cNvGrpSpPr>
          <p:nvPr/>
        </p:nvGrpSpPr>
        <p:grpSpPr bwMode="auto">
          <a:xfrm>
            <a:off x="-195263" y="3159133"/>
            <a:ext cx="3419476" cy="1476375"/>
            <a:chOff x="3008313" y="5465109"/>
            <a:chExt cx="3157759" cy="1477029"/>
          </a:xfrm>
        </p:grpSpPr>
        <p:sp>
          <p:nvSpPr>
            <p:cNvPr id="50" name="Oval 3"/>
            <p:cNvSpPr>
              <a:spLocks noChangeArrowheads="1"/>
            </p:cNvSpPr>
            <p:nvPr/>
          </p:nvSpPr>
          <p:spPr bwMode="auto">
            <a:xfrm>
              <a:off x="3008313" y="5580063"/>
              <a:ext cx="2928937" cy="1362075"/>
            </a:xfrm>
            <a:prstGeom prst="ellipse">
              <a:avLst/>
            </a:prstGeom>
            <a:gradFill rotWithShape="1">
              <a:gsLst>
                <a:gs pos="0">
                  <a:srgbClr val="00FF00"/>
                </a:gs>
                <a:gs pos="100000">
                  <a:schemeClr val="bg1">
                    <a:alpha val="0"/>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ja-JP" sz="24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endParaRPr>
            </a:p>
          </p:txBody>
        </p:sp>
        <p:sp>
          <p:nvSpPr>
            <p:cNvPr id="51" name="Rectangle 9"/>
            <p:cNvSpPr>
              <a:spLocks noChangeArrowheads="1"/>
            </p:cNvSpPr>
            <p:nvPr/>
          </p:nvSpPr>
          <p:spPr bwMode="auto">
            <a:xfrm>
              <a:off x="3568325" y="5465109"/>
              <a:ext cx="1842758" cy="368463"/>
            </a:xfrm>
            <a:prstGeom prst="rect">
              <a:avLst/>
            </a:prstGeom>
            <a:solidFill>
              <a:srgbClr val="993366"/>
            </a:solidFill>
            <a:ln w="9525">
              <a:noFill/>
              <a:miter lim="800000"/>
              <a:headEnd/>
              <a:tailEnd/>
            </a:ln>
            <a:effectLst>
              <a:outerShdw dist="35921" dir="2700000" algn="ctr" rotWithShape="0">
                <a:schemeClr val="bg2"/>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Cylinder</a:t>
              </a:r>
              <a:r>
                <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Head</a:t>
              </a:r>
              <a:endPar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endParaRPr>
            </a:p>
          </p:txBody>
        </p:sp>
        <p:sp>
          <p:nvSpPr>
            <p:cNvPr id="52" name="Rectangle 16"/>
            <p:cNvSpPr>
              <a:spLocks noChangeArrowheads="1"/>
            </p:cNvSpPr>
            <p:nvPr/>
          </p:nvSpPr>
          <p:spPr bwMode="auto">
            <a:xfrm>
              <a:off x="3608609" y="5895321"/>
              <a:ext cx="2557463" cy="58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Water</a:t>
              </a: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cooled</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   </a:t>
              </a:r>
              <a:r>
                <a:rPr kumimoji="1" lang="en-US" altLang="ja-JP" sz="1600" b="0" i="0" u="none" strike="noStrike" kern="1200" cap="none" spc="0" normalizeH="0" baseline="0" noProof="0" err="1">
                  <a:ln>
                    <a:noFill/>
                  </a:ln>
                  <a:solidFill>
                    <a:srgbClr val="000000"/>
                  </a:solidFill>
                  <a:effectLst/>
                  <a:uLnTx/>
                  <a:uFillTx/>
                  <a:latin typeface="Arial" pitchFamily="34" charset="0"/>
                  <a:ea typeface="HGS創英角ｺﾞｼｯｸUB" pitchFamily="50" charset="-128"/>
                  <a:cs typeface="Arial" pitchFamily="34" charset="0"/>
                </a:rPr>
                <a:t>Exh</a:t>
              </a: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manifold</a:t>
              </a:r>
            </a:p>
          </p:txBody>
        </p:sp>
      </p:grpSp>
      <p:sp>
        <p:nvSpPr>
          <p:cNvPr id="53" name="Rectangle 23"/>
          <p:cNvSpPr>
            <a:spLocks noChangeArrowheads="1"/>
          </p:cNvSpPr>
          <p:nvPr/>
        </p:nvSpPr>
        <p:spPr bwMode="auto">
          <a:xfrm>
            <a:off x="397565" y="753418"/>
            <a:ext cx="2122697" cy="461665"/>
          </a:xfrm>
          <a:prstGeom prst="rect">
            <a:avLst/>
          </a:prstGeom>
          <a:solidFill>
            <a:srgbClr val="993366"/>
          </a:solidFill>
          <a:ln w="9525">
            <a:noFill/>
            <a:miter lim="800000"/>
            <a:headEnd/>
            <a:tailEnd/>
          </a:ln>
          <a:effectLst>
            <a:outerShdw dist="35921" dir="2700000" algn="ctr" rotWithShape="0">
              <a:schemeClr val="bg2"/>
            </a:outerShdw>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In/Exh</a:t>
            </a:r>
            <a:r>
              <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system</a:t>
            </a:r>
            <a:endPar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endParaRPr>
          </a:p>
        </p:txBody>
      </p:sp>
      <p:sp>
        <p:nvSpPr>
          <p:cNvPr id="54" name="Rectangle 23"/>
          <p:cNvSpPr>
            <a:spLocks noChangeArrowheads="1"/>
          </p:cNvSpPr>
          <p:nvPr/>
        </p:nvSpPr>
        <p:spPr bwMode="auto">
          <a:xfrm>
            <a:off x="6486032" y="4264211"/>
            <a:ext cx="2397012" cy="346855"/>
          </a:xfrm>
          <a:prstGeom prst="rect">
            <a:avLst/>
          </a:prstGeom>
          <a:solidFill>
            <a:srgbClr val="993366"/>
          </a:solidFill>
          <a:ln w="9525">
            <a:noFill/>
            <a:miter lim="800000"/>
            <a:headEnd/>
            <a:tailEnd/>
          </a:ln>
          <a:effectLst>
            <a:outerShdw dist="35921" dir="2700000" algn="ctr" rotWithShape="0">
              <a:schemeClr val="bg2"/>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BS-6 RDE</a:t>
            </a:r>
            <a:endPar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endParaRPr>
          </a:p>
        </p:txBody>
      </p:sp>
      <p:sp>
        <p:nvSpPr>
          <p:cNvPr id="55" name="Rectangle 17"/>
          <p:cNvSpPr>
            <a:spLocks noChangeArrowheads="1"/>
          </p:cNvSpPr>
          <p:nvPr/>
        </p:nvSpPr>
        <p:spPr bwMode="auto">
          <a:xfrm>
            <a:off x="6441531" y="4618097"/>
            <a:ext cx="2771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Linear lambda sensor</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New catalyst</a:t>
            </a:r>
          </a:p>
        </p:txBody>
      </p:sp>
      <p:sp>
        <p:nvSpPr>
          <p:cNvPr id="57" name="Rectangle 16"/>
          <p:cNvSpPr>
            <a:spLocks noChangeArrowheads="1"/>
          </p:cNvSpPr>
          <p:nvPr/>
        </p:nvSpPr>
        <p:spPr bwMode="auto">
          <a:xfrm>
            <a:off x="397565" y="1430251"/>
            <a:ext cx="276942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Plastic intake manifold</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In-VTEC</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No EGR system</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LAF&amp;O2 system</a:t>
            </a:r>
          </a:p>
        </p:txBody>
      </p:sp>
      <p:sp>
        <p:nvSpPr>
          <p:cNvPr id="58" name="Rectangle 23"/>
          <p:cNvSpPr>
            <a:spLocks noChangeArrowheads="1"/>
          </p:cNvSpPr>
          <p:nvPr/>
        </p:nvSpPr>
        <p:spPr bwMode="auto">
          <a:xfrm>
            <a:off x="6183632" y="5526436"/>
            <a:ext cx="2397012" cy="346855"/>
          </a:xfrm>
          <a:prstGeom prst="rect">
            <a:avLst/>
          </a:prstGeom>
          <a:solidFill>
            <a:srgbClr val="993366"/>
          </a:solidFill>
          <a:ln w="9525">
            <a:noFill/>
            <a:miter lim="800000"/>
            <a:headEnd/>
            <a:tailEnd/>
          </a:ln>
          <a:effectLst>
            <a:outerShdw dist="35921" dir="2700000" algn="ctr" rotWithShape="0">
              <a:schemeClr val="bg2"/>
            </a:outer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rPr>
              <a:t>ACG</a:t>
            </a:r>
            <a:endParaRPr kumimoji="1" lang="ja-JP" alt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itchFamily="34" charset="0"/>
              <a:ea typeface="HGS創英角ｺﾞｼｯｸUB" pitchFamily="50" charset="-128"/>
              <a:cs typeface="Arial" pitchFamily="34" charset="0"/>
            </a:endParaRPr>
          </a:p>
        </p:txBody>
      </p:sp>
      <p:sp>
        <p:nvSpPr>
          <p:cNvPr id="59" name="Rectangle 17"/>
          <p:cNvSpPr>
            <a:spLocks noChangeArrowheads="1"/>
          </p:cNvSpPr>
          <p:nvPr/>
        </p:nvSpPr>
        <p:spPr bwMode="auto">
          <a:xfrm>
            <a:off x="6276501" y="5957045"/>
            <a:ext cx="2771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LIN CONL 95A</a:t>
            </a:r>
          </a:p>
        </p:txBody>
      </p:sp>
      <p:sp>
        <p:nvSpPr>
          <p:cNvPr id="60" name="Rectangle 17"/>
          <p:cNvSpPr>
            <a:spLocks noChangeArrowheads="1"/>
          </p:cNvSpPr>
          <p:nvPr/>
        </p:nvSpPr>
        <p:spPr bwMode="auto">
          <a:xfrm>
            <a:off x="6183632" y="734042"/>
            <a:ext cx="2771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NP1-kai engine, same as </a:t>
            </a:r>
            <a:r>
              <a:rPr kumimoji="1" lang="en-US" altLang="ja-JP" sz="1600" b="0" i="0" u="none" strike="noStrike" kern="1200" cap="none" spc="0" normalizeH="0" baseline="0" noProof="0">
                <a:ln>
                  <a:noFill/>
                </a:ln>
                <a:solidFill>
                  <a:srgbClr val="FF0000"/>
                </a:solidFill>
                <a:effectLst/>
                <a:uLnTx/>
                <a:uFillTx/>
                <a:latin typeface="Arial" pitchFamily="34" charset="0"/>
                <a:ea typeface="HGS創英角ｺﾞｼｯｸUB" pitchFamily="50" charset="-128"/>
                <a:cs typeface="Arial" pitchFamily="34" charset="0"/>
              </a:rPr>
              <a:t>6SAA</a:t>
            </a:r>
            <a:r>
              <a:rPr kumimoji="1" lang="en-US" altLang="ja-JP" sz="1600" b="0" i="0" u="none" strike="noStrike" kern="1200" cap="none" spc="0" normalizeH="0" baseline="0" noProof="0">
                <a:ln>
                  <a:noFill/>
                </a:ln>
                <a:solidFill>
                  <a:srgbClr val="000000"/>
                </a:solidFill>
                <a:effectLst/>
                <a:uLnTx/>
                <a:uFillTx/>
                <a:latin typeface="Arial" pitchFamily="34" charset="0"/>
                <a:ea typeface="HGS創英角ｺﾞｼｯｸUB" pitchFamily="50" charset="-128"/>
                <a:cs typeface="Arial" pitchFamily="34" charset="0"/>
              </a:rPr>
              <a:t>/6G0X/5DZX/5V6P</a:t>
            </a:r>
          </a:p>
        </p:txBody>
      </p:sp>
      <p:sp>
        <p:nvSpPr>
          <p:cNvPr id="2" name="テキスト ボックス 1">
            <a:extLst>
              <a:ext uri="{FF2B5EF4-FFF2-40B4-BE49-F238E27FC236}">
                <a16:creationId xmlns:a16="http://schemas.microsoft.com/office/drawing/2014/main" id="{4BF0D1AC-702F-222E-71CB-E7CA78E8D90D}"/>
              </a:ext>
            </a:extLst>
          </p:cNvPr>
          <p:cNvSpPr txBox="1"/>
          <p:nvPr/>
        </p:nvSpPr>
        <p:spPr>
          <a:xfrm>
            <a:off x="0" y="6488668"/>
            <a:ext cx="9144000" cy="400110"/>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2026159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2"/>
          <p:cNvSpPr txBox="1">
            <a:spLocks noChangeArrowheads="1"/>
          </p:cNvSpPr>
          <p:nvPr/>
        </p:nvSpPr>
        <p:spPr bwMode="auto">
          <a:xfrm>
            <a:off x="1738663" y="83640"/>
            <a:ext cx="5682389"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8. Engine &amp;</a:t>
            </a:r>
            <a:r>
              <a:rPr kumimoji="0"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a:t>
            </a: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Vehicle</a:t>
            </a:r>
            <a:r>
              <a:rPr kumimoji="0"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a:t>
            </a: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basic specification</a:t>
            </a:r>
            <a:r>
              <a:rPr kumimoji="0"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a:t>
            </a: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(3/5)</a:t>
            </a:r>
          </a:p>
        </p:txBody>
      </p:sp>
      <p:graphicFrame>
        <p:nvGraphicFramePr>
          <p:cNvPr id="13" name="Table 1"/>
          <p:cNvGraphicFramePr>
            <a:graphicFrameLocks noGrp="1"/>
          </p:cNvGraphicFramePr>
          <p:nvPr>
            <p:extLst>
              <p:ext uri="{D42A27DB-BD31-4B8C-83A1-F6EECF244321}">
                <p14:modId xmlns:p14="http://schemas.microsoft.com/office/powerpoint/2010/main" val="2054763071"/>
              </p:ext>
            </p:extLst>
          </p:nvPr>
        </p:nvGraphicFramePr>
        <p:xfrm>
          <a:off x="169818" y="1217126"/>
          <a:ext cx="4402181" cy="2748450"/>
        </p:xfrm>
        <a:graphic>
          <a:graphicData uri="http://schemas.openxmlformats.org/drawingml/2006/table">
            <a:tbl>
              <a:tblPr firstRow="1" bandRow="1">
                <a:tableStyleId>{5940675A-B579-460E-94D1-54222C63F5DA}</a:tableStyleId>
              </a:tblPr>
              <a:tblGrid>
                <a:gridCol w="1422703">
                  <a:extLst>
                    <a:ext uri="{9D8B030D-6E8A-4147-A177-3AD203B41FA5}">
                      <a16:colId xmlns:a16="http://schemas.microsoft.com/office/drawing/2014/main" val="20000"/>
                    </a:ext>
                  </a:extLst>
                </a:gridCol>
                <a:gridCol w="2979478">
                  <a:extLst>
                    <a:ext uri="{9D8B030D-6E8A-4147-A177-3AD203B41FA5}">
                      <a16:colId xmlns:a16="http://schemas.microsoft.com/office/drawing/2014/main" val="20001"/>
                    </a:ext>
                  </a:extLst>
                </a:gridCol>
              </a:tblGrid>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Power</a:t>
                      </a:r>
                    </a:p>
                  </a:txBody>
                  <a:tcPr marT="0" marB="0" anchor="ctr">
                    <a:solidFill>
                      <a:schemeClr val="bg1"/>
                    </a:solidFill>
                  </a:tcPr>
                </a:tc>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6</a:t>
                      </a:r>
                      <a:r>
                        <a:rPr lang="en-US" altLang="ja-JP" sz="1100">
                          <a:latin typeface="Meiryo UI" panose="020B0604030504040204" pitchFamily="50" charset="-128"/>
                          <a:ea typeface="Meiryo UI" panose="020B0604030504040204" pitchFamily="50" charset="-128"/>
                          <a:cs typeface="Meiryo UI" panose="020B0604030504040204" pitchFamily="50" charset="-128"/>
                        </a:rPr>
                        <a:t>6</a:t>
                      </a:r>
                      <a:r>
                        <a:rPr lang="en-US" sz="1100">
                          <a:latin typeface="Meiryo UI" panose="020B0604030504040204" pitchFamily="50" charset="-128"/>
                          <a:ea typeface="Meiryo UI" panose="020B0604030504040204" pitchFamily="50" charset="-128"/>
                          <a:cs typeface="Meiryo UI" panose="020B0604030504040204" pitchFamily="50" charset="-128"/>
                        </a:rPr>
                        <a:t> kW/6000rpm</a:t>
                      </a:r>
                    </a:p>
                  </a:txBody>
                  <a:tcPr marT="0" marB="0" anchor="ctr">
                    <a:solidFill>
                      <a:schemeClr val="bg1"/>
                    </a:solidFill>
                  </a:tcPr>
                </a:tc>
                <a:extLst>
                  <a:ext uri="{0D108BD9-81ED-4DB2-BD59-A6C34878D82A}">
                    <a16:rowId xmlns:a16="http://schemas.microsoft.com/office/drawing/2014/main" val="10000"/>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Torque</a:t>
                      </a:r>
                    </a:p>
                  </a:txBody>
                  <a:tcPr marT="0" marB="0" anchor="ctr">
                    <a:solidFill>
                      <a:schemeClr val="bg1"/>
                    </a:solidFill>
                  </a:tcPr>
                </a:tc>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1</a:t>
                      </a:r>
                      <a:r>
                        <a:rPr lang="en-US" altLang="ja-JP" sz="1100">
                          <a:latin typeface="Meiryo UI" panose="020B0604030504040204" pitchFamily="50" charset="-128"/>
                          <a:ea typeface="Meiryo UI" panose="020B0604030504040204" pitchFamily="50" charset="-128"/>
                          <a:cs typeface="Meiryo UI" panose="020B0604030504040204" pitchFamily="50" charset="-128"/>
                        </a:rPr>
                        <a:t>08</a:t>
                      </a:r>
                      <a:r>
                        <a:rPr lang="en-US" sz="1100">
                          <a:latin typeface="Meiryo UI" panose="020B0604030504040204" pitchFamily="50" charset="-128"/>
                          <a:ea typeface="Meiryo UI" panose="020B0604030504040204" pitchFamily="50" charset="-128"/>
                          <a:cs typeface="Meiryo UI" panose="020B0604030504040204" pitchFamily="50" charset="-128"/>
                        </a:rPr>
                        <a:t> Nm/4800rpm</a:t>
                      </a:r>
                    </a:p>
                  </a:txBody>
                  <a:tcPr marT="0" marB="0" anchor="ctr">
                    <a:solidFill>
                      <a:schemeClr val="bg1"/>
                    </a:solidFill>
                  </a:tcPr>
                </a:tc>
                <a:extLst>
                  <a:ext uri="{0D108BD9-81ED-4DB2-BD59-A6C34878D82A}">
                    <a16:rowId xmlns:a16="http://schemas.microsoft.com/office/drawing/2014/main" val="10001"/>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EM Category</a:t>
                      </a:r>
                    </a:p>
                  </a:txBody>
                  <a:tcPr marT="0" marB="0" anchor="ctr">
                    <a:solidFill>
                      <a:schemeClr val="bg1"/>
                    </a:solidFill>
                  </a:tcPr>
                </a:tc>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BS6 +RDE</a:t>
                      </a:r>
                    </a:p>
                  </a:txBody>
                  <a:tcPr marT="0" marB="0" anchor="ctr">
                    <a:solidFill>
                      <a:schemeClr val="bg1"/>
                    </a:solidFill>
                  </a:tcPr>
                </a:tc>
                <a:extLst>
                  <a:ext uri="{0D108BD9-81ED-4DB2-BD59-A6C34878D82A}">
                    <a16:rowId xmlns:a16="http://schemas.microsoft.com/office/drawing/2014/main" val="10002"/>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B x S (mm)</a:t>
                      </a:r>
                    </a:p>
                  </a:txBody>
                  <a:tcPr marT="0" marB="0" anchor="ctr">
                    <a:solidFill>
                      <a:schemeClr val="bg1"/>
                    </a:solidFill>
                  </a:tcPr>
                </a:tc>
                <a:tc>
                  <a:txBody>
                    <a:bodyPr/>
                    <a:lstStyle/>
                    <a:p>
                      <a:r>
                        <a:rPr lang="el-GR" altLang="ja-JP" sz="1100">
                          <a:latin typeface="Meiryo UI" panose="020B0604030504040204" pitchFamily="50" charset="-128"/>
                          <a:ea typeface="Meiryo UI" panose="020B0604030504040204" pitchFamily="50" charset="-128"/>
                          <a:cs typeface="Meiryo UI" panose="020B0604030504040204" pitchFamily="50" charset="-128"/>
                        </a:rPr>
                        <a:t>Φ</a:t>
                      </a:r>
                      <a:r>
                        <a:rPr lang="en-US" altLang="ja-JP" sz="1100">
                          <a:latin typeface="Meiryo UI" panose="020B0604030504040204" pitchFamily="50" charset="-128"/>
                          <a:ea typeface="Meiryo UI" panose="020B0604030504040204" pitchFamily="50" charset="-128"/>
                          <a:cs typeface="Meiryo UI" panose="020B0604030504040204" pitchFamily="50" charset="-128"/>
                        </a:rPr>
                        <a:t>73 x 71.58</a:t>
                      </a:r>
                      <a:endParaRPr lang="en-US" sz="1100">
                        <a:latin typeface="Meiryo UI" panose="020B0604030504040204" pitchFamily="50" charset="-128"/>
                        <a:ea typeface="Meiryo UI" panose="020B0604030504040204" pitchFamily="50" charset="-128"/>
                        <a:cs typeface="Meiryo UI" panose="020B0604030504040204" pitchFamily="50" charset="-128"/>
                      </a:endParaRPr>
                    </a:p>
                  </a:txBody>
                  <a:tcPr marT="0" marB="0" anchor="ctr">
                    <a:solidFill>
                      <a:schemeClr val="bg1"/>
                    </a:solidFill>
                  </a:tcPr>
                </a:tc>
                <a:extLst>
                  <a:ext uri="{0D108BD9-81ED-4DB2-BD59-A6C34878D82A}">
                    <a16:rowId xmlns:a16="http://schemas.microsoft.com/office/drawing/2014/main" val="10003"/>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Displacement   </a:t>
                      </a:r>
                    </a:p>
                  </a:txBody>
                  <a:tcPr marT="0" marB="0" anchor="ctr">
                    <a:solidFill>
                      <a:schemeClr val="bg1"/>
                    </a:solidFill>
                  </a:tcPr>
                </a:tc>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1199 cc</a:t>
                      </a:r>
                    </a:p>
                  </a:txBody>
                  <a:tcPr marT="0" marB="0" anchor="ctr">
                    <a:solidFill>
                      <a:schemeClr val="bg1"/>
                    </a:solidFill>
                  </a:tcPr>
                </a:tc>
                <a:extLst>
                  <a:ext uri="{0D108BD9-81ED-4DB2-BD59-A6C34878D82A}">
                    <a16:rowId xmlns:a16="http://schemas.microsoft.com/office/drawing/2014/main" val="10004"/>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Comp</a:t>
                      </a:r>
                      <a:r>
                        <a:rPr lang="en-US" sz="1100" baseline="0">
                          <a:latin typeface="Meiryo UI" panose="020B0604030504040204" pitchFamily="50" charset="-128"/>
                          <a:ea typeface="Meiryo UI" panose="020B0604030504040204" pitchFamily="50" charset="-128"/>
                          <a:cs typeface="Meiryo UI" panose="020B0604030504040204" pitchFamily="50" charset="-128"/>
                        </a:rPr>
                        <a:t> </a:t>
                      </a:r>
                      <a:r>
                        <a:rPr lang="en-US" sz="1100">
                          <a:latin typeface="Meiryo UI" panose="020B0604030504040204" pitchFamily="50" charset="-128"/>
                          <a:ea typeface="Meiryo UI" panose="020B0604030504040204" pitchFamily="50" charset="-128"/>
                          <a:cs typeface="Meiryo UI" panose="020B0604030504040204" pitchFamily="50" charset="-128"/>
                        </a:rPr>
                        <a:t>Ratio</a:t>
                      </a:r>
                    </a:p>
                  </a:txBody>
                  <a:tcPr marT="0" marB="0" anchor="ctr">
                    <a:solidFill>
                      <a:schemeClr val="bg1"/>
                    </a:solidFill>
                  </a:tcPr>
                </a:tc>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10.1</a:t>
                      </a:r>
                    </a:p>
                  </a:txBody>
                  <a:tcPr marT="0" marB="0" anchor="ctr">
                    <a:solidFill>
                      <a:schemeClr val="bg1"/>
                    </a:solidFill>
                  </a:tcPr>
                </a:tc>
                <a:extLst>
                  <a:ext uri="{0D108BD9-81ED-4DB2-BD59-A6C34878D82A}">
                    <a16:rowId xmlns:a16="http://schemas.microsoft.com/office/drawing/2014/main" val="10005"/>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Valve Train</a:t>
                      </a:r>
                    </a:p>
                  </a:txBody>
                  <a:tcPr marT="0" marB="0" anchor="ctr">
                    <a:solidFill>
                      <a:schemeClr val="bg1"/>
                    </a:solidFill>
                  </a:tcPr>
                </a:tc>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i-VTEC 4Valve</a:t>
                      </a:r>
                    </a:p>
                  </a:txBody>
                  <a:tcPr marT="0" marB="0" anchor="ctr">
                    <a:solidFill>
                      <a:schemeClr val="bg1"/>
                    </a:solidFill>
                  </a:tcPr>
                </a:tc>
                <a:extLst>
                  <a:ext uri="{0D108BD9-81ED-4DB2-BD59-A6C34878D82A}">
                    <a16:rowId xmlns:a16="http://schemas.microsoft.com/office/drawing/2014/main" val="10006"/>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Cylinder Head</a:t>
                      </a:r>
                    </a:p>
                  </a:txBody>
                  <a:tcPr marT="0" marB="0" anchor="ctr">
                    <a:solidFill>
                      <a:schemeClr val="bg1"/>
                    </a:solidFill>
                  </a:tcPr>
                </a:tc>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Exhaust manifold less</a:t>
                      </a:r>
                    </a:p>
                  </a:txBody>
                  <a:tcPr marT="0" marB="0" anchor="ctr">
                    <a:solidFill>
                      <a:schemeClr val="bg1"/>
                    </a:solidFill>
                  </a:tcPr>
                </a:tc>
                <a:extLst>
                  <a:ext uri="{0D108BD9-81ED-4DB2-BD59-A6C34878D82A}">
                    <a16:rowId xmlns:a16="http://schemas.microsoft.com/office/drawing/2014/main" val="10007"/>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Intake Manifold</a:t>
                      </a:r>
                    </a:p>
                  </a:txBody>
                  <a:tcPr marT="0" marB="0" anchor="ctr">
                    <a:solidFill>
                      <a:schemeClr val="bg1"/>
                    </a:solidFill>
                  </a:tcPr>
                </a:tc>
                <a:tc>
                  <a:txBody>
                    <a:bodyPr/>
                    <a:lstStyle/>
                    <a:p>
                      <a:r>
                        <a:rPr lang="el-GR" altLang="ja-JP" sz="1100">
                          <a:latin typeface="Meiryo UI" panose="020B0604030504040204" pitchFamily="50" charset="-128"/>
                          <a:ea typeface="Meiryo UI" panose="020B0604030504040204" pitchFamily="50" charset="-128"/>
                          <a:cs typeface="Meiryo UI" panose="020B0604030504040204" pitchFamily="50" charset="-128"/>
                        </a:rPr>
                        <a:t>Φ</a:t>
                      </a:r>
                      <a:r>
                        <a:rPr lang="en-US" altLang="ja-JP" sz="1100">
                          <a:latin typeface="Meiryo UI" panose="020B0604030504040204" pitchFamily="50" charset="-128"/>
                          <a:ea typeface="Meiryo UI" panose="020B0604030504040204" pitchFamily="50" charset="-128"/>
                          <a:cs typeface="Meiryo UI" panose="020B0604030504040204" pitchFamily="50" charset="-128"/>
                        </a:rPr>
                        <a:t>34 x 292</a:t>
                      </a:r>
                      <a:endParaRPr lang="en-US" sz="1100">
                        <a:latin typeface="Meiryo UI" panose="020B0604030504040204" pitchFamily="50" charset="-128"/>
                        <a:ea typeface="Meiryo UI" panose="020B0604030504040204" pitchFamily="50" charset="-128"/>
                        <a:cs typeface="Meiryo UI" panose="020B0604030504040204" pitchFamily="50" charset="-128"/>
                      </a:endParaRPr>
                    </a:p>
                  </a:txBody>
                  <a:tcPr marT="0" marB="0" anchor="ctr">
                    <a:solidFill>
                      <a:schemeClr val="bg1"/>
                    </a:solidFill>
                  </a:tcPr>
                </a:tc>
                <a:extLst>
                  <a:ext uri="{0D108BD9-81ED-4DB2-BD59-A6C34878D82A}">
                    <a16:rowId xmlns:a16="http://schemas.microsoft.com/office/drawing/2014/main" val="10008"/>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Throttle Bore</a:t>
                      </a:r>
                    </a:p>
                  </a:txBody>
                  <a:tcPr marT="0" marB="0" anchor="ctr">
                    <a:solidFill>
                      <a:schemeClr val="bg1"/>
                    </a:solidFill>
                  </a:tcPr>
                </a:tc>
                <a:tc>
                  <a:txBody>
                    <a:bodyPr/>
                    <a:lstStyle/>
                    <a:p>
                      <a:r>
                        <a:rPr lang="el-GR" altLang="ja-JP" sz="1100">
                          <a:latin typeface="Meiryo UI" panose="020B0604030504040204" pitchFamily="50" charset="-128"/>
                          <a:ea typeface="Meiryo UI" panose="020B0604030504040204" pitchFamily="50" charset="-128"/>
                          <a:cs typeface="Meiryo UI" panose="020B0604030504040204" pitchFamily="50" charset="-128"/>
                        </a:rPr>
                        <a:t>Φ</a:t>
                      </a:r>
                      <a:r>
                        <a:rPr lang="en-US" altLang="ja-JP" sz="1100">
                          <a:latin typeface="Meiryo UI" panose="020B0604030504040204" pitchFamily="50" charset="-128"/>
                          <a:ea typeface="Meiryo UI" panose="020B0604030504040204" pitchFamily="50" charset="-128"/>
                          <a:cs typeface="Meiryo UI" panose="020B0604030504040204" pitchFamily="50" charset="-128"/>
                        </a:rPr>
                        <a:t>45</a:t>
                      </a:r>
                      <a:endParaRPr lang="en-US" sz="1100">
                        <a:latin typeface="Meiryo UI" panose="020B0604030504040204" pitchFamily="50" charset="-128"/>
                        <a:ea typeface="Meiryo UI" panose="020B0604030504040204" pitchFamily="50" charset="-128"/>
                        <a:cs typeface="Meiryo UI" panose="020B0604030504040204" pitchFamily="50" charset="-128"/>
                      </a:endParaRPr>
                    </a:p>
                  </a:txBody>
                  <a:tcPr marT="0" marB="0" anchor="ctr">
                    <a:solidFill>
                      <a:schemeClr val="bg1"/>
                    </a:solidFill>
                  </a:tcPr>
                </a:tc>
                <a:extLst>
                  <a:ext uri="{0D108BD9-81ED-4DB2-BD59-A6C34878D82A}">
                    <a16:rowId xmlns:a16="http://schemas.microsoft.com/office/drawing/2014/main" val="10009"/>
                  </a:ext>
                </a:extLst>
              </a:tr>
              <a:tr h="212361">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Fuel</a:t>
                      </a:r>
                    </a:p>
                  </a:txBody>
                  <a:tcPr marT="0" marB="0" anchor="ctr">
                    <a:solidFill>
                      <a:schemeClr val="bg1"/>
                    </a:solidFill>
                  </a:tcPr>
                </a:tc>
                <a:tc>
                  <a:txBody>
                    <a:bodyPr/>
                    <a:lstStyle/>
                    <a:p>
                      <a:r>
                        <a:rPr lang="en-US" sz="1100">
                          <a:latin typeface="Meiryo UI" panose="020B0604030504040204" pitchFamily="50" charset="-128"/>
                          <a:ea typeface="Meiryo UI" panose="020B0604030504040204" pitchFamily="50" charset="-128"/>
                          <a:cs typeface="Meiryo UI" panose="020B0604030504040204" pitchFamily="50" charset="-128"/>
                        </a:rPr>
                        <a:t>RON 98</a:t>
                      </a:r>
                    </a:p>
                    <a:p>
                      <a:r>
                        <a:rPr lang="en-US" sz="1000">
                          <a:latin typeface="Meiryo UI" panose="020B0604030504040204" pitchFamily="50" charset="-128"/>
                          <a:ea typeface="Meiryo UI" panose="020B0604030504040204" pitchFamily="50" charset="-128"/>
                          <a:cs typeface="Meiryo UI" panose="020B0604030504040204" pitchFamily="50" charset="-128"/>
                        </a:rPr>
                        <a:t>*Based on ‘22 </a:t>
                      </a:r>
                    </a:p>
                    <a:p>
                      <a:r>
                        <a:rPr lang="en-US" sz="1000">
                          <a:latin typeface="Meiryo UI" panose="020B0604030504040204" pitchFamily="50" charset="-128"/>
                          <a:ea typeface="Meiryo UI" panose="020B0604030504040204" pitchFamily="50" charset="-128"/>
                          <a:cs typeface="Meiryo UI" panose="020B0604030504040204" pitchFamily="50" charset="-128"/>
                        </a:rPr>
                        <a:t>India Government E20 pre information</a:t>
                      </a:r>
                    </a:p>
                    <a:p>
                      <a:r>
                        <a:rPr lang="en-US" sz="1000">
                          <a:latin typeface="Meiryo UI" panose="020B0604030504040204" pitchFamily="50" charset="-128"/>
                          <a:ea typeface="Meiryo UI" panose="020B0604030504040204" pitchFamily="50" charset="-128"/>
                          <a:cs typeface="Meiryo UI" panose="020B0604030504040204" pitchFamily="50" charset="-128"/>
                        </a:rPr>
                        <a:t>*KCS limit is </a:t>
                      </a:r>
                      <a:r>
                        <a:rPr lang="en-US" sz="1000" err="1">
                          <a:latin typeface="Meiryo UI" panose="020B0604030504040204" pitchFamily="50" charset="-128"/>
                          <a:ea typeface="Meiryo UI" panose="020B0604030504040204" pitchFamily="50" charset="-128"/>
                          <a:cs typeface="Meiryo UI" panose="020B0604030504040204" pitchFamily="50" charset="-128"/>
                        </a:rPr>
                        <a:t>sama</a:t>
                      </a:r>
                      <a:r>
                        <a:rPr lang="en-US" sz="1000">
                          <a:latin typeface="Meiryo UI" panose="020B0604030504040204" pitchFamily="50" charset="-128"/>
                          <a:ea typeface="Meiryo UI" panose="020B0604030504040204" pitchFamily="50" charset="-128"/>
                          <a:cs typeface="Meiryo UI" panose="020B0604030504040204" pitchFamily="50" charset="-128"/>
                        </a:rPr>
                        <a:t> as </a:t>
                      </a:r>
                      <a:r>
                        <a:rPr lang="en-US" sz="1000" baseline="0">
                          <a:solidFill>
                            <a:srgbClr val="FF0000"/>
                          </a:solidFill>
                          <a:latin typeface="Meiryo UI" panose="020B0604030504040204" pitchFamily="50" charset="-128"/>
                          <a:ea typeface="Meiryo UI" panose="020B0604030504040204" pitchFamily="50" charset="-128"/>
                          <a:cs typeface="Meiryo UI" panose="020B0604030504040204" pitchFamily="50" charset="-128"/>
                        </a:rPr>
                        <a:t>6SAA</a:t>
                      </a:r>
                    </a:p>
                  </a:txBody>
                  <a:tcPr marT="0" marB="0" anchor="ctr">
                    <a:solidFill>
                      <a:schemeClr val="bg1"/>
                    </a:solidFill>
                  </a:tcPr>
                </a:tc>
                <a:extLst>
                  <a:ext uri="{0D108BD9-81ED-4DB2-BD59-A6C34878D82A}">
                    <a16:rowId xmlns:a16="http://schemas.microsoft.com/office/drawing/2014/main" val="10010"/>
                  </a:ext>
                </a:extLst>
              </a:tr>
            </a:tbl>
          </a:graphicData>
        </a:graphic>
      </p:graphicFrame>
      <p:sp>
        <p:nvSpPr>
          <p:cNvPr id="15" name="テキスト ボックス 14"/>
          <p:cNvSpPr txBox="1"/>
          <p:nvPr/>
        </p:nvSpPr>
        <p:spPr>
          <a:xfrm>
            <a:off x="169819" y="789417"/>
            <a:ext cx="2667397" cy="338554"/>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ja-JP" sz="1600" b="1" i="0" u="none" strike="noStrike" kern="1200" cap="none" spc="0" normalizeH="0" baseline="0" noProof="0">
                <a:ln>
                  <a:noFill/>
                </a:ln>
                <a:solidFill>
                  <a:prstClr val="black"/>
                </a:solidFill>
                <a:effectLst/>
                <a:uLnTx/>
                <a:uFillTx/>
                <a:latin typeface="Meiryo UI"/>
                <a:ea typeface="Meiryo UI"/>
                <a:cs typeface="+mn-cs"/>
              </a:rPr>
              <a:t>Engine</a:t>
            </a:r>
            <a:r>
              <a:rPr kumimoji="1" lang="ja-JP" altLang="en-US" sz="1600" b="1"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1600" b="1" i="0" u="none" strike="noStrike" kern="1200" cap="none" spc="0" normalizeH="0" baseline="0" noProof="0">
                <a:ln>
                  <a:noFill/>
                </a:ln>
                <a:solidFill>
                  <a:prstClr val="black"/>
                </a:solidFill>
                <a:effectLst/>
                <a:uLnTx/>
                <a:uFillTx/>
                <a:latin typeface="Meiryo UI"/>
                <a:ea typeface="Meiryo UI"/>
                <a:cs typeface="+mn-cs"/>
              </a:rPr>
              <a:t>Specification</a:t>
            </a:r>
            <a:endParaRPr kumimoji="1" lang="ja-JP" altLang="en-US" sz="1600" b="1" i="0" u="none" strike="noStrike" kern="1200" cap="none" spc="0" normalizeH="0" baseline="0" noProof="0">
              <a:ln>
                <a:noFill/>
              </a:ln>
              <a:solidFill>
                <a:prstClr val="black"/>
              </a:solidFill>
              <a:effectLst/>
              <a:uLnTx/>
              <a:uFillTx/>
              <a:latin typeface="Meiryo UI"/>
              <a:ea typeface="Meiryo UI"/>
              <a:cs typeface="+mn-cs"/>
            </a:endParaRPr>
          </a:p>
        </p:txBody>
      </p:sp>
      <p:graphicFrame>
        <p:nvGraphicFramePr>
          <p:cNvPr id="19" name="表 18"/>
          <p:cNvGraphicFramePr>
            <a:graphicFrameLocks noGrp="1"/>
          </p:cNvGraphicFramePr>
          <p:nvPr/>
        </p:nvGraphicFramePr>
        <p:xfrm>
          <a:off x="379346" y="4471871"/>
          <a:ext cx="3069248" cy="1019520"/>
        </p:xfrm>
        <a:graphic>
          <a:graphicData uri="http://schemas.openxmlformats.org/drawingml/2006/table">
            <a:tbl>
              <a:tblPr firstRow="1" firstCol="1" bandRow="1"/>
              <a:tblGrid>
                <a:gridCol w="1285492">
                  <a:extLst>
                    <a:ext uri="{9D8B030D-6E8A-4147-A177-3AD203B41FA5}">
                      <a16:colId xmlns:a16="http://schemas.microsoft.com/office/drawing/2014/main" val="20000"/>
                    </a:ext>
                  </a:extLst>
                </a:gridCol>
                <a:gridCol w="1783756">
                  <a:extLst>
                    <a:ext uri="{9D8B030D-6E8A-4147-A177-3AD203B41FA5}">
                      <a16:colId xmlns:a16="http://schemas.microsoft.com/office/drawing/2014/main" val="20001"/>
                    </a:ext>
                  </a:extLst>
                </a:gridCol>
              </a:tblGrid>
              <a:tr h="171450">
                <a:tc>
                  <a:txBody>
                    <a:bodyPr/>
                    <a:lstStyle/>
                    <a:p>
                      <a:pPr algn="l">
                        <a:spcAft>
                          <a:spcPts val="0"/>
                        </a:spcAft>
                      </a:pPr>
                      <a:r>
                        <a:rPr lang="en-US" sz="1200" kern="0">
                          <a:solidFill>
                            <a:srgbClr val="000000"/>
                          </a:solidFill>
                          <a:effectLst/>
                          <a:latin typeface="Arial" panose="020B0604020202020204" pitchFamily="34" charset="0"/>
                          <a:ea typeface="+mn-ea"/>
                          <a:cs typeface="Arial" panose="020B0604020202020204" pitchFamily="34" charset="0"/>
                        </a:rPr>
                        <a:t>1) </a:t>
                      </a:r>
                      <a:r>
                        <a:rPr lang="en-US" altLang="ja-JP" sz="1200" kern="0">
                          <a:solidFill>
                            <a:srgbClr val="000000"/>
                          </a:solidFill>
                          <a:effectLst/>
                          <a:latin typeface="Arial" panose="020B0604020202020204" pitchFamily="34" charset="0"/>
                          <a:ea typeface="+mn-ea"/>
                          <a:cs typeface="Arial" panose="020B0604020202020204" pitchFamily="34" charset="0"/>
                        </a:rPr>
                        <a:t>Engine</a:t>
                      </a:r>
                      <a:r>
                        <a:rPr lang="en-US" sz="1200" kern="0">
                          <a:solidFill>
                            <a:srgbClr val="000000"/>
                          </a:solidFill>
                          <a:effectLst/>
                          <a:latin typeface="Arial" panose="020B0604020202020204" pitchFamily="34" charset="0"/>
                          <a:ea typeface="+mn-ea"/>
                          <a:cs typeface="Arial" panose="020B0604020202020204" pitchFamily="34" charset="0"/>
                        </a:rPr>
                        <a:t> speed</a:t>
                      </a:r>
                      <a:endParaRPr lang="ja-JP" sz="1200" kern="100">
                        <a:effectLst/>
                        <a:latin typeface="Arial" panose="020B0604020202020204" pitchFamily="34" charset="0"/>
                        <a:ea typeface="+mn-ea"/>
                        <a:cs typeface="Arial" panose="020B0604020202020204" pitchFamily="34" charset="0"/>
                      </a:endParaRP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ja-JP" altLang="en-US" sz="1200" kern="0">
                          <a:solidFill>
                            <a:srgbClr val="000000"/>
                          </a:solidFill>
                          <a:effectLst/>
                          <a:latin typeface="Arial" panose="020B0604020202020204" pitchFamily="34" charset="0"/>
                          <a:ea typeface="+mn-ea"/>
                          <a:cs typeface="Arial" panose="020B0604020202020204" pitchFamily="34" charset="0"/>
                        </a:rPr>
                        <a:t>≦</a:t>
                      </a:r>
                      <a:r>
                        <a:rPr lang="en-US" altLang="ja-JP" sz="1200" kern="0">
                          <a:solidFill>
                            <a:srgbClr val="000000"/>
                          </a:solidFill>
                          <a:effectLst/>
                          <a:latin typeface="Arial" panose="020B0604020202020204" pitchFamily="34" charset="0"/>
                          <a:ea typeface="+mn-ea"/>
                          <a:cs typeface="Arial" panose="020B0604020202020204" pitchFamily="34" charset="0"/>
                        </a:rPr>
                        <a:t>6600</a:t>
                      </a:r>
                      <a:r>
                        <a:rPr lang="en-US" sz="1200" kern="0">
                          <a:solidFill>
                            <a:srgbClr val="000000"/>
                          </a:solidFill>
                          <a:effectLst/>
                          <a:latin typeface="Arial" panose="020B0604020202020204" pitchFamily="34" charset="0"/>
                          <a:ea typeface="+mn-ea"/>
                          <a:cs typeface="Arial" panose="020B0604020202020204" pitchFamily="34" charset="0"/>
                        </a:rPr>
                        <a:t> rpm</a:t>
                      </a:r>
                      <a:endParaRPr lang="ja-JP" sz="1200" kern="100">
                        <a:effectLst/>
                        <a:latin typeface="Arial" panose="020B0604020202020204" pitchFamily="34" charset="0"/>
                        <a:ea typeface="+mn-ea"/>
                        <a:cs typeface="Arial" panose="020B0604020202020204" pitchFamily="34" charset="0"/>
                      </a:endParaRP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1450">
                <a:tc>
                  <a:txBody>
                    <a:bodyPr/>
                    <a:lstStyle/>
                    <a:p>
                      <a:pPr algn="l">
                        <a:spcAft>
                          <a:spcPts val="0"/>
                        </a:spcAft>
                      </a:pPr>
                      <a:r>
                        <a:rPr lang="en-US" sz="1200" kern="0">
                          <a:solidFill>
                            <a:srgbClr val="000000"/>
                          </a:solidFill>
                          <a:effectLst/>
                          <a:latin typeface="Arial" panose="020B0604020202020204" pitchFamily="34" charset="0"/>
                          <a:ea typeface="+mn-ea"/>
                          <a:cs typeface="Arial" panose="020B0604020202020204" pitchFamily="34" charset="0"/>
                        </a:rPr>
                        <a:t>2) T</a:t>
                      </a:r>
                      <a:r>
                        <a:rPr lang="en-US" altLang="ja-JP" sz="1200" kern="0">
                          <a:solidFill>
                            <a:srgbClr val="000000"/>
                          </a:solidFill>
                          <a:effectLst/>
                          <a:latin typeface="Arial" panose="020B0604020202020204" pitchFamily="34" charset="0"/>
                          <a:ea typeface="+mn-ea"/>
                          <a:cs typeface="Arial" panose="020B0604020202020204" pitchFamily="34" charset="0"/>
                        </a:rPr>
                        <a:t>mot</a:t>
                      </a:r>
                      <a:endParaRPr lang="ja-JP" sz="1200" kern="100">
                        <a:effectLst/>
                        <a:latin typeface="Arial" panose="020B0604020202020204" pitchFamily="34" charset="0"/>
                        <a:ea typeface="+mn-ea"/>
                        <a:cs typeface="Arial" panose="020B0604020202020204" pitchFamily="34" charset="0"/>
                      </a:endParaRP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ja-JP" altLang="en-US" sz="1200" kern="100">
                          <a:effectLst/>
                          <a:latin typeface="Arial" panose="020B0604020202020204" pitchFamily="34" charset="0"/>
                          <a:ea typeface="+mn-ea"/>
                          <a:cs typeface="Arial" panose="020B0604020202020204" pitchFamily="34" charset="0"/>
                        </a:rPr>
                        <a:t>≦</a:t>
                      </a:r>
                      <a:r>
                        <a:rPr lang="en-US" altLang="ja-JP" sz="1200" kern="100">
                          <a:effectLst/>
                          <a:latin typeface="Arial" panose="020B0604020202020204" pitchFamily="34" charset="0"/>
                          <a:ea typeface="+mn-ea"/>
                          <a:cs typeface="Arial" panose="020B0604020202020204" pitchFamily="34" charset="0"/>
                        </a:rPr>
                        <a:t>90</a:t>
                      </a:r>
                      <a:r>
                        <a:rPr lang="en-US" altLang="ja-JP" sz="1200" kern="100" baseline="0">
                          <a:effectLst/>
                          <a:latin typeface="Arial" panose="020B0604020202020204" pitchFamily="34" charset="0"/>
                          <a:ea typeface="+mn-ea"/>
                          <a:cs typeface="Arial" panose="020B0604020202020204" pitchFamily="34" charset="0"/>
                        </a:rPr>
                        <a:t> deg C</a:t>
                      </a:r>
                      <a:endParaRPr lang="ja-JP" sz="1200" kern="100">
                        <a:effectLst/>
                        <a:latin typeface="Arial" panose="020B0604020202020204" pitchFamily="34" charset="0"/>
                        <a:ea typeface="+mn-ea"/>
                        <a:cs typeface="Arial" panose="020B0604020202020204" pitchFamily="34" charset="0"/>
                      </a:endParaRP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algn="l">
                        <a:spcAft>
                          <a:spcPts val="0"/>
                        </a:spcAft>
                      </a:pPr>
                      <a:r>
                        <a:rPr lang="en-US" sz="1200" kern="0">
                          <a:solidFill>
                            <a:srgbClr val="000000"/>
                          </a:solidFill>
                          <a:effectLst/>
                          <a:latin typeface="Arial" panose="020B0604020202020204" pitchFamily="34" charset="0"/>
                          <a:ea typeface="+mn-ea"/>
                          <a:cs typeface="Arial" panose="020B0604020202020204" pitchFamily="34" charset="0"/>
                        </a:rPr>
                        <a:t>3) T-CAT</a:t>
                      </a:r>
                      <a:endParaRPr lang="ja-JP" sz="1200" kern="100">
                        <a:effectLst/>
                        <a:latin typeface="Arial" panose="020B0604020202020204" pitchFamily="34" charset="0"/>
                        <a:ea typeface="+mn-ea"/>
                        <a:cs typeface="Arial" panose="020B0604020202020204" pitchFamily="34" charset="0"/>
                      </a:endParaRP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ja-JP" altLang="en-US" sz="1200" kern="100">
                          <a:effectLst/>
                          <a:latin typeface="Arial" panose="020B0604020202020204" pitchFamily="34" charset="0"/>
                          <a:ea typeface="+mn-ea"/>
                          <a:cs typeface="Arial" panose="020B0604020202020204" pitchFamily="34" charset="0"/>
                        </a:rPr>
                        <a:t>≦</a:t>
                      </a:r>
                      <a:r>
                        <a:rPr lang="en-US" altLang="ja-JP" sz="1200" kern="100">
                          <a:effectLst/>
                          <a:latin typeface="Arial" panose="020B0604020202020204" pitchFamily="34" charset="0"/>
                          <a:ea typeface="+mn-ea"/>
                          <a:cs typeface="Arial" panose="020B0604020202020204" pitchFamily="34" charset="0"/>
                        </a:rPr>
                        <a:t>950 deg</a:t>
                      </a:r>
                      <a:r>
                        <a:rPr lang="en-US" altLang="ja-JP" sz="1200" kern="100" baseline="0">
                          <a:effectLst/>
                          <a:latin typeface="Arial" panose="020B0604020202020204" pitchFamily="34" charset="0"/>
                          <a:ea typeface="+mn-ea"/>
                          <a:cs typeface="Arial" panose="020B0604020202020204" pitchFamily="34" charset="0"/>
                        </a:rPr>
                        <a:t> C</a:t>
                      </a:r>
                      <a:endParaRPr lang="ja-JP" sz="1200" kern="100">
                        <a:effectLst/>
                        <a:latin typeface="Arial" panose="020B0604020202020204" pitchFamily="34" charset="0"/>
                        <a:ea typeface="+mn-ea"/>
                        <a:cs typeface="Arial" panose="020B0604020202020204" pitchFamily="34" charset="0"/>
                      </a:endParaRP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algn="l">
                        <a:spcAft>
                          <a:spcPts val="0"/>
                        </a:spcAft>
                      </a:pPr>
                      <a:r>
                        <a:rPr lang="en-US" sz="1200" kern="0">
                          <a:solidFill>
                            <a:srgbClr val="000000"/>
                          </a:solidFill>
                          <a:effectLst/>
                          <a:latin typeface="Arial" panose="020B0604020202020204" pitchFamily="34" charset="0"/>
                          <a:ea typeface="+mn-ea"/>
                          <a:cs typeface="Arial" panose="020B0604020202020204" pitchFamily="34" charset="0"/>
                        </a:rPr>
                        <a:t>4) </a:t>
                      </a:r>
                      <a:r>
                        <a:rPr lang="en-US" altLang="ja-JP" sz="1200" kern="0">
                          <a:solidFill>
                            <a:srgbClr val="000000"/>
                          </a:solidFill>
                          <a:effectLst/>
                          <a:latin typeface="Arial" panose="020B0604020202020204" pitchFamily="34" charset="0"/>
                          <a:ea typeface="+mn-ea"/>
                          <a:cs typeface="Arial" panose="020B0604020202020204" pitchFamily="34" charset="0"/>
                        </a:rPr>
                        <a:t>T-OIL</a:t>
                      </a:r>
                      <a:endParaRPr lang="ja-JP" sz="1200" kern="100">
                        <a:effectLst/>
                        <a:latin typeface="Arial" panose="020B0604020202020204" pitchFamily="34" charset="0"/>
                        <a:ea typeface="+mn-ea"/>
                        <a:cs typeface="Arial" panose="020B0604020202020204" pitchFamily="34" charset="0"/>
                      </a:endParaRP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ja-JP" altLang="en-US" sz="1200" kern="0">
                          <a:solidFill>
                            <a:srgbClr val="000000"/>
                          </a:solidFill>
                          <a:effectLst/>
                          <a:latin typeface="Arial" panose="020B0604020202020204" pitchFamily="34" charset="0"/>
                          <a:ea typeface="+mn-ea"/>
                          <a:cs typeface="Arial" panose="020B0604020202020204" pitchFamily="34" charset="0"/>
                        </a:rPr>
                        <a:t>≦</a:t>
                      </a:r>
                      <a:r>
                        <a:rPr lang="en-US" sz="1200" kern="0">
                          <a:solidFill>
                            <a:srgbClr val="000000"/>
                          </a:solidFill>
                          <a:effectLst/>
                          <a:latin typeface="Arial" panose="020B0604020202020204" pitchFamily="34" charset="0"/>
                          <a:ea typeface="+mn-ea"/>
                          <a:cs typeface="Arial" panose="020B0604020202020204" pitchFamily="34" charset="0"/>
                        </a:rPr>
                        <a:t>1</a:t>
                      </a:r>
                      <a:r>
                        <a:rPr lang="en-US" altLang="ja-JP" sz="1200" kern="0">
                          <a:solidFill>
                            <a:srgbClr val="000000"/>
                          </a:solidFill>
                          <a:effectLst/>
                          <a:latin typeface="Arial" panose="020B0604020202020204" pitchFamily="34" charset="0"/>
                          <a:ea typeface="+mn-ea"/>
                          <a:cs typeface="Arial" panose="020B0604020202020204" pitchFamily="34" charset="0"/>
                        </a:rPr>
                        <a:t>30</a:t>
                      </a:r>
                      <a:r>
                        <a:rPr lang="en-US" sz="1200" kern="0">
                          <a:solidFill>
                            <a:srgbClr val="000000"/>
                          </a:solidFill>
                          <a:effectLst/>
                          <a:latin typeface="Arial" panose="020B0604020202020204" pitchFamily="34" charset="0"/>
                          <a:ea typeface="+mn-ea"/>
                          <a:cs typeface="Arial" panose="020B0604020202020204" pitchFamily="34" charset="0"/>
                        </a:rPr>
                        <a:t> </a:t>
                      </a:r>
                      <a:r>
                        <a:rPr lang="en-US" altLang="ja-JP" sz="1200" kern="0">
                          <a:solidFill>
                            <a:srgbClr val="000000"/>
                          </a:solidFill>
                          <a:effectLst/>
                          <a:latin typeface="Arial" panose="020B0604020202020204" pitchFamily="34" charset="0"/>
                          <a:ea typeface="+mn-ea"/>
                          <a:cs typeface="Arial" panose="020B0604020202020204" pitchFamily="34" charset="0"/>
                        </a:rPr>
                        <a:t>deg</a:t>
                      </a:r>
                      <a:r>
                        <a:rPr lang="ja-JP" altLang="en-US" sz="1200" kern="0">
                          <a:solidFill>
                            <a:srgbClr val="000000"/>
                          </a:solidFill>
                          <a:effectLst/>
                          <a:latin typeface="Arial" panose="020B0604020202020204" pitchFamily="34" charset="0"/>
                          <a:ea typeface="+mn-ea"/>
                          <a:cs typeface="Arial" panose="020B0604020202020204" pitchFamily="34" charset="0"/>
                        </a:rPr>
                        <a:t> </a:t>
                      </a:r>
                      <a:r>
                        <a:rPr lang="en-US" altLang="ja-JP" sz="1200" kern="0">
                          <a:solidFill>
                            <a:srgbClr val="000000"/>
                          </a:solidFill>
                          <a:effectLst/>
                          <a:latin typeface="Arial" panose="020B0604020202020204" pitchFamily="34" charset="0"/>
                          <a:ea typeface="+mn-ea"/>
                          <a:cs typeface="Arial" panose="020B0604020202020204" pitchFamily="34" charset="0"/>
                        </a:rPr>
                        <a:t>C</a:t>
                      </a:r>
                      <a:endParaRPr lang="ja-JP" sz="1200" kern="100">
                        <a:effectLst/>
                        <a:latin typeface="Arial" panose="020B0604020202020204" pitchFamily="34" charset="0"/>
                        <a:ea typeface="+mn-ea"/>
                        <a:cs typeface="Arial" panose="020B0604020202020204" pitchFamily="34" charset="0"/>
                      </a:endParaRPr>
                    </a:p>
                  </a:txBody>
                  <a:tcPr marL="36000" marR="36000"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0" name="テキスト ボックス 19"/>
          <p:cNvSpPr txBox="1"/>
          <p:nvPr/>
        </p:nvSpPr>
        <p:spPr>
          <a:xfrm>
            <a:off x="65314" y="4045835"/>
            <a:ext cx="1275477" cy="338554"/>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ja-JP" sz="1600" b="1" i="0" u="none" strike="noStrike" kern="1200" cap="none" spc="0" normalizeH="0" baseline="0" noProof="0">
                <a:ln>
                  <a:noFill/>
                </a:ln>
                <a:solidFill>
                  <a:prstClr val="black"/>
                </a:solidFill>
                <a:effectLst/>
                <a:uLnTx/>
                <a:uFillTx/>
                <a:latin typeface="Meiryo UI"/>
                <a:ea typeface="Meiryo UI"/>
                <a:cs typeface="+mn-cs"/>
              </a:rPr>
              <a:t>Criteria</a:t>
            </a:r>
            <a:endParaRPr kumimoji="1" lang="ja-JP" altLang="en-US" sz="1600" b="1" i="0" u="none" strike="noStrike" kern="1200" cap="none" spc="0" normalizeH="0" baseline="0" noProof="0">
              <a:ln>
                <a:noFill/>
              </a:ln>
              <a:solidFill>
                <a:prstClr val="black"/>
              </a:solidFill>
              <a:effectLst/>
              <a:uLnTx/>
              <a:uFillTx/>
              <a:latin typeface="Meiryo UI"/>
              <a:ea typeface="Meiryo UI"/>
              <a:cs typeface="+mn-cs"/>
            </a:endParaRPr>
          </a:p>
        </p:txBody>
      </p:sp>
      <p:graphicFrame>
        <p:nvGraphicFramePr>
          <p:cNvPr id="10" name="グラフ 9"/>
          <p:cNvGraphicFramePr>
            <a:graphicFrameLocks/>
          </p:cNvGraphicFramePr>
          <p:nvPr/>
        </p:nvGraphicFramePr>
        <p:xfrm>
          <a:off x="4419644" y="4692120"/>
          <a:ext cx="4231987" cy="16138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グラフ 13"/>
          <p:cNvGraphicFramePr>
            <a:graphicFrameLocks/>
          </p:cNvGraphicFramePr>
          <p:nvPr/>
        </p:nvGraphicFramePr>
        <p:xfrm>
          <a:off x="4540642" y="1100880"/>
          <a:ext cx="4564380" cy="3678722"/>
        </p:xfrm>
        <a:graphic>
          <a:graphicData uri="http://schemas.openxmlformats.org/drawingml/2006/chart">
            <c:chart xmlns:c="http://schemas.openxmlformats.org/drawingml/2006/chart" xmlns:r="http://schemas.openxmlformats.org/officeDocument/2006/relationships" r:id="rId4"/>
          </a:graphicData>
        </a:graphic>
      </p:graphicFrame>
      <p:sp>
        <p:nvSpPr>
          <p:cNvPr id="16" name="テキスト ボックス 15"/>
          <p:cNvSpPr txBox="1"/>
          <p:nvPr/>
        </p:nvSpPr>
        <p:spPr>
          <a:xfrm>
            <a:off x="4419644" y="789417"/>
            <a:ext cx="2529795" cy="338554"/>
          </a:xfrm>
          <a:prstGeom prst="rect">
            <a:avLst/>
          </a:prstGeom>
          <a:noFill/>
        </p:spPr>
        <p:txBody>
          <a:bodyPr wrap="non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ja-JP" sz="1600" b="1" i="0" u="none" strike="noStrike" kern="1200" cap="none" spc="0" normalizeH="0" baseline="0" noProof="0">
                <a:ln>
                  <a:noFill/>
                </a:ln>
                <a:solidFill>
                  <a:prstClr val="black"/>
                </a:solidFill>
                <a:effectLst/>
                <a:uLnTx/>
                <a:uFillTx/>
                <a:latin typeface="Meiryo UI"/>
                <a:ea typeface="Meiryo UI"/>
                <a:cs typeface="+mn-cs"/>
              </a:rPr>
              <a:t>Performance curve</a:t>
            </a:r>
            <a:endParaRPr kumimoji="1" lang="ja-JP" altLang="en-US" sz="1600" b="1" i="0" u="none" strike="noStrike" kern="1200" cap="none" spc="0" normalizeH="0" baseline="0" noProof="0">
              <a:ln>
                <a:noFill/>
              </a:ln>
              <a:solidFill>
                <a:prstClr val="black"/>
              </a:solidFill>
              <a:effectLst/>
              <a:uLnTx/>
              <a:uFillTx/>
              <a:latin typeface="Meiryo UI"/>
              <a:ea typeface="Meiryo UI"/>
              <a:cs typeface="+mn-cs"/>
            </a:endParaRPr>
          </a:p>
        </p:txBody>
      </p:sp>
      <p:sp>
        <p:nvSpPr>
          <p:cNvPr id="17" name="テキスト ボックス 16"/>
          <p:cNvSpPr txBox="1"/>
          <p:nvPr/>
        </p:nvSpPr>
        <p:spPr>
          <a:xfrm>
            <a:off x="5183378" y="1323106"/>
            <a:ext cx="2561855" cy="307777"/>
          </a:xfrm>
          <a:prstGeom prst="rect">
            <a:avLst/>
          </a:prstGeom>
          <a:noFill/>
        </p:spPr>
        <p:txBody>
          <a:bodyPr wrap="none" rtlCol="0">
            <a:spAutoFit/>
          </a:bodyPr>
          <a:lstStyle/>
          <a:p>
            <a:r>
              <a:rPr lang="en-US" altLang="ja-JP" sz="1400">
                <a:solidFill>
                  <a:srgbClr val="FF0000"/>
                </a:solidFill>
                <a:latin typeface="Meiryo UI" panose="020B0604030504040204" pitchFamily="50" charset="-128"/>
                <a:ea typeface="Meiryo UI" panose="020B0604030504040204" pitchFamily="50" charset="-128"/>
              </a:rPr>
              <a:t>Without BGFAWU condition</a:t>
            </a:r>
            <a:endParaRPr kumimoji="1" lang="ja-JP" altLang="en-US" sz="1400">
              <a:solidFill>
                <a:srgbClr val="FF0000"/>
              </a:solidFill>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8D04D4BD-0824-F5DD-C026-531871110A81}"/>
              </a:ext>
            </a:extLst>
          </p:cNvPr>
          <p:cNvSpPr txBox="1"/>
          <p:nvPr/>
        </p:nvSpPr>
        <p:spPr>
          <a:xfrm>
            <a:off x="0" y="6488668"/>
            <a:ext cx="9144000" cy="400110"/>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4948535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0" y="47601"/>
            <a:ext cx="91439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1" hangingPunct="1">
              <a:defRPr>
                <a:solidFill>
                  <a:srgbClr val="FFFFFF"/>
                </a:solidFill>
                <a:latin typeface="Arial" pitchFamily="34" charset="0"/>
                <a:ea typeface="HGP創英角ｺﾞｼｯｸUB" pitchFamily="50" charset="-128"/>
                <a:cs typeface="Arial"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EXH</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VALVE</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SEAT/VALVE</a:t>
            </a:r>
            <a:endPar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graphicFrame>
        <p:nvGraphicFramePr>
          <p:cNvPr id="4" name="表 3"/>
          <p:cNvGraphicFramePr>
            <a:graphicFrameLocks noGrp="1"/>
          </p:cNvGraphicFramePr>
          <p:nvPr>
            <p:extLst>
              <p:ext uri="{D42A27DB-BD31-4B8C-83A1-F6EECF244321}">
                <p14:modId xmlns:p14="http://schemas.microsoft.com/office/powerpoint/2010/main" val="2712391989"/>
              </p:ext>
            </p:extLst>
          </p:nvPr>
        </p:nvGraphicFramePr>
        <p:xfrm>
          <a:off x="0" y="645359"/>
          <a:ext cx="9144000" cy="5770840"/>
        </p:xfrm>
        <a:graphic>
          <a:graphicData uri="http://schemas.openxmlformats.org/drawingml/2006/table">
            <a:tbl>
              <a:tblPr firstRow="1" bandRow="1">
                <a:tableStyleId>{5940675A-B579-460E-94D1-54222C63F5DA}</a:tableStyleId>
              </a:tblPr>
              <a:tblGrid>
                <a:gridCol w="4572000">
                  <a:extLst>
                    <a:ext uri="{9D8B030D-6E8A-4147-A177-3AD203B41FA5}">
                      <a16:colId xmlns:a16="http://schemas.microsoft.com/office/drawing/2014/main" val="1968058795"/>
                    </a:ext>
                  </a:extLst>
                </a:gridCol>
                <a:gridCol w="4572000">
                  <a:extLst>
                    <a:ext uri="{9D8B030D-6E8A-4147-A177-3AD203B41FA5}">
                      <a16:colId xmlns:a16="http://schemas.microsoft.com/office/drawing/2014/main" val="2198294677"/>
                    </a:ext>
                  </a:extLst>
                </a:gridCol>
              </a:tblGrid>
              <a:tr h="370840">
                <a:tc>
                  <a:txBody>
                    <a:bodyPr/>
                    <a:lstStyle/>
                    <a:p>
                      <a:pPr algn="ctr"/>
                      <a:r>
                        <a:rPr kumimoji="1" lang="en-US" altLang="ja-JP">
                          <a:latin typeface="Meiryo UI" panose="020B0604030504040204" pitchFamily="50" charset="-128"/>
                          <a:ea typeface="Meiryo UI" panose="020B0604030504040204" pitchFamily="50" charset="-128"/>
                        </a:rPr>
                        <a:t>6SAA</a:t>
                      </a:r>
                      <a:endParaRPr kumimoji="1" lang="ja-JP" altLang="en-US">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a:latin typeface="Meiryo UI" panose="020B0604030504040204" pitchFamily="50" charset="-128"/>
                          <a:ea typeface="Meiryo UI" panose="020B0604030504040204" pitchFamily="50" charset="-128"/>
                        </a:rPr>
                        <a:t>6SAA-MMC</a:t>
                      </a:r>
                      <a:endParaRPr kumimoji="1" lang="ja-JP" altLang="en-US">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3230597394"/>
                  </a:ext>
                </a:extLst>
              </a:tr>
              <a:tr h="5400000">
                <a:tc>
                  <a:txBody>
                    <a:bodyPr/>
                    <a:lstStyle/>
                    <a:p>
                      <a:pPr algn="ctr"/>
                      <a:endParaRPr kumimoji="1" lang="ja-JP" altLang="en-US">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a:latin typeface="Meiryo UI" panose="020B0604030504040204" pitchFamily="50" charset="-128"/>
                        <a:ea typeface="Meiryo UI" panose="020B0604030504040204" pitchFamily="50" charset="-128"/>
                      </a:endParaRPr>
                    </a:p>
                  </a:txBody>
                  <a:tcPr anchor="b"/>
                </a:tc>
                <a:extLst>
                  <a:ext uri="{0D108BD9-81ED-4DB2-BD59-A6C34878D82A}">
                    <a16:rowId xmlns:a16="http://schemas.microsoft.com/office/drawing/2014/main" val="1491030972"/>
                  </a:ext>
                </a:extLst>
              </a:tr>
            </a:tbl>
          </a:graphicData>
        </a:graphic>
      </p:graphicFrame>
      <p:sp>
        <p:nvSpPr>
          <p:cNvPr id="5" name="テキスト ボックス 4"/>
          <p:cNvSpPr txBox="1"/>
          <p:nvPr/>
        </p:nvSpPr>
        <p:spPr>
          <a:xfrm>
            <a:off x="0" y="6488668"/>
            <a:ext cx="9144000" cy="400110"/>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graphicFrame>
        <p:nvGraphicFramePr>
          <p:cNvPr id="23" name="表 22"/>
          <p:cNvGraphicFramePr>
            <a:graphicFrameLocks noGrp="1"/>
          </p:cNvGraphicFramePr>
          <p:nvPr>
            <p:extLst>
              <p:ext uri="{D42A27DB-BD31-4B8C-83A1-F6EECF244321}">
                <p14:modId xmlns:p14="http://schemas.microsoft.com/office/powerpoint/2010/main" val="3293195528"/>
              </p:ext>
            </p:extLst>
          </p:nvPr>
        </p:nvGraphicFramePr>
        <p:xfrm>
          <a:off x="358721" y="4192018"/>
          <a:ext cx="3878010" cy="1645920"/>
        </p:xfrm>
        <a:graphic>
          <a:graphicData uri="http://schemas.openxmlformats.org/drawingml/2006/table">
            <a:tbl>
              <a:tblPr firstRow="1" bandRow="1"/>
              <a:tblGrid>
                <a:gridCol w="444818">
                  <a:extLst>
                    <a:ext uri="{9D8B030D-6E8A-4147-A177-3AD203B41FA5}">
                      <a16:colId xmlns:a16="http://schemas.microsoft.com/office/drawing/2014/main" val="1138731294"/>
                    </a:ext>
                  </a:extLst>
                </a:gridCol>
                <a:gridCol w="1921192">
                  <a:extLst>
                    <a:ext uri="{9D8B030D-6E8A-4147-A177-3AD203B41FA5}">
                      <a16:colId xmlns:a16="http://schemas.microsoft.com/office/drawing/2014/main" val="696792828"/>
                    </a:ext>
                  </a:extLst>
                </a:gridCol>
                <a:gridCol w="1512000">
                  <a:extLst>
                    <a:ext uri="{9D8B030D-6E8A-4147-A177-3AD203B41FA5}">
                      <a16:colId xmlns:a16="http://schemas.microsoft.com/office/drawing/2014/main" val="1556951214"/>
                    </a:ext>
                  </a:extLst>
                </a:gridCol>
              </a:tblGrid>
              <a:tr h="470895">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a:r>
                        <a:rPr kumimoji="1" lang="ja-JP" altLang="en-US" sz="1600">
                          <a:latin typeface="Meiryo UI" panose="020B0604030504040204" pitchFamily="50" charset="-128"/>
                        </a:rPr>
                        <a:t>①</a:t>
                      </a: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Meiryo UI" panose="020B0604030504040204" pitchFamily="50" charset="-128"/>
                        </a:rPr>
                        <a:t>EXH VALVE</a:t>
                      </a:r>
                      <a:r>
                        <a:rPr kumimoji="1" lang="en-US" altLang="ja-JP" sz="1600" baseline="0">
                          <a:latin typeface="Meiryo UI" panose="020B0604030504040204" pitchFamily="50" charset="-128"/>
                        </a:rPr>
                        <a:t> </a:t>
                      </a:r>
                      <a:r>
                        <a:rPr kumimoji="1" lang="en-US" altLang="ja-JP" sz="1600">
                          <a:latin typeface="Meiryo UI" panose="020B0604030504040204" pitchFamily="50" charset="-128"/>
                        </a:rPr>
                        <a:t>SEAT</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Meiryo UI" panose="020B0604030504040204" pitchFamily="50" charset="-128"/>
                        </a:rPr>
                        <a:t>MATERIAL</a:t>
                      </a:r>
                      <a:endParaRPr kumimoji="1" lang="ja-JP" altLang="en-US" sz="1600">
                        <a:latin typeface="Meiryo UI" panose="020B0604030504040204" pitchFamily="50" charset="-128"/>
                      </a:endParaRP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Meiryo UI" panose="020B0604030504040204" pitchFamily="50" charset="-128"/>
                        </a:rPr>
                        <a:t>PB70W</a:t>
                      </a:r>
                      <a:endParaRPr kumimoji="1" lang="en-US" altLang="ja-JP" sz="1600" baseline="0">
                        <a:latin typeface="Meiryo UI" panose="020B0604030504040204"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baseline="0">
                          <a:latin typeface="Meiryo UI" panose="020B0604030504040204" pitchFamily="50" charset="-128"/>
                        </a:rPr>
                        <a:t>or CMP32W</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baseline="0">
                          <a:latin typeface="Meiryo UI" panose="020B0604030504040204" pitchFamily="50" charset="-128"/>
                        </a:rPr>
                        <a:t>or PB75W</a:t>
                      </a:r>
                      <a:endParaRPr kumimoji="1" lang="ja-JP" altLang="en-US" sz="1600">
                        <a:latin typeface="Meiryo UI" panose="020B0604030504040204" pitchFamily="50" charset="-128"/>
                      </a:endParaRP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466564771"/>
                  </a:ext>
                </a:extLst>
              </a:tr>
              <a:tr h="470895">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algn="ctr"/>
                      <a:r>
                        <a:rPr kumimoji="1" lang="ja-JP" altLang="en-US" sz="1600">
                          <a:latin typeface="Meiryo UI" panose="020B0604030504040204" pitchFamily="50" charset="-128"/>
                        </a:rPr>
                        <a:t>②</a:t>
                      </a: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Meiryo UI" panose="020B0604030504040204" pitchFamily="50" charset="-128"/>
                        </a:rPr>
                        <a:t>EXH VALVE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Meiryo UI" panose="020B0604030504040204" pitchFamily="50" charset="-128"/>
                        </a:rPr>
                        <a:t>MATERIAL</a:t>
                      </a:r>
                      <a:endParaRPr lang="en-US" altLang="ja-JP" sz="1600">
                        <a:latin typeface="Meiryo UI" panose="020B0604030504040204" pitchFamily="50" charset="-128"/>
                      </a:endParaRP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游ゴシック" panose="020F0502020204030204"/>
                        </a:defRPr>
                      </a:lvl1pPr>
                      <a:lvl2pPr marL="457200" algn="l" defTabSz="914400" rtl="0" eaLnBrk="1" latinLnBrk="0" hangingPunct="1">
                        <a:defRPr kumimoji="1" sz="1800" kern="1200">
                          <a:solidFill>
                            <a:schemeClr val="tx1"/>
                          </a:solidFill>
                          <a:latin typeface="游ゴシック" panose="020F0502020204030204"/>
                        </a:defRPr>
                      </a:lvl2pPr>
                      <a:lvl3pPr marL="914400" algn="l" defTabSz="914400" rtl="0" eaLnBrk="1" latinLnBrk="0" hangingPunct="1">
                        <a:defRPr kumimoji="1" sz="1800" kern="1200">
                          <a:solidFill>
                            <a:schemeClr val="tx1"/>
                          </a:solidFill>
                          <a:latin typeface="游ゴシック" panose="020F0502020204030204"/>
                        </a:defRPr>
                      </a:lvl3pPr>
                      <a:lvl4pPr marL="1371600" algn="l" defTabSz="914400" rtl="0" eaLnBrk="1" latinLnBrk="0" hangingPunct="1">
                        <a:defRPr kumimoji="1" sz="1800" kern="1200">
                          <a:solidFill>
                            <a:schemeClr val="tx1"/>
                          </a:solidFill>
                          <a:latin typeface="游ゴシック" panose="020F0502020204030204"/>
                        </a:defRPr>
                      </a:lvl4pPr>
                      <a:lvl5pPr marL="1828800" algn="l" defTabSz="914400" rtl="0" eaLnBrk="1" latinLnBrk="0" hangingPunct="1">
                        <a:defRPr kumimoji="1" sz="1800" kern="1200">
                          <a:solidFill>
                            <a:schemeClr val="tx1"/>
                          </a:solidFill>
                          <a:latin typeface="游ゴシック" panose="020F0502020204030204"/>
                        </a:defRPr>
                      </a:lvl5pPr>
                      <a:lvl6pPr marL="2286000" algn="l" defTabSz="914400" rtl="0" eaLnBrk="1" latinLnBrk="0" hangingPunct="1">
                        <a:defRPr kumimoji="1" sz="1800" kern="1200">
                          <a:solidFill>
                            <a:schemeClr val="tx1"/>
                          </a:solidFill>
                          <a:latin typeface="游ゴシック" panose="020F0502020204030204"/>
                        </a:defRPr>
                      </a:lvl6pPr>
                      <a:lvl7pPr marL="2743200" algn="l" defTabSz="914400" rtl="0" eaLnBrk="1" latinLnBrk="0" hangingPunct="1">
                        <a:defRPr kumimoji="1" sz="1800" kern="1200">
                          <a:solidFill>
                            <a:schemeClr val="tx1"/>
                          </a:solidFill>
                          <a:latin typeface="游ゴシック" panose="020F0502020204030204"/>
                        </a:defRPr>
                      </a:lvl7pPr>
                      <a:lvl8pPr marL="3200400" algn="l" defTabSz="914400" rtl="0" eaLnBrk="1" latinLnBrk="0" hangingPunct="1">
                        <a:defRPr kumimoji="1" sz="1800" kern="1200">
                          <a:solidFill>
                            <a:schemeClr val="tx1"/>
                          </a:solidFill>
                          <a:latin typeface="游ゴシック" panose="020F0502020204030204"/>
                        </a:defRPr>
                      </a:lvl8pPr>
                      <a:lvl9pPr marL="3657600" algn="l" defTabSz="914400" rtl="0" eaLnBrk="1" latinLnBrk="0" hangingPunct="1">
                        <a:defRPr kumimoji="1" sz="1800" kern="1200">
                          <a:solidFill>
                            <a:schemeClr val="tx1"/>
                          </a:solidFill>
                          <a:latin typeface="游ゴシック" panose="020F0502020204030204"/>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600">
                          <a:latin typeface="Meiryo UI" panose="020B0604030504040204" pitchFamily="50" charset="-128"/>
                        </a:rPr>
                        <a:t>SUH11M</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600">
                          <a:latin typeface="Meiryo UI" panose="020B0604030504040204" pitchFamily="50" charset="-128"/>
                        </a:rPr>
                        <a:t>+</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600">
                          <a:latin typeface="Meiryo UI" panose="020B0604030504040204" pitchFamily="50" charset="-128"/>
                        </a:rPr>
                        <a:t>NCF3015</a:t>
                      </a:r>
                      <a:endParaRPr kumimoji="1" lang="ja-JP" altLang="en-US" sz="1600">
                        <a:latin typeface="Meiryo UI" panose="020B0604030504040204" pitchFamily="50" charset="-128"/>
                      </a:endParaRP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3568063869"/>
                  </a:ext>
                </a:extLst>
              </a:tr>
            </a:tbl>
          </a:graphicData>
        </a:graphic>
      </p:graphicFrame>
      <p:grpSp>
        <p:nvGrpSpPr>
          <p:cNvPr id="2" name="グループ化 1"/>
          <p:cNvGrpSpPr/>
          <p:nvPr/>
        </p:nvGrpSpPr>
        <p:grpSpPr>
          <a:xfrm>
            <a:off x="699713" y="1320323"/>
            <a:ext cx="3196026" cy="2577036"/>
            <a:chOff x="949874" y="1196753"/>
            <a:chExt cx="3196026" cy="2577036"/>
          </a:xfrm>
        </p:grpSpPr>
        <p:pic>
          <p:nvPicPr>
            <p:cNvPr id="19" name="図 18"/>
            <p:cNvPicPr>
              <a:picLocks noChangeAspect="1"/>
            </p:cNvPicPr>
            <p:nvPr/>
          </p:nvPicPr>
          <p:blipFill rotWithShape="1">
            <a:blip r:embed="rId2">
              <a:extLst>
                <a:ext uri="{28A0092B-C50C-407E-A947-70E740481C1C}">
                  <a14:useLocalDpi xmlns:a14="http://schemas.microsoft.com/office/drawing/2010/main" val="0"/>
                </a:ext>
              </a:extLst>
            </a:blip>
            <a:srcRect l="42963" t="46179" r="38976" b="33043"/>
            <a:stretch/>
          </p:blipFill>
          <p:spPr>
            <a:xfrm>
              <a:off x="949874" y="1196753"/>
              <a:ext cx="3196026" cy="2029121"/>
            </a:xfrm>
            <a:prstGeom prst="rect">
              <a:avLst/>
            </a:prstGeom>
          </p:spPr>
        </p:pic>
        <p:cxnSp>
          <p:nvCxnSpPr>
            <p:cNvPr id="21" name="直線矢印コネクタ 20"/>
            <p:cNvCxnSpPr>
              <a:stCxn id="25" idx="0"/>
            </p:cNvCxnSpPr>
            <p:nvPr/>
          </p:nvCxnSpPr>
          <p:spPr>
            <a:xfrm flipV="1">
              <a:off x="1755937" y="2746446"/>
              <a:ext cx="0" cy="633860"/>
            </a:xfrm>
            <a:prstGeom prst="straightConnector1">
              <a:avLst/>
            </a:prstGeom>
            <a:noFill/>
            <a:ln w="6350" cap="flat" cmpd="sng" algn="ctr">
              <a:solidFill>
                <a:sysClr val="windowText" lastClr="000000"/>
              </a:solidFill>
              <a:prstDash val="solid"/>
              <a:miter lim="800000"/>
              <a:tailEnd type="oval"/>
            </a:ln>
            <a:effectLst/>
          </p:spPr>
        </p:cxnSp>
        <p:cxnSp>
          <p:nvCxnSpPr>
            <p:cNvPr id="22" name="直線矢印コネクタ 21"/>
            <p:cNvCxnSpPr/>
            <p:nvPr/>
          </p:nvCxnSpPr>
          <p:spPr>
            <a:xfrm flipH="1" flipV="1">
              <a:off x="2310265" y="2908513"/>
              <a:ext cx="152710" cy="570617"/>
            </a:xfrm>
            <a:prstGeom prst="straightConnector1">
              <a:avLst/>
            </a:prstGeom>
            <a:noFill/>
            <a:ln w="6350" cap="flat" cmpd="sng" algn="ctr">
              <a:solidFill>
                <a:sysClr val="windowText" lastClr="000000"/>
              </a:solidFill>
              <a:prstDash val="solid"/>
              <a:miter lim="800000"/>
              <a:tailEnd type="oval"/>
            </a:ln>
            <a:effectLst/>
          </p:spPr>
        </p:cxnSp>
        <p:sp>
          <p:nvSpPr>
            <p:cNvPr id="25" name="テキスト ボックス 24"/>
            <p:cNvSpPr txBox="1"/>
            <p:nvPr/>
          </p:nvSpPr>
          <p:spPr>
            <a:xfrm>
              <a:off x="1548188" y="3380306"/>
              <a:ext cx="415498"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②</a:t>
              </a:r>
            </a:p>
          </p:txBody>
        </p:sp>
        <p:sp>
          <p:nvSpPr>
            <p:cNvPr id="26" name="テキスト ボックス 25"/>
            <p:cNvSpPr txBox="1"/>
            <p:nvPr/>
          </p:nvSpPr>
          <p:spPr>
            <a:xfrm>
              <a:off x="2310265" y="3404457"/>
              <a:ext cx="415498"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①</a:t>
              </a:r>
            </a:p>
          </p:txBody>
        </p:sp>
      </p:grpSp>
      <p:sp>
        <p:nvSpPr>
          <p:cNvPr id="6" name="Right Arrow 5"/>
          <p:cNvSpPr/>
          <p:nvPr/>
        </p:nvSpPr>
        <p:spPr bwMode="auto">
          <a:xfrm rot="10800000">
            <a:off x="6419211" y="3216574"/>
            <a:ext cx="908263" cy="583007"/>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Tree>
    <p:extLst>
      <p:ext uri="{BB962C8B-B14F-4D97-AF65-F5344CB8AC3E}">
        <p14:creationId xmlns:p14="http://schemas.microsoft.com/office/powerpoint/2010/main" val="1863785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6430238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115640" y="675216"/>
            <a:ext cx="2650045" cy="4001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Emission regulation</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14" name="Text Box 2"/>
          <p:cNvSpPr txBox="1">
            <a:spLocks noChangeArrowheads="1"/>
          </p:cNvSpPr>
          <p:nvPr/>
        </p:nvSpPr>
        <p:spPr bwMode="auto">
          <a:xfrm>
            <a:off x="1738663" y="83640"/>
            <a:ext cx="5682389" cy="400110"/>
          </a:xfrm>
          <a:prstGeom prst="rect">
            <a:avLst/>
          </a:prstGeom>
          <a:noFill/>
        </p:spPr>
        <p:txBody>
          <a:bodyPr wrap="none" rtlCol="0">
            <a:spAutoFit/>
          </a:bodyPr>
          <a:lstStyle>
            <a:defPPr>
              <a:defRPr lang="en-US"/>
            </a:defPPr>
            <a:lvl1pPr fontAlgn="auto">
              <a:spcBef>
                <a:spcPts val="0"/>
              </a:spcBef>
              <a:spcAft>
                <a:spcPts val="0"/>
              </a:spcAft>
              <a:defRPr kumimoji="0">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8. Engine &amp;</a:t>
            </a:r>
            <a:r>
              <a:rPr kumimoji="0"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a:t>
            </a: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Vehicle</a:t>
            </a:r>
            <a:r>
              <a:rPr kumimoji="0"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a:t>
            </a: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basic specification</a:t>
            </a:r>
            <a:r>
              <a:rPr kumimoji="0"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 </a:t>
            </a:r>
            <a:r>
              <a:rPr kumimoji="0"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rPr>
              <a:t>(5/5)</a:t>
            </a:r>
          </a:p>
        </p:txBody>
      </p:sp>
      <p:cxnSp>
        <p:nvCxnSpPr>
          <p:cNvPr id="129" name="直線コネクタ 128"/>
          <p:cNvCxnSpPr/>
          <p:nvPr/>
        </p:nvCxnSpPr>
        <p:spPr>
          <a:xfrm>
            <a:off x="8997377" y="1273530"/>
            <a:ext cx="0" cy="5105499"/>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p:cNvCxnSpPr/>
          <p:nvPr/>
        </p:nvCxnSpPr>
        <p:spPr>
          <a:xfrm>
            <a:off x="1797553" y="1273530"/>
            <a:ext cx="0" cy="5094613"/>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線コネクタ 130"/>
          <p:cNvCxnSpPr/>
          <p:nvPr/>
        </p:nvCxnSpPr>
        <p:spPr>
          <a:xfrm>
            <a:off x="3237517" y="1273530"/>
            <a:ext cx="0" cy="507488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線コネクタ 131"/>
          <p:cNvCxnSpPr/>
          <p:nvPr/>
        </p:nvCxnSpPr>
        <p:spPr>
          <a:xfrm>
            <a:off x="3957499" y="1273530"/>
            <a:ext cx="0" cy="507964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直線コネクタ 132"/>
          <p:cNvCxnSpPr/>
          <p:nvPr/>
        </p:nvCxnSpPr>
        <p:spPr>
          <a:xfrm>
            <a:off x="4677481" y="1273530"/>
            <a:ext cx="0" cy="509393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4" name="直線コネクタ 133"/>
          <p:cNvCxnSpPr/>
          <p:nvPr/>
        </p:nvCxnSpPr>
        <p:spPr>
          <a:xfrm>
            <a:off x="5397463" y="1273530"/>
            <a:ext cx="0" cy="508917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p:nvPr/>
        </p:nvCxnSpPr>
        <p:spPr>
          <a:xfrm>
            <a:off x="6117445" y="1273530"/>
            <a:ext cx="0" cy="508440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a:off x="6837427" y="1273530"/>
            <a:ext cx="0" cy="509461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7" name="直線コネクタ 136"/>
          <p:cNvCxnSpPr/>
          <p:nvPr/>
        </p:nvCxnSpPr>
        <p:spPr>
          <a:xfrm>
            <a:off x="7557409" y="1273530"/>
            <a:ext cx="0" cy="508372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直線コネクタ 137"/>
          <p:cNvCxnSpPr/>
          <p:nvPr/>
        </p:nvCxnSpPr>
        <p:spPr>
          <a:xfrm>
            <a:off x="8277391" y="1273530"/>
            <a:ext cx="0" cy="508372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直線コネクタ 138"/>
          <p:cNvCxnSpPr/>
          <p:nvPr/>
        </p:nvCxnSpPr>
        <p:spPr>
          <a:xfrm>
            <a:off x="2517535" y="1273530"/>
            <a:ext cx="0" cy="507964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40" name="表 139"/>
          <p:cNvGraphicFramePr>
            <a:graphicFrameLocks noGrp="1"/>
          </p:cNvGraphicFramePr>
          <p:nvPr/>
        </p:nvGraphicFramePr>
        <p:xfrm>
          <a:off x="71341" y="1260606"/>
          <a:ext cx="8926041" cy="370840"/>
        </p:xfrm>
        <a:graphic>
          <a:graphicData uri="http://schemas.openxmlformats.org/drawingml/2006/table">
            <a:tbl>
              <a:tblPr firstRow="1" bandRow="1">
                <a:tableStyleId>{5C22544A-7EE6-4342-B048-85BDC9FD1C3A}</a:tableStyleId>
              </a:tblPr>
              <a:tblGrid>
                <a:gridCol w="1726111">
                  <a:extLst>
                    <a:ext uri="{9D8B030D-6E8A-4147-A177-3AD203B41FA5}">
                      <a16:colId xmlns:a16="http://schemas.microsoft.com/office/drawing/2014/main" val="20000"/>
                    </a:ext>
                  </a:extLst>
                </a:gridCol>
                <a:gridCol w="719993">
                  <a:extLst>
                    <a:ext uri="{9D8B030D-6E8A-4147-A177-3AD203B41FA5}">
                      <a16:colId xmlns:a16="http://schemas.microsoft.com/office/drawing/2014/main" val="20005"/>
                    </a:ext>
                  </a:extLst>
                </a:gridCol>
                <a:gridCol w="719993">
                  <a:extLst>
                    <a:ext uri="{9D8B030D-6E8A-4147-A177-3AD203B41FA5}">
                      <a16:colId xmlns:a16="http://schemas.microsoft.com/office/drawing/2014/main" val="20006"/>
                    </a:ext>
                  </a:extLst>
                </a:gridCol>
                <a:gridCol w="719993">
                  <a:extLst>
                    <a:ext uri="{9D8B030D-6E8A-4147-A177-3AD203B41FA5}">
                      <a16:colId xmlns:a16="http://schemas.microsoft.com/office/drawing/2014/main" val="20007"/>
                    </a:ext>
                  </a:extLst>
                </a:gridCol>
                <a:gridCol w="719993">
                  <a:extLst>
                    <a:ext uri="{9D8B030D-6E8A-4147-A177-3AD203B41FA5}">
                      <a16:colId xmlns:a16="http://schemas.microsoft.com/office/drawing/2014/main" val="20008"/>
                    </a:ext>
                  </a:extLst>
                </a:gridCol>
                <a:gridCol w="719993">
                  <a:extLst>
                    <a:ext uri="{9D8B030D-6E8A-4147-A177-3AD203B41FA5}">
                      <a16:colId xmlns:a16="http://schemas.microsoft.com/office/drawing/2014/main" val="20009"/>
                    </a:ext>
                  </a:extLst>
                </a:gridCol>
                <a:gridCol w="719993">
                  <a:extLst>
                    <a:ext uri="{9D8B030D-6E8A-4147-A177-3AD203B41FA5}">
                      <a16:colId xmlns:a16="http://schemas.microsoft.com/office/drawing/2014/main" val="20010"/>
                    </a:ext>
                  </a:extLst>
                </a:gridCol>
                <a:gridCol w="719993">
                  <a:extLst>
                    <a:ext uri="{9D8B030D-6E8A-4147-A177-3AD203B41FA5}">
                      <a16:colId xmlns:a16="http://schemas.microsoft.com/office/drawing/2014/main" val="2281815886"/>
                    </a:ext>
                  </a:extLst>
                </a:gridCol>
                <a:gridCol w="719993">
                  <a:extLst>
                    <a:ext uri="{9D8B030D-6E8A-4147-A177-3AD203B41FA5}">
                      <a16:colId xmlns:a16="http://schemas.microsoft.com/office/drawing/2014/main" val="3682684929"/>
                    </a:ext>
                  </a:extLst>
                </a:gridCol>
                <a:gridCol w="719993">
                  <a:extLst>
                    <a:ext uri="{9D8B030D-6E8A-4147-A177-3AD203B41FA5}">
                      <a16:colId xmlns:a16="http://schemas.microsoft.com/office/drawing/2014/main" val="2015438326"/>
                    </a:ext>
                  </a:extLst>
                </a:gridCol>
                <a:gridCol w="719993">
                  <a:extLst>
                    <a:ext uri="{9D8B030D-6E8A-4147-A177-3AD203B41FA5}">
                      <a16:colId xmlns:a16="http://schemas.microsoft.com/office/drawing/2014/main" val="4154875502"/>
                    </a:ext>
                  </a:extLst>
                </a:gridCol>
              </a:tblGrid>
              <a:tr h="370840">
                <a:tc>
                  <a:txBody>
                    <a:bodyPr/>
                    <a:lstStyle/>
                    <a:p>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2020</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2021</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2022</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2023</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2024</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2025</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2026</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2027</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2028</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kumimoji="1" lang="en-US" altLang="ja-JP" sz="1400" b="0">
                          <a:solidFill>
                            <a:schemeClr val="tx1"/>
                          </a:solidFill>
                          <a:latin typeface="Meiryo UI" pitchFamily="50" charset="-128"/>
                          <a:ea typeface="Meiryo UI" pitchFamily="50" charset="-128"/>
                          <a:cs typeface="Meiryo UI" pitchFamily="50" charset="-128"/>
                        </a:rPr>
                        <a:t>2029</a:t>
                      </a:r>
                      <a:endParaRPr kumimoji="1" lang="ja-JP" altLang="en-US" sz="1400" b="0">
                        <a:solidFill>
                          <a:schemeClr val="tx1"/>
                        </a:solidFill>
                        <a:latin typeface="Meiryo UI" pitchFamily="50" charset="-128"/>
                        <a:ea typeface="Meiryo UI" pitchFamily="50" charset="-128"/>
                        <a:cs typeface="Meiryo UI" pitchFamily="50" charset="-128"/>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147" name="直線コネクタ 146"/>
          <p:cNvCxnSpPr/>
          <p:nvPr/>
        </p:nvCxnSpPr>
        <p:spPr>
          <a:xfrm>
            <a:off x="67763" y="1274164"/>
            <a:ext cx="0" cy="5093979"/>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8" name="直線コネクタ 147"/>
          <p:cNvCxnSpPr/>
          <p:nvPr/>
        </p:nvCxnSpPr>
        <p:spPr>
          <a:xfrm>
            <a:off x="33865" y="1644370"/>
            <a:ext cx="8963512" cy="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9" name="テキスト ボックス 148"/>
          <p:cNvSpPr txBox="1"/>
          <p:nvPr/>
        </p:nvSpPr>
        <p:spPr>
          <a:xfrm>
            <a:off x="338883" y="2542950"/>
            <a:ext cx="1531188" cy="492443"/>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OBD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On-board Diagnostics</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0" name="テキスト ボックス 149"/>
          <p:cNvSpPr txBox="1"/>
          <p:nvPr/>
        </p:nvSpPr>
        <p:spPr>
          <a:xfrm>
            <a:off x="613710" y="3216813"/>
            <a:ext cx="938077" cy="64633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RDE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Real Driving</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Emissions</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1" name="テキスト ボックス 150"/>
          <p:cNvSpPr txBox="1"/>
          <p:nvPr/>
        </p:nvSpPr>
        <p:spPr>
          <a:xfrm>
            <a:off x="386268" y="4668992"/>
            <a:ext cx="1402948" cy="64633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CAFE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Corporate Average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Fuel Economy</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2" name="テキスト ボックス 151"/>
          <p:cNvSpPr txBox="1"/>
          <p:nvPr/>
        </p:nvSpPr>
        <p:spPr>
          <a:xfrm>
            <a:off x="311989" y="1743603"/>
            <a:ext cx="1611339" cy="615553"/>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Regulation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Bharat stage emission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standards </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3" name="テキスト ボックス 152"/>
          <p:cNvSpPr txBox="1"/>
          <p:nvPr/>
        </p:nvSpPr>
        <p:spPr>
          <a:xfrm>
            <a:off x="652627" y="3940115"/>
            <a:ext cx="875560" cy="64633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ISC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In-Service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Conformity</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55" name="直線コネクタ 154"/>
          <p:cNvCxnSpPr/>
          <p:nvPr/>
        </p:nvCxnSpPr>
        <p:spPr>
          <a:xfrm>
            <a:off x="358605" y="2472511"/>
            <a:ext cx="8638772"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直線コネクタ 155"/>
          <p:cNvCxnSpPr/>
          <p:nvPr/>
        </p:nvCxnSpPr>
        <p:spPr>
          <a:xfrm>
            <a:off x="354332" y="3139287"/>
            <a:ext cx="864304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直線コネクタ 156"/>
          <p:cNvCxnSpPr/>
          <p:nvPr/>
        </p:nvCxnSpPr>
        <p:spPr>
          <a:xfrm>
            <a:off x="367151" y="3886747"/>
            <a:ext cx="8630226"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直線コネクタ 157"/>
          <p:cNvCxnSpPr/>
          <p:nvPr/>
        </p:nvCxnSpPr>
        <p:spPr>
          <a:xfrm>
            <a:off x="367151" y="4598347"/>
            <a:ext cx="8630226"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直線コネクタ 158"/>
          <p:cNvCxnSpPr/>
          <p:nvPr/>
        </p:nvCxnSpPr>
        <p:spPr>
          <a:xfrm>
            <a:off x="72321" y="5363735"/>
            <a:ext cx="8925056" cy="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4" name="テキスト ボックス 163"/>
          <p:cNvSpPr txBox="1"/>
          <p:nvPr/>
        </p:nvSpPr>
        <p:spPr>
          <a:xfrm>
            <a:off x="5167458" y="3602141"/>
            <a:ext cx="1294193"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*Only for GDI</a:t>
            </a:r>
          </a:p>
        </p:txBody>
      </p:sp>
      <p:cxnSp>
        <p:nvCxnSpPr>
          <p:cNvPr id="7" name="直線コネクタ 6"/>
          <p:cNvCxnSpPr/>
          <p:nvPr/>
        </p:nvCxnSpPr>
        <p:spPr bwMode="auto">
          <a:xfrm flipH="1">
            <a:off x="2032994" y="2569490"/>
            <a:ext cx="224118" cy="277906"/>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1" name="直線コネクタ 10"/>
          <p:cNvCxnSpPr/>
          <p:nvPr/>
        </p:nvCxnSpPr>
        <p:spPr bwMode="auto">
          <a:xfrm>
            <a:off x="2248147" y="2578454"/>
            <a:ext cx="1219200"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68" name="直線コネクタ 167"/>
          <p:cNvCxnSpPr/>
          <p:nvPr/>
        </p:nvCxnSpPr>
        <p:spPr bwMode="auto">
          <a:xfrm>
            <a:off x="2015065" y="2856360"/>
            <a:ext cx="1470212"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sp>
        <p:nvSpPr>
          <p:cNvPr id="169" name="正方形/長方形 168"/>
          <p:cNvSpPr/>
          <p:nvPr/>
        </p:nvSpPr>
        <p:spPr>
          <a:xfrm>
            <a:off x="2409512" y="2596383"/>
            <a:ext cx="1480436" cy="259977"/>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BS6 </a:t>
            </a: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OBD-stage1</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70" name="直線コネクタ 169"/>
          <p:cNvCxnSpPr/>
          <p:nvPr/>
        </p:nvCxnSpPr>
        <p:spPr bwMode="auto">
          <a:xfrm flipH="1">
            <a:off x="4148665" y="2569490"/>
            <a:ext cx="224118" cy="277906"/>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71" name="直線コネクタ 170"/>
          <p:cNvCxnSpPr>
            <a:cxnSpLocks/>
          </p:cNvCxnSpPr>
          <p:nvPr/>
        </p:nvCxnSpPr>
        <p:spPr bwMode="auto">
          <a:xfrm>
            <a:off x="4363818" y="2578454"/>
            <a:ext cx="4609861"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72" name="直線コネクタ 171"/>
          <p:cNvCxnSpPr>
            <a:cxnSpLocks/>
          </p:cNvCxnSpPr>
          <p:nvPr/>
        </p:nvCxnSpPr>
        <p:spPr bwMode="auto">
          <a:xfrm>
            <a:off x="4130736" y="2856360"/>
            <a:ext cx="4842943"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sp>
        <p:nvSpPr>
          <p:cNvPr id="173" name="正方形/長方形 172"/>
          <p:cNvSpPr/>
          <p:nvPr/>
        </p:nvSpPr>
        <p:spPr>
          <a:xfrm>
            <a:off x="4248451" y="2623278"/>
            <a:ext cx="2339789" cy="214019"/>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BS6 </a:t>
            </a: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OBD-stage2 IUPR</a:t>
            </a:r>
            <a:endParaRPr kumimoji="1" lang="ja-JP" altLang="en-US"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74" name="直線コネクタ 173"/>
          <p:cNvCxnSpPr/>
          <p:nvPr/>
        </p:nvCxnSpPr>
        <p:spPr bwMode="auto">
          <a:xfrm flipH="1">
            <a:off x="2032994" y="1861279"/>
            <a:ext cx="224118" cy="277906"/>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75" name="直線コネクタ 174"/>
          <p:cNvCxnSpPr/>
          <p:nvPr/>
        </p:nvCxnSpPr>
        <p:spPr bwMode="auto">
          <a:xfrm>
            <a:off x="2248147" y="1870243"/>
            <a:ext cx="1219200"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76" name="直線コネクタ 175"/>
          <p:cNvCxnSpPr/>
          <p:nvPr/>
        </p:nvCxnSpPr>
        <p:spPr bwMode="auto">
          <a:xfrm>
            <a:off x="2015065" y="2148149"/>
            <a:ext cx="1470212"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sp>
        <p:nvSpPr>
          <p:cNvPr id="177" name="正方形/長方形 176"/>
          <p:cNvSpPr/>
          <p:nvPr/>
        </p:nvSpPr>
        <p:spPr>
          <a:xfrm>
            <a:off x="2472265" y="1888173"/>
            <a:ext cx="824753" cy="242048"/>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BS6</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78" name="直線コネクタ 177"/>
          <p:cNvCxnSpPr/>
          <p:nvPr/>
        </p:nvCxnSpPr>
        <p:spPr bwMode="auto">
          <a:xfrm flipH="1">
            <a:off x="7053229" y="1861279"/>
            <a:ext cx="224118" cy="277906"/>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cxnSp>
        <p:nvCxnSpPr>
          <p:cNvPr id="179" name="直線コネクタ 178"/>
          <p:cNvCxnSpPr>
            <a:cxnSpLocks/>
          </p:cNvCxnSpPr>
          <p:nvPr/>
        </p:nvCxnSpPr>
        <p:spPr bwMode="auto">
          <a:xfrm>
            <a:off x="7268382" y="1870243"/>
            <a:ext cx="1728995" cy="0"/>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cxnSp>
        <p:nvCxnSpPr>
          <p:cNvPr id="180" name="直線コネクタ 179"/>
          <p:cNvCxnSpPr>
            <a:cxnSpLocks/>
          </p:cNvCxnSpPr>
          <p:nvPr/>
        </p:nvCxnSpPr>
        <p:spPr bwMode="auto">
          <a:xfrm>
            <a:off x="7035300" y="2148149"/>
            <a:ext cx="1962077" cy="0"/>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sp>
        <p:nvSpPr>
          <p:cNvPr id="181" name="正方形/長方形 180"/>
          <p:cNvSpPr/>
          <p:nvPr/>
        </p:nvSpPr>
        <p:spPr>
          <a:xfrm>
            <a:off x="7420783" y="1888173"/>
            <a:ext cx="1344706" cy="242047"/>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BS6 WLTC</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82" name="直線コネクタ 181"/>
          <p:cNvCxnSpPr/>
          <p:nvPr/>
        </p:nvCxnSpPr>
        <p:spPr bwMode="auto">
          <a:xfrm flipH="1">
            <a:off x="2032994" y="3295631"/>
            <a:ext cx="224118" cy="277906"/>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83" name="直線コネクタ 182"/>
          <p:cNvCxnSpPr/>
          <p:nvPr/>
        </p:nvCxnSpPr>
        <p:spPr bwMode="auto">
          <a:xfrm>
            <a:off x="2248147" y="3304595"/>
            <a:ext cx="1219200"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84" name="直線コネクタ 183"/>
          <p:cNvCxnSpPr/>
          <p:nvPr/>
        </p:nvCxnSpPr>
        <p:spPr bwMode="auto">
          <a:xfrm>
            <a:off x="2015065" y="3582501"/>
            <a:ext cx="1470212"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sp>
        <p:nvSpPr>
          <p:cNvPr id="185" name="正方形/長方形 184"/>
          <p:cNvSpPr/>
          <p:nvPr/>
        </p:nvSpPr>
        <p:spPr>
          <a:xfrm>
            <a:off x="2139689" y="3335311"/>
            <a:ext cx="1528210" cy="224704"/>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Monitoring</a:t>
            </a:r>
            <a:endParaRPr kumimoji="1" lang="ja-JP" altLang="en-US"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86" name="直線コネクタ 185"/>
          <p:cNvCxnSpPr/>
          <p:nvPr/>
        </p:nvCxnSpPr>
        <p:spPr bwMode="auto">
          <a:xfrm flipH="1">
            <a:off x="4265206" y="3295631"/>
            <a:ext cx="224118" cy="277906"/>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87" name="直線コネクタ 186"/>
          <p:cNvCxnSpPr/>
          <p:nvPr/>
        </p:nvCxnSpPr>
        <p:spPr bwMode="auto">
          <a:xfrm>
            <a:off x="4480359" y="3304595"/>
            <a:ext cx="1219200"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88" name="直線コネクタ 187"/>
          <p:cNvCxnSpPr/>
          <p:nvPr/>
        </p:nvCxnSpPr>
        <p:spPr bwMode="auto">
          <a:xfrm>
            <a:off x="4247277" y="3582501"/>
            <a:ext cx="1470212"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sp>
        <p:nvSpPr>
          <p:cNvPr id="189" name="正方形/長方形 188"/>
          <p:cNvSpPr/>
          <p:nvPr/>
        </p:nvSpPr>
        <p:spPr>
          <a:xfrm>
            <a:off x="4401732" y="3327817"/>
            <a:ext cx="2066523" cy="224852"/>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Regulation</a:t>
            </a: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(NOx, PN※)</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90" name="直線コネクタ 189"/>
          <p:cNvCxnSpPr/>
          <p:nvPr/>
        </p:nvCxnSpPr>
        <p:spPr bwMode="auto">
          <a:xfrm flipH="1">
            <a:off x="6470523" y="3295631"/>
            <a:ext cx="224118" cy="277906"/>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cxnSp>
        <p:nvCxnSpPr>
          <p:cNvPr id="191" name="直線コネクタ 190"/>
          <p:cNvCxnSpPr/>
          <p:nvPr/>
        </p:nvCxnSpPr>
        <p:spPr bwMode="auto">
          <a:xfrm>
            <a:off x="6685676" y="3304595"/>
            <a:ext cx="1219200" cy="0"/>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cxnSp>
        <p:nvCxnSpPr>
          <p:cNvPr id="192" name="直線コネクタ 191"/>
          <p:cNvCxnSpPr/>
          <p:nvPr/>
        </p:nvCxnSpPr>
        <p:spPr bwMode="auto">
          <a:xfrm>
            <a:off x="6452594" y="3582501"/>
            <a:ext cx="1470212" cy="0"/>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sp>
        <p:nvSpPr>
          <p:cNvPr id="193" name="正方形/長方形 192"/>
          <p:cNvSpPr/>
          <p:nvPr/>
        </p:nvSpPr>
        <p:spPr>
          <a:xfrm>
            <a:off x="6723088" y="3322524"/>
            <a:ext cx="1551104" cy="259978"/>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Regulation</a:t>
            </a: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(CO)</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94" name="直線コネクタ 193"/>
          <p:cNvCxnSpPr/>
          <p:nvPr/>
        </p:nvCxnSpPr>
        <p:spPr bwMode="auto">
          <a:xfrm flipH="1">
            <a:off x="4148665" y="4057633"/>
            <a:ext cx="224118" cy="277906"/>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95" name="直線コネクタ 194"/>
          <p:cNvCxnSpPr/>
          <p:nvPr/>
        </p:nvCxnSpPr>
        <p:spPr bwMode="auto">
          <a:xfrm>
            <a:off x="4363818" y="4066597"/>
            <a:ext cx="1219200"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96" name="直線コネクタ 195"/>
          <p:cNvCxnSpPr/>
          <p:nvPr/>
        </p:nvCxnSpPr>
        <p:spPr bwMode="auto">
          <a:xfrm>
            <a:off x="4130736" y="4344503"/>
            <a:ext cx="1470212"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sp>
        <p:nvSpPr>
          <p:cNvPr id="197" name="正方形/長方形 196"/>
          <p:cNvSpPr/>
          <p:nvPr/>
        </p:nvSpPr>
        <p:spPr>
          <a:xfrm>
            <a:off x="4484569" y="4107305"/>
            <a:ext cx="981908" cy="209862"/>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ISC</a:t>
            </a:r>
            <a:endParaRPr kumimoji="1" lang="ja-JP" altLang="en-US"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98" name="直線コネクタ 197"/>
          <p:cNvCxnSpPr/>
          <p:nvPr/>
        </p:nvCxnSpPr>
        <p:spPr bwMode="auto">
          <a:xfrm flipH="1">
            <a:off x="3440453" y="4828891"/>
            <a:ext cx="224118" cy="277906"/>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199" name="直線コネクタ 198"/>
          <p:cNvCxnSpPr/>
          <p:nvPr/>
        </p:nvCxnSpPr>
        <p:spPr bwMode="auto">
          <a:xfrm>
            <a:off x="3655606" y="4837855"/>
            <a:ext cx="1219200"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200" name="直線コネクタ 199"/>
          <p:cNvCxnSpPr/>
          <p:nvPr/>
        </p:nvCxnSpPr>
        <p:spPr bwMode="auto">
          <a:xfrm>
            <a:off x="3422524" y="5115761"/>
            <a:ext cx="1470212"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sp>
        <p:nvSpPr>
          <p:cNvPr id="201" name="正方形/長方形 200"/>
          <p:cNvSpPr/>
          <p:nvPr/>
        </p:nvSpPr>
        <p:spPr>
          <a:xfrm>
            <a:off x="3776356" y="4874561"/>
            <a:ext cx="1098449" cy="229590"/>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113g/km</a:t>
            </a:r>
            <a:endParaRPr kumimoji="1" lang="ja-JP" altLang="en-US"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02" name="直線コネクタ 201"/>
          <p:cNvCxnSpPr/>
          <p:nvPr/>
        </p:nvCxnSpPr>
        <p:spPr bwMode="auto">
          <a:xfrm flipH="1">
            <a:off x="7080123" y="4828891"/>
            <a:ext cx="224118" cy="277906"/>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cxnSp>
        <p:nvCxnSpPr>
          <p:cNvPr id="203" name="直線コネクタ 202"/>
          <p:cNvCxnSpPr/>
          <p:nvPr/>
        </p:nvCxnSpPr>
        <p:spPr bwMode="auto">
          <a:xfrm>
            <a:off x="7295276" y="4837855"/>
            <a:ext cx="1219200" cy="0"/>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cxnSp>
        <p:nvCxnSpPr>
          <p:cNvPr id="204" name="直線コネクタ 203"/>
          <p:cNvCxnSpPr/>
          <p:nvPr/>
        </p:nvCxnSpPr>
        <p:spPr bwMode="auto">
          <a:xfrm>
            <a:off x="7062194" y="5115761"/>
            <a:ext cx="1470212" cy="0"/>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sp>
        <p:nvSpPr>
          <p:cNvPr id="205" name="正方形/長方形 204"/>
          <p:cNvSpPr/>
          <p:nvPr/>
        </p:nvSpPr>
        <p:spPr>
          <a:xfrm>
            <a:off x="7416026" y="4864308"/>
            <a:ext cx="1098449" cy="217400"/>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95g/km</a:t>
            </a:r>
            <a:endParaRPr kumimoji="1" lang="ja-JP" altLang="en-US"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07" name="テキスト ボックス 206"/>
          <p:cNvSpPr txBox="1"/>
          <p:nvPr/>
        </p:nvSpPr>
        <p:spPr>
          <a:xfrm>
            <a:off x="298834" y="5575181"/>
            <a:ext cx="1611339" cy="64633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Regulation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Bharat stage emission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standards </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08" name="直線コネクタ 207"/>
          <p:cNvCxnSpPr/>
          <p:nvPr/>
        </p:nvCxnSpPr>
        <p:spPr>
          <a:xfrm>
            <a:off x="365358" y="1631967"/>
            <a:ext cx="0" cy="4736176"/>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9" name="テキスト ボックス 208"/>
          <p:cNvSpPr txBox="1"/>
          <p:nvPr/>
        </p:nvSpPr>
        <p:spPr>
          <a:xfrm rot="16200000">
            <a:off x="-140493" y="3371923"/>
            <a:ext cx="755143" cy="338554"/>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India</a:t>
            </a:r>
          </a:p>
        </p:txBody>
      </p:sp>
      <p:cxnSp>
        <p:nvCxnSpPr>
          <p:cNvPr id="212" name="直線コネクタ 211"/>
          <p:cNvCxnSpPr/>
          <p:nvPr/>
        </p:nvCxnSpPr>
        <p:spPr>
          <a:xfrm>
            <a:off x="76594" y="6354029"/>
            <a:ext cx="8920783" cy="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4" name="直線コネクタ 213"/>
          <p:cNvCxnSpPr/>
          <p:nvPr/>
        </p:nvCxnSpPr>
        <p:spPr bwMode="auto">
          <a:xfrm>
            <a:off x="1819936" y="5856744"/>
            <a:ext cx="7153743"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cxnSp>
        <p:nvCxnSpPr>
          <p:cNvPr id="215" name="直線コネクタ 214"/>
          <p:cNvCxnSpPr/>
          <p:nvPr/>
        </p:nvCxnSpPr>
        <p:spPr bwMode="auto">
          <a:xfrm>
            <a:off x="1819936" y="5559505"/>
            <a:ext cx="7162620" cy="0"/>
          </a:xfrm>
          <a:prstGeom prst="line">
            <a:avLst/>
          </a:prstGeom>
          <a:ln w="25400">
            <a:solidFill>
              <a:srgbClr val="008000"/>
            </a:solidFill>
            <a:headEnd/>
            <a:tailEnd/>
          </a:ln>
        </p:spPr>
        <p:style>
          <a:lnRef idx="1">
            <a:schemeClr val="dk1"/>
          </a:lnRef>
          <a:fillRef idx="0">
            <a:schemeClr val="dk1"/>
          </a:fillRef>
          <a:effectRef idx="0">
            <a:schemeClr val="dk1"/>
          </a:effectRef>
          <a:fontRef idx="minor">
            <a:schemeClr val="tx1"/>
          </a:fontRef>
        </p:style>
      </p:cxnSp>
      <p:sp>
        <p:nvSpPr>
          <p:cNvPr id="219" name="テキスト ボックス 218"/>
          <p:cNvSpPr txBox="1"/>
          <p:nvPr/>
        </p:nvSpPr>
        <p:spPr>
          <a:xfrm rot="16200000">
            <a:off x="-168502" y="5616355"/>
            <a:ext cx="767893" cy="43088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South</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Africa</a:t>
            </a:r>
          </a:p>
        </p:txBody>
      </p:sp>
      <p:sp>
        <p:nvSpPr>
          <p:cNvPr id="224" name="正方形/長方形 223"/>
          <p:cNvSpPr/>
          <p:nvPr/>
        </p:nvSpPr>
        <p:spPr>
          <a:xfrm>
            <a:off x="3776356" y="5601504"/>
            <a:ext cx="1098449" cy="193896"/>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Euro2</a:t>
            </a:r>
            <a:endParaRPr kumimoji="1" lang="ja-JP" altLang="en-US"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68" name="直線コネクタ 267"/>
          <p:cNvCxnSpPr>
            <a:cxnSpLocks/>
          </p:cNvCxnSpPr>
          <p:nvPr/>
        </p:nvCxnSpPr>
        <p:spPr bwMode="auto">
          <a:xfrm flipH="1">
            <a:off x="7264121" y="6015464"/>
            <a:ext cx="85623" cy="241707"/>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cxnSp>
        <p:nvCxnSpPr>
          <p:cNvPr id="269" name="直線コネクタ 268"/>
          <p:cNvCxnSpPr>
            <a:cxnSpLocks/>
          </p:cNvCxnSpPr>
          <p:nvPr/>
        </p:nvCxnSpPr>
        <p:spPr bwMode="auto">
          <a:xfrm>
            <a:off x="7355704" y="5988229"/>
            <a:ext cx="1617975" cy="0"/>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cxnSp>
        <p:nvCxnSpPr>
          <p:cNvPr id="270" name="直線コネクタ 269"/>
          <p:cNvCxnSpPr>
            <a:cxnSpLocks/>
          </p:cNvCxnSpPr>
          <p:nvPr/>
        </p:nvCxnSpPr>
        <p:spPr bwMode="auto">
          <a:xfrm>
            <a:off x="7246192" y="6266135"/>
            <a:ext cx="1736364" cy="0"/>
          </a:xfrm>
          <a:prstGeom prst="line">
            <a:avLst/>
          </a:prstGeom>
          <a:ln w="25400">
            <a:solidFill>
              <a:srgbClr val="008000"/>
            </a:solidFill>
            <a:prstDash val="dash"/>
            <a:headEnd/>
            <a:tailEnd/>
          </a:ln>
        </p:spPr>
        <p:style>
          <a:lnRef idx="1">
            <a:schemeClr val="dk1"/>
          </a:lnRef>
          <a:fillRef idx="0">
            <a:schemeClr val="dk1"/>
          </a:fillRef>
          <a:effectRef idx="0">
            <a:schemeClr val="dk1"/>
          </a:effectRef>
          <a:fontRef idx="minor">
            <a:schemeClr val="tx1"/>
          </a:fontRef>
        </p:style>
      </p:cxnSp>
      <p:sp>
        <p:nvSpPr>
          <p:cNvPr id="271" name="正方形/長方形 270"/>
          <p:cNvSpPr/>
          <p:nvPr/>
        </p:nvSpPr>
        <p:spPr>
          <a:xfrm>
            <a:off x="7553824" y="6014230"/>
            <a:ext cx="978582" cy="229590"/>
          </a:xfrm>
          <a:prstGeom prst="rect">
            <a:avLst/>
          </a:prstGeom>
          <a:solidFill>
            <a:srgbClr val="FFFFFF">
              <a:alpha val="30196"/>
            </a:srgb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Euro5</a:t>
            </a:r>
            <a:endParaRPr kumimoji="1" lang="ja-JP" altLang="en-US" sz="140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grpSp>
        <p:nvGrpSpPr>
          <p:cNvPr id="3" name="グループ化 255">
            <a:extLst>
              <a:ext uri="{FF2B5EF4-FFF2-40B4-BE49-F238E27FC236}">
                <a16:creationId xmlns:a16="http://schemas.microsoft.com/office/drawing/2014/main" id="{90DC8B8D-C4BE-8809-47CC-5CB2BA3DCE0C}"/>
              </a:ext>
            </a:extLst>
          </p:cNvPr>
          <p:cNvGrpSpPr/>
          <p:nvPr/>
        </p:nvGrpSpPr>
        <p:grpSpPr>
          <a:xfrm>
            <a:off x="7042337" y="742373"/>
            <a:ext cx="2101664" cy="367076"/>
            <a:chOff x="3282564" y="720000"/>
            <a:chExt cx="2520697" cy="180021"/>
          </a:xfrm>
          <a:solidFill>
            <a:srgbClr val="FF99FF"/>
          </a:solidFill>
        </p:grpSpPr>
        <p:sp>
          <p:nvSpPr>
            <p:cNvPr id="4" name="フリーフォーム 122">
              <a:extLst>
                <a:ext uri="{FF2B5EF4-FFF2-40B4-BE49-F238E27FC236}">
                  <a16:creationId xmlns:a16="http://schemas.microsoft.com/office/drawing/2014/main" id="{9393A7A8-2A4D-F02B-1083-99719E8CFB4F}"/>
                </a:ext>
              </a:extLst>
            </p:cNvPr>
            <p:cNvSpPr/>
            <p:nvPr/>
          </p:nvSpPr>
          <p:spPr>
            <a:xfrm>
              <a:off x="3282564" y="720000"/>
              <a:ext cx="144000" cy="180000"/>
            </a:xfrm>
            <a:custGeom>
              <a:avLst/>
              <a:gdLst>
                <a:gd name="connsiteX0" fmla="*/ 215900 w 215900"/>
                <a:gd name="connsiteY0" fmla="*/ 212725 h 212725"/>
                <a:gd name="connsiteX1" fmla="*/ 0 w 215900"/>
                <a:gd name="connsiteY1" fmla="*/ 212725 h 212725"/>
                <a:gd name="connsiteX2" fmla="*/ 215900 w 215900"/>
                <a:gd name="connsiteY2" fmla="*/ 0 h 212725"/>
              </a:gdLst>
              <a:ahLst/>
              <a:cxnLst>
                <a:cxn ang="0">
                  <a:pos x="connsiteX0" y="connsiteY0"/>
                </a:cxn>
                <a:cxn ang="0">
                  <a:pos x="connsiteX1" y="connsiteY1"/>
                </a:cxn>
                <a:cxn ang="0">
                  <a:pos x="connsiteX2" y="connsiteY2"/>
                </a:cxn>
              </a:cxnLst>
              <a:rect l="l" t="t" r="r" b="b"/>
              <a:pathLst>
                <a:path w="215900" h="212725">
                  <a:moveTo>
                    <a:pt x="215900" y="212725"/>
                  </a:moveTo>
                  <a:lnTo>
                    <a:pt x="0" y="212725"/>
                  </a:lnTo>
                  <a:lnTo>
                    <a:pt x="215900" y="0"/>
                  </a:ln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800">
                <a:solidFill>
                  <a:prstClr val="black"/>
                </a:solidFill>
                <a:latin typeface="Meiryo UI" panose="020B0604030504040204" pitchFamily="50" charset="-128"/>
                <a:cs typeface="Meiryo UI" panose="020B0604030504040204" pitchFamily="50" charset="-128"/>
              </a:endParaRPr>
            </a:p>
          </p:txBody>
        </p:sp>
        <p:sp>
          <p:nvSpPr>
            <p:cNvPr id="5" name="フリーフォーム 123">
              <a:extLst>
                <a:ext uri="{FF2B5EF4-FFF2-40B4-BE49-F238E27FC236}">
                  <a16:creationId xmlns:a16="http://schemas.microsoft.com/office/drawing/2014/main" id="{7F1733D3-7325-9A83-CF40-5B667E64727F}"/>
                </a:ext>
              </a:extLst>
            </p:cNvPr>
            <p:cNvSpPr/>
            <p:nvPr/>
          </p:nvSpPr>
          <p:spPr>
            <a:xfrm>
              <a:off x="3426309" y="720000"/>
              <a:ext cx="2376952" cy="180021"/>
            </a:xfrm>
            <a:custGeom>
              <a:avLst/>
              <a:gdLst>
                <a:gd name="connsiteX0" fmla="*/ 0 w 565150"/>
                <a:gd name="connsiteY0" fmla="*/ 0 h 139700"/>
                <a:gd name="connsiteX1" fmla="*/ 565150 w 565150"/>
                <a:gd name="connsiteY1" fmla="*/ 0 h 139700"/>
                <a:gd name="connsiteX2" fmla="*/ 565150 w 565150"/>
                <a:gd name="connsiteY2" fmla="*/ 139700 h 139700"/>
                <a:gd name="connsiteX3" fmla="*/ 0 w 565150"/>
                <a:gd name="connsiteY3" fmla="*/ 139700 h 139700"/>
              </a:gdLst>
              <a:ahLst/>
              <a:cxnLst>
                <a:cxn ang="0">
                  <a:pos x="connsiteX0" y="connsiteY0"/>
                </a:cxn>
                <a:cxn ang="0">
                  <a:pos x="connsiteX1" y="connsiteY1"/>
                </a:cxn>
                <a:cxn ang="0">
                  <a:pos x="connsiteX2" y="connsiteY2"/>
                </a:cxn>
                <a:cxn ang="0">
                  <a:pos x="connsiteX3" y="connsiteY3"/>
                </a:cxn>
              </a:cxnLst>
              <a:rect l="l" t="t" r="r" b="b"/>
              <a:pathLst>
                <a:path w="565150" h="139700">
                  <a:moveTo>
                    <a:pt x="0" y="0"/>
                  </a:moveTo>
                  <a:lnTo>
                    <a:pt x="565150" y="0"/>
                  </a:lnTo>
                  <a:lnTo>
                    <a:pt x="565150" y="139700"/>
                  </a:lnTo>
                  <a:lnTo>
                    <a:pt x="0" y="139700"/>
                  </a:lnTo>
                </a:path>
              </a:pathLst>
            </a:cu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ja-JP" sz="2000">
                  <a:solidFill>
                    <a:srgbClr val="FF0000"/>
                  </a:solidFill>
                  <a:latin typeface="Meiryo UI" panose="020B0604030504040204" pitchFamily="50" charset="-128"/>
                  <a:ea typeface="Meiryo UI" panose="020B0604030504040204" pitchFamily="50" charset="-128"/>
                  <a:cs typeface="Meiryo UI" panose="020B0604030504040204" pitchFamily="50" charset="-128"/>
                </a:rPr>
                <a:t>6SAA-MMC</a:t>
              </a:r>
              <a:endParaRPr lang="ja-JP" altLang="en-US" sz="200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6" name="直線コネクタ 5">
            <a:extLst>
              <a:ext uri="{FF2B5EF4-FFF2-40B4-BE49-F238E27FC236}">
                <a16:creationId xmlns:a16="http://schemas.microsoft.com/office/drawing/2014/main" id="{E695E62F-2B54-772D-4814-B84211F398E7}"/>
              </a:ext>
            </a:extLst>
          </p:cNvPr>
          <p:cNvCxnSpPr/>
          <p:nvPr/>
        </p:nvCxnSpPr>
        <p:spPr bwMode="auto">
          <a:xfrm>
            <a:off x="7053229" y="1116165"/>
            <a:ext cx="0" cy="5243448"/>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テキスト ボックス 14">
            <a:extLst>
              <a:ext uri="{FF2B5EF4-FFF2-40B4-BE49-F238E27FC236}">
                <a16:creationId xmlns:a16="http://schemas.microsoft.com/office/drawing/2014/main" id="{ADC637F0-BC4B-EBAA-0279-B2A416EE6BD7}"/>
              </a:ext>
            </a:extLst>
          </p:cNvPr>
          <p:cNvSpPr txBox="1"/>
          <p:nvPr/>
        </p:nvSpPr>
        <p:spPr>
          <a:xfrm rot="21087493">
            <a:off x="2579622" y="4077501"/>
            <a:ext cx="4339586" cy="461665"/>
          </a:xfrm>
          <a:prstGeom prst="rect">
            <a:avLst/>
          </a:prstGeom>
          <a:solidFill>
            <a:srgbClr val="00FF00"/>
          </a:solidFill>
        </p:spPr>
        <p:txBody>
          <a:bodyPr wrap="none" rtlCol="0">
            <a:spAutoFit/>
          </a:bodyPr>
          <a:lstStyle/>
          <a:p>
            <a:r>
              <a:rPr kumimoji="1" lang="en-US" altLang="ja-JP">
                <a:latin typeface="+mn-ea"/>
                <a:ea typeface="+mn-ea"/>
              </a:rPr>
              <a:t>Tentative slide . </a:t>
            </a:r>
            <a:r>
              <a:rPr lang="en-US" altLang="ja-JP">
                <a:latin typeface="+mn-ea"/>
                <a:ea typeface="+mn-ea"/>
              </a:rPr>
              <a:t>W</a:t>
            </a:r>
            <a:r>
              <a:rPr kumimoji="1" lang="en-US" altLang="ja-JP">
                <a:latin typeface="+mn-ea"/>
                <a:ea typeface="+mn-ea"/>
              </a:rPr>
              <a:t>ill update</a:t>
            </a:r>
            <a:endParaRPr kumimoji="1" lang="ja-JP" altLang="en-US">
              <a:latin typeface="+mn-ea"/>
              <a:ea typeface="+mn-ea"/>
            </a:endParaRPr>
          </a:p>
        </p:txBody>
      </p:sp>
      <p:sp>
        <p:nvSpPr>
          <p:cNvPr id="16" name="テキスト ボックス 15">
            <a:extLst>
              <a:ext uri="{FF2B5EF4-FFF2-40B4-BE49-F238E27FC236}">
                <a16:creationId xmlns:a16="http://schemas.microsoft.com/office/drawing/2014/main" id="{FB8D6D13-F943-F73D-4899-5A4CF913898B}"/>
              </a:ext>
            </a:extLst>
          </p:cNvPr>
          <p:cNvSpPr txBox="1"/>
          <p:nvPr/>
        </p:nvSpPr>
        <p:spPr>
          <a:xfrm>
            <a:off x="0" y="6488668"/>
            <a:ext cx="9144000" cy="400110"/>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India : BS6 WLTC   South Africa:Euro5</a:t>
            </a:r>
            <a:r>
              <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NEDC</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3133858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
          <p:cNvSpPr txBox="1">
            <a:spLocks noChangeArrowheads="1"/>
          </p:cNvSpPr>
          <p:nvPr/>
        </p:nvSpPr>
        <p:spPr bwMode="auto">
          <a:xfrm>
            <a:off x="146333" y="44451"/>
            <a:ext cx="8893175"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9. Regulation (</a:t>
            </a:r>
            <a:r>
              <a:rPr lang="en-US" altLang="ja-JP">
                <a:solidFill>
                  <a:srgbClr val="FFFFFF"/>
                </a:solidFill>
                <a:latin typeface="Meiryo UI" panose="020B0604030504040204" pitchFamily="50" charset="-128"/>
                <a:ea typeface="Meiryo UI" panose="020B0604030504040204" pitchFamily="50" charset="-128"/>
                <a:cs typeface="Arial" pitchFamily="34" charset="0"/>
              </a:rPr>
              <a:t>India</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Emission) </a:t>
            </a:r>
          </a:p>
        </p:txBody>
      </p:sp>
      <p:graphicFrame>
        <p:nvGraphicFramePr>
          <p:cNvPr id="13" name="表 12"/>
          <p:cNvGraphicFramePr>
            <a:graphicFrameLocks noGrp="1"/>
          </p:cNvGraphicFramePr>
          <p:nvPr/>
        </p:nvGraphicFramePr>
        <p:xfrm>
          <a:off x="578151" y="1392666"/>
          <a:ext cx="8386356" cy="1419860"/>
        </p:xfrm>
        <a:graphic>
          <a:graphicData uri="http://schemas.openxmlformats.org/drawingml/2006/table">
            <a:tbl>
              <a:tblPr firstRow="1" bandRow="1">
                <a:tableStyleId>{5940675A-B579-460E-94D1-54222C63F5DA}</a:tableStyleId>
              </a:tblPr>
              <a:tblGrid>
                <a:gridCol w="785246">
                  <a:extLst>
                    <a:ext uri="{9D8B030D-6E8A-4147-A177-3AD203B41FA5}">
                      <a16:colId xmlns:a16="http://schemas.microsoft.com/office/drawing/2014/main" val="20000"/>
                    </a:ext>
                  </a:extLst>
                </a:gridCol>
                <a:gridCol w="1020868">
                  <a:extLst>
                    <a:ext uri="{9D8B030D-6E8A-4147-A177-3AD203B41FA5}">
                      <a16:colId xmlns:a16="http://schemas.microsoft.com/office/drawing/2014/main" val="20001"/>
                    </a:ext>
                  </a:extLst>
                </a:gridCol>
                <a:gridCol w="1096707">
                  <a:extLst>
                    <a:ext uri="{9D8B030D-6E8A-4147-A177-3AD203B41FA5}">
                      <a16:colId xmlns:a16="http://schemas.microsoft.com/office/drawing/2014/main" val="20002"/>
                    </a:ext>
                  </a:extLst>
                </a:gridCol>
                <a:gridCol w="1096707">
                  <a:extLst>
                    <a:ext uri="{9D8B030D-6E8A-4147-A177-3AD203B41FA5}">
                      <a16:colId xmlns:a16="http://schemas.microsoft.com/office/drawing/2014/main" val="1005650106"/>
                    </a:ext>
                  </a:extLst>
                </a:gridCol>
                <a:gridCol w="1096707">
                  <a:extLst>
                    <a:ext uri="{9D8B030D-6E8A-4147-A177-3AD203B41FA5}">
                      <a16:colId xmlns:a16="http://schemas.microsoft.com/office/drawing/2014/main" val="20003"/>
                    </a:ext>
                  </a:extLst>
                </a:gridCol>
                <a:gridCol w="1096707">
                  <a:extLst>
                    <a:ext uri="{9D8B030D-6E8A-4147-A177-3AD203B41FA5}">
                      <a16:colId xmlns:a16="http://schemas.microsoft.com/office/drawing/2014/main" val="20005"/>
                    </a:ext>
                  </a:extLst>
                </a:gridCol>
                <a:gridCol w="1096707">
                  <a:extLst>
                    <a:ext uri="{9D8B030D-6E8A-4147-A177-3AD203B41FA5}">
                      <a16:colId xmlns:a16="http://schemas.microsoft.com/office/drawing/2014/main" val="20006"/>
                    </a:ext>
                  </a:extLst>
                </a:gridCol>
                <a:gridCol w="1096707">
                  <a:extLst>
                    <a:ext uri="{9D8B030D-6E8A-4147-A177-3AD203B41FA5}">
                      <a16:colId xmlns:a16="http://schemas.microsoft.com/office/drawing/2014/main" val="150717745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Mode</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Soak temp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(degC)</a:t>
                      </a:r>
                      <a:endParaRPr kumimoji="1" lang="ja-JP" altLang="en-US"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CO</a:t>
                      </a:r>
                    </a:p>
                    <a:p>
                      <a:pPr algn="ctr"/>
                      <a:r>
                        <a:rPr kumimoji="1" lang="en-US" altLang="ja-JP" sz="1050" b="0">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THC</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NMHC</a:t>
                      </a:r>
                    </a:p>
                    <a:p>
                      <a:pPr algn="ctr"/>
                      <a:r>
                        <a:rPr kumimoji="1" lang="en-US" altLang="ja-JP" sz="1050" b="0">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NOx</a:t>
                      </a:r>
                    </a:p>
                    <a:p>
                      <a:pPr algn="ctr"/>
                      <a:r>
                        <a:rPr kumimoji="1" lang="en-US" altLang="ja-JP" sz="1050" b="0">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PM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PN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(#/km)</a:t>
                      </a:r>
                      <a:endParaRPr kumimoji="1" lang="ja-JP" altLang="en-US"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tc>
                <a:extLst>
                  <a:ext uri="{0D108BD9-81ED-4DB2-BD59-A6C34878D82A}">
                    <a16:rowId xmlns:a16="http://schemas.microsoft.com/office/drawing/2014/main" val="10000"/>
                  </a:ext>
                </a:extLst>
              </a:tr>
              <a:tr h="370840">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MIDC</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lang="en-US" altLang="ja-JP" sz="1400">
                          <a:latin typeface="Meiryo UI" panose="020B0604030504040204" pitchFamily="50" charset="-128"/>
                          <a:ea typeface="Meiryo UI" panose="020B0604030504040204" pitchFamily="50" charset="-128"/>
                        </a:rPr>
                        <a:t>25</a:t>
                      </a:r>
                      <a:endParaRPr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1000</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100</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68</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60</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4.5*</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6.0E11*</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extLst>
                  <a:ext uri="{0D108BD9-81ED-4DB2-BD59-A6C34878D82A}">
                    <a16:rowId xmlns:a16="http://schemas.microsoft.com/office/drawing/2014/main" val="10001"/>
                  </a:ext>
                </a:extLst>
              </a:tr>
              <a:tr h="370840">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RDE</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lang="en-US" altLang="ja-JP" sz="1400">
                          <a:latin typeface="Meiryo UI" panose="020B0604030504040204" pitchFamily="50" charset="-128"/>
                          <a:ea typeface="Meiryo UI" panose="020B0604030504040204" pitchFamily="50" charset="-128"/>
                        </a:rPr>
                        <a:t>10~40</a:t>
                      </a: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TBD</a:t>
                      </a:r>
                      <a:endParaRPr kumimoji="1" lang="ja-JP" altLang="en-US" sz="1400" b="0">
                        <a:solidFill>
                          <a:srgbClr val="FF0000"/>
                        </a:solidFill>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NA</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NA</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TBD</a:t>
                      </a:r>
                      <a:endParaRPr kumimoji="1" lang="ja-JP" altLang="en-US" sz="1400" b="0">
                        <a:solidFill>
                          <a:srgbClr val="FF0000"/>
                        </a:solidFill>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a:latin typeface="Meiryo UI" panose="020B0604030504040204" pitchFamily="50" charset="-128"/>
                          <a:ea typeface="Meiryo UI" panose="020B0604030504040204" pitchFamily="50" charset="-128"/>
                          <a:cs typeface="Arial" panose="020B0604020202020204" pitchFamily="34" charset="0"/>
                        </a:rPr>
                        <a:t>NA</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TBD</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extLst>
                  <a:ext uri="{0D108BD9-81ED-4DB2-BD59-A6C34878D82A}">
                    <a16:rowId xmlns:a16="http://schemas.microsoft.com/office/drawing/2014/main" val="1133596744"/>
                  </a:ext>
                </a:extLst>
              </a:tr>
            </a:tbl>
          </a:graphicData>
        </a:graphic>
      </p:graphicFrame>
      <p:sp>
        <p:nvSpPr>
          <p:cNvPr id="14" name="テキスト ボックス 13"/>
          <p:cNvSpPr txBox="1"/>
          <p:nvPr/>
        </p:nvSpPr>
        <p:spPr>
          <a:xfrm>
            <a:off x="470263" y="720497"/>
            <a:ext cx="7847393"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&lt;Exhaust gas emission&gt;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BS6 with RDE … Emission to be grantee up to 160k km</a:t>
            </a:r>
            <a:endPar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15" name="テキスト ボックス 14"/>
          <p:cNvSpPr txBox="1"/>
          <p:nvPr/>
        </p:nvSpPr>
        <p:spPr>
          <a:xfrm>
            <a:off x="341632" y="3596048"/>
            <a:ext cx="1709238"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&lt;OBD&gt;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BS6 OBD-2</a:t>
            </a:r>
          </a:p>
        </p:txBody>
      </p:sp>
      <p:sp>
        <p:nvSpPr>
          <p:cNvPr id="16" name="テキスト ボックス 15"/>
          <p:cNvSpPr txBox="1"/>
          <p:nvPr/>
        </p:nvSpPr>
        <p:spPr>
          <a:xfrm>
            <a:off x="6824679" y="2865411"/>
            <a:ext cx="1294193"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*Only for GDI</a:t>
            </a:r>
          </a:p>
        </p:txBody>
      </p:sp>
      <p:sp>
        <p:nvSpPr>
          <p:cNvPr id="17" name="テキスト ボックス 16"/>
          <p:cNvSpPr txBox="1"/>
          <p:nvPr/>
        </p:nvSpPr>
        <p:spPr>
          <a:xfrm>
            <a:off x="7934301" y="2865411"/>
            <a:ext cx="1294193"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*Only for GDI</a:t>
            </a:r>
          </a:p>
        </p:txBody>
      </p:sp>
      <p:graphicFrame>
        <p:nvGraphicFramePr>
          <p:cNvPr id="18" name="表 3"/>
          <p:cNvGraphicFramePr>
            <a:graphicFrameLocks noGrp="1"/>
          </p:cNvGraphicFramePr>
          <p:nvPr>
            <p:extLst>
              <p:ext uri="{D42A27DB-BD31-4B8C-83A1-F6EECF244321}">
                <p14:modId xmlns:p14="http://schemas.microsoft.com/office/powerpoint/2010/main" val="1998163986"/>
              </p:ext>
            </p:extLst>
          </p:nvPr>
        </p:nvGraphicFramePr>
        <p:xfrm>
          <a:off x="470263" y="4214758"/>
          <a:ext cx="8386356" cy="1049020"/>
        </p:xfrm>
        <a:graphic>
          <a:graphicData uri="http://schemas.openxmlformats.org/drawingml/2006/table">
            <a:tbl>
              <a:tblPr firstRow="1" bandRow="1">
                <a:tableStyleId>{5940675A-B579-460E-94D1-54222C63F5DA}</a:tableStyleId>
              </a:tblPr>
              <a:tblGrid>
                <a:gridCol w="785246">
                  <a:extLst>
                    <a:ext uri="{9D8B030D-6E8A-4147-A177-3AD203B41FA5}">
                      <a16:colId xmlns:a16="http://schemas.microsoft.com/office/drawing/2014/main" val="20000"/>
                    </a:ext>
                  </a:extLst>
                </a:gridCol>
                <a:gridCol w="1020868">
                  <a:extLst>
                    <a:ext uri="{9D8B030D-6E8A-4147-A177-3AD203B41FA5}">
                      <a16:colId xmlns:a16="http://schemas.microsoft.com/office/drawing/2014/main" val="20001"/>
                    </a:ext>
                  </a:extLst>
                </a:gridCol>
                <a:gridCol w="1096707">
                  <a:extLst>
                    <a:ext uri="{9D8B030D-6E8A-4147-A177-3AD203B41FA5}">
                      <a16:colId xmlns:a16="http://schemas.microsoft.com/office/drawing/2014/main" val="20002"/>
                    </a:ext>
                  </a:extLst>
                </a:gridCol>
                <a:gridCol w="1096707">
                  <a:extLst>
                    <a:ext uri="{9D8B030D-6E8A-4147-A177-3AD203B41FA5}">
                      <a16:colId xmlns:a16="http://schemas.microsoft.com/office/drawing/2014/main" val="1005650106"/>
                    </a:ext>
                  </a:extLst>
                </a:gridCol>
                <a:gridCol w="1096707">
                  <a:extLst>
                    <a:ext uri="{9D8B030D-6E8A-4147-A177-3AD203B41FA5}">
                      <a16:colId xmlns:a16="http://schemas.microsoft.com/office/drawing/2014/main" val="20003"/>
                    </a:ext>
                  </a:extLst>
                </a:gridCol>
                <a:gridCol w="1096707">
                  <a:extLst>
                    <a:ext uri="{9D8B030D-6E8A-4147-A177-3AD203B41FA5}">
                      <a16:colId xmlns:a16="http://schemas.microsoft.com/office/drawing/2014/main" val="20005"/>
                    </a:ext>
                  </a:extLst>
                </a:gridCol>
                <a:gridCol w="1096707">
                  <a:extLst>
                    <a:ext uri="{9D8B030D-6E8A-4147-A177-3AD203B41FA5}">
                      <a16:colId xmlns:a16="http://schemas.microsoft.com/office/drawing/2014/main" val="20006"/>
                    </a:ext>
                  </a:extLst>
                </a:gridCol>
                <a:gridCol w="1096707">
                  <a:extLst>
                    <a:ext uri="{9D8B030D-6E8A-4147-A177-3AD203B41FA5}">
                      <a16:colId xmlns:a16="http://schemas.microsoft.com/office/drawing/2014/main" val="150717745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Mode</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Soak temp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(degC)</a:t>
                      </a:r>
                      <a:endParaRPr kumimoji="1" lang="ja-JP" altLang="en-US"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CO</a:t>
                      </a:r>
                    </a:p>
                    <a:p>
                      <a:pPr algn="ctr"/>
                      <a:r>
                        <a:rPr kumimoji="1" lang="en-US" altLang="ja-JP" sz="1050" b="0">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THC</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NMHC</a:t>
                      </a:r>
                    </a:p>
                    <a:p>
                      <a:pPr algn="ctr"/>
                      <a:r>
                        <a:rPr kumimoji="1" lang="en-US" altLang="ja-JP" sz="1050" b="0">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NOx</a:t>
                      </a:r>
                    </a:p>
                    <a:p>
                      <a:pPr algn="ctr"/>
                      <a:r>
                        <a:rPr kumimoji="1" lang="en-US" altLang="ja-JP" sz="1050" b="0">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PM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(mg/km)</a:t>
                      </a:r>
                      <a:endParaRPr kumimoji="1" lang="ja-JP" altLang="en-US"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PN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(#/km)</a:t>
                      </a:r>
                      <a:endParaRPr kumimoji="1" lang="ja-JP" altLang="en-US" sz="105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tc>
                <a:extLst>
                  <a:ext uri="{0D108BD9-81ED-4DB2-BD59-A6C34878D82A}">
                    <a16:rowId xmlns:a16="http://schemas.microsoft.com/office/drawing/2014/main" val="10000"/>
                  </a:ext>
                </a:extLst>
              </a:tr>
              <a:tr h="370840">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MIDC</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lang="en-US" altLang="ja-JP" sz="1400">
                          <a:latin typeface="Meiryo UI" panose="020B0604030504040204" pitchFamily="50" charset="-128"/>
                          <a:ea typeface="Meiryo UI" panose="020B0604030504040204" pitchFamily="50" charset="-128"/>
                        </a:rPr>
                        <a:t>25</a:t>
                      </a:r>
                      <a:endParaRPr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1900</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NA</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170</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90</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12*</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NA</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extLst>
                  <a:ext uri="{0D108BD9-81ED-4DB2-BD59-A6C34878D82A}">
                    <a16:rowId xmlns:a16="http://schemas.microsoft.com/office/drawing/2014/main" val="10001"/>
                  </a:ext>
                </a:extLst>
              </a:tr>
            </a:tbl>
          </a:graphicData>
        </a:graphic>
      </p:graphicFrame>
      <p:sp>
        <p:nvSpPr>
          <p:cNvPr id="19" name="テキスト ボックス 12"/>
          <p:cNvSpPr txBox="1"/>
          <p:nvPr/>
        </p:nvSpPr>
        <p:spPr>
          <a:xfrm>
            <a:off x="6694411" y="5267535"/>
            <a:ext cx="1294193"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*Only for GDI</a:t>
            </a:r>
          </a:p>
        </p:txBody>
      </p:sp>
      <p:graphicFrame>
        <p:nvGraphicFramePr>
          <p:cNvPr id="20" name="Table 5"/>
          <p:cNvGraphicFramePr>
            <a:graphicFrameLocks noGrp="1"/>
          </p:cNvGraphicFramePr>
          <p:nvPr/>
        </p:nvGraphicFramePr>
        <p:xfrm>
          <a:off x="2387650" y="3141103"/>
          <a:ext cx="3646950" cy="741680"/>
        </p:xfrm>
        <a:graphic>
          <a:graphicData uri="http://schemas.openxmlformats.org/drawingml/2006/table">
            <a:tbl>
              <a:tblPr firstRow="1" bandRow="1">
                <a:tableStyleId>{5940675A-B579-460E-94D1-54222C63F5DA}</a:tableStyleId>
              </a:tblPr>
              <a:tblGrid>
                <a:gridCol w="716022">
                  <a:extLst>
                    <a:ext uri="{9D8B030D-6E8A-4147-A177-3AD203B41FA5}">
                      <a16:colId xmlns:a16="http://schemas.microsoft.com/office/drawing/2014/main" val="2392007056"/>
                    </a:ext>
                  </a:extLst>
                </a:gridCol>
                <a:gridCol w="930874">
                  <a:extLst>
                    <a:ext uri="{9D8B030D-6E8A-4147-A177-3AD203B41FA5}">
                      <a16:colId xmlns:a16="http://schemas.microsoft.com/office/drawing/2014/main" val="242020906"/>
                    </a:ext>
                  </a:extLst>
                </a:gridCol>
                <a:gridCol w="1000027">
                  <a:extLst>
                    <a:ext uri="{9D8B030D-6E8A-4147-A177-3AD203B41FA5}">
                      <a16:colId xmlns:a16="http://schemas.microsoft.com/office/drawing/2014/main" val="3676224311"/>
                    </a:ext>
                  </a:extLst>
                </a:gridCol>
                <a:gridCol w="1000027">
                  <a:extLst>
                    <a:ext uri="{9D8B030D-6E8A-4147-A177-3AD203B41FA5}">
                      <a16:colId xmlns:a16="http://schemas.microsoft.com/office/drawing/2014/main" val="2172284963"/>
                    </a:ext>
                  </a:extLst>
                </a:gridCol>
              </a:tblGrid>
              <a:tr h="370840">
                <a:tc rowSpan="2">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CF</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CO</a:t>
                      </a: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NOx</a:t>
                      </a:r>
                    </a:p>
                  </a:txBody>
                  <a:tcPr anchor="ctr"/>
                </a:tc>
                <a:tc>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PN</a:t>
                      </a:r>
                    </a:p>
                  </a:txBody>
                  <a:tcPr anchor="ctr"/>
                </a:tc>
                <a:extLst>
                  <a:ext uri="{0D108BD9-81ED-4DB2-BD59-A6C34878D82A}">
                    <a16:rowId xmlns:a16="http://schemas.microsoft.com/office/drawing/2014/main" val="466918526"/>
                  </a:ext>
                </a:extLst>
              </a:tr>
              <a:tr h="370840">
                <a:tc vMerge="1">
                  <a:txBody>
                    <a:bodyPr/>
                    <a:lstStyle/>
                    <a:p>
                      <a:pPr algn="ct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lang="en-US" altLang="ja-JP" sz="1400">
                          <a:solidFill>
                            <a:srgbClr val="FF0000"/>
                          </a:solidFill>
                        </a:rPr>
                        <a:t>4.0**</a:t>
                      </a:r>
                      <a:endParaRPr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400" b="0">
                          <a:solidFill>
                            <a:schemeClr val="tx1"/>
                          </a:solidFill>
                          <a:latin typeface="Meiryo UI" panose="020B0604030504040204" pitchFamily="50" charset="-128"/>
                          <a:ea typeface="Meiryo UI" panose="020B0604030504040204" pitchFamily="50" charset="-128"/>
                          <a:cs typeface="Arial" panose="020B0604020202020204" pitchFamily="34" charset="0"/>
                        </a:rPr>
                        <a:t>1.43</a:t>
                      </a:r>
                      <a:endParaRPr kumimoji="1" lang="ja-JP" altLang="en-US" sz="1400" b="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a:solidFill>
                            <a:schemeClr val="tx1"/>
                          </a:solidFill>
                          <a:latin typeface="Meiryo UI" panose="020B0604030504040204" pitchFamily="50" charset="-128"/>
                          <a:ea typeface="Meiryo UI" panose="020B0604030504040204" pitchFamily="50" charset="-128"/>
                          <a:cs typeface="Arial" panose="020B0604020202020204" pitchFamily="34" charset="0"/>
                        </a:rPr>
                        <a:t>1.5</a:t>
                      </a:r>
                      <a:endParaRPr kumimoji="1" lang="ja-JP" altLang="en-US" sz="1400" b="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tc>
                <a:extLst>
                  <a:ext uri="{0D108BD9-81ED-4DB2-BD59-A6C34878D82A}">
                    <a16:rowId xmlns:a16="http://schemas.microsoft.com/office/drawing/2014/main" val="2543969671"/>
                  </a:ext>
                </a:extLst>
              </a:tr>
            </a:tbl>
          </a:graphicData>
        </a:graphic>
      </p:graphicFrame>
      <p:sp>
        <p:nvSpPr>
          <p:cNvPr id="21" name="テキスト ボックス 8"/>
          <p:cNvSpPr txBox="1"/>
          <p:nvPr/>
        </p:nvSpPr>
        <p:spPr>
          <a:xfrm>
            <a:off x="422502" y="2864374"/>
            <a:ext cx="1175069"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&lt;RDE&gt;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BS6 CF</a:t>
            </a:r>
          </a:p>
        </p:txBody>
      </p:sp>
      <p:sp>
        <p:nvSpPr>
          <p:cNvPr id="22" name="テキスト ボックス 10"/>
          <p:cNvSpPr txBox="1"/>
          <p:nvPr/>
        </p:nvSpPr>
        <p:spPr>
          <a:xfrm>
            <a:off x="5167311" y="3900589"/>
            <a:ext cx="1294193"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Only for GDI</a:t>
            </a:r>
          </a:p>
        </p:txBody>
      </p:sp>
      <p:sp>
        <p:nvSpPr>
          <p:cNvPr id="23" name="TextBox 22"/>
          <p:cNvSpPr txBox="1"/>
          <p:nvPr/>
        </p:nvSpPr>
        <p:spPr>
          <a:xfrm>
            <a:off x="6037479" y="3564118"/>
            <a:ext cx="1574400" cy="276999"/>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FF0000"/>
                </a:solidFill>
                <a:effectLst/>
                <a:uLnTx/>
                <a:uFillTx/>
                <a:latin typeface="Times New Roman" pitchFamily="18" charset="0"/>
                <a:ea typeface="ＭＳ Ｐゴシック" charset="-128"/>
                <a:cs typeface="+mn-cs"/>
              </a:rPr>
              <a:t>** Under finalization</a:t>
            </a:r>
          </a:p>
        </p:txBody>
      </p:sp>
      <p:graphicFrame>
        <p:nvGraphicFramePr>
          <p:cNvPr id="24" name="Table 4"/>
          <p:cNvGraphicFramePr>
            <a:graphicFrameLocks noGrp="1"/>
          </p:cNvGraphicFramePr>
          <p:nvPr>
            <p:extLst>
              <p:ext uri="{D42A27DB-BD31-4B8C-83A1-F6EECF244321}">
                <p14:modId xmlns:p14="http://schemas.microsoft.com/office/powerpoint/2010/main" val="1003373804"/>
              </p:ext>
            </p:extLst>
          </p:nvPr>
        </p:nvGraphicFramePr>
        <p:xfrm>
          <a:off x="2493024" y="5643680"/>
          <a:ext cx="1806114" cy="741680"/>
        </p:xfrm>
        <a:graphic>
          <a:graphicData uri="http://schemas.openxmlformats.org/drawingml/2006/table">
            <a:tbl>
              <a:tblPr firstRow="1" bandRow="1">
                <a:tableStyleId>{5940675A-B579-460E-94D1-54222C63F5DA}</a:tableStyleId>
              </a:tblPr>
              <a:tblGrid>
                <a:gridCol w="785246">
                  <a:extLst>
                    <a:ext uri="{9D8B030D-6E8A-4147-A177-3AD203B41FA5}">
                      <a16:colId xmlns:a16="http://schemas.microsoft.com/office/drawing/2014/main" val="1647875526"/>
                    </a:ext>
                  </a:extLst>
                </a:gridCol>
                <a:gridCol w="1020868">
                  <a:extLst>
                    <a:ext uri="{9D8B030D-6E8A-4147-A177-3AD203B41FA5}">
                      <a16:colId xmlns:a16="http://schemas.microsoft.com/office/drawing/2014/main" val="3210734039"/>
                    </a:ext>
                  </a:extLst>
                </a:gridCol>
              </a:tblGrid>
              <a:tr h="370840">
                <a:tc rowSpan="2">
                  <a:txBody>
                    <a:bodyPr/>
                    <a:lstStyle/>
                    <a:p>
                      <a:pPr algn="ctr"/>
                      <a:r>
                        <a:rPr kumimoji="1" lang="en-US" altLang="ja-JP" sz="1400" b="0">
                          <a:latin typeface="Meiryo UI" panose="020B0604030504040204" pitchFamily="50" charset="-128"/>
                          <a:ea typeface="Meiryo UI" panose="020B0604030504040204" pitchFamily="50" charset="-128"/>
                          <a:cs typeface="Arial" panose="020B0604020202020204" pitchFamily="34" charset="0"/>
                        </a:rPr>
                        <a:t>Limit</a:t>
                      </a: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lang="en-US" sz="1400">
                          <a:latin typeface="+mj-ea"/>
                          <a:ea typeface="+mj-ea"/>
                        </a:rPr>
                        <a:t>BSVI</a:t>
                      </a:r>
                    </a:p>
                  </a:txBody>
                  <a:tcPr anchor="ctr"/>
                </a:tc>
                <a:extLst>
                  <a:ext uri="{0D108BD9-81ED-4DB2-BD59-A6C34878D82A}">
                    <a16:rowId xmlns:a16="http://schemas.microsoft.com/office/drawing/2014/main" val="2108734808"/>
                  </a:ext>
                </a:extLst>
              </a:tr>
              <a:tr h="370840">
                <a:tc vMerge="1">
                  <a:txBody>
                    <a:bodyPr/>
                    <a:lstStyle/>
                    <a:p>
                      <a:pPr algn="ctr"/>
                      <a:endParaRPr kumimoji="1" lang="ja-JP" altLang="en-US" sz="1400" b="0">
                        <a:latin typeface="Meiryo UI" panose="020B0604030504040204" pitchFamily="50" charset="-128"/>
                        <a:ea typeface="Meiryo UI" panose="020B0604030504040204" pitchFamily="50" charset="-128"/>
                        <a:cs typeface="Arial" panose="020B0604020202020204" pitchFamily="34" charset="0"/>
                      </a:endParaRPr>
                    </a:p>
                  </a:txBody>
                  <a:tcPr anchor="ctr"/>
                </a:tc>
                <a:tc>
                  <a:txBody>
                    <a:bodyPr/>
                    <a:lstStyle/>
                    <a:p>
                      <a:pPr algn="ctr"/>
                      <a:r>
                        <a:rPr lang="en-US" altLang="ja-JP" sz="1400">
                          <a:latin typeface="+mj-ea"/>
                          <a:ea typeface="+mj-ea"/>
                        </a:rPr>
                        <a:t>2g/test</a:t>
                      </a:r>
                      <a:endParaRPr lang="ja-JP" altLang="en-US" sz="1400">
                        <a:latin typeface="+mj-ea"/>
                        <a:ea typeface="+mj-ea"/>
                      </a:endParaRPr>
                    </a:p>
                  </a:txBody>
                  <a:tcPr anchor="ctr"/>
                </a:tc>
                <a:extLst>
                  <a:ext uri="{0D108BD9-81ED-4DB2-BD59-A6C34878D82A}">
                    <a16:rowId xmlns:a16="http://schemas.microsoft.com/office/drawing/2014/main" val="527567412"/>
                  </a:ext>
                </a:extLst>
              </a:tr>
            </a:tbl>
          </a:graphicData>
        </a:graphic>
      </p:graphicFrame>
      <p:sp>
        <p:nvSpPr>
          <p:cNvPr id="25" name="テキスト ボックス 8"/>
          <p:cNvSpPr txBox="1"/>
          <p:nvPr/>
        </p:nvSpPr>
        <p:spPr>
          <a:xfrm>
            <a:off x="328917" y="5656456"/>
            <a:ext cx="2164108"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&lt;Evaporative EM&gt;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6" name="テキスト ボックス 12"/>
          <p:cNvSpPr txBox="1"/>
          <p:nvPr/>
        </p:nvSpPr>
        <p:spPr>
          <a:xfrm>
            <a:off x="7775515" y="5275063"/>
            <a:ext cx="1294193"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*Only for GDI</a:t>
            </a:r>
          </a:p>
        </p:txBody>
      </p:sp>
      <p:sp>
        <p:nvSpPr>
          <p:cNvPr id="2" name="テキスト ボックス 1">
            <a:extLst>
              <a:ext uri="{FF2B5EF4-FFF2-40B4-BE49-F238E27FC236}">
                <a16:creationId xmlns:a16="http://schemas.microsoft.com/office/drawing/2014/main" id="{870CE3F4-05F4-9F74-95E4-4E0E57B65D6A}"/>
              </a:ext>
            </a:extLst>
          </p:cNvPr>
          <p:cNvSpPr txBox="1"/>
          <p:nvPr/>
        </p:nvSpPr>
        <p:spPr>
          <a:xfrm>
            <a:off x="0" y="6488668"/>
            <a:ext cx="9144000" cy="400110"/>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a:t>
            </a:r>
            <a:r>
              <a:rPr lang="en-US" altLang="ja-JP" err="1">
                <a:solidFill>
                  <a:srgbClr val="000000"/>
                </a:solidFill>
              </a:rPr>
              <a:t>requiment</a:t>
            </a: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4293074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
          <p:cNvSpPr txBox="1">
            <a:spLocks noChangeArrowheads="1"/>
          </p:cNvSpPr>
          <p:nvPr/>
        </p:nvSpPr>
        <p:spPr bwMode="auto">
          <a:xfrm>
            <a:off x="133270" y="44451"/>
            <a:ext cx="8893175"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9. Regulation (</a:t>
            </a:r>
            <a:r>
              <a:rPr lang="en-US" altLang="ja-JP">
                <a:solidFill>
                  <a:srgbClr val="FFFFFF"/>
                </a:solidFill>
                <a:latin typeface="Meiryo UI" panose="020B0604030504040204" pitchFamily="50" charset="-128"/>
                <a:ea typeface="Meiryo UI" panose="020B0604030504040204" pitchFamily="50" charset="-128"/>
                <a:cs typeface="Arial" pitchFamily="34" charset="0"/>
              </a:rPr>
              <a:t>India</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OBD 1/2) </a:t>
            </a:r>
          </a:p>
        </p:txBody>
      </p:sp>
      <p:sp>
        <p:nvSpPr>
          <p:cNvPr id="6" name="テキスト ボックス 5"/>
          <p:cNvSpPr txBox="1"/>
          <p:nvPr/>
        </p:nvSpPr>
        <p:spPr>
          <a:xfrm>
            <a:off x="502135" y="5490999"/>
            <a:ext cx="6999877" cy="95410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Verification of registration requirement items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Open items from 6SAA-MMC to be took care.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graphicFrame>
        <p:nvGraphicFramePr>
          <p:cNvPr id="9" name="オブジェクト 8"/>
          <p:cNvGraphicFramePr>
            <a:graphicFrameLocks noChangeAspect="1"/>
          </p:cNvGraphicFramePr>
          <p:nvPr>
            <p:extLst>
              <p:ext uri="{D42A27DB-BD31-4B8C-83A1-F6EECF244321}">
                <p14:modId xmlns:p14="http://schemas.microsoft.com/office/powerpoint/2010/main" val="605340452"/>
              </p:ext>
            </p:extLst>
          </p:nvPr>
        </p:nvGraphicFramePr>
        <p:xfrm>
          <a:off x="6734899" y="5054876"/>
          <a:ext cx="1487431" cy="1255020"/>
        </p:xfrm>
        <a:graphic>
          <a:graphicData uri="http://schemas.openxmlformats.org/presentationml/2006/ole">
            <mc:AlternateContent xmlns:mc="http://schemas.openxmlformats.org/markup-compatibility/2006">
              <mc:Choice xmlns:v="urn:schemas-microsoft-com:vml" Requires="v">
                <p:oleObj name="Worksheet" showAsIcon="1" r:id="rId3" imgW="914400" imgH="771480" progId="Excel.Sheet.12">
                  <p:embed/>
                </p:oleObj>
              </mc:Choice>
              <mc:Fallback>
                <p:oleObj name="Worksheet" showAsIcon="1" r:id="rId3" imgW="914400" imgH="771480" progId="Excel.Sheet.12">
                  <p:embed/>
                  <p:pic>
                    <p:nvPicPr>
                      <p:cNvPr id="9" name="オブジェクト 8"/>
                      <p:cNvPicPr/>
                      <p:nvPr/>
                    </p:nvPicPr>
                    <p:blipFill>
                      <a:blip r:embed="rId4"/>
                      <a:stretch>
                        <a:fillRect/>
                      </a:stretch>
                    </p:blipFill>
                    <p:spPr>
                      <a:xfrm>
                        <a:off x="6734899" y="5054876"/>
                        <a:ext cx="1487431" cy="1255020"/>
                      </a:xfrm>
                      <a:prstGeom prst="rect">
                        <a:avLst/>
                      </a:prstGeom>
                    </p:spPr>
                  </p:pic>
                </p:oleObj>
              </mc:Fallback>
            </mc:AlternateContent>
          </a:graphicData>
        </a:graphic>
      </p:graphicFrame>
      <p:graphicFrame>
        <p:nvGraphicFramePr>
          <p:cNvPr id="14" name="表 13"/>
          <p:cNvGraphicFramePr>
            <a:graphicFrameLocks noGrp="1"/>
          </p:cNvGraphicFramePr>
          <p:nvPr/>
        </p:nvGraphicFramePr>
        <p:xfrm>
          <a:off x="402543" y="1698229"/>
          <a:ext cx="8485425" cy="1299210"/>
        </p:xfrm>
        <a:graphic>
          <a:graphicData uri="http://schemas.openxmlformats.org/drawingml/2006/table">
            <a:tbl>
              <a:tblPr>
                <a:tableStyleId>{5C22544A-7EE6-4342-B048-85BDC9FD1C3A}</a:tableStyleId>
              </a:tblPr>
              <a:tblGrid>
                <a:gridCol w="1182417">
                  <a:extLst>
                    <a:ext uri="{9D8B030D-6E8A-4147-A177-3AD203B41FA5}">
                      <a16:colId xmlns:a16="http://schemas.microsoft.com/office/drawing/2014/main" val="1934686926"/>
                    </a:ext>
                  </a:extLst>
                </a:gridCol>
                <a:gridCol w="4328160">
                  <a:extLst>
                    <a:ext uri="{9D8B030D-6E8A-4147-A177-3AD203B41FA5}">
                      <a16:colId xmlns:a16="http://schemas.microsoft.com/office/drawing/2014/main" val="3726817478"/>
                    </a:ext>
                  </a:extLst>
                </a:gridCol>
                <a:gridCol w="2974848">
                  <a:extLst>
                    <a:ext uri="{9D8B030D-6E8A-4147-A177-3AD203B41FA5}">
                      <a16:colId xmlns:a16="http://schemas.microsoft.com/office/drawing/2014/main" val="1618174409"/>
                    </a:ext>
                  </a:extLst>
                </a:gridCol>
              </a:tblGrid>
              <a:tr h="138884">
                <a:tc>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Regulation</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rPr>
                        <a:t> </a:t>
                      </a:r>
                      <a:r>
                        <a:rPr lang="en-US" altLang="ja-JP" sz="1400" b="0" i="0" u="none" strike="noStrike">
                          <a:solidFill>
                            <a:srgbClr val="000000"/>
                          </a:solidFill>
                          <a:effectLst/>
                          <a:latin typeface="Meiryo UI" panose="020B0604030504040204" pitchFamily="50" charset="-128"/>
                          <a:ea typeface="Meiryo UI" panose="020B0604030504040204" pitchFamily="50" charset="-128"/>
                        </a:rPr>
                        <a:t>No.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Contents</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CR</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14520"/>
                  </a:ext>
                </a:extLst>
              </a:tr>
              <a:tr h="0">
                <a:tc>
                  <a:txBody>
                    <a:bodyPr/>
                    <a:lstStyle/>
                    <a:p>
                      <a:pPr algn="ctr" fontAlgn="ctr"/>
                      <a:r>
                        <a:rPr lang="en-US" sz="1400" b="0" u="none" strike="noStrike">
                          <a:effectLst/>
                          <a:latin typeface="Meiryo UI" panose="020B0604030504040204" pitchFamily="50" charset="-128"/>
                          <a:ea typeface="Meiryo UI" panose="020B0604030504040204" pitchFamily="50" charset="-128"/>
                        </a:rPr>
                        <a:t>AIS137Part3</a:t>
                      </a:r>
                    </a:p>
                    <a:p>
                      <a:pPr algn="ctr" fontAlgn="ctr"/>
                      <a:r>
                        <a:rPr lang="en-US" sz="1400" b="0" u="none" strike="noStrike">
                          <a:effectLst/>
                          <a:latin typeface="Meiryo UI" panose="020B0604030504040204" pitchFamily="50" charset="-128"/>
                          <a:ea typeface="Meiryo UI" panose="020B0604030504040204" pitchFamily="50" charset="-128"/>
                        </a:rPr>
                        <a:t>Chapter 14 Appendix 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ja-JP" sz="1400" b="0" u="none" strike="noStrike">
                          <a:effectLst/>
                          <a:latin typeface="Meiryo UI" panose="020B0604030504040204" pitchFamily="50" charset="-128"/>
                          <a:ea typeface="Meiryo UI" panose="020B0604030504040204" pitchFamily="50" charset="-128"/>
                        </a:rPr>
                        <a:t>In-Use Performance Ratio (IUPR)</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a:t>
                      </a:r>
                      <a:r>
                        <a:rPr lang="en-US" altLang="ja-JP" sz="1400" b="0" i="0" u="none" strike="noStrike">
                          <a:solidFill>
                            <a:srgbClr val="000000"/>
                          </a:solidFill>
                          <a:effectLst/>
                          <a:latin typeface="Meiryo UI" panose="020B0604030504040204" pitchFamily="50" charset="-128"/>
                          <a:ea typeface="Meiryo UI" panose="020B0604030504040204" pitchFamily="50" charset="-128"/>
                        </a:rPr>
                        <a:t>HDC_CAN_OBD</a:t>
                      </a:r>
                      <a:r>
                        <a:rPr lang="ja-JP" altLang="en-US" sz="1400" b="0" i="0" u="none" strike="noStrike">
                          <a:solidFill>
                            <a:srgbClr val="000000"/>
                          </a:solidFill>
                          <a:effectLst/>
                          <a:latin typeface="Meiryo UI" panose="020B0604030504040204" pitchFamily="50" charset="-128"/>
                          <a:ea typeface="Meiryo UI" panose="020B0604030504040204" pitchFamily="50" charset="-128"/>
                        </a:rPr>
                        <a:t>法規関連仕様</a:t>
                      </a:r>
                      <a:r>
                        <a:rPr lang="en-US" altLang="ja-JP" sz="1400" b="0" i="0" u="none" strike="noStrike">
                          <a:solidFill>
                            <a:srgbClr val="000000"/>
                          </a:solidFill>
                          <a:effectLst/>
                          <a:latin typeface="Meiryo UI" panose="020B0604030504040204" pitchFamily="50" charset="-128"/>
                          <a:ea typeface="Meiryo UI" panose="020B0604030504040204" pitchFamily="50" charset="-128"/>
                        </a:rPr>
                        <a:t>-APPENDIX</a:t>
                      </a:r>
                    </a:p>
                    <a:p>
                      <a:pPr algn="l" rtl="0"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a:t>
                      </a:r>
                      <a:r>
                        <a:rPr lang="en-US" altLang="ja-JP" sz="1400" b="0" i="0" u="none" strike="noStrike">
                          <a:solidFill>
                            <a:srgbClr val="000000"/>
                          </a:solidFill>
                          <a:effectLst/>
                          <a:latin typeface="Meiryo UI" panose="020B0604030504040204" pitchFamily="50" charset="-128"/>
                          <a:ea typeface="Meiryo UI" panose="020B0604030504040204" pitchFamily="50" charset="-128"/>
                        </a:rPr>
                        <a:t>HDC_CAN_Service$22</a:t>
                      </a:r>
                      <a:r>
                        <a:rPr lang="ja-JP" altLang="en-US" sz="1400" b="0" i="0" u="none" strike="noStrike">
                          <a:solidFill>
                            <a:srgbClr val="000000"/>
                          </a:solidFill>
                          <a:effectLst/>
                          <a:latin typeface="Meiryo UI" panose="020B0604030504040204" pitchFamily="50" charset="-128"/>
                          <a:ea typeface="Meiryo UI" panose="020B0604030504040204" pitchFamily="50" charset="-128"/>
                        </a:rPr>
                        <a:t>仕様</a:t>
                      </a:r>
                      <a:r>
                        <a:rPr lang="en-US" altLang="ja-JP" sz="1400" b="0" i="0" u="none" strike="noStrike">
                          <a:solidFill>
                            <a:srgbClr val="000000"/>
                          </a:solidFill>
                          <a:effectLst/>
                          <a:latin typeface="Meiryo UI" panose="020B0604030504040204" pitchFamily="50" charset="-128"/>
                          <a:ea typeface="Meiryo UI" panose="020B0604030504040204" pitchFamily="50" charset="-128"/>
                        </a:rPr>
                        <a:t>-APPENDIX for BS6 project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974121"/>
                  </a:ext>
                </a:extLst>
              </a:tr>
            </a:tbl>
          </a:graphicData>
        </a:graphic>
      </p:graphicFrame>
      <p:sp>
        <p:nvSpPr>
          <p:cNvPr id="15" name="テキスト ボックス 14"/>
          <p:cNvSpPr txBox="1"/>
          <p:nvPr/>
        </p:nvSpPr>
        <p:spPr>
          <a:xfrm>
            <a:off x="95313" y="820844"/>
            <a:ext cx="6999877" cy="83099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&lt;India Revised</a:t>
            </a:r>
            <a:r>
              <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OBD</a:t>
            </a:r>
            <a:r>
              <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items</a:t>
            </a:r>
            <a:r>
              <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for 6SAA-MMC&gt;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Required items are listed below</a:t>
            </a:r>
            <a:r>
              <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Change point from 6</a:t>
            </a:r>
            <a:r>
              <a:rPr lang="en-US" altLang="ja-JP" sz="1600">
                <a:solidFill>
                  <a:srgbClr val="000000"/>
                </a:solidFill>
                <a:latin typeface="Meiryo UI" panose="020B0604030504040204" pitchFamily="50" charset="-128"/>
                <a:ea typeface="Meiryo UI" panose="020B0604030504040204" pitchFamily="50" charset="-128"/>
                <a:cs typeface="Arial" pitchFamily="34" charset="0"/>
              </a:rPr>
              <a:t>SAA</a:t>
            </a:r>
            <a:r>
              <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p>
        </p:txBody>
      </p:sp>
      <p:sp>
        <p:nvSpPr>
          <p:cNvPr id="3" name="テキスト ボックス 2">
            <a:extLst>
              <a:ext uri="{FF2B5EF4-FFF2-40B4-BE49-F238E27FC236}">
                <a16:creationId xmlns:a16="http://schemas.microsoft.com/office/drawing/2014/main" id="{209AA549-A2F4-0B20-B61A-751F6A3171AA}"/>
              </a:ext>
            </a:extLst>
          </p:cNvPr>
          <p:cNvSpPr txBox="1"/>
          <p:nvPr/>
        </p:nvSpPr>
        <p:spPr>
          <a:xfrm rot="21087493">
            <a:off x="3872526" y="3629730"/>
            <a:ext cx="4339586" cy="461665"/>
          </a:xfrm>
          <a:prstGeom prst="rect">
            <a:avLst/>
          </a:prstGeom>
          <a:solidFill>
            <a:srgbClr val="00FF00"/>
          </a:solidFill>
        </p:spPr>
        <p:txBody>
          <a:bodyPr wrap="none" rtlCol="0">
            <a:spAutoFit/>
          </a:bodyPr>
          <a:lstStyle/>
          <a:p>
            <a:r>
              <a:rPr kumimoji="1" lang="en-US" altLang="ja-JP">
                <a:latin typeface="+mn-ea"/>
                <a:ea typeface="+mn-ea"/>
              </a:rPr>
              <a:t>Tentative slide . </a:t>
            </a:r>
            <a:r>
              <a:rPr lang="en-US" altLang="ja-JP">
                <a:latin typeface="+mn-ea"/>
                <a:ea typeface="+mn-ea"/>
              </a:rPr>
              <a:t>W</a:t>
            </a:r>
            <a:r>
              <a:rPr kumimoji="1" lang="en-US" altLang="ja-JP">
                <a:latin typeface="+mn-ea"/>
                <a:ea typeface="+mn-ea"/>
              </a:rPr>
              <a:t>ill update</a:t>
            </a:r>
            <a:endParaRPr kumimoji="1" lang="ja-JP" altLang="en-US">
              <a:latin typeface="+mn-ea"/>
              <a:ea typeface="+mn-ea"/>
            </a:endParaRPr>
          </a:p>
        </p:txBody>
      </p:sp>
      <p:sp>
        <p:nvSpPr>
          <p:cNvPr id="2" name="テキスト ボックス 1">
            <a:extLst>
              <a:ext uri="{FF2B5EF4-FFF2-40B4-BE49-F238E27FC236}">
                <a16:creationId xmlns:a16="http://schemas.microsoft.com/office/drawing/2014/main" id="{EBFDE136-4403-84AA-BF7C-3AD32D471F10}"/>
              </a:ext>
            </a:extLst>
          </p:cNvPr>
          <p:cNvSpPr txBox="1"/>
          <p:nvPr/>
        </p:nvSpPr>
        <p:spPr>
          <a:xfrm>
            <a:off x="0" y="6488668"/>
            <a:ext cx="9144000" cy="400110"/>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Honda will update judgement way(SW will not change)  End of ’25 Jan.</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471501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
          <p:cNvSpPr txBox="1">
            <a:spLocks noChangeArrowheads="1"/>
          </p:cNvSpPr>
          <p:nvPr/>
        </p:nvSpPr>
        <p:spPr bwMode="auto">
          <a:xfrm>
            <a:off x="159280" y="10600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a:solidFill>
                  <a:schemeClr val="bg1"/>
                </a:solidFill>
                <a:latin typeface="Meiryo UI" panose="020B0604030504040204" pitchFamily="50" charset="-128"/>
                <a:ea typeface="Meiryo UI" panose="020B0604030504040204" pitchFamily="50" charset="-128"/>
                <a:cs typeface="Arial" pitchFamily="34" charset="0"/>
              </a:rPr>
              <a:t>10. Applicable Regulations Overview (OBD) </a:t>
            </a:r>
          </a:p>
        </p:txBody>
      </p:sp>
      <p:graphicFrame>
        <p:nvGraphicFramePr>
          <p:cNvPr id="2" name="表 1"/>
          <p:cNvGraphicFramePr>
            <a:graphicFrameLocks noGrp="1"/>
          </p:cNvGraphicFramePr>
          <p:nvPr>
            <p:extLst>
              <p:ext uri="{D42A27DB-BD31-4B8C-83A1-F6EECF244321}">
                <p14:modId xmlns:p14="http://schemas.microsoft.com/office/powerpoint/2010/main" val="1849616917"/>
              </p:ext>
            </p:extLst>
          </p:nvPr>
        </p:nvGraphicFramePr>
        <p:xfrm>
          <a:off x="402543" y="1560578"/>
          <a:ext cx="8485425" cy="659130"/>
        </p:xfrm>
        <a:graphic>
          <a:graphicData uri="http://schemas.openxmlformats.org/drawingml/2006/table">
            <a:tbl>
              <a:tblPr>
                <a:tableStyleId>{5C22544A-7EE6-4342-B048-85BDC9FD1C3A}</a:tableStyleId>
              </a:tblPr>
              <a:tblGrid>
                <a:gridCol w="1182417">
                  <a:extLst>
                    <a:ext uri="{9D8B030D-6E8A-4147-A177-3AD203B41FA5}">
                      <a16:colId xmlns:a16="http://schemas.microsoft.com/office/drawing/2014/main" val="1934686926"/>
                    </a:ext>
                  </a:extLst>
                </a:gridCol>
                <a:gridCol w="4328160">
                  <a:extLst>
                    <a:ext uri="{9D8B030D-6E8A-4147-A177-3AD203B41FA5}">
                      <a16:colId xmlns:a16="http://schemas.microsoft.com/office/drawing/2014/main" val="3726817478"/>
                    </a:ext>
                  </a:extLst>
                </a:gridCol>
                <a:gridCol w="2974848">
                  <a:extLst>
                    <a:ext uri="{9D8B030D-6E8A-4147-A177-3AD203B41FA5}">
                      <a16:colId xmlns:a16="http://schemas.microsoft.com/office/drawing/2014/main" val="1618174409"/>
                    </a:ext>
                  </a:extLst>
                </a:gridCol>
              </a:tblGrid>
              <a:tr h="138884">
                <a:tc>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Regulation</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rPr>
                        <a:t> </a:t>
                      </a:r>
                      <a:r>
                        <a:rPr lang="en-US" altLang="ja-JP" sz="1400" b="0" i="0" u="none" strike="noStrike">
                          <a:solidFill>
                            <a:srgbClr val="000000"/>
                          </a:solidFill>
                          <a:effectLst/>
                          <a:latin typeface="Meiryo UI" panose="020B0604030504040204" pitchFamily="50" charset="-128"/>
                          <a:ea typeface="Meiryo UI" panose="020B0604030504040204" pitchFamily="50" charset="-128"/>
                        </a:rPr>
                        <a:t>No.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Contents</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CR</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14520"/>
                  </a:ext>
                </a:extLst>
              </a:tr>
              <a:tr h="0">
                <a:tc>
                  <a:txBody>
                    <a:bodyPr/>
                    <a:lstStyle/>
                    <a:p>
                      <a:pPr algn="ctr" fontAlgn="ctr"/>
                      <a:endParaRPr lang="en-US" sz="14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ja-JP" sz="1400" b="0" u="none" strike="noStrike">
                          <a:effectLst/>
                          <a:latin typeface="Meiryo UI" panose="020B0604030504040204" pitchFamily="50" charset="-128"/>
                          <a:ea typeface="Meiryo UI" panose="020B0604030504040204" pitchFamily="50" charset="-128"/>
                        </a:rPr>
                        <a:t>Voltage Monitor</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974121"/>
                  </a:ext>
                </a:extLst>
              </a:tr>
            </a:tbl>
          </a:graphicData>
        </a:graphic>
      </p:graphicFrame>
      <p:sp>
        <p:nvSpPr>
          <p:cNvPr id="5" name="テキスト ボックス 4"/>
          <p:cNvSpPr txBox="1"/>
          <p:nvPr/>
        </p:nvSpPr>
        <p:spPr>
          <a:xfrm>
            <a:off x="159280" y="602457"/>
            <a:ext cx="6999877" cy="861774"/>
          </a:xfrm>
          <a:prstGeom prst="rect">
            <a:avLst/>
          </a:prstGeom>
          <a:noFill/>
        </p:spPr>
        <p:txBody>
          <a:bodyPr wrap="square" rtlCol="0">
            <a:spAutoFit/>
          </a:bodyPr>
          <a:lstStyle/>
          <a:p>
            <a:pPr algn="l"/>
            <a:r>
              <a:rPr lang="en-US" altLang="ja-JP" sz="1800" b="1" u="sng">
                <a:latin typeface="Meiryo UI" panose="020B0604030504040204" pitchFamily="50" charset="-128"/>
                <a:ea typeface="Meiryo UI" panose="020B0604030504040204" pitchFamily="50" charset="-128"/>
                <a:cs typeface="Arial" pitchFamily="34" charset="0"/>
              </a:rPr>
              <a:t>&lt;Revised</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OBD</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Items</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for </a:t>
            </a:r>
            <a:r>
              <a:rPr lang="en-US" altLang="ja-JP" sz="1800" b="1" u="sng">
                <a:solidFill>
                  <a:srgbClr val="FF0000"/>
                </a:solidFill>
                <a:latin typeface="Meiryo UI" panose="020B0604030504040204" pitchFamily="50" charset="-128"/>
                <a:ea typeface="Meiryo UI" panose="020B0604030504040204" pitchFamily="50" charset="-128"/>
                <a:cs typeface="Arial" pitchFamily="34" charset="0"/>
              </a:rPr>
              <a:t>6SAA-MMC</a:t>
            </a:r>
            <a:r>
              <a:rPr lang="en-US" altLang="ja-JP" sz="1800" b="1" u="sng">
                <a:latin typeface="Meiryo UI" panose="020B0604030504040204" pitchFamily="50" charset="-128"/>
                <a:ea typeface="Meiryo UI" panose="020B0604030504040204" pitchFamily="50" charset="-128"/>
                <a:cs typeface="Arial" pitchFamily="34" charset="0"/>
              </a:rPr>
              <a:t>&gt;</a:t>
            </a:r>
          </a:p>
          <a:p>
            <a:pPr algn="l"/>
            <a:r>
              <a:rPr lang="en-US" altLang="ja-JP" sz="1600">
                <a:latin typeface="Meiryo UI" panose="020B0604030504040204" pitchFamily="50" charset="-128"/>
                <a:ea typeface="Meiryo UI" panose="020B0604030504040204" pitchFamily="50" charset="-128"/>
                <a:cs typeface="Arial" pitchFamily="34" charset="0"/>
              </a:rPr>
              <a:t> </a:t>
            </a:r>
          </a:p>
          <a:p>
            <a:pPr algn="l"/>
            <a:r>
              <a:rPr lang="en-US" altLang="ja-JP" sz="1600">
                <a:latin typeface="Meiryo UI" panose="020B0604030504040204" pitchFamily="50" charset="-128"/>
                <a:ea typeface="Meiryo UI" panose="020B0604030504040204" pitchFamily="50" charset="-128"/>
                <a:cs typeface="Arial" pitchFamily="34" charset="0"/>
              </a:rPr>
              <a:t>Required items are listed below</a:t>
            </a:r>
            <a:endParaRPr lang="ja-JP" altLang="en-US" sz="1600">
              <a:latin typeface="Meiryo UI" panose="020B0604030504040204" pitchFamily="50" charset="-128"/>
              <a:ea typeface="Meiryo UI" panose="020B0604030504040204" pitchFamily="50" charset="-128"/>
              <a:cs typeface="Arial" pitchFamily="34" charset="0"/>
            </a:endParaRPr>
          </a:p>
        </p:txBody>
      </p:sp>
      <p:sp>
        <p:nvSpPr>
          <p:cNvPr id="6" name="テキスト ボックス 5"/>
          <p:cNvSpPr txBox="1"/>
          <p:nvPr/>
        </p:nvSpPr>
        <p:spPr>
          <a:xfrm>
            <a:off x="250837" y="4239556"/>
            <a:ext cx="6999877" cy="954107"/>
          </a:xfrm>
          <a:prstGeom prst="rect">
            <a:avLst/>
          </a:prstGeom>
          <a:noFill/>
        </p:spPr>
        <p:txBody>
          <a:bodyPr wrap="square" rtlCol="0">
            <a:spAutoFit/>
          </a:bodyPr>
          <a:lstStyle/>
          <a:p>
            <a:pPr algn="l"/>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Verification of registration requirement items</a:t>
            </a:r>
          </a:p>
          <a:p>
            <a:pPr algn="l"/>
            <a:endParaRPr lang="en-US" altLang="ja-JP" sz="1400">
              <a:latin typeface="Meiryo UI" panose="020B0604030504040204" pitchFamily="50" charset="-128"/>
              <a:ea typeface="Meiryo UI" panose="020B0604030504040204" pitchFamily="50" charset="-128"/>
              <a:cs typeface="Arial" pitchFamily="34" charset="0"/>
            </a:endParaRPr>
          </a:p>
          <a:p>
            <a:pPr algn="l"/>
            <a:r>
              <a:rPr lang="en-US" altLang="ja-JP" sz="1400">
                <a:latin typeface="Meiryo UI" panose="020B0604030504040204" pitchFamily="50" charset="-128"/>
                <a:ea typeface="Meiryo UI" panose="020B0604030504040204" pitchFamily="50" charset="-128"/>
                <a:cs typeface="Arial" pitchFamily="34" charset="0"/>
              </a:rPr>
              <a:t> Open items from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6SAA-MMC</a:t>
            </a:r>
            <a:r>
              <a:rPr lang="en-US" altLang="ja-JP" sz="1400">
                <a:latin typeface="Meiryo UI" panose="020B0604030504040204" pitchFamily="50" charset="-128"/>
                <a:ea typeface="Meiryo UI" panose="020B0604030504040204" pitchFamily="50" charset="-128"/>
                <a:cs typeface="Arial" pitchFamily="34" charset="0"/>
              </a:rPr>
              <a:t> to be took care.</a:t>
            </a:r>
          </a:p>
          <a:p>
            <a:pPr algn="l"/>
            <a:endParaRPr lang="en-US" altLang="ja-JP" sz="1400">
              <a:latin typeface="Meiryo UI" panose="020B0604030504040204" pitchFamily="50" charset="-128"/>
              <a:ea typeface="Meiryo UI" panose="020B0604030504040204" pitchFamily="50" charset="-128"/>
              <a:cs typeface="Arial" pitchFamily="34" charset="0"/>
            </a:endParaRPr>
          </a:p>
        </p:txBody>
      </p:sp>
      <p:sp>
        <p:nvSpPr>
          <p:cNvPr id="12" name="コンテンツ プレースホルダー 2"/>
          <p:cNvSpPr txBox="1">
            <a:spLocks/>
          </p:cNvSpPr>
          <p:nvPr>
            <p:custDataLst>
              <p:tags r:id="rId1"/>
            </p:custDataLst>
          </p:nvPr>
        </p:nvSpPr>
        <p:spPr bwMode="auto">
          <a:xfrm>
            <a:off x="3909041" y="5733191"/>
            <a:ext cx="4978927"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“XXXX</a:t>
            </a:r>
            <a:r>
              <a:rPr lang="ja-JP" altLang="en-US" sz="1400" b="1" kern="0">
                <a:latin typeface="Meiryo UI" panose="020B0604030504040204" pitchFamily="50" charset="-128"/>
              </a:rPr>
              <a:t> </a:t>
            </a:r>
            <a:r>
              <a:rPr lang="en-US" altLang="ja-JP" sz="1400" b="1" kern="0">
                <a:latin typeface="Meiryo UI" panose="020B0604030504040204" pitchFamily="50" charset="-128"/>
              </a:rPr>
              <a:t>OBD regulation sample” excel file.</a:t>
            </a:r>
          </a:p>
          <a:p>
            <a:pPr marL="0" indent="0">
              <a:lnSpc>
                <a:spcPct val="105000"/>
              </a:lnSpc>
              <a:spcBef>
                <a:spcPts val="600"/>
              </a:spcBef>
              <a:spcAft>
                <a:spcPts val="0"/>
              </a:spcAft>
            </a:pPr>
            <a:r>
              <a:rPr lang="en-US" sz="1400" b="1" kern="0">
                <a:latin typeface="Meiryo UI" panose="020B0604030504040204" pitchFamily="50" charset="-128"/>
              </a:rPr>
              <a:t>In folder : “10. Regulation”</a:t>
            </a:r>
          </a:p>
        </p:txBody>
      </p:sp>
      <p:sp>
        <p:nvSpPr>
          <p:cNvPr id="4" name="テキスト ボックス 3">
            <a:extLst>
              <a:ext uri="{FF2B5EF4-FFF2-40B4-BE49-F238E27FC236}">
                <a16:creationId xmlns:a16="http://schemas.microsoft.com/office/drawing/2014/main" id="{6F478159-0F8B-7510-E8E7-F9FA753D6EB1}"/>
              </a:ext>
            </a:extLst>
          </p:cNvPr>
          <p:cNvSpPr txBox="1"/>
          <p:nvPr/>
        </p:nvSpPr>
        <p:spPr>
          <a:xfrm rot="21087493">
            <a:off x="3131120" y="3367880"/>
            <a:ext cx="4339586" cy="461665"/>
          </a:xfrm>
          <a:prstGeom prst="rect">
            <a:avLst/>
          </a:prstGeom>
          <a:solidFill>
            <a:srgbClr val="00FF00"/>
          </a:solidFill>
        </p:spPr>
        <p:txBody>
          <a:bodyPr wrap="none" rtlCol="0">
            <a:spAutoFit/>
          </a:bodyPr>
          <a:lstStyle/>
          <a:p>
            <a:r>
              <a:rPr kumimoji="1" lang="en-US" altLang="ja-JP">
                <a:latin typeface="+mn-ea"/>
                <a:ea typeface="+mn-ea"/>
              </a:rPr>
              <a:t>Tentative slide . </a:t>
            </a:r>
            <a:r>
              <a:rPr lang="en-US" altLang="ja-JP">
                <a:latin typeface="+mn-ea"/>
                <a:ea typeface="+mn-ea"/>
              </a:rPr>
              <a:t>W</a:t>
            </a:r>
            <a:r>
              <a:rPr kumimoji="1" lang="en-US" altLang="ja-JP">
                <a:latin typeface="+mn-ea"/>
                <a:ea typeface="+mn-ea"/>
              </a:rPr>
              <a:t>ill update</a:t>
            </a:r>
            <a:endParaRPr kumimoji="1" lang="ja-JP" altLang="en-US">
              <a:latin typeface="+mn-ea"/>
              <a:ea typeface="+mn-ea"/>
            </a:endParaRPr>
          </a:p>
        </p:txBody>
      </p:sp>
      <p:sp>
        <p:nvSpPr>
          <p:cNvPr id="3" name="テキスト ボックス 2">
            <a:extLst>
              <a:ext uri="{FF2B5EF4-FFF2-40B4-BE49-F238E27FC236}">
                <a16:creationId xmlns:a16="http://schemas.microsoft.com/office/drawing/2014/main" id="{AAE727EB-E8B9-2DBC-915F-5245B111F66A}"/>
              </a:ext>
            </a:extLst>
          </p:cNvPr>
          <p:cNvSpPr txBox="1"/>
          <p:nvPr/>
        </p:nvSpPr>
        <p:spPr>
          <a:xfrm>
            <a:off x="0" y="6488668"/>
            <a:ext cx="9144000" cy="400110"/>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On going item , Will fix  End of ’25 Feb.</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005403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
          <p:cNvSpPr txBox="1">
            <a:spLocks noChangeArrowheads="1"/>
          </p:cNvSpPr>
          <p:nvPr/>
        </p:nvSpPr>
        <p:spPr bwMode="auto">
          <a:xfrm>
            <a:off x="100361" y="106001"/>
            <a:ext cx="89520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a:solidFill>
                  <a:schemeClr val="bg1"/>
                </a:solidFill>
                <a:latin typeface="Meiryo UI" panose="020B0604030504040204" pitchFamily="50" charset="-128"/>
                <a:ea typeface="Meiryo UI" panose="020B0604030504040204" pitchFamily="50" charset="-128"/>
                <a:cs typeface="Arial" pitchFamily="34" charset="0"/>
              </a:rPr>
              <a:t>10. Applicable Regulations Overview (CS/SU) </a:t>
            </a:r>
          </a:p>
        </p:txBody>
      </p:sp>
      <p:sp>
        <p:nvSpPr>
          <p:cNvPr id="5" name="テキスト ボックス 4"/>
          <p:cNvSpPr txBox="1"/>
          <p:nvPr/>
        </p:nvSpPr>
        <p:spPr>
          <a:xfrm>
            <a:off x="257915" y="602457"/>
            <a:ext cx="8625735" cy="2862322"/>
          </a:xfrm>
          <a:prstGeom prst="rect">
            <a:avLst/>
          </a:prstGeom>
          <a:noFill/>
        </p:spPr>
        <p:txBody>
          <a:bodyPr wrap="square" rtlCol="0">
            <a:spAutoFit/>
          </a:bodyPr>
          <a:lstStyle/>
          <a:p>
            <a:pPr algn="l"/>
            <a:r>
              <a:rPr lang="en-US" altLang="ja-JP" sz="1800" b="1" u="sng">
                <a:latin typeface="Meiryo UI" panose="020B0604030504040204" pitchFamily="50" charset="-128"/>
                <a:ea typeface="Meiryo UI" panose="020B0604030504040204" pitchFamily="50" charset="-128"/>
                <a:cs typeface="Arial" pitchFamily="34" charset="0"/>
              </a:rPr>
              <a:t>Cyber Security (UN-R155) /Software Update (UN-R156)</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for </a:t>
            </a:r>
            <a:r>
              <a:rPr lang="en-US" altLang="ja-JP" sz="1800" b="1" u="sng">
                <a:solidFill>
                  <a:srgbClr val="FF0000"/>
                </a:solidFill>
                <a:latin typeface="Meiryo UI" panose="020B0604030504040204" pitchFamily="50" charset="-128"/>
                <a:ea typeface="Meiryo UI" panose="020B0604030504040204" pitchFamily="50" charset="-128"/>
                <a:cs typeface="Arial" pitchFamily="34" charset="0"/>
              </a:rPr>
              <a:t>6SAA-MMC</a:t>
            </a:r>
            <a:endParaRPr lang="en-US" altLang="ja-JP" sz="1800" b="1" u="sng">
              <a:latin typeface="Meiryo UI" panose="020B0604030504040204" pitchFamily="50" charset="-128"/>
              <a:ea typeface="Meiryo UI" panose="020B0604030504040204" pitchFamily="50" charset="-128"/>
              <a:cs typeface="Arial" pitchFamily="34" charset="0"/>
            </a:endParaRPr>
          </a:p>
          <a:p>
            <a:pPr algn="l"/>
            <a:r>
              <a:rPr lang="en-US" altLang="ja-JP" sz="1600">
                <a:latin typeface="Meiryo UI" panose="020B0604030504040204" pitchFamily="50" charset="-128"/>
                <a:ea typeface="Meiryo UI" panose="020B0604030504040204" pitchFamily="50" charset="-128"/>
                <a:cs typeface="Arial" pitchFamily="34" charset="0"/>
              </a:rPr>
              <a:t> </a:t>
            </a:r>
          </a:p>
          <a:p>
            <a:pPr algn="l"/>
            <a:r>
              <a:rPr lang="en-US" altLang="ja-JP" sz="1600">
                <a:latin typeface="Meiryo UI" panose="020B0604030504040204" pitchFamily="50" charset="-128"/>
                <a:ea typeface="Meiryo UI" panose="020B0604030504040204" pitchFamily="50" charset="-128"/>
                <a:cs typeface="Arial" pitchFamily="34" charset="0"/>
              </a:rPr>
              <a:t>Requirements : </a:t>
            </a:r>
          </a:p>
          <a:p>
            <a:pPr algn="l"/>
            <a:r>
              <a:rPr lang="en-US" altLang="ja-JP" sz="1600">
                <a:latin typeface="Meiryo UI" panose="020B0604030504040204" pitchFamily="50" charset="-128"/>
                <a:ea typeface="Meiryo UI" panose="020B0604030504040204" pitchFamily="50" charset="-128"/>
                <a:cs typeface="Arial" pitchFamily="34" charset="0"/>
              </a:rPr>
              <a:t>	Align CIA/SIA according to guidelines.</a:t>
            </a:r>
          </a:p>
          <a:p>
            <a:pPr algn="l"/>
            <a:r>
              <a:rPr lang="en-US" altLang="ja-JP" sz="1600">
                <a:latin typeface="Meiryo UI" panose="020B0604030504040204" pitchFamily="50" charset="-128"/>
                <a:ea typeface="Meiryo UI" panose="020B0604030504040204" pitchFamily="50" charset="-128"/>
                <a:cs typeface="Arial" pitchFamily="34" charset="0"/>
              </a:rPr>
              <a:t>	Submit work products according to CIA/SIA.</a:t>
            </a:r>
          </a:p>
          <a:p>
            <a:pPr algn="l"/>
            <a:endParaRPr lang="en-US" altLang="ja-JP" sz="1600">
              <a:latin typeface="Meiryo UI" panose="020B0604030504040204" pitchFamily="50" charset="-128"/>
              <a:ea typeface="Meiryo UI" panose="020B0604030504040204" pitchFamily="50" charset="-128"/>
              <a:cs typeface="Arial" pitchFamily="34" charset="0"/>
            </a:endParaRPr>
          </a:p>
          <a:p>
            <a:pPr algn="l"/>
            <a:r>
              <a:rPr lang="ja-JP" altLang="en-US" sz="1600">
                <a:latin typeface="Meiryo UI" panose="020B0604030504040204" pitchFamily="50" charset="-128"/>
                <a:ea typeface="Meiryo UI" panose="020B0604030504040204" pitchFamily="50" charset="-128"/>
                <a:cs typeface="Arial" pitchFamily="34" charset="0"/>
              </a:rPr>
              <a:t>要求 </a:t>
            </a:r>
            <a:r>
              <a:rPr lang="en-US" altLang="ja-JP" sz="1600">
                <a:latin typeface="Meiryo UI" panose="020B0604030504040204" pitchFamily="50" charset="-128"/>
                <a:ea typeface="Meiryo UI" panose="020B0604030504040204" pitchFamily="50" charset="-128"/>
                <a:cs typeface="Arial" pitchFamily="34" charset="0"/>
              </a:rPr>
              <a:t>:</a:t>
            </a:r>
          </a:p>
          <a:p>
            <a:pPr algn="l"/>
            <a:r>
              <a:rPr lang="en-US" altLang="ja-JP" sz="1600">
                <a:latin typeface="Meiryo UI" panose="020B0604030504040204" pitchFamily="50" charset="-128"/>
                <a:ea typeface="Meiryo UI" panose="020B0604030504040204" pitchFamily="50" charset="-128"/>
                <a:cs typeface="Arial" pitchFamily="34" charset="0"/>
              </a:rPr>
              <a:t>	</a:t>
            </a:r>
            <a:r>
              <a:rPr lang="ja-JP" altLang="en-US" sz="1600">
                <a:latin typeface="Meiryo UI" panose="020B0604030504040204" pitchFamily="50" charset="-128"/>
                <a:ea typeface="Meiryo UI" panose="020B0604030504040204" pitchFamily="50" charset="-128"/>
                <a:cs typeface="Arial" pitchFamily="34" charset="0"/>
              </a:rPr>
              <a:t>ガイドラインに従い</a:t>
            </a:r>
            <a:r>
              <a:rPr lang="en-US" altLang="ja-JP" sz="1600">
                <a:latin typeface="Meiryo UI" panose="020B0604030504040204" pitchFamily="50" charset="-128"/>
                <a:ea typeface="Meiryo UI" panose="020B0604030504040204" pitchFamily="50" charset="-128"/>
                <a:cs typeface="Arial" pitchFamily="34" charset="0"/>
              </a:rPr>
              <a:t>CIA/SIA</a:t>
            </a:r>
            <a:r>
              <a:rPr lang="ja-JP" altLang="en-US" sz="1600">
                <a:latin typeface="Meiryo UI" panose="020B0604030504040204" pitchFamily="50" charset="-128"/>
                <a:ea typeface="Meiryo UI" panose="020B0604030504040204" pitchFamily="50" charset="-128"/>
                <a:cs typeface="Arial" pitchFamily="34" charset="0"/>
              </a:rPr>
              <a:t>を整合</a:t>
            </a:r>
            <a:endParaRPr lang="en-US" altLang="ja-JP" sz="1600">
              <a:latin typeface="Meiryo UI" panose="020B0604030504040204" pitchFamily="50" charset="-128"/>
              <a:ea typeface="Meiryo UI" panose="020B0604030504040204" pitchFamily="50" charset="-128"/>
              <a:cs typeface="Arial" pitchFamily="34" charset="0"/>
            </a:endParaRPr>
          </a:p>
          <a:p>
            <a:pPr algn="l"/>
            <a:r>
              <a:rPr lang="en-US" altLang="ja-JP" sz="1600">
                <a:latin typeface="Meiryo UI" panose="020B0604030504040204" pitchFamily="50" charset="-128"/>
                <a:ea typeface="Meiryo UI" panose="020B0604030504040204" pitchFamily="50" charset="-128"/>
                <a:cs typeface="Arial" pitchFamily="34" charset="0"/>
              </a:rPr>
              <a:t>	CIA/SIA</a:t>
            </a:r>
            <a:r>
              <a:rPr lang="ja-JP" altLang="en-US" sz="1600">
                <a:latin typeface="Meiryo UI" panose="020B0604030504040204" pitchFamily="50" charset="-128"/>
                <a:ea typeface="Meiryo UI" panose="020B0604030504040204" pitchFamily="50" charset="-128"/>
                <a:cs typeface="Arial" pitchFamily="34" charset="0"/>
              </a:rPr>
              <a:t>に従い成果物を提出</a:t>
            </a:r>
            <a:endParaRPr lang="en-US" altLang="ja-JP" sz="1600">
              <a:latin typeface="Meiryo UI" panose="020B0604030504040204" pitchFamily="50" charset="-128"/>
              <a:ea typeface="Meiryo UI" panose="020B0604030504040204" pitchFamily="50" charset="-128"/>
              <a:cs typeface="Arial" pitchFamily="34" charset="0"/>
            </a:endParaRPr>
          </a:p>
          <a:p>
            <a:pPr algn="l"/>
            <a:endParaRPr lang="ja-JP" altLang="en-US" sz="1600">
              <a:latin typeface="Meiryo UI" panose="020B0604030504040204" pitchFamily="50" charset="-128"/>
              <a:ea typeface="Meiryo UI" panose="020B0604030504040204" pitchFamily="50" charset="-128"/>
              <a:cs typeface="Arial" pitchFamily="34" charset="0"/>
            </a:endParaRPr>
          </a:p>
        </p:txBody>
      </p:sp>
      <p:sp>
        <p:nvSpPr>
          <p:cNvPr id="4" name="テキスト ボックス 3">
            <a:extLst>
              <a:ext uri="{FF2B5EF4-FFF2-40B4-BE49-F238E27FC236}">
                <a16:creationId xmlns:a16="http://schemas.microsoft.com/office/drawing/2014/main" id="{221D1C5A-7026-AABB-C03F-FAC7380D9E70}"/>
              </a:ext>
            </a:extLst>
          </p:cNvPr>
          <p:cNvSpPr txBox="1"/>
          <p:nvPr/>
        </p:nvSpPr>
        <p:spPr>
          <a:xfrm>
            <a:off x="324555" y="3420176"/>
            <a:ext cx="8494889" cy="2677656"/>
          </a:xfrm>
          <a:prstGeom prst="rect">
            <a:avLst/>
          </a:prstGeom>
          <a:noFill/>
        </p:spPr>
        <p:txBody>
          <a:bodyPr wrap="square">
            <a:spAutoFit/>
          </a:bodyPr>
          <a:lstStyle/>
          <a:p>
            <a:pPr lvl="1" algn="l"/>
            <a:r>
              <a:rPr lang="ja-JP" altLang="en-US" sz="1400">
                <a:latin typeface="+mn-ea"/>
                <a:ea typeface="+mn-ea"/>
              </a:rPr>
              <a:t>＜</a:t>
            </a:r>
            <a:r>
              <a:rPr lang="en-US" altLang="ja-JP" sz="1400">
                <a:latin typeface="+mn-ea"/>
                <a:ea typeface="+mn-ea"/>
              </a:rPr>
              <a:t>Guidelines</a:t>
            </a:r>
            <a:r>
              <a:rPr lang="ja-JP" altLang="en-US" sz="1400">
                <a:latin typeface="+mn-ea"/>
                <a:ea typeface="+mn-ea"/>
              </a:rPr>
              <a:t>＞</a:t>
            </a:r>
            <a:endParaRPr lang="en-US" altLang="ja-JP" sz="1400">
              <a:latin typeface="+mn-ea"/>
              <a:ea typeface="+mn-ea"/>
            </a:endParaRPr>
          </a:p>
          <a:p>
            <a:pPr marL="742950" lvl="1" indent="-285750" algn="l">
              <a:buFont typeface="Arial" panose="020B0604020202020204" pitchFamily="34" charset="0"/>
              <a:buChar char="•"/>
            </a:pPr>
            <a:r>
              <a:rPr lang="en-US" altLang="ja-JP" sz="1400">
                <a:latin typeface="+mn-ea"/>
                <a:ea typeface="+mn-ea"/>
              </a:rPr>
              <a:t>Cyber security Software update legal compliance documentation.pptx</a:t>
            </a:r>
            <a:br>
              <a:rPr lang="en-US" altLang="ja-JP" sz="1400">
                <a:latin typeface="+mn-ea"/>
                <a:ea typeface="+mn-ea"/>
              </a:rPr>
            </a:br>
            <a:r>
              <a:rPr lang="ja-JP" altLang="en-US" sz="1400">
                <a:latin typeface="+mn-ea"/>
                <a:ea typeface="+mn-ea"/>
              </a:rPr>
              <a:t>サイバーセキュリティ ソフトウェアアップデートの法規対応に関する説明資料</a:t>
            </a:r>
            <a:r>
              <a:rPr lang="en-US" altLang="ja-JP" sz="1400">
                <a:latin typeface="+mn-ea"/>
                <a:ea typeface="+mn-ea"/>
              </a:rPr>
              <a:t>.pptx</a:t>
            </a:r>
            <a:br>
              <a:rPr lang="en-US" altLang="ja-JP" sz="1400">
                <a:latin typeface="+mn-ea"/>
                <a:ea typeface="+mn-ea"/>
              </a:rPr>
            </a:br>
            <a:endParaRPr lang="en-US" altLang="ja-JP" sz="1400">
              <a:latin typeface="+mn-ea"/>
              <a:ea typeface="+mn-ea"/>
            </a:endParaRPr>
          </a:p>
          <a:p>
            <a:pPr marL="742950" lvl="1" indent="-285750" algn="l">
              <a:buFont typeface="Arial" panose="020B0604020202020204" pitchFamily="34" charset="0"/>
              <a:buChar char="•"/>
            </a:pPr>
            <a:r>
              <a:rPr lang="fr-FR" altLang="ja-JP" sz="1400">
                <a:latin typeface="+mn-ea"/>
                <a:ea typeface="+mn-ea"/>
              </a:rPr>
              <a:t>UN-R156 Guidelines for </a:t>
            </a:r>
            <a:r>
              <a:rPr lang="fr-FR" altLang="ja-JP" sz="1400" err="1">
                <a:latin typeface="+mn-ea"/>
                <a:ea typeface="+mn-ea"/>
              </a:rPr>
              <a:t>suppliers</a:t>
            </a:r>
            <a:r>
              <a:rPr lang="fr-FR" altLang="ja-JP" sz="1400">
                <a:latin typeface="+mn-ea"/>
                <a:ea typeface="+mn-ea"/>
              </a:rPr>
              <a:t> 20211207.pptx</a:t>
            </a:r>
            <a:endParaRPr lang="en-US" altLang="ja-JP" sz="1400">
              <a:latin typeface="+mn-ea"/>
              <a:ea typeface="+mn-ea"/>
            </a:endParaRPr>
          </a:p>
          <a:p>
            <a:pPr algn="l"/>
            <a:endParaRPr lang="en-US" altLang="ja-JP" sz="1400">
              <a:latin typeface="+mn-ea"/>
              <a:ea typeface="+mn-ea"/>
            </a:endParaRPr>
          </a:p>
          <a:p>
            <a:pPr lvl="1" algn="l"/>
            <a:r>
              <a:rPr lang="ja-JP" altLang="en-US" sz="1400">
                <a:latin typeface="+mn-ea"/>
                <a:ea typeface="+mn-ea"/>
              </a:rPr>
              <a:t>＜</a:t>
            </a:r>
            <a:r>
              <a:rPr lang="en-US" altLang="ja-JP" sz="1400">
                <a:latin typeface="+mn-ea"/>
                <a:ea typeface="+mn-ea"/>
              </a:rPr>
              <a:t>Target destination</a:t>
            </a:r>
            <a:r>
              <a:rPr lang="ja-JP" altLang="en-US" sz="1400">
                <a:latin typeface="+mn-ea"/>
                <a:ea typeface="+mn-ea"/>
              </a:rPr>
              <a:t>＞</a:t>
            </a:r>
            <a:endParaRPr lang="en-US" altLang="ja-JP" sz="1400">
              <a:latin typeface="+mn-ea"/>
              <a:ea typeface="+mn-ea"/>
            </a:endParaRPr>
          </a:p>
          <a:p>
            <a:pPr lvl="1" algn="l"/>
            <a:r>
              <a:rPr lang="en-US" altLang="ja-JP" sz="1400">
                <a:latin typeface="+mn-ea"/>
                <a:ea typeface="+mn-ea"/>
              </a:rPr>
              <a:t>India</a:t>
            </a:r>
            <a:br>
              <a:rPr lang="en-US" altLang="ja-JP" sz="1400">
                <a:latin typeface="+mn-ea"/>
                <a:ea typeface="+mn-ea"/>
              </a:rPr>
            </a:br>
            <a:endParaRPr lang="en-US" altLang="ja-JP" sz="1400">
              <a:latin typeface="+mn-ea"/>
              <a:ea typeface="+mn-ea"/>
            </a:endParaRPr>
          </a:p>
          <a:p>
            <a:pPr lvl="1" algn="l"/>
            <a:r>
              <a:rPr lang="ja-JP" altLang="en-US" sz="1400">
                <a:latin typeface="+mn-ea"/>
                <a:ea typeface="+mn-ea"/>
              </a:rPr>
              <a:t>＜</a:t>
            </a:r>
            <a:r>
              <a:rPr lang="en-US" altLang="ja-JP" sz="1400">
                <a:latin typeface="+mn-ea"/>
                <a:ea typeface="+mn-ea"/>
              </a:rPr>
              <a:t>Applicable Cyber Security Spec.</a:t>
            </a:r>
            <a:r>
              <a:rPr lang="ja-JP" altLang="en-US" sz="1400">
                <a:latin typeface="+mn-ea"/>
                <a:ea typeface="+mn-ea"/>
              </a:rPr>
              <a:t>＞</a:t>
            </a:r>
            <a:endParaRPr lang="en-US" altLang="ja-JP" sz="1400">
              <a:latin typeface="+mn-ea"/>
              <a:ea typeface="+mn-ea"/>
            </a:endParaRPr>
          </a:p>
          <a:p>
            <a:pPr lvl="1" algn="l"/>
            <a:r>
              <a:rPr lang="en-US" altLang="ja-JP" sz="1400">
                <a:latin typeface="+mn-ea"/>
                <a:ea typeface="+mn-ea"/>
              </a:rPr>
              <a:t>Refer</a:t>
            </a:r>
            <a:r>
              <a:rPr lang="ja-JP" altLang="en-US" sz="1400">
                <a:latin typeface="+mn-ea"/>
                <a:ea typeface="+mn-ea"/>
              </a:rPr>
              <a:t> </a:t>
            </a:r>
            <a:r>
              <a:rPr lang="en-US" altLang="ja-JP" sz="1400">
                <a:latin typeface="+mn-ea"/>
                <a:ea typeface="+mn-ea"/>
              </a:rPr>
              <a:t>CR-List.</a:t>
            </a:r>
          </a:p>
          <a:p>
            <a:pPr algn="l"/>
            <a:endParaRPr lang="en-US" altLang="ja-JP" sz="1400">
              <a:latin typeface="+mn-ea"/>
              <a:ea typeface="+mn-ea"/>
            </a:endParaRPr>
          </a:p>
        </p:txBody>
      </p:sp>
      <p:sp>
        <p:nvSpPr>
          <p:cNvPr id="2" name="テキスト ボックス 1">
            <a:extLst>
              <a:ext uri="{FF2B5EF4-FFF2-40B4-BE49-F238E27FC236}">
                <a16:creationId xmlns:a16="http://schemas.microsoft.com/office/drawing/2014/main" id="{8F9C403B-906A-502A-5F7C-23F6372041CF}"/>
              </a:ext>
            </a:extLst>
          </p:cNvPr>
          <p:cNvSpPr txBox="1"/>
          <p:nvPr/>
        </p:nvSpPr>
        <p:spPr>
          <a:xfrm>
            <a:off x="0" y="6488668"/>
            <a:ext cx="9144000" cy="400110"/>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674911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1"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en-US" altLang="ja-JP" sz="1400" b="1"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8814194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 Box 2"/>
          <p:cNvSpPr txBox="1">
            <a:spLocks noChangeArrowheads="1"/>
          </p:cNvSpPr>
          <p:nvPr/>
        </p:nvSpPr>
        <p:spPr bwMode="auto">
          <a:xfrm>
            <a:off x="276963" y="44451"/>
            <a:ext cx="8893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10. Engine</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system structure</a:t>
            </a:r>
            <a:endParaRPr kumimoji="1" lang="en-US" altLang="ja-JP" sz="12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cxnSp>
        <p:nvCxnSpPr>
          <p:cNvPr id="112" name="直線コネクタ 110"/>
          <p:cNvCxnSpPr/>
          <p:nvPr/>
        </p:nvCxnSpPr>
        <p:spPr bwMode="auto">
          <a:xfrm flipH="1">
            <a:off x="816303" y="5425223"/>
            <a:ext cx="2455253" cy="0"/>
          </a:xfrm>
          <a:prstGeom prst="line">
            <a:avLst/>
          </a:prstGeom>
          <a:noFill/>
          <a:ln w="44450" cap="flat" cmpd="sng" algn="ctr">
            <a:solidFill>
              <a:srgbClr val="FF0000"/>
            </a:solidFill>
            <a:prstDash val="solid"/>
          </a:ln>
          <a:effectLst/>
        </p:spPr>
      </p:cxnSp>
      <p:cxnSp>
        <p:nvCxnSpPr>
          <p:cNvPr id="113" name="直線コネクタ 111"/>
          <p:cNvCxnSpPr/>
          <p:nvPr/>
        </p:nvCxnSpPr>
        <p:spPr bwMode="auto">
          <a:xfrm flipV="1">
            <a:off x="2833479" y="994637"/>
            <a:ext cx="0" cy="578159"/>
          </a:xfrm>
          <a:prstGeom prst="line">
            <a:avLst/>
          </a:prstGeom>
          <a:solidFill>
            <a:schemeClr val="accent1"/>
          </a:solidFill>
          <a:ln w="3810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4" name="直線コネクタ 112"/>
          <p:cNvCxnSpPr/>
          <p:nvPr/>
        </p:nvCxnSpPr>
        <p:spPr bwMode="auto">
          <a:xfrm>
            <a:off x="1064215" y="3436382"/>
            <a:ext cx="3860922"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フリーフォーム 113"/>
          <p:cNvSpPr/>
          <p:nvPr/>
        </p:nvSpPr>
        <p:spPr bwMode="auto">
          <a:xfrm>
            <a:off x="222636" y="1567814"/>
            <a:ext cx="3128978" cy="551353"/>
          </a:xfrm>
          <a:custGeom>
            <a:avLst/>
            <a:gdLst>
              <a:gd name="connsiteX0" fmla="*/ 0 w 7387390"/>
              <a:gd name="connsiteY0" fmla="*/ 0 h 1239252"/>
              <a:gd name="connsiteX1" fmla="*/ 7387390 w 7387390"/>
              <a:gd name="connsiteY1" fmla="*/ 0 h 1239252"/>
              <a:gd name="connsiteX2" fmla="*/ 7387390 w 7387390"/>
              <a:gd name="connsiteY2" fmla="*/ 1239252 h 1239252"/>
            </a:gdLst>
            <a:ahLst/>
            <a:cxnLst>
              <a:cxn ang="0">
                <a:pos x="connsiteX0" y="connsiteY0"/>
              </a:cxn>
              <a:cxn ang="0">
                <a:pos x="connsiteX1" y="connsiteY1"/>
              </a:cxn>
              <a:cxn ang="0">
                <a:pos x="connsiteX2" y="connsiteY2"/>
              </a:cxn>
            </a:cxnLst>
            <a:rect l="l" t="t" r="r" b="b"/>
            <a:pathLst>
              <a:path w="7387390" h="1239252">
                <a:moveTo>
                  <a:pt x="0" y="0"/>
                </a:moveTo>
                <a:lnTo>
                  <a:pt x="7387390" y="0"/>
                </a:lnTo>
                <a:lnTo>
                  <a:pt x="7387390" y="1239252"/>
                </a:lnTo>
              </a:path>
            </a:pathLst>
          </a:custGeom>
          <a:noFill/>
          <a:ln w="44450" cap="flat" cmpd="sng" algn="ctr">
            <a:solidFill>
              <a:srgbClr val="0000FF"/>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116" name="正方形/長方形 114"/>
          <p:cNvSpPr/>
          <p:nvPr/>
        </p:nvSpPr>
        <p:spPr bwMode="auto">
          <a:xfrm>
            <a:off x="823678" y="1467563"/>
            <a:ext cx="537854" cy="245783"/>
          </a:xfrm>
          <a:prstGeom prst="rect">
            <a:avLst/>
          </a:prstGeom>
          <a:pattFill prst="dotGrid">
            <a:fgClr>
              <a:srgbClr val="4F81BD"/>
            </a:fgClr>
            <a:bgClr>
              <a:sysClr val="window" lastClr="FFFFFF"/>
            </a:bgClr>
          </a:patt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117" name="正方形/長方形 115"/>
          <p:cNvSpPr/>
          <p:nvPr/>
        </p:nvSpPr>
        <p:spPr bwMode="auto">
          <a:xfrm>
            <a:off x="2063850" y="5283293"/>
            <a:ext cx="537854" cy="244378"/>
          </a:xfrm>
          <a:prstGeom prst="rect">
            <a:avLst/>
          </a:prstGeom>
          <a:pattFill prst="dotDmnd">
            <a:fgClr>
              <a:sysClr val="windowText" lastClr="000000"/>
            </a:fgClr>
            <a:bgClr>
              <a:sysClr val="window" lastClr="FFFFFF"/>
            </a:bgClr>
          </a:patt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118" name="正方形/長方形 116"/>
          <p:cNvSpPr/>
          <p:nvPr/>
        </p:nvSpPr>
        <p:spPr bwMode="auto">
          <a:xfrm>
            <a:off x="972347" y="5283293"/>
            <a:ext cx="537854" cy="244378"/>
          </a:xfrm>
          <a:prstGeom prst="rect">
            <a:avLst/>
          </a:prstGeom>
          <a:pattFill prst="dotDmnd">
            <a:fgClr>
              <a:sysClr val="windowText" lastClr="000000"/>
            </a:fgClr>
            <a:bgClr>
              <a:sysClr val="window" lastClr="FFFFFF"/>
            </a:bgClr>
          </a:patt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119" name="正方形/長方形 117"/>
          <p:cNvSpPr/>
          <p:nvPr/>
        </p:nvSpPr>
        <p:spPr bwMode="auto">
          <a:xfrm>
            <a:off x="1503429" y="2934517"/>
            <a:ext cx="3259474" cy="1107326"/>
          </a:xfrm>
          <a:prstGeom prst="rect">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700" b="0" i="0" u="none" strike="noStrike" kern="1200" cap="none" spc="0" normalizeH="0" baseline="0" noProof="0">
              <a:ln>
                <a:noFill/>
              </a:ln>
              <a:solidFill>
                <a:prstClr val="white"/>
              </a:solidFill>
              <a:effectLst/>
              <a:uLnTx/>
              <a:uFillTx/>
              <a:latin typeface="Century Gothic" panose="020F0302020204030204"/>
              <a:ea typeface="メイリオ" panose="020B0604030504040204" pitchFamily="50" charset="-128"/>
              <a:cs typeface="+mn-cs"/>
            </a:endParaRPr>
          </a:p>
        </p:txBody>
      </p:sp>
      <p:sp>
        <p:nvSpPr>
          <p:cNvPr id="120" name="円/楕円 74"/>
          <p:cNvSpPr/>
          <p:nvPr/>
        </p:nvSpPr>
        <p:spPr bwMode="auto">
          <a:xfrm>
            <a:off x="1859189" y="3171743"/>
            <a:ext cx="616168" cy="587070"/>
          </a:xfrm>
          <a:prstGeom prst="ellipse">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121" name="円/楕円 75"/>
          <p:cNvSpPr/>
          <p:nvPr/>
        </p:nvSpPr>
        <p:spPr bwMode="auto">
          <a:xfrm>
            <a:off x="2574478" y="3171743"/>
            <a:ext cx="617645" cy="587070"/>
          </a:xfrm>
          <a:prstGeom prst="ellipse">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122" name="円/楕円 76"/>
          <p:cNvSpPr/>
          <p:nvPr/>
        </p:nvSpPr>
        <p:spPr bwMode="auto">
          <a:xfrm>
            <a:off x="3291244" y="3171743"/>
            <a:ext cx="616167" cy="587070"/>
          </a:xfrm>
          <a:prstGeom prst="ellipse">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123" name="テキスト ボックス 29"/>
          <p:cNvSpPr txBox="1">
            <a:spLocks noChangeArrowheads="1"/>
          </p:cNvSpPr>
          <p:nvPr/>
        </p:nvSpPr>
        <p:spPr bwMode="auto">
          <a:xfrm>
            <a:off x="730305" y="1242206"/>
            <a:ext cx="59022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Air filter</a:t>
            </a:r>
            <a:endParaRPr kumimoji="1" lang="ja-JP" altLang="en-US"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124" name="線吹き出し 1 (枠付き) 39"/>
          <p:cNvSpPr>
            <a:spLocks/>
          </p:cNvSpPr>
          <p:nvPr/>
        </p:nvSpPr>
        <p:spPr bwMode="auto">
          <a:xfrm>
            <a:off x="2380233" y="5979959"/>
            <a:ext cx="910827" cy="369332"/>
          </a:xfrm>
          <a:prstGeom prst="borderCallout1">
            <a:avLst>
              <a:gd name="adj1" fmla="val -218"/>
              <a:gd name="adj2" fmla="val 71766"/>
              <a:gd name="adj3" fmla="val -165670"/>
              <a:gd name="adj4" fmla="val 57671"/>
            </a:avLst>
          </a:prstGeom>
          <a:solidFill>
            <a:schemeClr val="bg1"/>
          </a:solidFill>
          <a:ln w="25400" algn="ctr">
            <a:solidFill>
              <a:schemeClr val="tx1"/>
            </a:solidFill>
            <a:miter lim="800000"/>
            <a:headEnd type="none" w="med" len="med"/>
            <a:tailEnd type="none" w="med" len="med"/>
          </a:ln>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③ </a:t>
            </a: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Primary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lambda sensor</a:t>
            </a:r>
          </a:p>
        </p:txBody>
      </p:sp>
      <p:sp>
        <p:nvSpPr>
          <p:cNvPr id="125" name="正方形/長方形 123"/>
          <p:cNvSpPr/>
          <p:nvPr/>
        </p:nvSpPr>
        <p:spPr bwMode="auto">
          <a:xfrm>
            <a:off x="966653" y="2967091"/>
            <a:ext cx="90134" cy="990154"/>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sp>
        <p:nvSpPr>
          <p:cNvPr id="126" name="テキスト ボックス 124"/>
          <p:cNvSpPr txBox="1">
            <a:spLocks noChangeArrowheads="1"/>
          </p:cNvSpPr>
          <p:nvPr/>
        </p:nvSpPr>
        <p:spPr bwMode="auto">
          <a:xfrm>
            <a:off x="350779" y="3524497"/>
            <a:ext cx="61587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Flywheel</a:t>
            </a:r>
            <a:endParaRPr kumimoji="1" lang="ja-JP" altLang="en-US"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127" name="テキスト ボックス 71"/>
          <p:cNvSpPr txBox="1">
            <a:spLocks noChangeArrowheads="1"/>
          </p:cNvSpPr>
          <p:nvPr/>
        </p:nvSpPr>
        <p:spPr bwMode="auto">
          <a:xfrm>
            <a:off x="1938579" y="4936205"/>
            <a:ext cx="9396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Closed-couple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catalyst</a:t>
            </a:r>
            <a:endParaRPr kumimoji="1" lang="ja-JP" altLang="en-US"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128" name="テキスト ボックス 72"/>
          <p:cNvSpPr txBox="1">
            <a:spLocks noChangeArrowheads="1"/>
          </p:cNvSpPr>
          <p:nvPr/>
        </p:nvSpPr>
        <p:spPr bwMode="auto">
          <a:xfrm>
            <a:off x="893004" y="4944317"/>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2nd</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catalyst</a:t>
            </a:r>
            <a:endParaRPr kumimoji="1" lang="ja-JP" altLang="en-US"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129" name="線吹き出し 1 (枠付き) 35"/>
          <p:cNvSpPr>
            <a:spLocks/>
          </p:cNvSpPr>
          <p:nvPr/>
        </p:nvSpPr>
        <p:spPr bwMode="auto">
          <a:xfrm flipH="1">
            <a:off x="518427" y="4080699"/>
            <a:ext cx="960519" cy="369332"/>
          </a:xfrm>
          <a:prstGeom prst="borderCallout1">
            <a:avLst>
              <a:gd name="adj1" fmla="val -2096"/>
              <a:gd name="adj2" fmla="val 9247"/>
              <a:gd name="adj3" fmla="val -93344"/>
              <a:gd name="adj4" fmla="val -2757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cam shaft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position sensor</a:t>
            </a:r>
          </a:p>
        </p:txBody>
      </p:sp>
      <p:sp>
        <p:nvSpPr>
          <p:cNvPr id="130" name="線吹き出し 1 (枠付き) 34"/>
          <p:cNvSpPr>
            <a:spLocks/>
          </p:cNvSpPr>
          <p:nvPr/>
        </p:nvSpPr>
        <p:spPr bwMode="auto">
          <a:xfrm>
            <a:off x="3418072" y="1081718"/>
            <a:ext cx="1300067" cy="369332"/>
          </a:xfrm>
          <a:prstGeom prst="borderCallout1">
            <a:avLst>
              <a:gd name="adj1" fmla="val 97097"/>
              <a:gd name="adj2" fmla="val 14704"/>
              <a:gd name="adj3" fmla="val 196315"/>
              <a:gd name="adj4" fmla="val 786"/>
            </a:avLst>
          </a:prstGeom>
          <a:solidFill>
            <a:schemeClr val="bg1"/>
          </a:solidFill>
          <a:ln w="25400" algn="ctr">
            <a:solidFill>
              <a:schemeClr val="tx1"/>
            </a:solidFill>
            <a:miter lim="800000"/>
            <a:headEnd type="none" w="med" len="med"/>
            <a:tailEnd type="none" w="med" len="med"/>
          </a:ln>
        </p:spPr>
        <p:txBody>
          <a:bodyPr wrap="squar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② </a:t>
            </a:r>
            <a:r>
              <a:rPr kumimoji="1"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Intake air pressure</a:t>
            </a:r>
            <a:r>
              <a:rPr kumimoji="1"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　　　　　</a:t>
            </a:r>
            <a:endParaRPr kumimoji="1"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&amp; temperature sensor</a:t>
            </a:r>
            <a:r>
              <a:rPr kumimoji="0"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　　　　　</a:t>
            </a:r>
            <a:endPar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131" name="線吹き出し 1 (枠付き) 37"/>
          <p:cNvSpPr>
            <a:spLocks/>
          </p:cNvSpPr>
          <p:nvPr/>
        </p:nvSpPr>
        <p:spPr bwMode="auto">
          <a:xfrm>
            <a:off x="1264817" y="4457086"/>
            <a:ext cx="896399" cy="369332"/>
          </a:xfrm>
          <a:prstGeom prst="borderCallout1">
            <a:avLst>
              <a:gd name="adj1" fmla="val 2018"/>
              <a:gd name="adj2" fmla="val 48174"/>
              <a:gd name="adj3" fmla="val -103133"/>
              <a:gd name="adj4" fmla="val 4151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Crankshaft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Speed sensor</a:t>
            </a:r>
          </a:p>
        </p:txBody>
      </p:sp>
      <p:sp>
        <p:nvSpPr>
          <p:cNvPr id="132" name="テキスト ボックス 53"/>
          <p:cNvSpPr txBox="1">
            <a:spLocks noChangeArrowheads="1"/>
          </p:cNvSpPr>
          <p:nvPr/>
        </p:nvSpPr>
        <p:spPr bwMode="auto">
          <a:xfrm>
            <a:off x="1940626" y="1204374"/>
            <a:ext cx="45397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DBW</a:t>
            </a:r>
            <a:endParaRPr kumimoji="1" lang="ja-JP" altLang="en-US"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endParaRPr>
          </a:p>
        </p:txBody>
      </p:sp>
      <p:sp>
        <p:nvSpPr>
          <p:cNvPr id="133" name="線吹き出し 1 (枠付き) 40"/>
          <p:cNvSpPr>
            <a:spLocks/>
          </p:cNvSpPr>
          <p:nvPr/>
        </p:nvSpPr>
        <p:spPr bwMode="auto">
          <a:xfrm>
            <a:off x="903386" y="5979958"/>
            <a:ext cx="982618" cy="369332"/>
          </a:xfrm>
          <a:prstGeom prst="borderCallout1">
            <a:avLst>
              <a:gd name="adj1" fmla="val -1047"/>
              <a:gd name="adj2" fmla="val 72304"/>
              <a:gd name="adj3" fmla="val -148145"/>
              <a:gd name="adj4" fmla="val 83983"/>
            </a:avLst>
          </a:prstGeom>
          <a:noFill/>
          <a:ln w="25400" algn="ctr">
            <a:solidFill>
              <a:schemeClr val="tx1"/>
            </a:solidFill>
            <a:miter lim="800000"/>
            <a:headEnd type="none" w="med" len="med"/>
            <a:tailEnd type="none" w="med" len="med"/>
          </a:ln>
        </p:spPr>
        <p:txBody>
          <a:bodyPr wrap="squar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④ </a:t>
            </a: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Secondary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oxygen sensor</a:t>
            </a:r>
          </a:p>
        </p:txBody>
      </p:sp>
      <p:pic>
        <p:nvPicPr>
          <p:cNvPr id="134" name="Picture 3"/>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58250" y="3210224"/>
            <a:ext cx="231775"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5" name="Picture 7"/>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435992" y="3637666"/>
            <a:ext cx="171450" cy="255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6" name="Picture 8"/>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rot="9350455">
            <a:off x="2004472" y="3331723"/>
            <a:ext cx="289452" cy="28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7" name="Picture 11"/>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flipH="1">
            <a:off x="1606038" y="2830190"/>
            <a:ext cx="172669"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8" name="Picture 14"/>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flipV="1">
            <a:off x="2841297" y="5126918"/>
            <a:ext cx="133350"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9" name="Picture 14"/>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flipV="1">
            <a:off x="1683222" y="5145968"/>
            <a:ext cx="133350"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0" name="Picture 15"/>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rot="5400000">
            <a:off x="3277113" y="1738079"/>
            <a:ext cx="171450"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 name="正方形/長方形 139"/>
          <p:cNvSpPr/>
          <p:nvPr/>
        </p:nvSpPr>
        <p:spPr bwMode="auto">
          <a:xfrm>
            <a:off x="4863515" y="771224"/>
            <a:ext cx="345072" cy="288032"/>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prstClr val="black"/>
              </a:solidFill>
              <a:effectLst/>
              <a:uLnTx/>
              <a:uFillTx/>
              <a:latin typeface="Times New Roman" pitchFamily="18" charset="0"/>
              <a:ea typeface="ＭＳ Ｐゴシック" charset="-128"/>
              <a:cs typeface="+mn-cs"/>
            </a:endParaRPr>
          </a:p>
        </p:txBody>
      </p:sp>
      <p:cxnSp>
        <p:nvCxnSpPr>
          <p:cNvPr id="142" name="直線コネクタ 140"/>
          <p:cNvCxnSpPr>
            <a:endCxn id="141" idx="2"/>
          </p:cNvCxnSpPr>
          <p:nvPr/>
        </p:nvCxnSpPr>
        <p:spPr bwMode="auto">
          <a:xfrm flipV="1">
            <a:off x="5036051" y="1059256"/>
            <a:ext cx="0" cy="126159"/>
          </a:xfrm>
          <a:prstGeom prst="line">
            <a:avLst/>
          </a:prstGeom>
          <a:solidFill>
            <a:schemeClr val="accent1"/>
          </a:solidFill>
          <a:ln w="3810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 name="テキスト ボックス 52"/>
          <p:cNvSpPr txBox="1">
            <a:spLocks noChangeArrowheads="1"/>
          </p:cNvSpPr>
          <p:nvPr/>
        </p:nvSpPr>
        <p:spPr bwMode="auto">
          <a:xfrm>
            <a:off x="5186708" y="741739"/>
            <a:ext cx="60305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Canister</a:t>
            </a:r>
            <a:endParaRPr kumimoji="1" lang="ja-JP" altLang="en-US"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144" name="テキスト ボックス 52"/>
          <p:cNvSpPr txBox="1">
            <a:spLocks noChangeArrowheads="1"/>
          </p:cNvSpPr>
          <p:nvPr/>
        </p:nvSpPr>
        <p:spPr bwMode="auto">
          <a:xfrm>
            <a:off x="4925137" y="1452398"/>
            <a:ext cx="67518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Fuel Tank</a:t>
            </a:r>
            <a:endParaRPr kumimoji="1" lang="ja-JP" altLang="en-US" sz="900" b="1"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cxnSp>
        <p:nvCxnSpPr>
          <p:cNvPr id="145" name="直線コネクタ 143"/>
          <p:cNvCxnSpPr/>
          <p:nvPr/>
        </p:nvCxnSpPr>
        <p:spPr bwMode="auto">
          <a:xfrm>
            <a:off x="2840719" y="921407"/>
            <a:ext cx="2014549" cy="0"/>
          </a:xfrm>
          <a:prstGeom prst="line">
            <a:avLst/>
          </a:prstGeom>
          <a:solidFill>
            <a:schemeClr val="accent1"/>
          </a:solidFill>
          <a:ln w="3810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46" name="Picture 28"/>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rot="16200000">
            <a:off x="2694974" y="846156"/>
            <a:ext cx="349375" cy="254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47" name="直線コネクタ 145"/>
          <p:cNvCxnSpPr/>
          <p:nvPr/>
        </p:nvCxnSpPr>
        <p:spPr bwMode="auto">
          <a:xfrm>
            <a:off x="4857649" y="816083"/>
            <a:ext cx="34987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コネクタ 146"/>
          <p:cNvCxnSpPr/>
          <p:nvPr/>
        </p:nvCxnSpPr>
        <p:spPr bwMode="auto">
          <a:xfrm>
            <a:off x="4857649" y="1016797"/>
            <a:ext cx="34987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コネクタ 147"/>
          <p:cNvCxnSpPr/>
          <p:nvPr/>
        </p:nvCxnSpPr>
        <p:spPr bwMode="auto">
          <a:xfrm>
            <a:off x="5152321" y="772866"/>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直線コネクタ 148"/>
          <p:cNvCxnSpPr/>
          <p:nvPr/>
        </p:nvCxnSpPr>
        <p:spPr bwMode="auto">
          <a:xfrm>
            <a:off x="5108684" y="772866"/>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直線コネクタ 149"/>
          <p:cNvCxnSpPr/>
          <p:nvPr/>
        </p:nvCxnSpPr>
        <p:spPr bwMode="auto">
          <a:xfrm>
            <a:off x="5067732" y="772866"/>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直線コネクタ 150"/>
          <p:cNvCxnSpPr/>
          <p:nvPr/>
        </p:nvCxnSpPr>
        <p:spPr bwMode="auto">
          <a:xfrm>
            <a:off x="5025495" y="772866"/>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コネクタ 151"/>
          <p:cNvCxnSpPr/>
          <p:nvPr/>
        </p:nvCxnSpPr>
        <p:spPr bwMode="auto">
          <a:xfrm>
            <a:off x="4983619" y="772866"/>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コネクタ 152"/>
          <p:cNvCxnSpPr/>
          <p:nvPr/>
        </p:nvCxnSpPr>
        <p:spPr bwMode="auto">
          <a:xfrm>
            <a:off x="4940963" y="772866"/>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直線コネクタ 153"/>
          <p:cNvCxnSpPr/>
          <p:nvPr/>
        </p:nvCxnSpPr>
        <p:spPr bwMode="auto">
          <a:xfrm>
            <a:off x="4901941" y="772866"/>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6" name="直線コネクタ 154"/>
          <p:cNvCxnSpPr/>
          <p:nvPr/>
        </p:nvCxnSpPr>
        <p:spPr bwMode="auto">
          <a:xfrm>
            <a:off x="4859285" y="772866"/>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直線コネクタ 155"/>
          <p:cNvCxnSpPr/>
          <p:nvPr/>
        </p:nvCxnSpPr>
        <p:spPr bwMode="auto">
          <a:xfrm>
            <a:off x="5152321" y="1013771"/>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直線コネクタ 156"/>
          <p:cNvCxnSpPr/>
          <p:nvPr/>
        </p:nvCxnSpPr>
        <p:spPr bwMode="auto">
          <a:xfrm>
            <a:off x="5108684" y="1013771"/>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直線コネクタ 157"/>
          <p:cNvCxnSpPr/>
          <p:nvPr/>
        </p:nvCxnSpPr>
        <p:spPr bwMode="auto">
          <a:xfrm>
            <a:off x="5067732" y="1013771"/>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直線コネクタ 158"/>
          <p:cNvCxnSpPr/>
          <p:nvPr/>
        </p:nvCxnSpPr>
        <p:spPr bwMode="auto">
          <a:xfrm>
            <a:off x="5025495" y="1013771"/>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直線コネクタ 159"/>
          <p:cNvCxnSpPr/>
          <p:nvPr/>
        </p:nvCxnSpPr>
        <p:spPr bwMode="auto">
          <a:xfrm>
            <a:off x="4983619" y="1013771"/>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直線コネクタ 160"/>
          <p:cNvCxnSpPr/>
          <p:nvPr/>
        </p:nvCxnSpPr>
        <p:spPr bwMode="auto">
          <a:xfrm>
            <a:off x="4940963" y="1013771"/>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直線コネクタ 161"/>
          <p:cNvCxnSpPr/>
          <p:nvPr/>
        </p:nvCxnSpPr>
        <p:spPr bwMode="auto">
          <a:xfrm>
            <a:off x="4901941" y="1013771"/>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直線コネクタ 162"/>
          <p:cNvCxnSpPr/>
          <p:nvPr/>
        </p:nvCxnSpPr>
        <p:spPr bwMode="auto">
          <a:xfrm>
            <a:off x="4859285" y="1013771"/>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線吹き出し 1 (枠付き) 42"/>
          <p:cNvSpPr>
            <a:spLocks/>
          </p:cNvSpPr>
          <p:nvPr/>
        </p:nvSpPr>
        <p:spPr bwMode="auto">
          <a:xfrm>
            <a:off x="4957743" y="2928134"/>
            <a:ext cx="888977" cy="230832"/>
          </a:xfrm>
          <a:prstGeom prst="borderCallout1">
            <a:avLst>
              <a:gd name="adj1" fmla="val 96127"/>
              <a:gd name="adj2" fmla="val 62675"/>
              <a:gd name="adj3" fmla="val 56665"/>
              <a:gd name="adj4" fmla="val 6861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Knock sensor</a:t>
            </a:r>
          </a:p>
        </p:txBody>
      </p:sp>
      <p:sp>
        <p:nvSpPr>
          <p:cNvPr id="222" name="線吹き出し 1 (枠付き) 57"/>
          <p:cNvSpPr>
            <a:spLocks/>
          </p:cNvSpPr>
          <p:nvPr/>
        </p:nvSpPr>
        <p:spPr bwMode="auto">
          <a:xfrm flipH="1">
            <a:off x="4920860" y="2603334"/>
            <a:ext cx="1019831" cy="230832"/>
          </a:xfrm>
          <a:prstGeom prst="borderCallout1">
            <a:avLst>
              <a:gd name="adj1" fmla="val 47405"/>
              <a:gd name="adj2" fmla="val 100079"/>
              <a:gd name="adj3" fmla="val -25433"/>
              <a:gd name="adj4" fmla="val 141218"/>
            </a:avLst>
          </a:prstGeom>
          <a:solidFill>
            <a:schemeClr val="bg1"/>
          </a:solidFill>
          <a:ln w="25400" algn="ctr">
            <a:solidFill>
              <a:schemeClr val="tx1"/>
            </a:solidFill>
            <a:miter lim="800000"/>
            <a:headEnd type="none" w="med" len="med"/>
            <a:tailEnd type="none" w="med" len="med"/>
          </a:ln>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⑤ </a:t>
            </a: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Fuel injectors</a:t>
            </a:r>
            <a:endParaRPr kumimoji="1"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223" name="線吹き出し 1 (枠付き) 57"/>
          <p:cNvSpPr>
            <a:spLocks/>
          </p:cNvSpPr>
          <p:nvPr/>
        </p:nvSpPr>
        <p:spPr bwMode="auto">
          <a:xfrm flipH="1">
            <a:off x="6311765" y="1018276"/>
            <a:ext cx="1633782" cy="230832"/>
          </a:xfrm>
          <a:prstGeom prst="borderCallout1">
            <a:avLst>
              <a:gd name="adj1" fmla="val 88669"/>
              <a:gd name="adj2" fmla="val 49232"/>
              <a:gd name="adj3" fmla="val 213787"/>
              <a:gd name="adj4" fmla="val 49618"/>
            </a:avLst>
          </a:prstGeom>
          <a:solidFill>
            <a:schemeClr val="bg1"/>
          </a:solidFill>
          <a:ln w="25400" algn="ctr">
            <a:solidFill>
              <a:schemeClr val="tx1"/>
            </a:solidFill>
            <a:miter lim="800000"/>
            <a:headEnd type="none" w="med" len="med"/>
            <a:tailEnd type="none" w="med" len="med"/>
          </a:ln>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① </a:t>
            </a:r>
            <a:r>
              <a:rPr kumimoji="1"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ELECTRONIC CONTL.UNIT</a:t>
            </a:r>
          </a:p>
        </p:txBody>
      </p:sp>
      <p:sp>
        <p:nvSpPr>
          <p:cNvPr id="224" name="テキスト ボックス 53"/>
          <p:cNvSpPr txBox="1">
            <a:spLocks noChangeArrowheads="1"/>
          </p:cNvSpPr>
          <p:nvPr/>
        </p:nvSpPr>
        <p:spPr bwMode="auto">
          <a:xfrm>
            <a:off x="1143002" y="3019059"/>
            <a:ext cx="36420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TW</a:t>
            </a:r>
            <a:endParaRPr kumimoji="1" lang="ja-JP" altLang="en-US"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endParaRPr>
          </a:p>
        </p:txBody>
      </p:sp>
      <p:sp>
        <p:nvSpPr>
          <p:cNvPr id="225" name="テキスト ボックス 53"/>
          <p:cNvSpPr txBox="1">
            <a:spLocks noChangeArrowheads="1"/>
          </p:cNvSpPr>
          <p:nvPr/>
        </p:nvSpPr>
        <p:spPr bwMode="auto">
          <a:xfrm>
            <a:off x="2183133" y="3758536"/>
            <a:ext cx="6912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IGN.COIL</a:t>
            </a:r>
            <a:endParaRPr kumimoji="1" lang="ja-JP" altLang="en-US"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endParaRPr>
          </a:p>
        </p:txBody>
      </p:sp>
      <p:sp>
        <p:nvSpPr>
          <p:cNvPr id="226" name="テキスト ボックス 53"/>
          <p:cNvSpPr txBox="1">
            <a:spLocks noChangeArrowheads="1"/>
          </p:cNvSpPr>
          <p:nvPr/>
        </p:nvSpPr>
        <p:spPr bwMode="auto">
          <a:xfrm>
            <a:off x="1345854" y="2630798"/>
            <a:ext cx="42191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PCV</a:t>
            </a:r>
            <a:endParaRPr kumimoji="1" lang="ja-JP" altLang="en-US"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endParaRPr>
          </a:p>
        </p:txBody>
      </p:sp>
      <p:sp>
        <p:nvSpPr>
          <p:cNvPr id="227" name="テキスト ボックス 53"/>
          <p:cNvSpPr txBox="1">
            <a:spLocks noChangeArrowheads="1"/>
          </p:cNvSpPr>
          <p:nvPr/>
        </p:nvSpPr>
        <p:spPr bwMode="auto">
          <a:xfrm>
            <a:off x="4949778" y="3137793"/>
            <a:ext cx="79380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OIL PRESS</a:t>
            </a:r>
            <a:endParaRPr kumimoji="1" lang="ja-JP" altLang="en-US"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endParaRPr>
          </a:p>
        </p:txBody>
      </p:sp>
      <p:sp>
        <p:nvSpPr>
          <p:cNvPr id="228" name="テキスト ボックス 53"/>
          <p:cNvSpPr txBox="1">
            <a:spLocks noChangeArrowheads="1"/>
          </p:cNvSpPr>
          <p:nvPr/>
        </p:nvSpPr>
        <p:spPr bwMode="auto">
          <a:xfrm>
            <a:off x="2880734" y="973717"/>
            <a:ext cx="42191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rPr>
              <a:t>PCS</a:t>
            </a:r>
            <a:endParaRPr kumimoji="1" lang="ja-JP" altLang="en-US" sz="900" b="1" i="0" u="none" strike="noStrike" kern="1200" cap="none" spc="0" normalizeH="0" baseline="0" noProof="0">
              <a:ln>
                <a:noFill/>
              </a:ln>
              <a:solidFill>
                <a:srgbClr val="000000"/>
              </a:solidFill>
              <a:effectLst/>
              <a:uLnTx/>
              <a:uFillTx/>
              <a:latin typeface="Arial Unicode MS" pitchFamily="50" charset="-128"/>
              <a:ea typeface="Arial Unicode MS" pitchFamily="50" charset="-128"/>
              <a:cs typeface="Arial Unicode MS" pitchFamily="50" charset="-128"/>
            </a:endParaRPr>
          </a:p>
        </p:txBody>
      </p:sp>
      <p:pic>
        <p:nvPicPr>
          <p:cNvPr id="229" name="Picture 12"/>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987870" y="1384194"/>
            <a:ext cx="390525"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0" name="Picture 2"/>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rot="10800000">
            <a:off x="1681118" y="3845085"/>
            <a:ext cx="176213"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1" name="Picture 26"/>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4957244" y="1065678"/>
            <a:ext cx="1023937"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32" name="直線コネクタ 230"/>
          <p:cNvCxnSpPr/>
          <p:nvPr/>
        </p:nvCxnSpPr>
        <p:spPr bwMode="auto">
          <a:xfrm>
            <a:off x="4870261" y="964469"/>
            <a:ext cx="34987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3" name="直線コネクタ 231"/>
          <p:cNvCxnSpPr/>
          <p:nvPr/>
        </p:nvCxnSpPr>
        <p:spPr bwMode="auto">
          <a:xfrm>
            <a:off x="5164933" y="961443"/>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 name="直線コネクタ 232"/>
          <p:cNvCxnSpPr/>
          <p:nvPr/>
        </p:nvCxnSpPr>
        <p:spPr bwMode="auto">
          <a:xfrm>
            <a:off x="5121297" y="961443"/>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線コネクタ 233"/>
          <p:cNvCxnSpPr/>
          <p:nvPr/>
        </p:nvCxnSpPr>
        <p:spPr bwMode="auto">
          <a:xfrm>
            <a:off x="5080344" y="961443"/>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線コネクタ 234"/>
          <p:cNvCxnSpPr/>
          <p:nvPr/>
        </p:nvCxnSpPr>
        <p:spPr bwMode="auto">
          <a:xfrm>
            <a:off x="5038113" y="961443"/>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 name="直線コネクタ 235"/>
          <p:cNvCxnSpPr/>
          <p:nvPr/>
        </p:nvCxnSpPr>
        <p:spPr bwMode="auto">
          <a:xfrm>
            <a:off x="4996233" y="961443"/>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8" name="直線コネクタ 236"/>
          <p:cNvCxnSpPr/>
          <p:nvPr/>
        </p:nvCxnSpPr>
        <p:spPr bwMode="auto">
          <a:xfrm>
            <a:off x="4953575" y="961443"/>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線コネクタ 237"/>
          <p:cNvCxnSpPr/>
          <p:nvPr/>
        </p:nvCxnSpPr>
        <p:spPr bwMode="auto">
          <a:xfrm>
            <a:off x="4914553" y="961443"/>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 name="直線コネクタ 238"/>
          <p:cNvCxnSpPr/>
          <p:nvPr/>
        </p:nvCxnSpPr>
        <p:spPr bwMode="auto">
          <a:xfrm>
            <a:off x="4871901" y="961443"/>
            <a:ext cx="42656" cy="426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41" name="Picture 4"/>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3083461" y="2797346"/>
            <a:ext cx="165100" cy="22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2" name="Picture 5"/>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3281588" y="2821557"/>
            <a:ext cx="23177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3" name="Picture 8"/>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rot="9350455">
            <a:off x="2707162" y="3327502"/>
            <a:ext cx="289452" cy="28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4" name="Picture 8"/>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rot="9350455">
            <a:off x="3409852" y="3319048"/>
            <a:ext cx="289452" cy="28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 name="円/楕円 215"/>
          <p:cNvSpPr/>
          <p:nvPr/>
        </p:nvSpPr>
        <p:spPr bwMode="auto">
          <a:xfrm>
            <a:off x="4006533" y="3171743"/>
            <a:ext cx="616167" cy="587070"/>
          </a:xfrm>
          <a:prstGeom prst="ellipse">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pic>
        <p:nvPicPr>
          <p:cNvPr id="246" name="Picture 8"/>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rot="9350455">
            <a:off x="4113561" y="3319048"/>
            <a:ext cx="289452" cy="28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7" name="直線コネクタ 245"/>
          <p:cNvCxnSpPr/>
          <p:nvPr/>
        </p:nvCxnSpPr>
        <p:spPr bwMode="auto">
          <a:xfrm>
            <a:off x="2168392" y="4040547"/>
            <a:ext cx="0" cy="354934"/>
          </a:xfrm>
          <a:prstGeom prst="line">
            <a:avLst/>
          </a:prstGeom>
          <a:noFill/>
          <a:ln w="44450" cap="flat" cmpd="sng" algn="ctr">
            <a:solidFill>
              <a:srgbClr val="FF0000"/>
            </a:solidFill>
            <a:prstDash val="solid"/>
          </a:ln>
          <a:effectLst/>
        </p:spPr>
      </p:cxnSp>
      <p:cxnSp>
        <p:nvCxnSpPr>
          <p:cNvPr id="248" name="直線コネクタ 246"/>
          <p:cNvCxnSpPr/>
          <p:nvPr/>
        </p:nvCxnSpPr>
        <p:spPr bwMode="auto">
          <a:xfrm>
            <a:off x="2891000" y="4040547"/>
            <a:ext cx="0" cy="354934"/>
          </a:xfrm>
          <a:prstGeom prst="line">
            <a:avLst/>
          </a:prstGeom>
          <a:noFill/>
          <a:ln w="44450" cap="flat" cmpd="sng" algn="ctr">
            <a:solidFill>
              <a:srgbClr val="FF0000"/>
            </a:solidFill>
            <a:prstDash val="solid"/>
          </a:ln>
          <a:effectLst/>
        </p:spPr>
      </p:cxnSp>
      <p:cxnSp>
        <p:nvCxnSpPr>
          <p:cNvPr id="249" name="直線コネクタ 247"/>
          <p:cNvCxnSpPr/>
          <p:nvPr/>
        </p:nvCxnSpPr>
        <p:spPr bwMode="auto">
          <a:xfrm>
            <a:off x="3613608" y="4040547"/>
            <a:ext cx="0" cy="354934"/>
          </a:xfrm>
          <a:prstGeom prst="line">
            <a:avLst/>
          </a:prstGeom>
          <a:noFill/>
          <a:ln w="44450" cap="flat" cmpd="sng" algn="ctr">
            <a:solidFill>
              <a:srgbClr val="FF0000"/>
            </a:solidFill>
            <a:prstDash val="solid"/>
          </a:ln>
          <a:effectLst/>
        </p:spPr>
      </p:cxnSp>
      <p:cxnSp>
        <p:nvCxnSpPr>
          <p:cNvPr id="250" name="直線コネクタ 248"/>
          <p:cNvCxnSpPr/>
          <p:nvPr/>
        </p:nvCxnSpPr>
        <p:spPr bwMode="auto">
          <a:xfrm>
            <a:off x="4336216" y="4040547"/>
            <a:ext cx="0" cy="354934"/>
          </a:xfrm>
          <a:prstGeom prst="line">
            <a:avLst/>
          </a:prstGeom>
          <a:noFill/>
          <a:ln w="44450" cap="flat" cmpd="sng" algn="ctr">
            <a:solidFill>
              <a:srgbClr val="FF0000"/>
            </a:solidFill>
            <a:prstDash val="solid"/>
          </a:ln>
          <a:effectLst/>
        </p:spPr>
      </p:cxnSp>
      <p:cxnSp>
        <p:nvCxnSpPr>
          <p:cNvPr id="251" name="直線コネクタ 249"/>
          <p:cNvCxnSpPr/>
          <p:nvPr/>
        </p:nvCxnSpPr>
        <p:spPr bwMode="auto">
          <a:xfrm>
            <a:off x="2146142" y="4395481"/>
            <a:ext cx="2190074" cy="0"/>
          </a:xfrm>
          <a:prstGeom prst="line">
            <a:avLst/>
          </a:prstGeom>
          <a:noFill/>
          <a:ln w="44450" cap="flat" cmpd="sng" algn="ctr">
            <a:solidFill>
              <a:srgbClr val="FF0000"/>
            </a:solidFill>
            <a:prstDash val="solid"/>
          </a:ln>
          <a:effectLst/>
        </p:spPr>
      </p:cxnSp>
      <p:cxnSp>
        <p:nvCxnSpPr>
          <p:cNvPr id="252" name="直線コネクタ 250"/>
          <p:cNvCxnSpPr/>
          <p:nvPr/>
        </p:nvCxnSpPr>
        <p:spPr bwMode="auto">
          <a:xfrm>
            <a:off x="3271556" y="4395481"/>
            <a:ext cx="0" cy="1029742"/>
          </a:xfrm>
          <a:prstGeom prst="line">
            <a:avLst/>
          </a:prstGeom>
          <a:noFill/>
          <a:ln w="44450" cap="flat" cmpd="sng" algn="ctr">
            <a:solidFill>
              <a:srgbClr val="FF0000"/>
            </a:solidFill>
            <a:prstDash val="solid"/>
          </a:ln>
          <a:effectLst/>
        </p:spPr>
      </p:cxnSp>
      <p:sp>
        <p:nvSpPr>
          <p:cNvPr id="253" name="フリーフォーム 251"/>
          <p:cNvSpPr/>
          <p:nvPr/>
        </p:nvSpPr>
        <p:spPr bwMode="auto">
          <a:xfrm>
            <a:off x="2347353" y="1504270"/>
            <a:ext cx="3463120" cy="734816"/>
          </a:xfrm>
          <a:custGeom>
            <a:avLst/>
            <a:gdLst>
              <a:gd name="connsiteX0" fmla="*/ 3765600 w 3765600"/>
              <a:gd name="connsiteY0" fmla="*/ 0 h 1087200"/>
              <a:gd name="connsiteX1" fmla="*/ 3765600 w 3765600"/>
              <a:gd name="connsiteY1" fmla="*/ 1087200 h 1087200"/>
              <a:gd name="connsiteX2" fmla="*/ 0 w 3765600"/>
              <a:gd name="connsiteY2" fmla="*/ 1087200 h 1087200"/>
              <a:gd name="connsiteX3" fmla="*/ 36000 w 3765600"/>
              <a:gd name="connsiteY3" fmla="*/ 1087200 h 1087200"/>
            </a:gdLst>
            <a:ahLst/>
            <a:cxnLst>
              <a:cxn ang="0">
                <a:pos x="connsiteX0" y="connsiteY0"/>
              </a:cxn>
              <a:cxn ang="0">
                <a:pos x="connsiteX1" y="connsiteY1"/>
              </a:cxn>
              <a:cxn ang="0">
                <a:pos x="connsiteX2" y="connsiteY2"/>
              </a:cxn>
              <a:cxn ang="0">
                <a:pos x="connsiteX3" y="connsiteY3"/>
              </a:cxn>
            </a:cxnLst>
            <a:rect l="l" t="t" r="r" b="b"/>
            <a:pathLst>
              <a:path w="3765600" h="1087200">
                <a:moveTo>
                  <a:pt x="3765600" y="0"/>
                </a:moveTo>
                <a:lnTo>
                  <a:pt x="3765600" y="1087200"/>
                </a:lnTo>
                <a:lnTo>
                  <a:pt x="0" y="1087200"/>
                </a:lnTo>
                <a:lnTo>
                  <a:pt x="36000" y="1087200"/>
                </a:lnTo>
              </a:path>
            </a:pathLst>
          </a:custGeom>
          <a:noFill/>
          <a:ln w="44450" cap="flat" cmpd="sng" algn="ctr">
            <a:solidFill>
              <a:srgbClr val="FFFF00"/>
            </a:solidFill>
            <a:prstDash val="solid"/>
          </a:ln>
          <a:effectLst/>
        </p:spPr>
        <p:txBody>
          <a:bodyPr anchor="ctr"/>
          <a:lstStyle/>
          <a:p>
            <a:pPr marL="0" marR="0" lvl="0" indent="0" algn="ctr" defTabSz="914400" rtl="0" eaLnBrk="0" fontAlgn="base" latinLnBrk="0" hangingPunct="0">
              <a:lnSpc>
                <a:spcPct val="100000"/>
              </a:lnSpc>
              <a:spcBef>
                <a:spcPct val="50000"/>
              </a:spcBef>
              <a:spcAft>
                <a:spcPct val="0"/>
              </a:spcAft>
              <a:buClrTx/>
              <a:buSzTx/>
              <a:buFontTx/>
              <a:buNone/>
              <a:tabLst/>
              <a:defRPr/>
            </a:pPr>
            <a:endParaRPr kumimoji="1" lang="ja-JP" altLang="en-US" sz="900" b="0" i="0" u="none" strike="noStrike" kern="0" cap="none" spc="0" normalizeH="0" baseline="0" noProof="0">
              <a:ln>
                <a:noFill/>
              </a:ln>
              <a:solidFill>
                <a:sysClr val="window" lastClr="FFFFFF"/>
              </a:solidFill>
              <a:effectLst/>
              <a:uLnTx/>
              <a:uFillTx/>
              <a:latin typeface="HGP創英角ｺﾞｼｯｸUB" pitchFamily="50" charset="-128"/>
              <a:ea typeface="HGP創英角ｺﾞｼｯｸUB" pitchFamily="50" charset="-128"/>
              <a:cs typeface="+mn-cs"/>
            </a:endParaRPr>
          </a:p>
        </p:txBody>
      </p:sp>
      <p:cxnSp>
        <p:nvCxnSpPr>
          <p:cNvPr id="254" name="直線コネクタ 252"/>
          <p:cNvCxnSpPr/>
          <p:nvPr/>
        </p:nvCxnSpPr>
        <p:spPr bwMode="auto">
          <a:xfrm>
            <a:off x="4336216" y="2469918"/>
            <a:ext cx="0" cy="467526"/>
          </a:xfrm>
          <a:prstGeom prst="line">
            <a:avLst/>
          </a:prstGeom>
          <a:noFill/>
          <a:ln w="44450" cap="flat" cmpd="sng" algn="ctr">
            <a:solidFill>
              <a:srgbClr val="00FF00"/>
            </a:solidFill>
            <a:prstDash val="solid"/>
          </a:ln>
          <a:effectLst/>
        </p:spPr>
      </p:cxnSp>
      <p:cxnSp>
        <p:nvCxnSpPr>
          <p:cNvPr id="255" name="直線コネクタ 253"/>
          <p:cNvCxnSpPr/>
          <p:nvPr/>
        </p:nvCxnSpPr>
        <p:spPr bwMode="auto">
          <a:xfrm>
            <a:off x="3613608" y="2469918"/>
            <a:ext cx="0" cy="467526"/>
          </a:xfrm>
          <a:prstGeom prst="line">
            <a:avLst/>
          </a:prstGeom>
          <a:noFill/>
          <a:ln w="44450" cap="flat" cmpd="sng" algn="ctr">
            <a:solidFill>
              <a:srgbClr val="00FF00"/>
            </a:solidFill>
            <a:prstDash val="solid"/>
          </a:ln>
          <a:effectLst/>
        </p:spPr>
      </p:cxnSp>
      <p:cxnSp>
        <p:nvCxnSpPr>
          <p:cNvPr id="256" name="直線コネクタ 254"/>
          <p:cNvCxnSpPr/>
          <p:nvPr/>
        </p:nvCxnSpPr>
        <p:spPr bwMode="auto">
          <a:xfrm>
            <a:off x="2891000" y="2469918"/>
            <a:ext cx="0" cy="467526"/>
          </a:xfrm>
          <a:prstGeom prst="line">
            <a:avLst/>
          </a:prstGeom>
          <a:noFill/>
          <a:ln w="44450" cap="flat" cmpd="sng" algn="ctr">
            <a:solidFill>
              <a:srgbClr val="00FF00"/>
            </a:solidFill>
            <a:prstDash val="solid"/>
          </a:ln>
          <a:effectLst/>
        </p:spPr>
      </p:cxnSp>
      <p:cxnSp>
        <p:nvCxnSpPr>
          <p:cNvPr id="257" name="直線コネクタ 255"/>
          <p:cNvCxnSpPr/>
          <p:nvPr/>
        </p:nvCxnSpPr>
        <p:spPr bwMode="auto">
          <a:xfrm>
            <a:off x="2168392" y="2469918"/>
            <a:ext cx="0" cy="467526"/>
          </a:xfrm>
          <a:prstGeom prst="line">
            <a:avLst/>
          </a:prstGeom>
          <a:noFill/>
          <a:ln w="44450" cap="flat" cmpd="sng" algn="ctr">
            <a:solidFill>
              <a:srgbClr val="00FF00"/>
            </a:solidFill>
            <a:prstDash val="solid"/>
          </a:ln>
          <a:effectLst/>
        </p:spPr>
      </p:cxnSp>
      <p:pic>
        <p:nvPicPr>
          <p:cNvPr id="258" name="Picture 9"/>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flipH="1">
            <a:off x="2124728" y="2395742"/>
            <a:ext cx="292357" cy="29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59" name="直線コネクタ 257"/>
          <p:cNvCxnSpPr/>
          <p:nvPr/>
        </p:nvCxnSpPr>
        <p:spPr bwMode="auto">
          <a:xfrm>
            <a:off x="4336216" y="2119167"/>
            <a:ext cx="0" cy="568884"/>
          </a:xfrm>
          <a:prstGeom prst="line">
            <a:avLst/>
          </a:prstGeom>
          <a:noFill/>
          <a:ln w="44450" cap="flat" cmpd="sng" algn="ctr">
            <a:solidFill>
              <a:srgbClr val="0000FF"/>
            </a:solidFill>
            <a:prstDash val="solid"/>
          </a:ln>
          <a:effectLst/>
        </p:spPr>
      </p:cxnSp>
      <p:cxnSp>
        <p:nvCxnSpPr>
          <p:cNvPr id="260" name="直線コネクタ 258"/>
          <p:cNvCxnSpPr/>
          <p:nvPr/>
        </p:nvCxnSpPr>
        <p:spPr bwMode="auto">
          <a:xfrm>
            <a:off x="3613608" y="2119167"/>
            <a:ext cx="0" cy="568884"/>
          </a:xfrm>
          <a:prstGeom prst="line">
            <a:avLst/>
          </a:prstGeom>
          <a:noFill/>
          <a:ln w="44450" cap="flat" cmpd="sng" algn="ctr">
            <a:solidFill>
              <a:srgbClr val="0000FF"/>
            </a:solidFill>
            <a:prstDash val="solid"/>
          </a:ln>
          <a:effectLst/>
        </p:spPr>
      </p:cxnSp>
      <p:cxnSp>
        <p:nvCxnSpPr>
          <p:cNvPr id="261" name="直線コネクタ 259"/>
          <p:cNvCxnSpPr/>
          <p:nvPr/>
        </p:nvCxnSpPr>
        <p:spPr bwMode="auto">
          <a:xfrm>
            <a:off x="2891000" y="2119167"/>
            <a:ext cx="0" cy="568884"/>
          </a:xfrm>
          <a:prstGeom prst="line">
            <a:avLst/>
          </a:prstGeom>
          <a:noFill/>
          <a:ln w="44450" cap="flat" cmpd="sng" algn="ctr">
            <a:solidFill>
              <a:srgbClr val="0000FF"/>
            </a:solidFill>
            <a:prstDash val="solid"/>
          </a:ln>
          <a:effectLst/>
        </p:spPr>
      </p:cxnSp>
      <p:cxnSp>
        <p:nvCxnSpPr>
          <p:cNvPr id="262" name="直線コネクタ 260"/>
          <p:cNvCxnSpPr/>
          <p:nvPr/>
        </p:nvCxnSpPr>
        <p:spPr bwMode="auto">
          <a:xfrm>
            <a:off x="2168392" y="2119167"/>
            <a:ext cx="0" cy="568884"/>
          </a:xfrm>
          <a:prstGeom prst="line">
            <a:avLst/>
          </a:prstGeom>
          <a:noFill/>
          <a:ln w="44450" cap="flat" cmpd="sng" algn="ctr">
            <a:solidFill>
              <a:srgbClr val="0000FF"/>
            </a:solidFill>
            <a:prstDash val="solid"/>
          </a:ln>
          <a:effectLst/>
        </p:spPr>
      </p:cxnSp>
      <p:pic>
        <p:nvPicPr>
          <p:cNvPr id="263" name="Picture 9"/>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flipH="1">
            <a:off x="2873654" y="2395742"/>
            <a:ext cx="292357" cy="29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4" name="Picture 9"/>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flipH="1">
            <a:off x="3582414" y="2395742"/>
            <a:ext cx="292357" cy="29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5" name="Picture 9"/>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flipH="1">
            <a:off x="4302289" y="2395742"/>
            <a:ext cx="292357" cy="292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66" name="直線コネクタ 264"/>
          <p:cNvCxnSpPr/>
          <p:nvPr/>
        </p:nvCxnSpPr>
        <p:spPr bwMode="auto">
          <a:xfrm>
            <a:off x="2146142" y="2119167"/>
            <a:ext cx="2190074" cy="0"/>
          </a:xfrm>
          <a:prstGeom prst="line">
            <a:avLst/>
          </a:prstGeom>
          <a:noFill/>
          <a:ln w="44450" cap="flat" cmpd="sng" algn="ctr">
            <a:solidFill>
              <a:srgbClr val="0000FF"/>
            </a:solidFill>
            <a:prstDash val="solid"/>
          </a:ln>
          <a:effectLst/>
        </p:spPr>
      </p:cxnSp>
      <p:cxnSp>
        <p:nvCxnSpPr>
          <p:cNvPr id="267" name="直線コネクタ 265"/>
          <p:cNvCxnSpPr/>
          <p:nvPr/>
        </p:nvCxnSpPr>
        <p:spPr bwMode="auto">
          <a:xfrm flipV="1">
            <a:off x="4543273" y="2239086"/>
            <a:ext cx="0" cy="166034"/>
          </a:xfrm>
          <a:prstGeom prst="line">
            <a:avLst/>
          </a:prstGeom>
          <a:noFill/>
          <a:ln w="44450" cap="flat" cmpd="sng" algn="ctr">
            <a:solidFill>
              <a:srgbClr val="FFFF00"/>
            </a:solidFill>
            <a:prstDash val="solid"/>
          </a:ln>
          <a:effectLst/>
        </p:spPr>
      </p:cxnSp>
      <p:cxnSp>
        <p:nvCxnSpPr>
          <p:cNvPr id="268" name="直線コネクタ 266"/>
          <p:cNvCxnSpPr/>
          <p:nvPr/>
        </p:nvCxnSpPr>
        <p:spPr bwMode="auto">
          <a:xfrm flipV="1">
            <a:off x="3847993" y="2239086"/>
            <a:ext cx="0" cy="166034"/>
          </a:xfrm>
          <a:prstGeom prst="line">
            <a:avLst/>
          </a:prstGeom>
          <a:noFill/>
          <a:ln w="44450" cap="flat" cmpd="sng" algn="ctr">
            <a:solidFill>
              <a:srgbClr val="FFFF00"/>
            </a:solidFill>
            <a:prstDash val="solid"/>
          </a:ln>
          <a:effectLst/>
        </p:spPr>
      </p:cxnSp>
      <p:cxnSp>
        <p:nvCxnSpPr>
          <p:cNvPr id="269" name="直線コネクタ 267"/>
          <p:cNvCxnSpPr/>
          <p:nvPr/>
        </p:nvCxnSpPr>
        <p:spPr bwMode="auto">
          <a:xfrm flipV="1">
            <a:off x="3120489" y="2239086"/>
            <a:ext cx="0" cy="166034"/>
          </a:xfrm>
          <a:prstGeom prst="line">
            <a:avLst/>
          </a:prstGeom>
          <a:noFill/>
          <a:ln w="44450" cap="flat" cmpd="sng" algn="ctr">
            <a:solidFill>
              <a:srgbClr val="FFFF00"/>
            </a:solidFill>
            <a:prstDash val="solid"/>
          </a:ln>
          <a:effectLst/>
        </p:spPr>
      </p:cxnSp>
      <p:cxnSp>
        <p:nvCxnSpPr>
          <p:cNvPr id="270" name="直線コネクタ 268"/>
          <p:cNvCxnSpPr/>
          <p:nvPr/>
        </p:nvCxnSpPr>
        <p:spPr bwMode="auto">
          <a:xfrm flipV="1">
            <a:off x="2363795" y="2233230"/>
            <a:ext cx="0" cy="171890"/>
          </a:xfrm>
          <a:prstGeom prst="line">
            <a:avLst/>
          </a:prstGeom>
          <a:noFill/>
          <a:ln w="44450" cap="flat" cmpd="sng" algn="ctr">
            <a:solidFill>
              <a:srgbClr val="FFFF00"/>
            </a:solidFill>
            <a:prstDash val="solid"/>
          </a:ln>
          <a:effectLst/>
        </p:spPr>
      </p:cxnSp>
      <p:graphicFrame>
        <p:nvGraphicFramePr>
          <p:cNvPr id="271" name="表 269"/>
          <p:cNvGraphicFramePr>
            <a:graphicFrameLocks noGrp="1"/>
          </p:cNvGraphicFramePr>
          <p:nvPr/>
        </p:nvGraphicFramePr>
        <p:xfrm>
          <a:off x="4255732" y="4770320"/>
          <a:ext cx="4738543" cy="1707024"/>
        </p:xfrm>
        <a:graphic>
          <a:graphicData uri="http://schemas.openxmlformats.org/drawingml/2006/table">
            <a:tbl>
              <a:tblPr/>
              <a:tblGrid>
                <a:gridCol w="314474">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583086">
                  <a:extLst>
                    <a:ext uri="{9D8B030D-6E8A-4147-A177-3AD203B41FA5}">
                      <a16:colId xmlns:a16="http://schemas.microsoft.com/office/drawing/2014/main" val="20002"/>
                    </a:ext>
                  </a:extLst>
                </a:gridCol>
                <a:gridCol w="1392711">
                  <a:extLst>
                    <a:ext uri="{9D8B030D-6E8A-4147-A177-3AD203B41FA5}">
                      <a16:colId xmlns:a16="http://schemas.microsoft.com/office/drawing/2014/main" val="20003"/>
                    </a:ext>
                  </a:extLst>
                </a:gridCol>
                <a:gridCol w="792088">
                  <a:extLst>
                    <a:ext uri="{9D8B030D-6E8A-4147-A177-3AD203B41FA5}">
                      <a16:colId xmlns:a16="http://schemas.microsoft.com/office/drawing/2014/main" val="20004"/>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Part Name</a:t>
                      </a: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Part</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 </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No.</a:t>
                      </a: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Type</a:t>
                      </a: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10873">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①</a:t>
                      </a:r>
                      <a:endPar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ELECTRONIC CONTL UNIT</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Amaze</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37820-6G0Z</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　</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-M6</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46033">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WRV</a:t>
                      </a: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37820-****</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　</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-M6</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46033">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JAZZ</a:t>
                      </a: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37820-5V6P</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　</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-M6</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②</a:t>
                      </a:r>
                      <a:endPar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SENSOR ASSY,MAP/TA</a:t>
                      </a:r>
                      <a:endPar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r>
                        <a:rPr kumimoji="1" lang="en-US" altLang="ja-JP" sz="800" b="0" i="0" u="none" strike="noStrike" kern="1200" cap="none" normalizeH="0" baseline="0">
                          <a:ln>
                            <a:noFill/>
                          </a:ln>
                          <a:solidFill>
                            <a:schemeClr val="tx1"/>
                          </a:solidFill>
                          <a:effectLst/>
                          <a:latin typeface="Meiryo UI" pitchFamily="50" charset="-128"/>
                          <a:ea typeface="Meiryo UI" pitchFamily="50" charset="-128"/>
                          <a:cs typeface="Meiryo UI" pitchFamily="50" charset="-128"/>
                        </a:rPr>
                        <a:t>Amaze</a:t>
                      </a:r>
                      <a:r>
                        <a:rPr lang="en-US" altLang="ja-JP" sz="800">
                          <a:latin typeface="Meiryo UI" pitchFamily="50" charset="-128"/>
                          <a:ea typeface="Meiryo UI" pitchFamily="50" charset="-128"/>
                          <a:cs typeface="Meiryo UI" pitchFamily="50" charset="-128"/>
                        </a:rPr>
                        <a:t>/</a:t>
                      </a:r>
                    </a:p>
                    <a:p>
                      <a:r>
                        <a:rPr kumimoji="1" lang="en-US" altLang="ja-JP" sz="800" b="0" i="0" u="none" strike="noStrike" kern="1200" cap="none" normalizeH="0" baseline="0">
                          <a:ln>
                            <a:noFill/>
                          </a:ln>
                          <a:solidFill>
                            <a:schemeClr val="tx1"/>
                          </a:solidFill>
                          <a:effectLst/>
                          <a:latin typeface="Meiryo UI" pitchFamily="50" charset="-128"/>
                          <a:ea typeface="Meiryo UI" pitchFamily="50" charset="-128"/>
                          <a:cs typeface="Meiryo UI" pitchFamily="50" charset="-128"/>
                        </a:rPr>
                        <a:t>WRV</a:t>
                      </a:r>
                      <a:r>
                        <a:rPr lang="en-US" altLang="ja-JP" sz="800">
                          <a:latin typeface="Meiryo UI" pitchFamily="50" charset="-128"/>
                          <a:ea typeface="Meiryo UI" pitchFamily="50" charset="-128"/>
                          <a:cs typeface="Meiryo UI" pitchFamily="50" charset="-128"/>
                        </a:rPr>
                        <a:t>/</a:t>
                      </a:r>
                    </a:p>
                    <a:p>
                      <a:r>
                        <a:rPr lang="en-US" altLang="ja-JP" sz="800">
                          <a:latin typeface="Meiryo UI" pitchFamily="50" charset="-128"/>
                          <a:ea typeface="Meiryo UI" pitchFamily="50" charset="-128"/>
                          <a:cs typeface="Meiryo UI" pitchFamily="50" charset="-128"/>
                        </a:rPr>
                        <a:t>JAZZ</a:t>
                      </a:r>
                      <a:endParaRPr lang="ja-JP" altLang="en-US" sz="800">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37830-6G0Z</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　</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-M4 </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③</a:t>
                      </a:r>
                      <a:endParaRPr kumimoji="0"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SENSOR,AIR FUEL RASIO</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ja-JP" altLang="en-US"/>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36531-6G0Z</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　</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-M5</a:t>
                      </a: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④</a:t>
                      </a:r>
                      <a:endParaRPr kumimoji="0"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SENSOR,OXYGEN</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ja-JP" altLang="en-US"/>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36532-6G0Z</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　</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-M5 </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⑤</a:t>
                      </a:r>
                      <a:endParaRPr kumimoji="0"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INJECTOR ASSY FUEL</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lang="ja-JP" altLang="en-US"/>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16450-6G0Z</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　</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a:t>
                      </a:r>
                      <a:r>
                        <a:rPr kumimoji="1" lang="en-US" altLang="ja-JP" sz="800" b="0" i="0" u="none" strike="noStrike" cap="none" normalizeH="0" baseline="0">
                          <a:ln>
                            <a:noFill/>
                          </a:ln>
                          <a:solidFill>
                            <a:schemeClr val="tx1"/>
                          </a:solidFill>
                          <a:effectLst/>
                          <a:latin typeface="Meiryo UI" pitchFamily="50" charset="-128"/>
                          <a:ea typeface="Meiryo UI" pitchFamily="50" charset="-128"/>
                          <a:cs typeface="Meiryo UI" pitchFamily="50" charset="-128"/>
                        </a:rPr>
                        <a:t>-M5</a:t>
                      </a: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800" b="0" i="0" u="none" strike="noStrike" cap="none" normalizeH="0" baseline="0">
                        <a:ln>
                          <a:noFill/>
                        </a:ln>
                        <a:solidFill>
                          <a:schemeClr val="tx1"/>
                        </a:solidFill>
                        <a:effectLst/>
                        <a:latin typeface="Meiryo UI" pitchFamily="50" charset="-128"/>
                        <a:ea typeface="Meiryo UI" pitchFamily="50" charset="-128"/>
                        <a:cs typeface="Meiryo UI" pitchFamily="50" charset="-128"/>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pic>
        <p:nvPicPr>
          <p:cNvPr id="272" name="Picture 2"/>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579931" y="1416420"/>
            <a:ext cx="949796" cy="791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3" name="テキスト ボックス 271"/>
          <p:cNvSpPr txBox="1"/>
          <p:nvPr/>
        </p:nvSpPr>
        <p:spPr>
          <a:xfrm>
            <a:off x="6388710" y="4058682"/>
            <a:ext cx="2682720" cy="461665"/>
          </a:xfrm>
          <a:prstGeom prst="rect">
            <a:avLst/>
          </a:prstGeom>
          <a:solidFill>
            <a:srgbClr val="FFC000"/>
          </a:solid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00CC99"/>
                </a:solidFill>
                <a:effectLst/>
                <a:uLnTx/>
                <a:uFillTx/>
                <a:latin typeface="Times New Roman" pitchFamily="18" charset="0"/>
                <a:ea typeface="ＭＳ Ｐゴシック" charset="-128"/>
                <a:cs typeface="+mn-cs"/>
              </a:rPr>
              <a:t>Bosch</a:t>
            </a:r>
            <a:r>
              <a:rPr kumimoji="1" lang="en-US" altLang="ja-JP"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rPr>
              <a:t> information </a:t>
            </a: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274" name="正方形/長方形 272"/>
          <p:cNvSpPr/>
          <p:nvPr/>
        </p:nvSpPr>
        <p:spPr bwMode="auto">
          <a:xfrm>
            <a:off x="8197403" y="4771623"/>
            <a:ext cx="790901" cy="1700012"/>
          </a:xfrm>
          <a:prstGeom prst="rect">
            <a:avLst/>
          </a:prstGeom>
          <a:no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275" name="Text Box 2"/>
          <p:cNvSpPr txBox="1">
            <a:spLocks noChangeArrowheads="1"/>
          </p:cNvSpPr>
          <p:nvPr/>
        </p:nvSpPr>
        <p:spPr bwMode="auto">
          <a:xfrm>
            <a:off x="7131534" y="4506887"/>
            <a:ext cx="201106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marR="0" lvl="0" indent="-180975" algn="l" defTabSz="914400" rtl="0" eaLnBrk="1" fontAlgn="base" latinLnBrk="0" hangingPunct="1">
              <a:lnSpc>
                <a:spcPct val="100000"/>
              </a:lnSpc>
              <a:spcBef>
                <a:spcPct val="0"/>
              </a:spcBef>
              <a:spcAft>
                <a:spcPct val="0"/>
              </a:spcAft>
              <a:buClrTx/>
              <a:buSzTx/>
              <a:buFontTx/>
              <a:buNone/>
              <a:tabLst>
                <a:tab pos="85725" algn="l"/>
              </a:tabLst>
              <a:defRPr/>
            </a:pPr>
            <a:r>
              <a:rPr kumimoji="1" lang="en-US" altLang="ja-JP" sz="1200" b="0" i="0" u="none" strike="noStrike" kern="1200" cap="none" spc="0" normalizeH="0" baseline="0" noProof="0">
                <a:ln>
                  <a:noFill/>
                </a:ln>
                <a:solidFill>
                  <a:srgbClr val="FF0000"/>
                </a:solidFill>
                <a:effectLst/>
                <a:uLnTx/>
                <a:uFillTx/>
                <a:latin typeface="Arial" pitchFamily="34" charset="0"/>
                <a:ea typeface="メイリオ" panose="020B0604030504040204" pitchFamily="50" charset="-128"/>
                <a:cs typeface="Arial" pitchFamily="34" charset="0"/>
              </a:rPr>
              <a:t>To fill information by Bosch</a:t>
            </a:r>
            <a:endParaRPr kumimoji="1" lang="ja-JP" altLang="en-US" sz="1200" b="0" i="0" u="none" strike="noStrike" kern="1200" cap="none" spc="0" normalizeH="0" baseline="0" noProof="0">
              <a:ln>
                <a:noFill/>
              </a:ln>
              <a:solidFill>
                <a:srgbClr val="FF0000"/>
              </a:solidFill>
              <a:effectLst/>
              <a:uLnTx/>
              <a:uFillTx/>
              <a:latin typeface="Arial" pitchFamily="34" charset="0"/>
              <a:ea typeface="メイリオ" panose="020B0604030504040204" pitchFamily="50" charset="-128"/>
              <a:cs typeface="Arial" pitchFamily="34" charset="0"/>
            </a:endParaRPr>
          </a:p>
        </p:txBody>
      </p:sp>
      <p:cxnSp>
        <p:nvCxnSpPr>
          <p:cNvPr id="276" name="直線コネクタ 274"/>
          <p:cNvCxnSpPr/>
          <p:nvPr/>
        </p:nvCxnSpPr>
        <p:spPr bwMode="auto">
          <a:xfrm flipH="1">
            <a:off x="1320531" y="3893253"/>
            <a:ext cx="148272" cy="18744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 name="直線コネクタ 275"/>
          <p:cNvCxnSpPr>
            <a:endCxn id="131" idx="3"/>
          </p:cNvCxnSpPr>
          <p:nvPr/>
        </p:nvCxnSpPr>
        <p:spPr bwMode="auto">
          <a:xfrm flipH="1">
            <a:off x="1713017" y="4124291"/>
            <a:ext cx="72208" cy="33279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8" name="直線コネクタ 276"/>
          <p:cNvCxnSpPr>
            <a:endCxn id="227" idx="1"/>
          </p:cNvCxnSpPr>
          <p:nvPr/>
        </p:nvCxnSpPr>
        <p:spPr bwMode="auto">
          <a:xfrm>
            <a:off x="3231935" y="2972633"/>
            <a:ext cx="1717843" cy="280576"/>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直線コネクタ 277"/>
          <p:cNvCxnSpPr>
            <a:stCxn id="242" idx="3"/>
            <a:endCxn id="221" idx="2"/>
          </p:cNvCxnSpPr>
          <p:nvPr/>
        </p:nvCxnSpPr>
        <p:spPr bwMode="auto">
          <a:xfrm>
            <a:off x="3513363" y="2879501"/>
            <a:ext cx="1444380" cy="164049"/>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テキスト ボックス 1">
            <a:extLst>
              <a:ext uri="{FF2B5EF4-FFF2-40B4-BE49-F238E27FC236}">
                <a16:creationId xmlns:a16="http://schemas.microsoft.com/office/drawing/2014/main" id="{1217EB7E-687F-BEF7-2F22-931DB5145BFE}"/>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75871444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Box 2"/>
          <p:cNvSpPr txBox="1">
            <a:spLocks noChangeArrowheads="1"/>
          </p:cNvSpPr>
          <p:nvPr/>
        </p:nvSpPr>
        <p:spPr bwMode="auto">
          <a:xfrm>
            <a:off x="250837" y="44451"/>
            <a:ext cx="8893175"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11. EMS components</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of</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BOSCH parts</a:t>
            </a:r>
          </a:p>
        </p:txBody>
      </p:sp>
      <p:grpSp>
        <p:nvGrpSpPr>
          <p:cNvPr id="4" name="Group 3"/>
          <p:cNvGrpSpPr/>
          <p:nvPr/>
        </p:nvGrpSpPr>
        <p:grpSpPr>
          <a:xfrm>
            <a:off x="866516" y="885387"/>
            <a:ext cx="5264394" cy="5333042"/>
            <a:chOff x="2050806" y="858130"/>
            <a:chExt cx="5264394" cy="5333042"/>
          </a:xfrm>
        </p:grpSpPr>
        <p:pic>
          <p:nvPicPr>
            <p:cNvPr id="2" name="Picture 1"/>
            <p:cNvPicPr>
              <a:picLocks noChangeAspect="1"/>
            </p:cNvPicPr>
            <p:nvPr/>
          </p:nvPicPr>
          <p:blipFill>
            <a:blip r:embed="rId3"/>
            <a:stretch>
              <a:fillRect/>
            </a:stretch>
          </p:blipFill>
          <p:spPr>
            <a:xfrm>
              <a:off x="2050806" y="942897"/>
              <a:ext cx="4914900" cy="5248275"/>
            </a:xfrm>
            <a:prstGeom prst="rect">
              <a:avLst/>
            </a:prstGeom>
          </p:spPr>
        </p:pic>
        <p:sp>
          <p:nvSpPr>
            <p:cNvPr id="3" name="Rectangle 2"/>
            <p:cNvSpPr/>
            <p:nvPr/>
          </p:nvSpPr>
          <p:spPr bwMode="auto">
            <a:xfrm>
              <a:off x="5261317" y="858130"/>
              <a:ext cx="2053883" cy="287944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grpSp>
      <p:graphicFrame>
        <p:nvGraphicFramePr>
          <p:cNvPr id="93" name="表 92"/>
          <p:cNvGraphicFramePr>
            <a:graphicFrameLocks noGrp="1"/>
          </p:cNvGraphicFramePr>
          <p:nvPr/>
        </p:nvGraphicFramePr>
        <p:xfrm>
          <a:off x="4762450" y="762757"/>
          <a:ext cx="4252666" cy="1371708"/>
        </p:xfrm>
        <a:graphic>
          <a:graphicData uri="http://schemas.openxmlformats.org/drawingml/2006/table">
            <a:tbl>
              <a:tblPr/>
              <a:tblGrid>
                <a:gridCol w="314474">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841848">
                  <a:extLst>
                    <a:ext uri="{9D8B030D-6E8A-4147-A177-3AD203B41FA5}">
                      <a16:colId xmlns:a16="http://schemas.microsoft.com/office/drawing/2014/main" val="20003"/>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a:t>
                      </a: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Part Name</a:t>
                      </a: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Part</a:t>
                      </a:r>
                      <a:r>
                        <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 </a:t>
                      </a: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No.</a:t>
                      </a: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Type</a:t>
                      </a: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1</a:t>
                      </a: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ELECTRONIC CONTL UNIT</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37820-6SAA-****-M6</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900" b="0" i="0" u="none" strike="noStrike" cap="none" normalizeH="0" baseline="0">
                          <a:ln>
                            <a:noFill/>
                          </a:ln>
                          <a:solidFill>
                            <a:srgbClr val="000000"/>
                          </a:solidFill>
                          <a:effectLst/>
                          <a:latin typeface="Meiryo UI" panose="020B0604030504040204" pitchFamily="50" charset="-128"/>
                          <a:ea typeface="HGPSoeiKakugothicUB" pitchFamily="50" charset="-128"/>
                          <a:cs typeface="Arial" pitchFamily="34" charset="0"/>
                        </a:rPr>
                        <a:t>2</a:t>
                      </a: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SENSOR ASSY,MAP/TA</a:t>
                      </a:r>
                      <a:endParaRPr kumimoji="0" lang="en-US" altLang="ja-JP" sz="9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37830-RE2 –E012-M4</a:t>
                      </a: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900" b="0" i="0" u="none" strike="noStrike" cap="none" normalizeH="0" baseline="0">
                          <a:ln>
                            <a:noFill/>
                          </a:ln>
                          <a:solidFill>
                            <a:srgbClr val="000000"/>
                          </a:solidFill>
                          <a:effectLst/>
                          <a:latin typeface="Meiryo UI" panose="020B0604030504040204" pitchFamily="50" charset="-128"/>
                          <a:ea typeface="HGPSoeiKakugothicUB" pitchFamily="50" charset="-128"/>
                          <a:cs typeface="Arial" pitchFamily="34" charset="0"/>
                        </a:rPr>
                        <a:t>3</a:t>
                      </a: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SENSOR,AIR FUEL RASIO</a:t>
                      </a:r>
                      <a:endParaRPr kumimoji="0" lang="en-US" altLang="ja-JP" sz="9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36531-6G0 -T011-M5</a:t>
                      </a: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900" b="0" i="0" u="none" strike="noStrike" cap="none" normalizeH="0" baseline="0">
                          <a:ln>
                            <a:noFill/>
                          </a:ln>
                          <a:solidFill>
                            <a:srgbClr val="000000"/>
                          </a:solidFill>
                          <a:effectLst/>
                          <a:latin typeface="Meiryo UI" panose="020B0604030504040204" pitchFamily="50" charset="-128"/>
                          <a:ea typeface="HGPSoeiKakugothicUB" pitchFamily="50" charset="-128"/>
                          <a:cs typeface="Arial" pitchFamily="34" charset="0"/>
                        </a:rPr>
                        <a:t>4</a:t>
                      </a: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9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itchFamily="34" charset="0"/>
                        </a:rPr>
                        <a:t>SENSOR,OXYGEN</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36532-6G0 -T010-M5</a:t>
                      </a: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ja-JP" sz="900" b="0" i="0" u="none" strike="noStrike" cap="none" normalizeH="0" baseline="0">
                          <a:ln>
                            <a:noFill/>
                          </a:ln>
                          <a:solidFill>
                            <a:srgbClr val="000000"/>
                          </a:solidFill>
                          <a:effectLst/>
                          <a:latin typeface="Meiryo UI" panose="020B0604030504040204" pitchFamily="50" charset="-128"/>
                          <a:ea typeface="HGPSoeiKakugothicUB" pitchFamily="50" charset="-128"/>
                          <a:cs typeface="Arial" pitchFamily="34" charset="0"/>
                        </a:rPr>
                        <a:t>5</a:t>
                      </a:r>
                    </a:p>
                  </a:txBody>
                  <a:tcPr marL="84374" marR="84374" marT="45729" marB="4572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ja-JP" sz="9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itchFamily="34" charset="0"/>
                        </a:rPr>
                        <a:t>INJECTOR ASSY FUEL</a:t>
                      </a: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rPr>
                        <a:t>16450-6G0 -T011-M5</a:t>
                      </a: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9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itchFamily="34" charset="0"/>
                      </a:endParaRPr>
                    </a:p>
                  </a:txBody>
                  <a:tcPr marL="84374" marR="84374" marT="45729" marB="4572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bl>
          </a:graphicData>
        </a:graphic>
      </p:graphicFrame>
      <p:sp>
        <p:nvSpPr>
          <p:cNvPr id="47" name="線吹き出し 1 (枠付き) 57"/>
          <p:cNvSpPr>
            <a:spLocks/>
          </p:cNvSpPr>
          <p:nvPr/>
        </p:nvSpPr>
        <p:spPr bwMode="auto">
          <a:xfrm flipH="1">
            <a:off x="6012874" y="3050778"/>
            <a:ext cx="1633782" cy="230832"/>
          </a:xfrm>
          <a:prstGeom prst="borderCallout1">
            <a:avLst>
              <a:gd name="adj1" fmla="val 88669"/>
              <a:gd name="adj2" fmla="val 49232"/>
              <a:gd name="adj3" fmla="val 213787"/>
              <a:gd name="adj4" fmla="val 49618"/>
            </a:avLst>
          </a:prstGeom>
          <a:solidFill>
            <a:schemeClr val="bg1"/>
          </a:solidFill>
          <a:ln w="25400" algn="ctr">
            <a:solidFill>
              <a:schemeClr val="tx1"/>
            </a:solidFill>
            <a:miter lim="800000"/>
            <a:headEnd type="none" w="med" len="med"/>
            <a:tailEnd type="none" w="med" len="med"/>
          </a:ln>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① </a:t>
            </a:r>
            <a:r>
              <a:rPr kumimoji="1"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ELECTRONIC CONTL.UNIT</a:t>
            </a:r>
          </a:p>
        </p:txBody>
      </p:sp>
      <p:sp>
        <p:nvSpPr>
          <p:cNvPr id="48" name="線吹き出し 1 (枠付き) 34"/>
          <p:cNvSpPr>
            <a:spLocks/>
          </p:cNvSpPr>
          <p:nvPr/>
        </p:nvSpPr>
        <p:spPr bwMode="auto">
          <a:xfrm>
            <a:off x="4176289" y="2756111"/>
            <a:ext cx="1300067" cy="369332"/>
          </a:xfrm>
          <a:prstGeom prst="borderCallout1">
            <a:avLst>
              <a:gd name="adj1" fmla="val 43454"/>
              <a:gd name="adj2" fmla="val -2294"/>
              <a:gd name="adj3" fmla="val 299475"/>
              <a:gd name="adj4" fmla="val -53724"/>
            </a:avLst>
          </a:prstGeom>
          <a:solidFill>
            <a:schemeClr val="bg1"/>
          </a:solidFill>
          <a:ln w="25400" algn="ctr">
            <a:solidFill>
              <a:schemeClr val="tx1"/>
            </a:solidFill>
            <a:miter lim="800000"/>
            <a:headEnd type="none" w="med" len="med"/>
            <a:tailEnd type="none" w="med" len="med"/>
          </a:ln>
        </p:spPr>
        <p:txBody>
          <a:bodyPr wrap="squar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② </a:t>
            </a:r>
            <a:r>
              <a:rPr kumimoji="1"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Intake air pressure</a:t>
            </a:r>
            <a:r>
              <a:rPr kumimoji="1"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　　　　　</a:t>
            </a:r>
            <a:endParaRPr kumimoji="1"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&amp; temperature sensor</a:t>
            </a:r>
            <a:r>
              <a:rPr kumimoji="0"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　　　　　</a:t>
            </a:r>
            <a:endPar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50" name="線吹き出し 1 (枠付き) 39"/>
          <p:cNvSpPr>
            <a:spLocks/>
          </p:cNvSpPr>
          <p:nvPr/>
        </p:nvSpPr>
        <p:spPr bwMode="auto">
          <a:xfrm>
            <a:off x="438028" y="2283958"/>
            <a:ext cx="910827" cy="369332"/>
          </a:xfrm>
          <a:prstGeom prst="borderCallout1">
            <a:avLst>
              <a:gd name="adj1" fmla="val 99502"/>
              <a:gd name="adj2" fmla="val 48062"/>
              <a:gd name="adj3" fmla="val 188510"/>
              <a:gd name="adj4" fmla="val 107867"/>
            </a:avLst>
          </a:prstGeom>
          <a:solidFill>
            <a:schemeClr val="bg1"/>
          </a:solidFill>
          <a:ln w="25400" algn="ctr">
            <a:solidFill>
              <a:schemeClr val="tx1"/>
            </a:solidFill>
            <a:miter lim="800000"/>
            <a:headEnd type="none" w="med" len="med"/>
            <a:tailEnd type="none" w="med" len="med"/>
          </a:ln>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③ </a:t>
            </a: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Primary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lambda sensor</a:t>
            </a:r>
          </a:p>
        </p:txBody>
      </p:sp>
      <p:sp>
        <p:nvSpPr>
          <p:cNvPr id="52" name="線吹き出し 1 (枠付き) 40"/>
          <p:cNvSpPr>
            <a:spLocks/>
          </p:cNvSpPr>
          <p:nvPr/>
        </p:nvSpPr>
        <p:spPr bwMode="auto">
          <a:xfrm>
            <a:off x="360898" y="5605815"/>
            <a:ext cx="982618" cy="369332"/>
          </a:xfrm>
          <a:prstGeom prst="borderCallout1">
            <a:avLst>
              <a:gd name="adj1" fmla="val -1047"/>
              <a:gd name="adj2" fmla="val 72304"/>
              <a:gd name="adj3" fmla="val -212104"/>
              <a:gd name="adj4" fmla="val 110349"/>
            </a:avLst>
          </a:prstGeom>
          <a:solidFill>
            <a:schemeClr val="bg1"/>
          </a:solidFill>
          <a:ln w="25400" algn="ctr">
            <a:solidFill>
              <a:schemeClr val="tx1"/>
            </a:solidFill>
            <a:miter lim="800000"/>
            <a:headEnd type="none" w="med" len="med"/>
            <a:tailEnd type="none" w="med" len="med"/>
          </a:ln>
        </p:spPr>
        <p:txBody>
          <a:bodyPr wrap="squar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④ </a:t>
            </a: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Secondary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oxygen sensor</a:t>
            </a:r>
          </a:p>
        </p:txBody>
      </p:sp>
      <p:sp>
        <p:nvSpPr>
          <p:cNvPr id="53" name="線吹き出し 1 (枠付き) 57"/>
          <p:cNvSpPr>
            <a:spLocks/>
          </p:cNvSpPr>
          <p:nvPr/>
        </p:nvSpPr>
        <p:spPr bwMode="auto">
          <a:xfrm flipH="1">
            <a:off x="3511161" y="1448611"/>
            <a:ext cx="1019831" cy="230832"/>
          </a:xfrm>
          <a:prstGeom prst="borderCallout1">
            <a:avLst>
              <a:gd name="adj1" fmla="val 52907"/>
              <a:gd name="adj2" fmla="val 100079"/>
              <a:gd name="adj3" fmla="val 436721"/>
              <a:gd name="adj4" fmla="val 113821"/>
            </a:avLst>
          </a:prstGeom>
          <a:solidFill>
            <a:schemeClr val="bg1"/>
          </a:solidFill>
          <a:ln w="25400" algn="ctr">
            <a:solidFill>
              <a:schemeClr val="tx1"/>
            </a:solidFill>
            <a:miter lim="800000"/>
            <a:headEnd type="none" w="med" len="med"/>
            <a:tailEnd type="none" w="med" len="med"/>
          </a:ln>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ja-JP" altLang="en-US"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⑤ </a:t>
            </a:r>
            <a:r>
              <a:rPr kumimoji="0"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rPr>
              <a:t>Fuel injectors</a:t>
            </a:r>
            <a:endParaRPr kumimoji="1" lang="en-US" altLang="ja-JP" sz="900" b="0" i="0" u="none" strike="noStrike" kern="1200" cap="none" spc="0" normalizeH="0" baseline="0" noProof="0">
              <a:ln>
                <a:noFill/>
              </a:ln>
              <a:solidFill>
                <a:srgbClr val="000000"/>
              </a:solidFill>
              <a:effectLst/>
              <a:uLnTx/>
              <a:uFillTx/>
              <a:latin typeface="HGP創英角ｺﾞｼｯｸUB" pitchFamily="50" charset="-128"/>
              <a:ea typeface="HGP創英角ｺﾞｼｯｸUB" pitchFamily="50" charset="-128"/>
              <a:cs typeface="+mn-cs"/>
            </a:endParaRPr>
          </a:p>
        </p:txBody>
      </p:sp>
      <p:sp>
        <p:nvSpPr>
          <p:cNvPr id="62" name="正方形/長方形 272"/>
          <p:cNvSpPr/>
          <p:nvPr/>
        </p:nvSpPr>
        <p:spPr bwMode="auto">
          <a:xfrm>
            <a:off x="8198258" y="781516"/>
            <a:ext cx="790901" cy="1404968"/>
          </a:xfrm>
          <a:prstGeom prst="rect">
            <a:avLst/>
          </a:prstGeom>
          <a:no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pic>
        <p:nvPicPr>
          <p:cNvPr id="5" name="Picture 4"/>
          <p:cNvPicPr>
            <a:picLocks noChangeAspect="1"/>
          </p:cNvPicPr>
          <p:nvPr/>
        </p:nvPicPr>
        <p:blipFill>
          <a:blip r:embed="rId4"/>
          <a:stretch>
            <a:fillRect/>
          </a:stretch>
        </p:blipFill>
        <p:spPr>
          <a:xfrm>
            <a:off x="247439" y="2733463"/>
            <a:ext cx="644535" cy="562311"/>
          </a:xfrm>
          <a:prstGeom prst="rect">
            <a:avLst/>
          </a:prstGeom>
          <a:ln>
            <a:solidFill>
              <a:schemeClr val="tx1"/>
            </a:solidFill>
          </a:ln>
        </p:spPr>
      </p:pic>
      <p:pic>
        <p:nvPicPr>
          <p:cNvPr id="7" name="Picture 6"/>
          <p:cNvPicPr>
            <a:picLocks noChangeAspect="1"/>
          </p:cNvPicPr>
          <p:nvPr/>
        </p:nvPicPr>
        <p:blipFill>
          <a:blip r:embed="rId5"/>
          <a:stretch>
            <a:fillRect/>
          </a:stretch>
        </p:blipFill>
        <p:spPr>
          <a:xfrm>
            <a:off x="3851345" y="1743013"/>
            <a:ext cx="763855" cy="741256"/>
          </a:xfrm>
          <a:prstGeom prst="rect">
            <a:avLst/>
          </a:prstGeom>
          <a:ln>
            <a:solidFill>
              <a:schemeClr val="tx1"/>
            </a:solidFill>
          </a:ln>
        </p:spPr>
      </p:pic>
      <p:pic>
        <p:nvPicPr>
          <p:cNvPr id="8" name="Picture 7"/>
          <p:cNvPicPr>
            <a:picLocks noChangeAspect="1"/>
          </p:cNvPicPr>
          <p:nvPr/>
        </p:nvPicPr>
        <p:blipFill>
          <a:blip r:embed="rId6"/>
          <a:stretch>
            <a:fillRect/>
          </a:stretch>
        </p:blipFill>
        <p:spPr>
          <a:xfrm>
            <a:off x="4425096" y="3163302"/>
            <a:ext cx="859728" cy="665266"/>
          </a:xfrm>
          <a:prstGeom prst="rect">
            <a:avLst/>
          </a:prstGeom>
          <a:ln>
            <a:solidFill>
              <a:schemeClr val="tx1"/>
            </a:solidFill>
          </a:ln>
        </p:spPr>
      </p:pic>
      <p:pic>
        <p:nvPicPr>
          <p:cNvPr id="9" name="Picture 8"/>
          <p:cNvPicPr>
            <a:picLocks noChangeAspect="1"/>
          </p:cNvPicPr>
          <p:nvPr/>
        </p:nvPicPr>
        <p:blipFill>
          <a:blip r:embed="rId7"/>
          <a:stretch>
            <a:fillRect/>
          </a:stretch>
        </p:blipFill>
        <p:spPr>
          <a:xfrm>
            <a:off x="6367631" y="3382859"/>
            <a:ext cx="997398" cy="975597"/>
          </a:xfrm>
          <a:prstGeom prst="rect">
            <a:avLst/>
          </a:prstGeom>
          <a:ln>
            <a:solidFill>
              <a:schemeClr val="tx1"/>
            </a:solidFill>
          </a:ln>
        </p:spPr>
      </p:pic>
      <p:sp>
        <p:nvSpPr>
          <p:cNvPr id="10" name="テキスト ボックス 9">
            <a:extLst>
              <a:ext uri="{FF2B5EF4-FFF2-40B4-BE49-F238E27FC236}">
                <a16:creationId xmlns:a16="http://schemas.microsoft.com/office/drawing/2014/main" id="{7C8E22BD-C784-8D72-2FE6-31CA2C174872}"/>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pic>
        <p:nvPicPr>
          <p:cNvPr id="6" name="Picture 5"/>
          <p:cNvPicPr>
            <a:picLocks noChangeAspect="1"/>
          </p:cNvPicPr>
          <p:nvPr/>
        </p:nvPicPr>
        <p:blipFill>
          <a:blip r:embed="rId8"/>
          <a:stretch>
            <a:fillRect/>
          </a:stretch>
        </p:blipFill>
        <p:spPr>
          <a:xfrm>
            <a:off x="438028" y="6043298"/>
            <a:ext cx="749457" cy="679453"/>
          </a:xfrm>
          <a:prstGeom prst="rect">
            <a:avLst/>
          </a:prstGeom>
          <a:ln>
            <a:solidFill>
              <a:schemeClr val="tx1"/>
            </a:solidFill>
          </a:ln>
        </p:spPr>
      </p:pic>
    </p:spTree>
    <p:extLst>
      <p:ext uri="{BB962C8B-B14F-4D97-AF65-F5344CB8AC3E}">
        <p14:creationId xmlns:p14="http://schemas.microsoft.com/office/powerpoint/2010/main" val="284772074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p:cNvGraphicFramePr>
            <a:graphicFrameLocks noGrp="1"/>
          </p:cNvGraphicFramePr>
          <p:nvPr>
            <p:extLst>
              <p:ext uri="{D42A27DB-BD31-4B8C-83A1-F6EECF244321}">
                <p14:modId xmlns:p14="http://schemas.microsoft.com/office/powerpoint/2010/main" val="2447235958"/>
              </p:ext>
            </p:extLst>
          </p:nvPr>
        </p:nvGraphicFramePr>
        <p:xfrm>
          <a:off x="319281" y="1473980"/>
          <a:ext cx="7024595" cy="4752332"/>
        </p:xfrm>
        <a:graphic>
          <a:graphicData uri="http://schemas.openxmlformats.org/drawingml/2006/table">
            <a:tbl>
              <a:tblPr firstRow="1" bandRow="1"/>
              <a:tblGrid>
                <a:gridCol w="1800840">
                  <a:extLst>
                    <a:ext uri="{9D8B030D-6E8A-4147-A177-3AD203B41FA5}">
                      <a16:colId xmlns:a16="http://schemas.microsoft.com/office/drawing/2014/main" val="20000"/>
                    </a:ext>
                  </a:extLst>
                </a:gridCol>
                <a:gridCol w="789606">
                  <a:extLst>
                    <a:ext uri="{9D8B030D-6E8A-4147-A177-3AD203B41FA5}">
                      <a16:colId xmlns:a16="http://schemas.microsoft.com/office/drawing/2014/main" val="20001"/>
                    </a:ext>
                  </a:extLst>
                </a:gridCol>
                <a:gridCol w="789606">
                  <a:extLst>
                    <a:ext uri="{9D8B030D-6E8A-4147-A177-3AD203B41FA5}">
                      <a16:colId xmlns:a16="http://schemas.microsoft.com/office/drawing/2014/main" val="897797578"/>
                    </a:ext>
                  </a:extLst>
                </a:gridCol>
                <a:gridCol w="789606">
                  <a:extLst>
                    <a:ext uri="{9D8B030D-6E8A-4147-A177-3AD203B41FA5}">
                      <a16:colId xmlns:a16="http://schemas.microsoft.com/office/drawing/2014/main" val="20002"/>
                    </a:ext>
                  </a:extLst>
                </a:gridCol>
                <a:gridCol w="789606">
                  <a:extLst>
                    <a:ext uri="{9D8B030D-6E8A-4147-A177-3AD203B41FA5}">
                      <a16:colId xmlns:a16="http://schemas.microsoft.com/office/drawing/2014/main" val="1319417201"/>
                    </a:ext>
                  </a:extLst>
                </a:gridCol>
                <a:gridCol w="2065331">
                  <a:extLst>
                    <a:ext uri="{9D8B030D-6E8A-4147-A177-3AD203B41FA5}">
                      <a16:colId xmlns:a16="http://schemas.microsoft.com/office/drawing/2014/main" val="20003"/>
                    </a:ext>
                  </a:extLst>
                </a:gridCol>
              </a:tblGrid>
              <a:tr h="329040">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rPr>
                        <a:t>Part Name</a:t>
                      </a:r>
                      <a:endParaRPr kumimoji="1" lang="ja-JP" altLang="en-US" sz="14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24MY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a:t>
                      </a:r>
                    </a:p>
                  </a:txBody>
                  <a:tcPr marL="18000" marR="18000" marT="18000" marB="0" anchor="ctr">
                    <a:lnL w="12700" cmpd="sng">
                      <a:solidFill>
                        <a:sysClr val="windowText" lastClr="000000"/>
                      </a:solid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28MY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6SAA-MMC</a:t>
                      </a: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a:latin typeface="Arial" pitchFamily="34" charset="0"/>
                          <a:ea typeface="Meiryo UI" pitchFamily="50" charset="-128"/>
                          <a:cs typeface="Arial" pitchFamily="34" charset="0"/>
                        </a:rPr>
                        <a:t>NOTE</a:t>
                      </a:r>
                      <a:endParaRPr kumimoji="1" lang="ja-JP" altLang="en-US" sz="1400" b="0" baseline="0">
                        <a:latin typeface="Arial" pitchFamily="34" charset="0"/>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29040">
                <a:tc vMerge="1">
                  <a:txBody>
                    <a:bodyPr/>
                    <a:lstStyle/>
                    <a:p>
                      <a:endParaRPr lang="en-US"/>
                    </a:p>
                  </a:txBody>
                  <a:tcPr/>
                </a:tc>
                <a:tc>
                  <a:txBody>
                    <a:bodyPr/>
                    <a:lstStyle/>
                    <a:p>
                      <a:pPr algn="ctr"/>
                      <a:r>
                        <a:rPr kumimoji="1" lang="en-US" altLang="ja-JP" sz="1400" b="0" baseline="0">
                          <a:latin typeface="Arial" pitchFamily="34" charset="0"/>
                          <a:ea typeface="Meiryo UI" pitchFamily="50" charset="-128"/>
                          <a:cs typeface="Arial" pitchFamily="34" charset="0"/>
                        </a:rPr>
                        <a:t>MT</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CVT</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MT</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CVT</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a:p>
                  </a:txBody>
                  <a:tcPr/>
                </a:tc>
                <a:extLst>
                  <a:ext uri="{0D108BD9-81ED-4DB2-BD59-A6C34878D82A}">
                    <a16:rowId xmlns:a16="http://schemas.microsoft.com/office/drawing/2014/main" val="36984636"/>
                  </a:ext>
                </a:extLst>
              </a:tr>
              <a:tr h="399212">
                <a:tc vMerge="1">
                  <a:txBody>
                    <a:bodyPr/>
                    <a:lstStyle/>
                    <a:p>
                      <a:endParaRPr kumimoji="1" lang="ja-JP" altLang="en-US" b="1" baseline="0">
                        <a:latin typeface="ＭＳ Ｐゴシック" pitchFamily="50" charset="-128"/>
                        <a:ea typeface="ＭＳ Ｐゴシック" pitchFamily="50" charset="-128"/>
                      </a:endParaRPr>
                    </a:p>
                  </a:txBody>
                  <a:tcPr/>
                </a:tc>
                <a:tc gridSpan="2">
                  <a:txBody>
                    <a:bodyPr/>
                    <a:lstStyle/>
                    <a:p>
                      <a:pPr algn="ctr"/>
                      <a:r>
                        <a:rPr kumimoji="1" lang="en-US" altLang="ja-JP" sz="1400" b="0" baseline="0">
                          <a:latin typeface="Arial" pitchFamily="34" charset="0"/>
                          <a:ea typeface="Meiryo UI" pitchFamily="50" charset="-128"/>
                          <a:cs typeface="Arial" pitchFamily="34" charset="0"/>
                        </a:rPr>
                        <a:t>ID / 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mpd="sng">
                      <a:solidFill>
                        <a:sysClr val="windowText" lastClr="000000"/>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en-US" altLang="ja-JP" sz="1400" b="0" baseline="0">
                          <a:latin typeface="Arial" pitchFamily="34" charset="0"/>
                          <a:ea typeface="Meiryo UI" pitchFamily="50" charset="-128"/>
                          <a:cs typeface="Arial" pitchFamily="34" charset="0"/>
                        </a:rPr>
                        <a:t>ID / 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b="1" baseline="0">
                        <a:latin typeface="ＭＳ Ｐゴシック" pitchFamily="50" charset="-128"/>
                        <a:ea typeface="ＭＳ Ｐゴシック" pitchFamily="50" charset="-128"/>
                      </a:endParaRPr>
                    </a:p>
                  </a:txBody>
                  <a:tcPr>
                    <a:solidFill>
                      <a:schemeClr val="bg1"/>
                    </a:solidFill>
                  </a:tcPr>
                </a:tc>
                <a:extLst>
                  <a:ext uri="{0D108BD9-81ED-4DB2-BD59-A6C34878D82A}">
                    <a16:rowId xmlns:a16="http://schemas.microsoft.com/office/drawing/2014/main" val="10001"/>
                  </a:ext>
                </a:extLst>
              </a:tr>
              <a:tr h="246194">
                <a:tc>
                  <a:txBody>
                    <a:bodyPr/>
                    <a:lstStyle/>
                    <a:p>
                      <a:r>
                        <a:rPr lang="en-US" altLang="ja-JP" sz="1200">
                          <a:solidFill>
                            <a:schemeClr val="tx1"/>
                          </a:solidFill>
                          <a:latin typeface="Arial" panose="020B0604020202020204" pitchFamily="34" charset="0"/>
                          <a:cs typeface="Arial" panose="020B0604020202020204" pitchFamily="34" charset="0"/>
                        </a:rPr>
                        <a:t>Assembly</a:t>
                      </a:r>
                      <a:r>
                        <a:rPr lang="en-US" altLang="ja-JP" sz="1200" baseline="0">
                          <a:solidFill>
                            <a:schemeClr val="tx1"/>
                          </a:solidFill>
                          <a:latin typeface="Arial" panose="020B0604020202020204" pitchFamily="34" charset="0"/>
                          <a:cs typeface="Arial" panose="020B0604020202020204" pitchFamily="34" charset="0"/>
                        </a:rPr>
                        <a:t> Engine Location</a:t>
                      </a:r>
                      <a:endParaRPr lang="ja-JP" altLang="en-US" sz="1200">
                        <a:solidFill>
                          <a:schemeClr val="tx1"/>
                        </a:solidFill>
                        <a:latin typeface="Arial" panose="020B0604020202020204" pitchFamily="34" charset="0"/>
                        <a:cs typeface="Arial" panose="020B0604020202020204" pitchFamily="34" charset="0"/>
                      </a:endParaRP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HCIL</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HCIL</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HCIL</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HCIL</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rPr>
                        <a:t>Cylinder Block Assy</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No change from 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rPr>
                        <a:t>Cylinder Head Assy</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No change from 6SAA</a:t>
                      </a:r>
                      <a:endPar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rPr>
                        <a:t>Crankshaft</a:t>
                      </a:r>
                      <a:endParaRPr kumimoji="0"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endParaRP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5"/>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Conrod Assy</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solidFill>
                      <a:schemeClr val="bg1"/>
                    </a:solidFill>
                  </a:tcPr>
                </a:tc>
                <a:extLst>
                  <a:ext uri="{0D108BD9-81ED-4DB2-BD59-A6C34878D82A}">
                    <a16:rowId xmlns:a16="http://schemas.microsoft.com/office/drawing/2014/main" val="10006"/>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Piston</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7"/>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Piston Ring</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8"/>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Camshaft </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9"/>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Oil pump</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0"/>
                  </a:ext>
                </a:extLst>
              </a:tr>
              <a:tr h="1833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Water pump</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sp>
        <p:nvSpPr>
          <p:cNvPr id="11" name="Text Box 2"/>
          <p:cNvSpPr txBox="1">
            <a:spLocks noChangeArrowheads="1"/>
          </p:cNvSpPr>
          <p:nvPr/>
        </p:nvSpPr>
        <p:spPr bwMode="auto">
          <a:xfrm>
            <a:off x="250837" y="44451"/>
            <a:ext cx="8893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12.</a:t>
            </a:r>
            <a:r>
              <a:rPr kumimoji="1" lang="ja-JP" altLang="en-US"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ENG Spec Comparison from Base model (1/5)</a:t>
            </a:r>
            <a:endParaRPr kumimoji="1" lang="en-US" altLang="ja-JP" sz="1200" b="0" i="0" u="none" strike="noStrike" kern="1200" cap="none" spc="0" normalizeH="0" baseline="0" noProof="0">
              <a:ln>
                <a:noFill/>
              </a:ln>
              <a:solidFill>
                <a:srgbClr val="FFFFFF"/>
              </a:solidFill>
              <a:effectLst/>
              <a:uLnTx/>
              <a:uFillTx/>
              <a:latin typeface="Arial Narrow" pitchFamily="34" charset="0"/>
              <a:ea typeface="HGPｺﾞｼｯｸE" pitchFamily="50" charset="-128"/>
              <a:cs typeface="Arial" pitchFamily="34" charset="0"/>
            </a:endParaRPr>
          </a:p>
        </p:txBody>
      </p:sp>
      <p:sp>
        <p:nvSpPr>
          <p:cNvPr id="4" name="Text Box 2"/>
          <p:cNvSpPr txBox="1">
            <a:spLocks noChangeArrowheads="1"/>
          </p:cNvSpPr>
          <p:nvPr/>
        </p:nvSpPr>
        <p:spPr bwMode="auto">
          <a:xfrm>
            <a:off x="107510" y="620716"/>
            <a:ext cx="89289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marR="0" lvl="0" indent="-180975"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ＭＳ Ｐゴシック"/>
                <a:ea typeface="ＭＳ Ｐゴシック"/>
                <a:cs typeface="+mn-cs"/>
              </a:rPr>
              <a:t>Honda </a:t>
            </a:r>
            <a:r>
              <a:rPr kumimoji="1" lang="ja-JP" altLang="en-US" sz="1200" b="0" i="0" u="none" strike="noStrike" kern="1200" cap="none" spc="0" normalizeH="0" baseline="0" noProof="0">
                <a:ln>
                  <a:noFill/>
                </a:ln>
                <a:solidFill>
                  <a:srgbClr val="000000"/>
                </a:solidFill>
                <a:effectLst/>
                <a:uLnTx/>
                <a:uFillTx/>
                <a:latin typeface="ＭＳ Ｐゴシック"/>
                <a:ea typeface="ＭＳ Ｐゴシック"/>
                <a:cs typeface="+mn-cs"/>
              </a:rPr>
              <a:t>内製適用部品リストの目的：適用部品の情報共有</a:t>
            </a:r>
          </a:p>
        </p:txBody>
      </p:sp>
      <p:sp>
        <p:nvSpPr>
          <p:cNvPr id="5" name="Text Box 2"/>
          <p:cNvSpPr txBox="1">
            <a:spLocks noChangeArrowheads="1"/>
          </p:cNvSpPr>
          <p:nvPr/>
        </p:nvSpPr>
        <p:spPr bwMode="auto">
          <a:xfrm>
            <a:off x="97454" y="836712"/>
            <a:ext cx="89289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marR="0" lvl="0" indent="-180975" algn="ctr" defTabSz="914400" rtl="0" eaLnBrk="1" fontAlgn="base" latinLnBrk="0" hangingPunct="1">
              <a:lnSpc>
                <a:spcPct val="100000"/>
              </a:lnSpc>
              <a:spcBef>
                <a:spcPct val="0"/>
              </a:spcBef>
              <a:spcAft>
                <a:spcPct val="0"/>
              </a:spcAft>
              <a:buClrTx/>
              <a:buSzTx/>
              <a:buFontTx/>
              <a:buNone/>
              <a:tabLst>
                <a:tab pos="85725" algn="l"/>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Purpose of Honda production list : to share the ENG structure information. </a:t>
            </a:r>
            <a:endParaRPr kumimoji="1" lang="ja-JP" altLang="en-US" sz="12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pic>
        <p:nvPicPr>
          <p:cNvPr id="9" name="図 8"/>
          <p:cNvPicPr>
            <a:picLocks noChangeAspect="1"/>
          </p:cNvPicPr>
          <p:nvPr/>
        </p:nvPicPr>
        <p:blipFill>
          <a:blip r:embed="rId2"/>
          <a:stretch>
            <a:fillRect/>
          </a:stretch>
        </p:blipFill>
        <p:spPr>
          <a:xfrm>
            <a:off x="8050495" y="5846874"/>
            <a:ext cx="1093505" cy="702397"/>
          </a:xfrm>
          <a:prstGeom prst="rect">
            <a:avLst/>
          </a:prstGeom>
        </p:spPr>
      </p:pic>
      <p:sp>
        <p:nvSpPr>
          <p:cNvPr id="2" name="TextBox 1"/>
          <p:cNvSpPr txBox="1"/>
          <p:nvPr/>
        </p:nvSpPr>
        <p:spPr>
          <a:xfrm>
            <a:off x="319281" y="1012315"/>
            <a:ext cx="3203121"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sz="2400" b="0" i="0" u="sng" strike="noStrike" kern="1200" cap="none" spc="0" normalizeH="0" baseline="0" noProof="0">
                <a:ln>
                  <a:noFill/>
                </a:ln>
                <a:solidFill>
                  <a:srgbClr val="000000"/>
                </a:solidFill>
                <a:effectLst/>
                <a:uLnTx/>
                <a:uFillTx/>
                <a:latin typeface="Times New Roman" pitchFamily="18" charset="0"/>
                <a:ea typeface="ＭＳ Ｐゴシック" charset="-128"/>
                <a:cs typeface="+mn-cs"/>
              </a:rPr>
              <a:t>ENGINE STRUCTURE</a:t>
            </a:r>
          </a:p>
        </p:txBody>
      </p:sp>
      <p:sp>
        <p:nvSpPr>
          <p:cNvPr id="3" name="テキスト ボックス 2">
            <a:extLst>
              <a:ext uri="{FF2B5EF4-FFF2-40B4-BE49-F238E27FC236}">
                <a16:creationId xmlns:a16="http://schemas.microsoft.com/office/drawing/2014/main" id="{78F6CE65-05BF-DEFE-E643-0E31A9F60EF1}"/>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3073589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p:cNvGraphicFramePr>
            <a:graphicFrameLocks noGrp="1"/>
          </p:cNvGraphicFramePr>
          <p:nvPr>
            <p:extLst>
              <p:ext uri="{D42A27DB-BD31-4B8C-83A1-F6EECF244321}">
                <p14:modId xmlns:p14="http://schemas.microsoft.com/office/powerpoint/2010/main" val="183140929"/>
              </p:ext>
            </p:extLst>
          </p:nvPr>
        </p:nvGraphicFramePr>
        <p:xfrm>
          <a:off x="334284" y="1282628"/>
          <a:ext cx="8543775" cy="4664824"/>
        </p:xfrm>
        <a:graphic>
          <a:graphicData uri="http://schemas.openxmlformats.org/drawingml/2006/table">
            <a:tbl>
              <a:tblPr firstRow="1" bandRow="1"/>
              <a:tblGrid>
                <a:gridCol w="2548949">
                  <a:extLst>
                    <a:ext uri="{9D8B030D-6E8A-4147-A177-3AD203B41FA5}">
                      <a16:colId xmlns:a16="http://schemas.microsoft.com/office/drawing/2014/main" val="20000"/>
                    </a:ext>
                  </a:extLst>
                </a:gridCol>
                <a:gridCol w="558813">
                  <a:extLst>
                    <a:ext uri="{9D8B030D-6E8A-4147-A177-3AD203B41FA5}">
                      <a16:colId xmlns:a16="http://schemas.microsoft.com/office/drawing/2014/main" val="20001"/>
                    </a:ext>
                  </a:extLst>
                </a:gridCol>
                <a:gridCol w="558813">
                  <a:extLst>
                    <a:ext uri="{9D8B030D-6E8A-4147-A177-3AD203B41FA5}">
                      <a16:colId xmlns:a16="http://schemas.microsoft.com/office/drawing/2014/main" val="3854738325"/>
                    </a:ext>
                  </a:extLst>
                </a:gridCol>
                <a:gridCol w="558813">
                  <a:extLst>
                    <a:ext uri="{9D8B030D-6E8A-4147-A177-3AD203B41FA5}">
                      <a16:colId xmlns:a16="http://schemas.microsoft.com/office/drawing/2014/main" val="526964224"/>
                    </a:ext>
                  </a:extLst>
                </a:gridCol>
                <a:gridCol w="558813">
                  <a:extLst>
                    <a:ext uri="{9D8B030D-6E8A-4147-A177-3AD203B41FA5}">
                      <a16:colId xmlns:a16="http://schemas.microsoft.com/office/drawing/2014/main" val="912859487"/>
                    </a:ext>
                  </a:extLst>
                </a:gridCol>
                <a:gridCol w="484296">
                  <a:extLst>
                    <a:ext uri="{9D8B030D-6E8A-4147-A177-3AD203B41FA5}">
                      <a16:colId xmlns:a16="http://schemas.microsoft.com/office/drawing/2014/main" val="20002"/>
                    </a:ext>
                  </a:extLst>
                </a:gridCol>
                <a:gridCol w="484296">
                  <a:extLst>
                    <a:ext uri="{9D8B030D-6E8A-4147-A177-3AD203B41FA5}">
                      <a16:colId xmlns:a16="http://schemas.microsoft.com/office/drawing/2014/main" val="3772811072"/>
                    </a:ext>
                  </a:extLst>
                </a:gridCol>
                <a:gridCol w="484296">
                  <a:extLst>
                    <a:ext uri="{9D8B030D-6E8A-4147-A177-3AD203B41FA5}">
                      <a16:colId xmlns:a16="http://schemas.microsoft.com/office/drawing/2014/main" val="4241867710"/>
                    </a:ext>
                  </a:extLst>
                </a:gridCol>
                <a:gridCol w="484296">
                  <a:extLst>
                    <a:ext uri="{9D8B030D-6E8A-4147-A177-3AD203B41FA5}">
                      <a16:colId xmlns:a16="http://schemas.microsoft.com/office/drawing/2014/main" val="1029426512"/>
                    </a:ext>
                  </a:extLst>
                </a:gridCol>
                <a:gridCol w="1822390">
                  <a:extLst>
                    <a:ext uri="{9D8B030D-6E8A-4147-A177-3AD203B41FA5}">
                      <a16:colId xmlns:a16="http://schemas.microsoft.com/office/drawing/2014/main" val="20003"/>
                    </a:ext>
                  </a:extLst>
                </a:gridCol>
              </a:tblGrid>
              <a:tr h="215135">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rPr>
                        <a:t>Part Name</a:t>
                      </a:r>
                      <a:endParaRPr kumimoji="1" lang="ja-JP" altLang="en-US" sz="14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24MY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a:t>
                      </a:r>
                    </a:p>
                  </a:txBody>
                  <a:tcPr marL="18000" marR="18000" marT="18000" marB="0" anchor="ctr">
                    <a:lnL w="12700" cmpd="sng">
                      <a:solidFill>
                        <a:sysClr val="windowText" lastClr="000000"/>
                      </a:solid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4">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28MY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6SAA-MMC</a:t>
                      </a: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a:latin typeface="Arial" pitchFamily="34" charset="0"/>
                          <a:ea typeface="Meiryo UI" pitchFamily="50" charset="-128"/>
                          <a:cs typeface="Arial" pitchFamily="34" charset="0"/>
                        </a:rPr>
                        <a:t>NOTE</a:t>
                      </a:r>
                      <a:endParaRPr kumimoji="1" lang="ja-JP" altLang="en-US" sz="1400" b="0" baseline="0">
                        <a:latin typeface="Arial" pitchFamily="34" charset="0"/>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99212">
                <a:tc vMerge="1">
                  <a:txBody>
                    <a:bodyPr/>
                    <a:lstStyle/>
                    <a:p>
                      <a:endParaRPr lang="en-US"/>
                    </a:p>
                  </a:txBody>
                  <a:tcPr/>
                </a:tc>
                <a:tc gridSpan="2">
                  <a:txBody>
                    <a:bodyPr/>
                    <a:lstStyle/>
                    <a:p>
                      <a:pPr algn="ctr"/>
                      <a:r>
                        <a:rPr kumimoji="1" lang="en-US" altLang="ja-JP" sz="1400" b="0" baseline="0">
                          <a:latin typeface="Arial" pitchFamily="34" charset="0"/>
                          <a:ea typeface="Meiryo UI" pitchFamily="50" charset="-128"/>
                          <a:cs typeface="Arial" pitchFamily="34" charset="0"/>
                        </a:rPr>
                        <a:t>MT</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CVT</a:t>
                      </a: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algn="ctr"/>
                      <a:r>
                        <a:rPr kumimoji="1" lang="en-US" altLang="ja-JP" sz="1400" b="0" baseline="0">
                          <a:latin typeface="Arial" pitchFamily="34" charset="0"/>
                          <a:ea typeface="Meiryo UI" pitchFamily="50" charset="-128"/>
                          <a:cs typeface="Arial" pitchFamily="34" charset="0"/>
                        </a:rPr>
                        <a:t>MT</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CVT</a:t>
                      </a: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468286005"/>
                  </a:ext>
                </a:extLst>
              </a:tr>
              <a:tr h="399212">
                <a:tc vMerge="1">
                  <a:txBody>
                    <a:bodyPr/>
                    <a:lstStyle/>
                    <a:p>
                      <a:endParaRPr kumimoji="1" lang="ja-JP" altLang="en-US" b="1" baseline="0">
                        <a:latin typeface="ＭＳ Ｐゴシック" pitchFamily="50" charset="-128"/>
                        <a:ea typeface="ＭＳ Ｐゴシック" pitchFamily="50" charset="-128"/>
                      </a:endParaRPr>
                    </a:p>
                  </a:txBody>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mpd="sng">
                      <a:solidFill>
                        <a:sysClr val="windowText" lastClr="000000"/>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ID</a:t>
                      </a: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SA</a:t>
                      </a: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ID</a:t>
                      </a: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SA</a:t>
                      </a: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b="1" baseline="0">
                        <a:latin typeface="ＭＳ Ｐゴシック" pitchFamily="50" charset="-128"/>
                        <a:ea typeface="ＭＳ Ｐゴシック" pitchFamily="50" charset="-128"/>
                      </a:endParaRPr>
                    </a:p>
                  </a:txBody>
                  <a:tcPr>
                    <a:solidFill>
                      <a:schemeClr val="bg1"/>
                    </a:solidFill>
                  </a:tcPr>
                </a:tc>
                <a:extLst>
                  <a:ext uri="{0D108BD9-81ED-4DB2-BD59-A6C34878D82A}">
                    <a16:rowId xmlns:a16="http://schemas.microsoft.com/office/drawing/2014/main" val="10001"/>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Air Cleaner Case </a:t>
                      </a:r>
                      <a:r>
                        <a:rPr kumimoji="1" lang="en-US" altLang="ja-JP" sz="1200" b="0" i="0" u="none" strike="noStrike" cap="none" normalizeH="0" baseline="0" err="1">
                          <a:ln>
                            <a:noFill/>
                          </a:ln>
                          <a:solidFill>
                            <a:schemeClr val="tx1"/>
                          </a:solidFill>
                          <a:effectLst/>
                          <a:latin typeface="Arial" panose="020B0604020202020204" pitchFamily="34" charset="0"/>
                          <a:ea typeface="HGPSoeiKakugothicUB" pitchFamily="50" charset="-128"/>
                          <a:cs typeface="Arial" panose="020B0604020202020204" pitchFamily="34" charset="0"/>
                        </a:rPr>
                        <a:t>Assy</a:t>
                      </a:r>
                      <a:endPar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endParaRP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No change from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a:latin typeface="Arial" panose="020B0604020202020204" pitchFamily="34" charset="0"/>
                          <a:cs typeface="Arial" panose="020B0604020202020204" pitchFamily="34" charset="0"/>
                        </a:rPr>
                        <a:t>Intake</a:t>
                      </a:r>
                      <a:r>
                        <a:rPr lang="ja-JP" altLang="en-US" sz="1200" baseline="0">
                          <a:latin typeface="Arial" panose="020B0604020202020204" pitchFamily="34" charset="0"/>
                          <a:cs typeface="Arial" panose="020B0604020202020204" pitchFamily="34" charset="0"/>
                        </a:rPr>
                        <a:t> </a:t>
                      </a:r>
                      <a:r>
                        <a:rPr lang="en-US" altLang="ja-JP" sz="1200" baseline="0">
                          <a:latin typeface="Arial" panose="020B0604020202020204" pitchFamily="34" charset="0"/>
                          <a:cs typeface="Arial" panose="020B0604020202020204" pitchFamily="34" charset="0"/>
                        </a:rPr>
                        <a:t>Tube</a:t>
                      </a:r>
                      <a:endParaRPr lang="en-US" altLang="ja-JP" sz="1200">
                        <a:latin typeface="Arial" panose="020B0604020202020204" pitchFamily="34" charset="0"/>
                        <a:cs typeface="Arial" panose="020B0604020202020204" pitchFamily="34" charset="0"/>
                      </a:endParaRP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No change from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a:latin typeface="Arial" panose="020B0604020202020204" pitchFamily="34" charset="0"/>
                          <a:cs typeface="Arial" panose="020B0604020202020204" pitchFamily="34" charset="0"/>
                        </a:rPr>
                        <a:t>Intake Duct</a:t>
                      </a:r>
                      <a:endParaRPr lang="ja-JP" altLang="en-US" sz="1200">
                        <a:latin typeface="Arial" panose="020B0604020202020204" pitchFamily="34" charset="0"/>
                        <a:cs typeface="Arial" panose="020B0604020202020204" pitchFamily="34" charset="0"/>
                      </a:endParaRP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No change from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a:latin typeface="Arial" panose="020B0604020202020204" pitchFamily="34" charset="0"/>
                          <a:cs typeface="Arial" panose="020B0604020202020204" pitchFamily="34" charset="0"/>
                        </a:rPr>
                        <a:t>CC Converter </a:t>
                      </a:r>
                      <a:r>
                        <a:rPr lang="en-US" altLang="ja-JP" sz="1200" err="1">
                          <a:latin typeface="Arial" panose="020B0604020202020204" pitchFamily="34" charset="0"/>
                          <a:cs typeface="Arial" panose="020B0604020202020204" pitchFamily="34" charset="0"/>
                        </a:rPr>
                        <a:t>Assy</a:t>
                      </a:r>
                      <a:endParaRPr lang="ja-JP" altLang="en-US" sz="1200">
                        <a:latin typeface="Arial" panose="020B0604020202020204" pitchFamily="34" charset="0"/>
                        <a:cs typeface="Arial" panose="020B0604020202020204" pitchFamily="34" charset="0"/>
                      </a:endParaRP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B</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B</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B</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B</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No change from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1833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UF Converter </a:t>
                      </a:r>
                      <a:r>
                        <a:rPr kumimoji="1" lang="en-US" altLang="ja-JP" sz="1200" b="0" i="0" u="none" strike="noStrike" cap="none" normalizeH="0" baseline="0" err="1">
                          <a:ln>
                            <a:noFill/>
                          </a:ln>
                          <a:solidFill>
                            <a:schemeClr val="tx1"/>
                          </a:solidFill>
                          <a:effectLst/>
                          <a:latin typeface="Arial" panose="020B0604020202020204" pitchFamily="34" charset="0"/>
                          <a:ea typeface="HGPSoeiKakugothicUB" pitchFamily="50" charset="-128"/>
                          <a:cs typeface="Arial" panose="020B0604020202020204" pitchFamily="34" charset="0"/>
                        </a:rPr>
                        <a:t>Assy</a:t>
                      </a:r>
                      <a:endPar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endParaRP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B</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B</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B</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B</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No change from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833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Intake Manifold</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No change from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6SAA</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1" name="Text Box 2"/>
          <p:cNvSpPr txBox="1">
            <a:spLocks noChangeArrowheads="1"/>
          </p:cNvSpPr>
          <p:nvPr/>
        </p:nvSpPr>
        <p:spPr bwMode="auto">
          <a:xfrm>
            <a:off x="250837" y="44451"/>
            <a:ext cx="8893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12.</a:t>
            </a:r>
            <a:r>
              <a:rPr kumimoji="1" lang="ja-JP" altLang="en-US"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ENG Spec Comparison from Base model (2/5)</a:t>
            </a:r>
            <a:endParaRPr kumimoji="1" lang="en-US" altLang="ja-JP" sz="1200" b="0" i="0" u="none" strike="noStrike" kern="1200" cap="none" spc="0" normalizeH="0" baseline="0" noProof="0">
              <a:ln>
                <a:noFill/>
              </a:ln>
              <a:solidFill>
                <a:srgbClr val="FFFFFF"/>
              </a:solidFill>
              <a:effectLst/>
              <a:uLnTx/>
              <a:uFillTx/>
              <a:latin typeface="Arial Narrow" pitchFamily="34" charset="0"/>
              <a:ea typeface="HGPｺﾞｼｯｸE" pitchFamily="50" charset="-128"/>
              <a:cs typeface="Arial" pitchFamily="34" charset="0"/>
            </a:endParaRPr>
          </a:p>
        </p:txBody>
      </p:sp>
      <p:sp>
        <p:nvSpPr>
          <p:cNvPr id="7" name="TextBox 6"/>
          <p:cNvSpPr txBox="1"/>
          <p:nvPr/>
        </p:nvSpPr>
        <p:spPr>
          <a:xfrm>
            <a:off x="193961" y="820963"/>
            <a:ext cx="4052135"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sz="2400" b="0" i="0" u="sng" strike="noStrike" kern="1200" cap="none" spc="0" normalizeH="0" baseline="0" noProof="0">
                <a:ln>
                  <a:noFill/>
                </a:ln>
                <a:solidFill>
                  <a:srgbClr val="000000"/>
                </a:solidFill>
                <a:effectLst/>
                <a:uLnTx/>
                <a:uFillTx/>
                <a:latin typeface="Times New Roman" pitchFamily="18" charset="0"/>
                <a:ea typeface="ＭＳ Ｐゴシック" charset="-128"/>
                <a:cs typeface="+mn-cs"/>
              </a:rPr>
              <a:t>ENGINE INTAKE/EXHAUST</a:t>
            </a:r>
          </a:p>
        </p:txBody>
      </p:sp>
      <p:sp>
        <p:nvSpPr>
          <p:cNvPr id="2" name="テキスト ボックス 1">
            <a:extLst>
              <a:ext uri="{FF2B5EF4-FFF2-40B4-BE49-F238E27FC236}">
                <a16:creationId xmlns:a16="http://schemas.microsoft.com/office/drawing/2014/main" id="{EDFDC29D-560C-E360-05E4-1856B007A8A6}"/>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4024428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p:cNvGraphicFramePr>
            <a:graphicFrameLocks noGrp="1"/>
          </p:cNvGraphicFramePr>
          <p:nvPr>
            <p:extLst>
              <p:ext uri="{D42A27DB-BD31-4B8C-83A1-F6EECF244321}">
                <p14:modId xmlns:p14="http://schemas.microsoft.com/office/powerpoint/2010/main" val="1578658608"/>
              </p:ext>
            </p:extLst>
          </p:nvPr>
        </p:nvGraphicFramePr>
        <p:xfrm>
          <a:off x="263612" y="1218576"/>
          <a:ext cx="6571172" cy="2759478"/>
        </p:xfrm>
        <a:graphic>
          <a:graphicData uri="http://schemas.openxmlformats.org/drawingml/2006/table">
            <a:tbl>
              <a:tblPr firstRow="1" bandRow="1"/>
              <a:tblGrid>
                <a:gridCol w="1184977">
                  <a:extLst>
                    <a:ext uri="{9D8B030D-6E8A-4147-A177-3AD203B41FA5}">
                      <a16:colId xmlns:a16="http://schemas.microsoft.com/office/drawing/2014/main" val="20000"/>
                    </a:ext>
                  </a:extLst>
                </a:gridCol>
                <a:gridCol w="469724">
                  <a:extLst>
                    <a:ext uri="{9D8B030D-6E8A-4147-A177-3AD203B41FA5}">
                      <a16:colId xmlns:a16="http://schemas.microsoft.com/office/drawing/2014/main" val="20001"/>
                    </a:ext>
                  </a:extLst>
                </a:gridCol>
                <a:gridCol w="469724">
                  <a:extLst>
                    <a:ext uri="{9D8B030D-6E8A-4147-A177-3AD203B41FA5}">
                      <a16:colId xmlns:a16="http://schemas.microsoft.com/office/drawing/2014/main" val="931589680"/>
                    </a:ext>
                  </a:extLst>
                </a:gridCol>
                <a:gridCol w="469724">
                  <a:extLst>
                    <a:ext uri="{9D8B030D-6E8A-4147-A177-3AD203B41FA5}">
                      <a16:colId xmlns:a16="http://schemas.microsoft.com/office/drawing/2014/main" val="1147464307"/>
                    </a:ext>
                  </a:extLst>
                </a:gridCol>
                <a:gridCol w="469724">
                  <a:extLst>
                    <a:ext uri="{9D8B030D-6E8A-4147-A177-3AD203B41FA5}">
                      <a16:colId xmlns:a16="http://schemas.microsoft.com/office/drawing/2014/main" val="3874399758"/>
                    </a:ext>
                  </a:extLst>
                </a:gridCol>
                <a:gridCol w="469724">
                  <a:extLst>
                    <a:ext uri="{9D8B030D-6E8A-4147-A177-3AD203B41FA5}">
                      <a16:colId xmlns:a16="http://schemas.microsoft.com/office/drawing/2014/main" val="20002"/>
                    </a:ext>
                  </a:extLst>
                </a:gridCol>
                <a:gridCol w="469724">
                  <a:extLst>
                    <a:ext uri="{9D8B030D-6E8A-4147-A177-3AD203B41FA5}">
                      <a16:colId xmlns:a16="http://schemas.microsoft.com/office/drawing/2014/main" val="2227101587"/>
                    </a:ext>
                  </a:extLst>
                </a:gridCol>
                <a:gridCol w="469724">
                  <a:extLst>
                    <a:ext uri="{9D8B030D-6E8A-4147-A177-3AD203B41FA5}">
                      <a16:colId xmlns:a16="http://schemas.microsoft.com/office/drawing/2014/main" val="2846113029"/>
                    </a:ext>
                  </a:extLst>
                </a:gridCol>
                <a:gridCol w="469724">
                  <a:extLst>
                    <a:ext uri="{9D8B030D-6E8A-4147-A177-3AD203B41FA5}">
                      <a16:colId xmlns:a16="http://schemas.microsoft.com/office/drawing/2014/main" val="2005052112"/>
                    </a:ext>
                  </a:extLst>
                </a:gridCol>
                <a:gridCol w="1628403">
                  <a:extLst>
                    <a:ext uri="{9D8B030D-6E8A-4147-A177-3AD203B41FA5}">
                      <a16:colId xmlns:a16="http://schemas.microsoft.com/office/drawing/2014/main" val="20003"/>
                    </a:ext>
                  </a:extLst>
                </a:gridCol>
              </a:tblGrid>
              <a:tr h="493560">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1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rPr>
                        <a:t>Part Name</a:t>
                      </a:r>
                      <a:endParaRPr kumimoji="1" lang="ja-JP" altLang="en-US" sz="11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endParaRPr>
                    </a:p>
                  </a:txBody>
                  <a:tcPr marL="13500" marR="13500" marT="13500" marB="135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24MY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6SAA</a:t>
                      </a:r>
                    </a:p>
                  </a:txBody>
                  <a:tcPr marL="13500" marR="13500" marT="13500" marB="0" anchor="ctr">
                    <a:lnL w="12700" cmpd="sng">
                      <a:solidFill>
                        <a:sysClr val="windowText" lastClr="000000"/>
                      </a:solid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28MY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6SAA-MMC</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100" b="0" baseline="0">
                          <a:latin typeface="Arial" pitchFamily="34" charset="0"/>
                          <a:ea typeface="Meiryo UI" pitchFamily="50" charset="-128"/>
                          <a:cs typeface="Arial" pitchFamily="34" charset="0"/>
                        </a:rPr>
                        <a:t>NOTE</a:t>
                      </a:r>
                      <a:endParaRPr kumimoji="1" lang="ja-JP" altLang="en-US" sz="1100" b="0" baseline="0">
                        <a:latin typeface="Arial" pitchFamily="34" charset="0"/>
                        <a:ea typeface="Meiryo UI" pitchFamily="50" charset="-128"/>
                        <a:cs typeface="Arial" pitchFamily="34" charset="0"/>
                      </a:endParaRPr>
                    </a:p>
                  </a:txBody>
                  <a:tcPr marL="13500" marR="13500" marT="13500" marB="135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299409">
                <a:tc vMerge="1">
                  <a:txBody>
                    <a:bodyPr/>
                    <a:lstStyle/>
                    <a:p>
                      <a:endParaRPr lang="en-US"/>
                    </a:p>
                  </a:txBody>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MT</a:t>
                      </a:r>
                    </a:p>
                  </a:txBody>
                  <a:tcPr marL="13500" marR="13500" marT="13500" marB="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CVT</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MT</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CVT</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a:p>
                  </a:txBody>
                  <a:tcPr/>
                </a:tc>
                <a:extLst>
                  <a:ext uri="{0D108BD9-81ED-4DB2-BD59-A6C34878D82A}">
                    <a16:rowId xmlns:a16="http://schemas.microsoft.com/office/drawing/2014/main" val="494128055"/>
                  </a:ext>
                </a:extLst>
              </a:tr>
              <a:tr h="299409">
                <a:tc vMerge="1">
                  <a:txBody>
                    <a:bodyPr/>
                    <a:lstStyle/>
                    <a:p>
                      <a:endParaRPr kumimoji="1" lang="ja-JP" altLang="en-US" b="1" baseline="0">
                        <a:latin typeface="ＭＳ Ｐゴシック" pitchFamily="50" charset="-128"/>
                        <a:ea typeface="ＭＳ Ｐゴシック" pitchFamily="50" charset="-128"/>
                      </a:endParaRPr>
                    </a:p>
                  </a:txBody>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mpd="sng">
                      <a:solidFill>
                        <a:sysClr val="windowText" lastClr="000000"/>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b="1" baseline="0">
                        <a:latin typeface="ＭＳ Ｐゴシック" pitchFamily="50" charset="-128"/>
                        <a:ea typeface="ＭＳ Ｐゴシック" pitchFamily="50" charset="-128"/>
                      </a:endParaRPr>
                    </a:p>
                  </a:txBody>
                  <a:tcPr>
                    <a:solidFill>
                      <a:schemeClr val="bg1"/>
                    </a:solidFill>
                  </a:tcPr>
                </a:tc>
                <a:extLst>
                  <a:ext uri="{0D108BD9-81ED-4DB2-BD59-A6C34878D82A}">
                    <a16:rowId xmlns:a16="http://schemas.microsoft.com/office/drawing/2014/main" val="10001"/>
                  </a:ext>
                </a:extLst>
              </a:tr>
              <a:tr h="241020">
                <a:tc>
                  <a:txBody>
                    <a:bodyPr/>
                    <a:lstStyle/>
                    <a:p>
                      <a:r>
                        <a:rPr kumimoji="1" lang="en-US" altLang="ja-JP" sz="900" b="0" baseline="0">
                          <a:solidFill>
                            <a:schemeClr val="tx1"/>
                          </a:solidFill>
                          <a:latin typeface="Arial" pitchFamily="34" charset="0"/>
                          <a:ea typeface="Meiryo UI" pitchFamily="50" charset="-128"/>
                          <a:cs typeface="Arial" pitchFamily="34" charset="0"/>
                        </a:rPr>
                        <a:t>Radiator fan motor</a:t>
                      </a:r>
                      <a:endParaRPr kumimoji="1" lang="ja-JP" altLang="en-US" sz="900" b="0" baseline="0">
                        <a:solidFill>
                          <a:schemeClr val="tx1"/>
                        </a:solidFill>
                        <a:latin typeface="Arial" pitchFamily="34" charset="0"/>
                        <a:ea typeface="Meiryo UI" pitchFamily="50" charset="-128"/>
                        <a:cs typeface="Arial" pitchFamily="34" charset="0"/>
                      </a:endParaRPr>
                    </a:p>
                  </a:txBody>
                  <a:tcPr marL="67500" marR="67500" marT="40500" marB="405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endParaRPr kumimoji="1" lang="en-US" altLang="ja-JP" sz="1100" b="0" baseline="0">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01040">
                <a:tc>
                  <a:txBody>
                    <a:bodyPr/>
                    <a:lstStyle/>
                    <a:p>
                      <a:r>
                        <a:rPr kumimoji="1" lang="en-US" altLang="ja-JP" sz="900" b="0" baseline="0">
                          <a:solidFill>
                            <a:schemeClr val="tx1"/>
                          </a:solidFill>
                          <a:latin typeface="Arial" pitchFamily="34" charset="0"/>
                          <a:ea typeface="Meiryo UI" pitchFamily="50" charset="-128"/>
                          <a:cs typeface="Arial" pitchFamily="34" charset="0"/>
                        </a:rPr>
                        <a:t>Alternator</a:t>
                      </a:r>
                      <a:endParaRPr kumimoji="1" lang="ja-JP" altLang="en-US" sz="900" b="0" baseline="0">
                        <a:solidFill>
                          <a:schemeClr val="tx1"/>
                        </a:solidFill>
                        <a:latin typeface="Arial" pitchFamily="34" charset="0"/>
                        <a:ea typeface="Meiryo UI" pitchFamily="50" charset="-128"/>
                        <a:cs typeface="Arial" pitchFamily="34" charset="0"/>
                      </a:endParaRPr>
                    </a:p>
                  </a:txBody>
                  <a:tcPr marL="67500" marR="67500" marT="40500" marB="405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endParaRPr kumimoji="1" lang="en-US" altLang="ja-JP"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41020">
                <a:tc>
                  <a:txBody>
                    <a:bodyPr/>
                    <a:lstStyle/>
                    <a:p>
                      <a:r>
                        <a:rPr kumimoji="1" lang="en-US" altLang="ja-JP" sz="900" b="0" baseline="0">
                          <a:solidFill>
                            <a:schemeClr val="tx1"/>
                          </a:solidFill>
                          <a:latin typeface="Arial" pitchFamily="34" charset="0"/>
                          <a:ea typeface="Meiryo UI" pitchFamily="50" charset="-128"/>
                          <a:cs typeface="Arial" pitchFamily="34" charset="0"/>
                        </a:rPr>
                        <a:t>Starter motor</a:t>
                      </a:r>
                      <a:endParaRPr kumimoji="1" lang="ja-JP" altLang="en-US" sz="900" b="0" baseline="0">
                        <a:solidFill>
                          <a:schemeClr val="tx1"/>
                        </a:solidFill>
                        <a:latin typeface="Arial" pitchFamily="34" charset="0"/>
                        <a:ea typeface="Meiryo UI" pitchFamily="50" charset="-128"/>
                        <a:cs typeface="Arial" pitchFamily="34" charset="0"/>
                      </a:endParaRPr>
                    </a:p>
                  </a:txBody>
                  <a:tcPr marL="67500" marR="67500" marT="40500" marB="405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endParaRPr kumimoji="1" lang="en-US" altLang="ja-JP" sz="1100" b="0" baseline="0">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41020">
                <a:tc>
                  <a:txBody>
                    <a:bodyPr/>
                    <a:lstStyle/>
                    <a:p>
                      <a:r>
                        <a:rPr kumimoji="1" lang="en-US" altLang="ja-JP" sz="900" b="0" baseline="0">
                          <a:solidFill>
                            <a:schemeClr val="tx1"/>
                          </a:solidFill>
                          <a:latin typeface="Arial" pitchFamily="34" charset="0"/>
                          <a:ea typeface="Meiryo UI" pitchFamily="50" charset="-128"/>
                          <a:cs typeface="Arial" pitchFamily="34" charset="0"/>
                        </a:rPr>
                        <a:t>Accessory drive belt</a:t>
                      </a:r>
                      <a:endParaRPr kumimoji="1" lang="ja-JP" altLang="en-US" sz="900" b="0" baseline="0">
                        <a:solidFill>
                          <a:schemeClr val="tx1"/>
                        </a:solidFill>
                        <a:latin typeface="Arial" pitchFamily="34" charset="0"/>
                        <a:ea typeface="Meiryo UI" pitchFamily="50" charset="-128"/>
                        <a:cs typeface="Arial" pitchFamily="34" charset="0"/>
                      </a:endParaRPr>
                    </a:p>
                  </a:txBody>
                  <a:tcPr marL="67500" marR="67500" marT="40500" marB="405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endParaRPr kumimoji="1" lang="en-US" altLang="ja-JP" sz="1100" b="0" baseline="0">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41020">
                <a:tc>
                  <a:txBody>
                    <a:bodyPr/>
                    <a:lstStyle/>
                    <a:p>
                      <a:r>
                        <a:rPr kumimoji="1" lang="en-US" altLang="ja-JP" sz="900" b="0" baseline="0">
                          <a:solidFill>
                            <a:schemeClr val="tx1"/>
                          </a:solidFill>
                          <a:latin typeface="Arial" pitchFamily="34" charset="0"/>
                          <a:ea typeface="Meiryo UI" pitchFamily="50" charset="-128"/>
                          <a:cs typeface="Arial" pitchFamily="34" charset="0"/>
                        </a:rPr>
                        <a:t>TW2 Sensor </a:t>
                      </a:r>
                      <a:endParaRPr kumimoji="1" lang="ja-JP" altLang="en-US" sz="900" b="0" baseline="0">
                        <a:solidFill>
                          <a:schemeClr val="tx1"/>
                        </a:solidFill>
                        <a:latin typeface="Arial" pitchFamily="34" charset="0"/>
                        <a:ea typeface="Meiryo UI" pitchFamily="50" charset="-128"/>
                        <a:cs typeface="Arial" pitchFamily="34" charset="0"/>
                      </a:endParaRPr>
                    </a:p>
                  </a:txBody>
                  <a:tcPr marL="67500" marR="67500" marT="40500" marB="405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endParaRPr kumimoji="1" lang="en-US" altLang="ja-JP"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85504652"/>
                  </a:ext>
                </a:extLst>
              </a:tr>
              <a:tr h="241020">
                <a:tc>
                  <a:txBody>
                    <a:bodyPr/>
                    <a:lstStyle/>
                    <a:p>
                      <a:r>
                        <a:rPr kumimoji="1" lang="en-US" altLang="ja-JP" sz="900" b="0" baseline="0">
                          <a:solidFill>
                            <a:schemeClr val="tx1"/>
                          </a:solidFill>
                          <a:latin typeface="Arial" pitchFamily="34" charset="0"/>
                          <a:ea typeface="Meiryo UI" pitchFamily="50" charset="-128"/>
                          <a:cs typeface="Arial" pitchFamily="34" charset="0"/>
                        </a:rPr>
                        <a:t>Thermostat </a:t>
                      </a:r>
                      <a:endParaRPr kumimoji="1" lang="ja-JP" altLang="en-US" sz="900" b="0" baseline="0">
                        <a:solidFill>
                          <a:schemeClr val="tx1"/>
                        </a:solidFill>
                        <a:latin typeface="Arial" pitchFamily="34" charset="0"/>
                        <a:ea typeface="Meiryo UI" pitchFamily="50" charset="-128"/>
                        <a:cs typeface="Arial" pitchFamily="34" charset="0"/>
                      </a:endParaRPr>
                    </a:p>
                  </a:txBody>
                  <a:tcPr marL="67500" marR="67500" marT="40500" marB="405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B </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B</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B </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B</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endParaRPr kumimoji="1" lang="en-US" altLang="ja-JP"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35664743"/>
                  </a:ext>
                </a:extLst>
              </a:tr>
            </a:tbl>
          </a:graphicData>
        </a:graphic>
      </p:graphicFrame>
      <p:pic>
        <p:nvPicPr>
          <p:cNvPr id="1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8564" y="1882423"/>
            <a:ext cx="1506671" cy="1598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49076" y="3761012"/>
            <a:ext cx="1506671" cy="1598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テキスト ボックス 15"/>
          <p:cNvSpPr txBox="1"/>
          <p:nvPr/>
        </p:nvSpPr>
        <p:spPr>
          <a:xfrm>
            <a:off x="6828044" y="2102350"/>
            <a:ext cx="559769" cy="196208"/>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ja-JP"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rPr>
              <a:t>Alternator</a:t>
            </a:r>
            <a:endParaRPr kumimoji="0" lang="ja-JP" altLang="en-US"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endParaRPr>
          </a:p>
        </p:txBody>
      </p:sp>
      <p:sp>
        <p:nvSpPr>
          <p:cNvPr id="17" name="テキスト ボックス 16"/>
          <p:cNvSpPr txBox="1"/>
          <p:nvPr/>
        </p:nvSpPr>
        <p:spPr>
          <a:xfrm>
            <a:off x="7855835" y="3456453"/>
            <a:ext cx="689612" cy="196208"/>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ja-JP"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rPr>
              <a:t>Starter motor</a:t>
            </a:r>
          </a:p>
        </p:txBody>
      </p:sp>
      <p:sp>
        <p:nvSpPr>
          <p:cNvPr id="18" name="テキスト ボックス 17"/>
          <p:cNvSpPr txBox="1"/>
          <p:nvPr/>
        </p:nvSpPr>
        <p:spPr>
          <a:xfrm>
            <a:off x="8342382" y="5397414"/>
            <a:ext cx="583814" cy="300082"/>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ja-JP"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rPr>
              <a:t>Accessory</a:t>
            </a: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ja-JP"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rPr>
              <a:t> drive belt</a:t>
            </a:r>
            <a:endParaRPr kumimoji="0" lang="ja-JP" altLang="en-US"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endParaRPr>
          </a:p>
        </p:txBody>
      </p:sp>
      <p:cxnSp>
        <p:nvCxnSpPr>
          <p:cNvPr id="38" name="直線コネクタ 37"/>
          <p:cNvCxnSpPr>
            <a:stCxn id="18" idx="0"/>
          </p:cNvCxnSpPr>
          <p:nvPr/>
        </p:nvCxnSpPr>
        <p:spPr bwMode="auto">
          <a:xfrm flipV="1">
            <a:off x="8611207" y="5013220"/>
            <a:ext cx="142442" cy="384195"/>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線コネクタ 43"/>
          <p:cNvCxnSpPr>
            <a:stCxn id="17" idx="0"/>
          </p:cNvCxnSpPr>
          <p:nvPr/>
        </p:nvCxnSpPr>
        <p:spPr bwMode="auto">
          <a:xfrm flipH="1" flipV="1">
            <a:off x="7971198" y="2954487"/>
            <a:ext cx="206360" cy="501966"/>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線コネクタ 63"/>
          <p:cNvCxnSpPr>
            <a:stCxn id="16" idx="2"/>
          </p:cNvCxnSpPr>
          <p:nvPr/>
        </p:nvCxnSpPr>
        <p:spPr bwMode="auto">
          <a:xfrm>
            <a:off x="7084846" y="2275475"/>
            <a:ext cx="287176" cy="467693"/>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3" name="図 52"/>
          <p:cNvPicPr>
            <a:picLocks noChangeAspect="1"/>
          </p:cNvPicPr>
          <p:nvPr/>
        </p:nvPicPr>
        <p:blipFill>
          <a:blip r:embed="rId4"/>
          <a:stretch>
            <a:fillRect/>
          </a:stretch>
        </p:blipFill>
        <p:spPr>
          <a:xfrm>
            <a:off x="8249962" y="5626394"/>
            <a:ext cx="820129" cy="526798"/>
          </a:xfrm>
          <a:prstGeom prst="rect">
            <a:avLst/>
          </a:prstGeom>
        </p:spPr>
      </p:pic>
      <p:pic>
        <p:nvPicPr>
          <p:cNvPr id="13" name="Picture 12"/>
          <p:cNvPicPr>
            <a:picLocks noChangeAspect="1"/>
          </p:cNvPicPr>
          <p:nvPr/>
        </p:nvPicPr>
        <p:blipFill>
          <a:blip r:embed="rId5"/>
          <a:stretch>
            <a:fillRect/>
          </a:stretch>
        </p:blipFill>
        <p:spPr>
          <a:xfrm>
            <a:off x="1808030" y="4118089"/>
            <a:ext cx="2631646" cy="1895000"/>
          </a:xfrm>
          <a:prstGeom prst="rect">
            <a:avLst/>
          </a:prstGeom>
        </p:spPr>
      </p:pic>
      <p:sp>
        <p:nvSpPr>
          <p:cNvPr id="15" name="テキスト ボックス 15"/>
          <p:cNvSpPr txBox="1"/>
          <p:nvPr/>
        </p:nvSpPr>
        <p:spPr>
          <a:xfrm>
            <a:off x="4759076" y="4491616"/>
            <a:ext cx="809382" cy="300082"/>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ja-JP"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rPr>
              <a:t>Radiator Fan Motor</a:t>
            </a:r>
            <a:endParaRPr kumimoji="0" lang="ja-JP" altLang="en-US"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endParaRPr>
          </a:p>
        </p:txBody>
      </p:sp>
      <p:cxnSp>
        <p:nvCxnSpPr>
          <p:cNvPr id="19" name="直線コネクタ 63"/>
          <p:cNvCxnSpPr>
            <a:stCxn id="15" idx="1"/>
          </p:cNvCxnSpPr>
          <p:nvPr/>
        </p:nvCxnSpPr>
        <p:spPr bwMode="auto">
          <a:xfrm flipH="1">
            <a:off x="3560043" y="4630116"/>
            <a:ext cx="1199033" cy="458242"/>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テキスト ボックス 15"/>
          <p:cNvSpPr txBox="1"/>
          <p:nvPr/>
        </p:nvSpPr>
        <p:spPr>
          <a:xfrm>
            <a:off x="1163691" y="5926526"/>
            <a:ext cx="649877" cy="300082"/>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ja-JP"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rPr>
              <a:t>TW2 Sensor </a:t>
            </a:r>
            <a:endParaRPr kumimoji="0" lang="ja-JP" altLang="en-US"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endParaRPr>
          </a:p>
        </p:txBody>
      </p:sp>
      <p:cxnSp>
        <p:nvCxnSpPr>
          <p:cNvPr id="21" name="直線コネクタ 63"/>
          <p:cNvCxnSpPr>
            <a:stCxn id="20" idx="3"/>
          </p:cNvCxnSpPr>
          <p:nvPr/>
        </p:nvCxnSpPr>
        <p:spPr bwMode="auto">
          <a:xfrm flipV="1">
            <a:off x="1813568" y="5926526"/>
            <a:ext cx="1108071" cy="86562"/>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コネクタ 63"/>
          <p:cNvCxnSpPr/>
          <p:nvPr/>
        </p:nvCxnSpPr>
        <p:spPr bwMode="auto">
          <a:xfrm flipH="1">
            <a:off x="3197631" y="4359699"/>
            <a:ext cx="1199033" cy="458242"/>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テキスト ボックス 15"/>
          <p:cNvSpPr txBox="1"/>
          <p:nvPr/>
        </p:nvSpPr>
        <p:spPr>
          <a:xfrm>
            <a:off x="4488659" y="4196111"/>
            <a:ext cx="809382" cy="196208"/>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ja-JP"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rPr>
              <a:t>Thermostat</a:t>
            </a:r>
            <a:endParaRPr kumimoji="0" lang="ja-JP" altLang="en-US"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endParaRPr>
          </a:p>
        </p:txBody>
      </p:sp>
      <p:sp>
        <p:nvSpPr>
          <p:cNvPr id="24" name="TextBox 23"/>
          <p:cNvSpPr txBox="1"/>
          <p:nvPr/>
        </p:nvSpPr>
        <p:spPr>
          <a:xfrm>
            <a:off x="144050" y="671848"/>
            <a:ext cx="4676922"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sz="2400" b="0" i="0" u="sng" strike="noStrike" kern="1200" cap="none" spc="0" normalizeH="0" baseline="0" noProof="0">
                <a:ln>
                  <a:noFill/>
                </a:ln>
                <a:solidFill>
                  <a:srgbClr val="000000"/>
                </a:solidFill>
                <a:effectLst/>
                <a:uLnTx/>
                <a:uFillTx/>
                <a:latin typeface="Times New Roman" pitchFamily="18" charset="0"/>
                <a:ea typeface="ＭＳ Ｐゴシック" charset="-128"/>
                <a:cs typeface="+mn-cs"/>
              </a:rPr>
              <a:t>ENGINE COOLING/ACCESSORY</a:t>
            </a:r>
          </a:p>
        </p:txBody>
      </p:sp>
      <p:sp>
        <p:nvSpPr>
          <p:cNvPr id="25" name="Text Box 2"/>
          <p:cNvSpPr txBox="1">
            <a:spLocks noChangeArrowheads="1"/>
          </p:cNvSpPr>
          <p:nvPr/>
        </p:nvSpPr>
        <p:spPr bwMode="auto">
          <a:xfrm>
            <a:off x="250837" y="44451"/>
            <a:ext cx="8893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12.</a:t>
            </a:r>
            <a:r>
              <a:rPr kumimoji="1" lang="ja-JP" altLang="en-US"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ENG Spec Comparison from Base model (3/5)</a:t>
            </a:r>
            <a:endParaRPr kumimoji="1" lang="en-US" altLang="ja-JP" sz="1200" b="0" i="0" u="none" strike="noStrike" kern="1200" cap="none" spc="0" normalizeH="0" baseline="0" noProof="0">
              <a:ln>
                <a:noFill/>
              </a:ln>
              <a:solidFill>
                <a:srgbClr val="FFFFFF"/>
              </a:solidFill>
              <a:effectLst/>
              <a:uLnTx/>
              <a:uFillTx/>
              <a:latin typeface="Arial Narrow" pitchFamily="34" charset="0"/>
              <a:ea typeface="HGPｺﾞｼｯｸE" pitchFamily="50" charset="-128"/>
              <a:cs typeface="Arial" pitchFamily="34" charset="0"/>
            </a:endParaRPr>
          </a:p>
        </p:txBody>
      </p:sp>
      <p:sp>
        <p:nvSpPr>
          <p:cNvPr id="2" name="テキスト ボックス 1">
            <a:extLst>
              <a:ext uri="{FF2B5EF4-FFF2-40B4-BE49-F238E27FC236}">
                <a16:creationId xmlns:a16="http://schemas.microsoft.com/office/drawing/2014/main" id="{AA5BDBFF-7C65-AF32-8F23-59C9BAA4EFBC}"/>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3592935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59626" y="4249287"/>
            <a:ext cx="184731" cy="300082"/>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ＭＳ Ｐゴシック" charset="-128"/>
              <a:cs typeface="+mn-cs"/>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59348" y="3988536"/>
            <a:ext cx="1506671" cy="1598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テキスト ボックス 15"/>
          <p:cNvSpPr txBox="1"/>
          <p:nvPr/>
        </p:nvSpPr>
        <p:spPr>
          <a:xfrm>
            <a:off x="6838827" y="4208463"/>
            <a:ext cx="559769" cy="196208"/>
          </a:xfrm>
          <a:prstGeom prst="rect">
            <a:avLst/>
          </a:prstGeom>
          <a:noFill/>
        </p:spPr>
        <p:txBody>
          <a:bodyPr wrap="non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altLang="ja-JP"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rPr>
              <a:t>Alternator</a:t>
            </a:r>
            <a:endParaRPr kumimoji="0" lang="ja-JP" altLang="en-US" sz="675" b="0" i="0" u="none" strike="noStrike" kern="1200" cap="none" spc="0" normalizeH="0" baseline="0" noProof="0">
              <a:ln>
                <a:noFill/>
              </a:ln>
              <a:solidFill>
                <a:prstClr val="black"/>
              </a:solidFill>
              <a:effectLst/>
              <a:uLnTx/>
              <a:uFillTx/>
              <a:latin typeface="Arial" pitchFamily="34" charset="0"/>
              <a:ea typeface="Meiryo UI" pitchFamily="50" charset="-128"/>
              <a:cs typeface="Arial" pitchFamily="34" charset="0"/>
            </a:endParaRPr>
          </a:p>
        </p:txBody>
      </p:sp>
      <p:cxnSp>
        <p:nvCxnSpPr>
          <p:cNvPr id="7" name="直線コネクタ 63"/>
          <p:cNvCxnSpPr>
            <a:stCxn id="6" idx="2"/>
          </p:cNvCxnSpPr>
          <p:nvPr/>
        </p:nvCxnSpPr>
        <p:spPr bwMode="auto">
          <a:xfrm>
            <a:off x="7095629" y="4381588"/>
            <a:ext cx="287176" cy="467693"/>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Box 8"/>
          <p:cNvSpPr txBox="1"/>
          <p:nvPr/>
        </p:nvSpPr>
        <p:spPr>
          <a:xfrm>
            <a:off x="89943" y="698903"/>
            <a:ext cx="4676922"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sz="2400" b="0" i="0" u="sng" strike="noStrike" kern="1200" cap="none" spc="0" normalizeH="0" baseline="0" noProof="0">
                <a:ln>
                  <a:noFill/>
                </a:ln>
                <a:solidFill>
                  <a:srgbClr val="000000"/>
                </a:solidFill>
                <a:effectLst/>
                <a:uLnTx/>
                <a:uFillTx/>
                <a:latin typeface="Times New Roman" pitchFamily="18" charset="0"/>
                <a:ea typeface="ＭＳ Ｐゴシック" charset="-128"/>
                <a:cs typeface="+mn-cs"/>
              </a:rPr>
              <a:t>ENGINE COOLING/ACCESSORY</a:t>
            </a:r>
          </a:p>
        </p:txBody>
      </p:sp>
      <p:sp>
        <p:nvSpPr>
          <p:cNvPr id="10" name="Text Box 2"/>
          <p:cNvSpPr txBox="1">
            <a:spLocks noChangeArrowheads="1"/>
          </p:cNvSpPr>
          <p:nvPr/>
        </p:nvSpPr>
        <p:spPr bwMode="auto">
          <a:xfrm>
            <a:off x="250837" y="44451"/>
            <a:ext cx="8893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12.</a:t>
            </a:r>
            <a:r>
              <a:rPr kumimoji="1" lang="ja-JP" altLang="en-US"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ENG Spec Comparison from Base model (4/5)</a:t>
            </a:r>
            <a:endParaRPr kumimoji="1" lang="en-US" altLang="ja-JP" sz="1200" b="0" i="0" u="none" strike="noStrike" kern="1200" cap="none" spc="0" normalizeH="0" baseline="0" noProof="0">
              <a:ln>
                <a:noFill/>
              </a:ln>
              <a:solidFill>
                <a:srgbClr val="FFFFFF"/>
              </a:solidFill>
              <a:effectLst/>
              <a:uLnTx/>
              <a:uFillTx/>
              <a:latin typeface="Arial Narrow" pitchFamily="34" charset="0"/>
              <a:ea typeface="HGPｺﾞｼｯｸE" pitchFamily="50" charset="-128"/>
              <a:cs typeface="Arial" pitchFamily="34" charset="0"/>
            </a:endParaRPr>
          </a:p>
        </p:txBody>
      </p:sp>
      <p:graphicFrame>
        <p:nvGraphicFramePr>
          <p:cNvPr id="11" name="表 5"/>
          <p:cNvGraphicFramePr>
            <a:graphicFrameLocks noGrp="1"/>
          </p:cNvGraphicFramePr>
          <p:nvPr>
            <p:extLst>
              <p:ext uri="{D42A27DB-BD31-4B8C-83A1-F6EECF244321}">
                <p14:modId xmlns:p14="http://schemas.microsoft.com/office/powerpoint/2010/main" val="4047612061"/>
              </p:ext>
            </p:extLst>
          </p:nvPr>
        </p:nvGraphicFramePr>
        <p:xfrm>
          <a:off x="216046" y="1797581"/>
          <a:ext cx="8716939" cy="1516278"/>
        </p:xfrm>
        <a:graphic>
          <a:graphicData uri="http://schemas.openxmlformats.org/drawingml/2006/table">
            <a:tbl>
              <a:tblPr firstRow="1" bandRow="1"/>
              <a:tblGrid>
                <a:gridCol w="1571922">
                  <a:extLst>
                    <a:ext uri="{9D8B030D-6E8A-4147-A177-3AD203B41FA5}">
                      <a16:colId xmlns:a16="http://schemas.microsoft.com/office/drawing/2014/main" val="20000"/>
                    </a:ext>
                  </a:extLst>
                </a:gridCol>
                <a:gridCol w="623109">
                  <a:extLst>
                    <a:ext uri="{9D8B030D-6E8A-4147-A177-3AD203B41FA5}">
                      <a16:colId xmlns:a16="http://schemas.microsoft.com/office/drawing/2014/main" val="20001"/>
                    </a:ext>
                  </a:extLst>
                </a:gridCol>
                <a:gridCol w="623109">
                  <a:extLst>
                    <a:ext uri="{9D8B030D-6E8A-4147-A177-3AD203B41FA5}">
                      <a16:colId xmlns:a16="http://schemas.microsoft.com/office/drawing/2014/main" val="931589680"/>
                    </a:ext>
                  </a:extLst>
                </a:gridCol>
                <a:gridCol w="623109">
                  <a:extLst>
                    <a:ext uri="{9D8B030D-6E8A-4147-A177-3AD203B41FA5}">
                      <a16:colId xmlns:a16="http://schemas.microsoft.com/office/drawing/2014/main" val="1147464307"/>
                    </a:ext>
                  </a:extLst>
                </a:gridCol>
                <a:gridCol w="623109">
                  <a:extLst>
                    <a:ext uri="{9D8B030D-6E8A-4147-A177-3AD203B41FA5}">
                      <a16:colId xmlns:a16="http://schemas.microsoft.com/office/drawing/2014/main" val="3874399758"/>
                    </a:ext>
                  </a:extLst>
                </a:gridCol>
                <a:gridCol w="623109">
                  <a:extLst>
                    <a:ext uri="{9D8B030D-6E8A-4147-A177-3AD203B41FA5}">
                      <a16:colId xmlns:a16="http://schemas.microsoft.com/office/drawing/2014/main" val="20002"/>
                    </a:ext>
                  </a:extLst>
                </a:gridCol>
                <a:gridCol w="623109">
                  <a:extLst>
                    <a:ext uri="{9D8B030D-6E8A-4147-A177-3AD203B41FA5}">
                      <a16:colId xmlns:a16="http://schemas.microsoft.com/office/drawing/2014/main" val="2227101587"/>
                    </a:ext>
                  </a:extLst>
                </a:gridCol>
                <a:gridCol w="623109">
                  <a:extLst>
                    <a:ext uri="{9D8B030D-6E8A-4147-A177-3AD203B41FA5}">
                      <a16:colId xmlns:a16="http://schemas.microsoft.com/office/drawing/2014/main" val="2846113029"/>
                    </a:ext>
                  </a:extLst>
                </a:gridCol>
                <a:gridCol w="623109">
                  <a:extLst>
                    <a:ext uri="{9D8B030D-6E8A-4147-A177-3AD203B41FA5}">
                      <a16:colId xmlns:a16="http://schemas.microsoft.com/office/drawing/2014/main" val="2005052112"/>
                    </a:ext>
                  </a:extLst>
                </a:gridCol>
                <a:gridCol w="2160145">
                  <a:extLst>
                    <a:ext uri="{9D8B030D-6E8A-4147-A177-3AD203B41FA5}">
                      <a16:colId xmlns:a16="http://schemas.microsoft.com/office/drawing/2014/main" val="20003"/>
                    </a:ext>
                  </a:extLst>
                </a:gridCol>
              </a:tblGrid>
              <a:tr h="493560">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1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rPr>
                        <a:t>Part Name</a:t>
                      </a:r>
                      <a:endParaRPr kumimoji="1" lang="ja-JP" altLang="en-US" sz="11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endParaRPr>
                    </a:p>
                  </a:txBody>
                  <a:tcPr marL="13500" marR="13500" marT="13500" marB="135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24MY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6SAA</a:t>
                      </a:r>
                    </a:p>
                  </a:txBody>
                  <a:tcPr marL="13500" marR="13500" marT="13500" marB="0" anchor="ctr">
                    <a:lnL w="12700" cmpd="sng">
                      <a:solidFill>
                        <a:sysClr val="windowText" lastClr="000000"/>
                      </a:solid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28MY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6SAA-MMC</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100" b="0" baseline="0">
                          <a:latin typeface="Arial" pitchFamily="34" charset="0"/>
                          <a:ea typeface="Meiryo UI" pitchFamily="50" charset="-128"/>
                          <a:cs typeface="Arial" pitchFamily="34" charset="0"/>
                        </a:rPr>
                        <a:t>NOTE</a:t>
                      </a:r>
                      <a:endParaRPr kumimoji="1" lang="ja-JP" altLang="en-US" sz="1100" b="0" baseline="0">
                        <a:latin typeface="Arial" pitchFamily="34" charset="0"/>
                        <a:ea typeface="Meiryo UI" pitchFamily="50" charset="-128"/>
                        <a:cs typeface="Arial" pitchFamily="34" charset="0"/>
                      </a:endParaRPr>
                    </a:p>
                  </a:txBody>
                  <a:tcPr marL="13500" marR="13500" marT="13500" marB="135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299409">
                <a:tc vMerge="1">
                  <a:txBody>
                    <a:bodyPr/>
                    <a:lstStyle/>
                    <a:p>
                      <a:endParaRPr lang="en-US"/>
                    </a:p>
                  </a:txBody>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MT</a:t>
                      </a:r>
                    </a:p>
                  </a:txBody>
                  <a:tcPr marL="13500" marR="13500" marT="13500" marB="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CVT</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MT</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CVT</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a:p>
                  </a:txBody>
                  <a:tcPr/>
                </a:tc>
                <a:extLst>
                  <a:ext uri="{0D108BD9-81ED-4DB2-BD59-A6C34878D82A}">
                    <a16:rowId xmlns:a16="http://schemas.microsoft.com/office/drawing/2014/main" val="494128055"/>
                  </a:ext>
                </a:extLst>
              </a:tr>
              <a:tr h="299409">
                <a:tc vMerge="1">
                  <a:txBody>
                    <a:bodyPr/>
                    <a:lstStyle/>
                    <a:p>
                      <a:endParaRPr kumimoji="1" lang="ja-JP" altLang="en-US" b="1" baseline="0">
                        <a:latin typeface="ＭＳ Ｐゴシック" pitchFamily="50" charset="-128"/>
                        <a:ea typeface="ＭＳ Ｐゴシック" pitchFamily="50" charset="-128"/>
                      </a:endParaRPr>
                    </a:p>
                  </a:txBody>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mpd="sng">
                      <a:solidFill>
                        <a:sysClr val="windowText" lastClr="000000"/>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b="1" baseline="0">
                        <a:latin typeface="ＭＳ Ｐゴシック" pitchFamily="50" charset="-128"/>
                        <a:ea typeface="ＭＳ Ｐゴシック" pitchFamily="50" charset="-128"/>
                      </a:endParaRPr>
                    </a:p>
                  </a:txBody>
                  <a:tcPr>
                    <a:solidFill>
                      <a:schemeClr val="bg1"/>
                    </a:solidFill>
                  </a:tcPr>
                </a:tc>
                <a:extLst>
                  <a:ext uri="{0D108BD9-81ED-4DB2-BD59-A6C34878D82A}">
                    <a16:rowId xmlns:a16="http://schemas.microsoft.com/office/drawing/2014/main" val="10001"/>
                  </a:ext>
                </a:extLst>
              </a:tr>
              <a:tr h="401040">
                <a:tc>
                  <a:txBody>
                    <a:bodyPr/>
                    <a:lstStyle/>
                    <a:p>
                      <a:r>
                        <a:rPr kumimoji="1" lang="en-US" altLang="ja-JP" sz="900" b="0" baseline="0">
                          <a:solidFill>
                            <a:schemeClr val="tx1"/>
                          </a:solidFill>
                          <a:latin typeface="Arial" pitchFamily="34" charset="0"/>
                          <a:ea typeface="Meiryo UI" pitchFamily="50" charset="-128"/>
                          <a:cs typeface="Arial" pitchFamily="34" charset="0"/>
                        </a:rPr>
                        <a:t>Alternator</a:t>
                      </a:r>
                      <a:endParaRPr kumimoji="1" lang="ja-JP" altLang="en-US" sz="900" b="0" baseline="0">
                        <a:solidFill>
                          <a:schemeClr val="tx1"/>
                        </a:solidFill>
                        <a:latin typeface="Arial" pitchFamily="34" charset="0"/>
                        <a:ea typeface="Meiryo UI" pitchFamily="50" charset="-128"/>
                        <a:cs typeface="Arial" pitchFamily="34" charset="0"/>
                      </a:endParaRPr>
                    </a:p>
                  </a:txBody>
                  <a:tcPr marL="67500" marR="67500" marT="40500" marB="405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100" b="0" baseline="0">
                          <a:solidFill>
                            <a:schemeClr val="tx1"/>
                          </a:solidFill>
                          <a:latin typeface="Arial" pitchFamily="34" charset="0"/>
                          <a:ea typeface="Meiryo UI" pitchFamily="50" charset="-128"/>
                          <a:cs typeface="Arial" pitchFamily="34" charset="0"/>
                        </a:rPr>
                        <a:t>A</a:t>
                      </a:r>
                      <a:endParaRPr kumimoji="1" lang="ja-JP" altLang="en-US" sz="1100" b="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algn="ctr" defTabSz="914400" rtl="0" eaLnBrk="1" latinLnBrk="0" hangingPunct="1"/>
                      <a:r>
                        <a:rPr kumimoji="1" lang="en-US" altLang="ja-JP" sz="1100" b="0" kern="1200" baseline="0">
                          <a:solidFill>
                            <a:schemeClr val="tx1"/>
                          </a:solidFill>
                          <a:latin typeface="Arial" pitchFamily="34" charset="0"/>
                          <a:ea typeface="Meiryo UI" pitchFamily="50" charset="-128"/>
                          <a:cs typeface="Arial" pitchFamily="34" charset="0"/>
                        </a:rPr>
                        <a:t>A</a:t>
                      </a:r>
                      <a:endParaRPr kumimoji="1" lang="ja-JP" altLang="en-US"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 from 6SAA</a:t>
                      </a:r>
                      <a:endParaRPr kumimoji="1" lang="en-US" altLang="ja-JP" sz="1100" b="0" kern="1200" baseline="0">
                        <a:solidFill>
                          <a:schemeClr val="tx1"/>
                        </a:solidFill>
                        <a:latin typeface="Arial" pitchFamily="34" charset="0"/>
                        <a:ea typeface="Meiryo UI" pitchFamily="50" charset="-128"/>
                        <a:cs typeface="Arial" pitchFamily="34" charset="0"/>
                      </a:endParaRPr>
                    </a:p>
                  </a:txBody>
                  <a:tcPr marL="68580" marR="68580" marT="40500" marB="405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2" name="テキスト ボックス 1">
            <a:extLst>
              <a:ext uri="{FF2B5EF4-FFF2-40B4-BE49-F238E27FC236}">
                <a16:creationId xmlns:a16="http://schemas.microsoft.com/office/drawing/2014/main" id="{4752F836-F64C-9AD6-016F-2E4EBF440705}"/>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917541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p:cNvGraphicFramePr>
            <a:graphicFrameLocks noGrp="1"/>
          </p:cNvGraphicFramePr>
          <p:nvPr>
            <p:extLst>
              <p:ext uri="{D42A27DB-BD31-4B8C-83A1-F6EECF244321}">
                <p14:modId xmlns:p14="http://schemas.microsoft.com/office/powerpoint/2010/main" val="3110001261"/>
              </p:ext>
            </p:extLst>
          </p:nvPr>
        </p:nvGraphicFramePr>
        <p:xfrm>
          <a:off x="132954" y="1263810"/>
          <a:ext cx="5761953" cy="4664284"/>
        </p:xfrm>
        <a:graphic>
          <a:graphicData uri="http://schemas.openxmlformats.org/drawingml/2006/table">
            <a:tbl>
              <a:tblPr firstRow="1" bandRow="1"/>
              <a:tblGrid>
                <a:gridCol w="1349977">
                  <a:extLst>
                    <a:ext uri="{9D8B030D-6E8A-4147-A177-3AD203B41FA5}">
                      <a16:colId xmlns:a16="http://schemas.microsoft.com/office/drawing/2014/main" val="20000"/>
                    </a:ext>
                  </a:extLst>
                </a:gridCol>
                <a:gridCol w="335409">
                  <a:extLst>
                    <a:ext uri="{9D8B030D-6E8A-4147-A177-3AD203B41FA5}">
                      <a16:colId xmlns:a16="http://schemas.microsoft.com/office/drawing/2014/main" val="20001"/>
                    </a:ext>
                  </a:extLst>
                </a:gridCol>
                <a:gridCol w="335409">
                  <a:extLst>
                    <a:ext uri="{9D8B030D-6E8A-4147-A177-3AD203B41FA5}">
                      <a16:colId xmlns:a16="http://schemas.microsoft.com/office/drawing/2014/main" val="1763528582"/>
                    </a:ext>
                  </a:extLst>
                </a:gridCol>
                <a:gridCol w="335409">
                  <a:extLst>
                    <a:ext uri="{9D8B030D-6E8A-4147-A177-3AD203B41FA5}">
                      <a16:colId xmlns:a16="http://schemas.microsoft.com/office/drawing/2014/main" val="2925255001"/>
                    </a:ext>
                  </a:extLst>
                </a:gridCol>
                <a:gridCol w="335409">
                  <a:extLst>
                    <a:ext uri="{9D8B030D-6E8A-4147-A177-3AD203B41FA5}">
                      <a16:colId xmlns:a16="http://schemas.microsoft.com/office/drawing/2014/main" val="2099571582"/>
                    </a:ext>
                  </a:extLst>
                </a:gridCol>
                <a:gridCol w="335409">
                  <a:extLst>
                    <a:ext uri="{9D8B030D-6E8A-4147-A177-3AD203B41FA5}">
                      <a16:colId xmlns:a16="http://schemas.microsoft.com/office/drawing/2014/main" val="20002"/>
                    </a:ext>
                  </a:extLst>
                </a:gridCol>
                <a:gridCol w="335409">
                  <a:extLst>
                    <a:ext uri="{9D8B030D-6E8A-4147-A177-3AD203B41FA5}">
                      <a16:colId xmlns:a16="http://schemas.microsoft.com/office/drawing/2014/main" val="2703277375"/>
                    </a:ext>
                  </a:extLst>
                </a:gridCol>
                <a:gridCol w="335409">
                  <a:extLst>
                    <a:ext uri="{9D8B030D-6E8A-4147-A177-3AD203B41FA5}">
                      <a16:colId xmlns:a16="http://schemas.microsoft.com/office/drawing/2014/main" val="4112789123"/>
                    </a:ext>
                  </a:extLst>
                </a:gridCol>
                <a:gridCol w="335409">
                  <a:extLst>
                    <a:ext uri="{9D8B030D-6E8A-4147-A177-3AD203B41FA5}">
                      <a16:colId xmlns:a16="http://schemas.microsoft.com/office/drawing/2014/main" val="4208802905"/>
                    </a:ext>
                  </a:extLst>
                </a:gridCol>
                <a:gridCol w="1728704">
                  <a:extLst>
                    <a:ext uri="{9D8B030D-6E8A-4147-A177-3AD203B41FA5}">
                      <a16:colId xmlns:a16="http://schemas.microsoft.com/office/drawing/2014/main" val="20003"/>
                    </a:ext>
                  </a:extLst>
                </a:gridCol>
              </a:tblGrid>
              <a:tr h="215135">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rPr>
                        <a:t>Part Name</a:t>
                      </a:r>
                      <a:endParaRPr kumimoji="1" lang="ja-JP" altLang="en-US" sz="1400" b="0" i="0" u="none" strike="noStrike" cap="none" normalizeH="0" baseline="0">
                        <a:ln>
                          <a:noFill/>
                        </a:ln>
                        <a:solidFill>
                          <a:schemeClr val="tx1"/>
                        </a:solidFill>
                        <a:effectLst/>
                        <a:latin typeface="Arial" panose="020B0604020202020204" pitchFamily="34" charset="0"/>
                        <a:ea typeface="ＭＳ Ｐゴシック" pitchFamily="50" charset="-128"/>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20MY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6G0X</a:t>
                      </a:r>
                    </a:p>
                  </a:txBody>
                  <a:tcPr marL="13500" marR="13500" marT="13500" marB="0" anchor="ctr">
                    <a:lnL w="12700" cmpd="sng">
                      <a:solidFill>
                        <a:sysClr val="windowText" lastClr="000000"/>
                      </a:solid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24MY</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AMAZE</a:t>
                      </a: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6SAA</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a:latin typeface="Arial" pitchFamily="34" charset="0"/>
                          <a:ea typeface="Meiryo UI" pitchFamily="50" charset="-128"/>
                          <a:cs typeface="Arial" pitchFamily="34" charset="0"/>
                        </a:rPr>
                        <a:t>NOTE</a:t>
                      </a:r>
                      <a:endParaRPr kumimoji="1" lang="ja-JP" altLang="en-US" sz="1400" b="0" baseline="0">
                        <a:latin typeface="Arial" pitchFamily="34" charset="0"/>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99212">
                <a:tc vMerge="1">
                  <a:txBody>
                    <a:bodyPr/>
                    <a:lstStyle/>
                    <a:p>
                      <a:endParaRPr lang="en-US"/>
                    </a:p>
                  </a:txBody>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MT</a:t>
                      </a:r>
                    </a:p>
                  </a:txBody>
                  <a:tcPr marL="13500" marR="13500" marT="13500" marB="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CVT</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MT</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baseline="0">
                          <a:latin typeface="Arial" pitchFamily="34" charset="0"/>
                          <a:ea typeface="Meiryo UI" pitchFamily="50" charset="-128"/>
                          <a:cs typeface="Arial" pitchFamily="34" charset="0"/>
                        </a:rPr>
                        <a:t>CVT</a:t>
                      </a: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baseline="0">
                        <a:latin typeface="Arial" pitchFamily="34" charset="0"/>
                        <a:ea typeface="Meiryo UI" pitchFamily="50" charset="-128"/>
                        <a:cs typeface="Arial" pitchFamily="34" charset="0"/>
                      </a:endParaRPr>
                    </a:p>
                  </a:txBody>
                  <a:tcPr marL="13500" marR="13500" marT="135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a:p>
                  </a:txBody>
                  <a:tcPr/>
                </a:tc>
                <a:extLst>
                  <a:ext uri="{0D108BD9-81ED-4DB2-BD59-A6C34878D82A}">
                    <a16:rowId xmlns:a16="http://schemas.microsoft.com/office/drawing/2014/main" val="4128193469"/>
                  </a:ext>
                </a:extLst>
              </a:tr>
              <a:tr h="399212">
                <a:tc vMerge="1">
                  <a:txBody>
                    <a:bodyPr/>
                    <a:lstStyle/>
                    <a:p>
                      <a:endParaRPr kumimoji="1" lang="ja-JP" altLang="en-US" b="1" baseline="0">
                        <a:latin typeface="ＭＳ Ｐゴシック" pitchFamily="50" charset="-128"/>
                        <a:ea typeface="ＭＳ Ｐゴシック" pitchFamily="50" charset="-128"/>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mpd="sng">
                      <a:solidFill>
                        <a:sysClr val="windowText" lastClr="000000"/>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ID</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latin typeface="Arial" pitchFamily="34" charset="0"/>
                          <a:ea typeface="Meiryo UI" pitchFamily="50" charset="-128"/>
                          <a:cs typeface="Arial" pitchFamily="34" charset="0"/>
                        </a:rPr>
                        <a:t>SA</a:t>
                      </a:r>
                      <a:endParaRPr kumimoji="1" lang="ja-JP" altLang="en-US" sz="1400" b="0" baseline="0">
                        <a:latin typeface="Arial" pitchFamily="34" charset="0"/>
                        <a:ea typeface="Meiryo UI" pitchFamily="50" charset="-128"/>
                        <a:cs typeface="Arial" pitchFamily="34" charset="0"/>
                      </a:endParaRPr>
                    </a:p>
                  </a:txBody>
                  <a:tcPr marL="18000" marR="18000" marT="18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b="1" baseline="0">
                        <a:latin typeface="ＭＳ Ｐゴシック" pitchFamily="50" charset="-128"/>
                        <a:ea typeface="ＭＳ Ｐゴシック" pitchFamily="50" charset="-128"/>
                      </a:endParaRPr>
                    </a:p>
                  </a:txBody>
                  <a:tcPr>
                    <a:solidFill>
                      <a:schemeClr val="bg1"/>
                    </a:solidFill>
                  </a:tcPr>
                </a:tc>
                <a:extLst>
                  <a:ext uri="{0D108BD9-81ED-4DB2-BD59-A6C34878D82A}">
                    <a16:rowId xmlns:a16="http://schemas.microsoft.com/office/drawing/2014/main" val="10001"/>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Arial" panose="020B0604020202020204" pitchFamily="34" charset="0"/>
                          <a:ea typeface="HGPSoeiKakugothicUB" pitchFamily="50" charset="-128"/>
                          <a:cs typeface="Arial" panose="020B0604020202020204" pitchFamily="34" charset="0"/>
                        </a:rPr>
                        <a:t>Electric Throttle Control</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a:t>
                      </a:r>
                      <a:endParaRPr kumimoji="1" lang="en-US" altLang="ja-JP" sz="1200" b="0" kern="1200" baseline="0">
                        <a:solidFill>
                          <a:schemeClr val="tx1"/>
                        </a:solidFill>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46194">
                <a:tc>
                  <a:txBody>
                    <a:bodyPr/>
                    <a:lstStyle/>
                    <a:p>
                      <a:r>
                        <a:rPr kumimoji="1" lang="en-US" altLang="ja-JP" sz="1200" b="0" baseline="0">
                          <a:latin typeface="Arial" pitchFamily="34" charset="0"/>
                          <a:ea typeface="Meiryo UI" pitchFamily="50" charset="-128"/>
                          <a:cs typeface="Arial" pitchFamily="34" charset="0"/>
                        </a:rPr>
                        <a:t>Ignition coil</a:t>
                      </a:r>
                      <a:endParaRPr kumimoji="1" lang="ja-JP" altLang="en-US" sz="1200" b="0" baseline="0">
                        <a:latin typeface="Arial" pitchFamily="34" charset="0"/>
                        <a:ea typeface="Meiryo UI" pitchFamily="50" charset="-128"/>
                        <a:cs typeface="Arial" pitchFamily="34" charset="0"/>
                      </a:endParaRP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0">
                <a:tc>
                  <a:txBody>
                    <a:bodyPr/>
                    <a:lstStyle/>
                    <a:p>
                      <a:r>
                        <a:rPr kumimoji="1" lang="en-US" altLang="ja-JP" sz="1200" b="0" baseline="0">
                          <a:latin typeface="Arial" pitchFamily="34" charset="0"/>
                          <a:ea typeface="Meiryo UI" pitchFamily="50" charset="-128"/>
                          <a:cs typeface="Arial" pitchFamily="34" charset="0"/>
                        </a:rPr>
                        <a:t>Purge control solenoid</a:t>
                      </a: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0">
                <a:tc>
                  <a:txBody>
                    <a:bodyPr/>
                    <a:lstStyle/>
                    <a:p>
                      <a:r>
                        <a:rPr kumimoji="1" lang="en-US" altLang="ja-JP" sz="1200" b="0" baseline="0">
                          <a:latin typeface="Arial" pitchFamily="34" charset="0"/>
                          <a:ea typeface="Meiryo UI" pitchFamily="50" charset="-128"/>
                          <a:cs typeface="Arial" pitchFamily="34" charset="0"/>
                        </a:rPr>
                        <a:t>Crank Sensor</a:t>
                      </a: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0">
                <a:tc>
                  <a:txBody>
                    <a:bodyPr/>
                    <a:lstStyle/>
                    <a:p>
                      <a:r>
                        <a:rPr kumimoji="1" lang="en-US" altLang="ja-JP" sz="1200" b="0" baseline="0">
                          <a:latin typeface="Arial" pitchFamily="34" charset="0"/>
                          <a:ea typeface="Meiryo UI" pitchFamily="50" charset="-128"/>
                          <a:cs typeface="Arial" pitchFamily="34" charset="0"/>
                        </a:rPr>
                        <a:t>TDC Sensor</a:t>
                      </a: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0">
                <a:tc>
                  <a:txBody>
                    <a:bodyPr/>
                    <a:lstStyle/>
                    <a:p>
                      <a:r>
                        <a:rPr kumimoji="1" lang="en-US" altLang="ja-JP" sz="1200" b="0" baseline="0">
                          <a:latin typeface="Arial" pitchFamily="34" charset="0"/>
                          <a:ea typeface="Meiryo UI" pitchFamily="50" charset="-128"/>
                          <a:cs typeface="Arial" pitchFamily="34" charset="0"/>
                        </a:rPr>
                        <a:t>TW Sensor</a:t>
                      </a: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0">
                <a:tc>
                  <a:txBody>
                    <a:bodyPr/>
                    <a:lstStyle/>
                    <a:p>
                      <a:r>
                        <a:rPr kumimoji="1" lang="en-US" altLang="ja-JP" sz="1200" b="0" baseline="0">
                          <a:latin typeface="Arial" pitchFamily="34" charset="0"/>
                          <a:ea typeface="Meiryo UI" pitchFamily="50" charset="-128"/>
                          <a:cs typeface="Arial" pitchFamily="34" charset="0"/>
                        </a:rPr>
                        <a:t>Knock Sensor</a:t>
                      </a: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a:t>
                      </a:r>
                      <a:endParaRPr kumimoji="1" lang="en-US" altLang="ja-JP" sz="1200" b="0" kern="1200" baseline="0">
                        <a:solidFill>
                          <a:schemeClr val="tx1"/>
                        </a:solidFill>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r h="0">
                <a:tc>
                  <a:txBody>
                    <a:bodyPr/>
                    <a:lstStyle/>
                    <a:p>
                      <a:r>
                        <a:rPr kumimoji="1" lang="en-US" altLang="ja-JP" sz="1200" b="0" baseline="0">
                          <a:latin typeface="Arial" pitchFamily="34" charset="0"/>
                          <a:ea typeface="Meiryo UI" pitchFamily="50" charset="-128"/>
                          <a:cs typeface="Arial" pitchFamily="34" charset="0"/>
                        </a:rPr>
                        <a:t>Oil Pressure Sensor</a:t>
                      </a: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3"/>
                  </a:ext>
                </a:extLst>
              </a:tr>
              <a:tr h="0">
                <a:tc>
                  <a:txBody>
                    <a:bodyPr/>
                    <a:lstStyle/>
                    <a:p>
                      <a:r>
                        <a:rPr kumimoji="1" lang="en-US" altLang="ja-JP" sz="1200" b="0" baseline="0">
                          <a:latin typeface="Arial" pitchFamily="34" charset="0"/>
                          <a:ea typeface="Meiryo UI" pitchFamily="50" charset="-128"/>
                          <a:cs typeface="Arial" pitchFamily="34" charset="0"/>
                        </a:rPr>
                        <a:t>PCV</a:t>
                      </a: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latin typeface="Arial" pitchFamily="34" charset="0"/>
                          <a:ea typeface="Meiryo UI" pitchFamily="50" charset="-128"/>
                          <a:cs typeface="Arial" pitchFamily="34" charset="0"/>
                        </a:rPr>
                        <a:t>A</a:t>
                      </a:r>
                      <a:endParaRPr kumimoji="1" lang="ja-JP" altLang="en-US" sz="1400" b="0" baseline="0">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T="54000" marB="54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No change</a:t>
                      </a:r>
                    </a:p>
                  </a:txBody>
                  <a:tcPr marT="54000" marB="54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4"/>
                  </a:ext>
                </a:extLst>
              </a:tr>
            </a:tbl>
          </a:graphicData>
        </a:graphic>
      </p:graphicFrame>
      <p:pic>
        <p:nvPicPr>
          <p:cNvPr id="1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69482" y="1202218"/>
            <a:ext cx="2008894" cy="2130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3498" y="3707003"/>
            <a:ext cx="2008894" cy="213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テキスト ボックス 2"/>
          <p:cNvSpPr txBox="1"/>
          <p:nvPr/>
        </p:nvSpPr>
        <p:spPr>
          <a:xfrm>
            <a:off x="8157833" y="766330"/>
            <a:ext cx="986167"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anose="020B0604020202020204" pitchFamily="34" charset="0"/>
                <a:ea typeface="HGPSoeiKakugothicUB" pitchFamily="50" charset="-128"/>
                <a:cs typeface="Arial" panose="020B0604020202020204" pitchFamily="34" charset="0"/>
              </a:rPr>
              <a:t>Electric Throttle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anose="020B0604020202020204" pitchFamily="34" charset="0"/>
                <a:ea typeface="HGPSoeiKakugothicUB" pitchFamily="50" charset="-128"/>
                <a:cs typeface="Arial" panose="020B0604020202020204" pitchFamily="34" charset="0"/>
              </a:rPr>
              <a:t> Control</a:t>
            </a:r>
          </a:p>
        </p:txBody>
      </p:sp>
      <p:sp>
        <p:nvSpPr>
          <p:cNvPr id="16" name="テキスト ボックス 15"/>
          <p:cNvSpPr txBox="1"/>
          <p:nvPr/>
        </p:nvSpPr>
        <p:spPr>
          <a:xfrm>
            <a:off x="6142120" y="1495453"/>
            <a:ext cx="684803" cy="2308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Alternator</a:t>
            </a:r>
            <a:endParaRPr kumimoji="1" lang="ja-JP" altLang="en-US"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p:txBody>
      </p:sp>
      <p:sp>
        <p:nvSpPr>
          <p:cNvPr id="17" name="テキスト ボックス 16"/>
          <p:cNvSpPr txBox="1"/>
          <p:nvPr/>
        </p:nvSpPr>
        <p:spPr>
          <a:xfrm>
            <a:off x="7512508" y="3300924"/>
            <a:ext cx="857927" cy="2308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Starter motor</a:t>
            </a:r>
          </a:p>
        </p:txBody>
      </p:sp>
      <p:sp>
        <p:nvSpPr>
          <p:cNvPr id="18" name="テキスト ボックス 17"/>
          <p:cNvSpPr txBox="1"/>
          <p:nvPr/>
        </p:nvSpPr>
        <p:spPr>
          <a:xfrm>
            <a:off x="8161238" y="5888873"/>
            <a:ext cx="716863"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Accessory</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 drive belt</a:t>
            </a:r>
            <a:endParaRPr kumimoji="1" lang="ja-JP" altLang="en-US"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p:txBody>
      </p:sp>
      <p:sp>
        <p:nvSpPr>
          <p:cNvPr id="19" name="テキスト ボックス 18"/>
          <p:cNvSpPr txBox="1"/>
          <p:nvPr/>
        </p:nvSpPr>
        <p:spPr>
          <a:xfrm>
            <a:off x="8233759" y="3618606"/>
            <a:ext cx="761747" cy="2308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Ignition coil</a:t>
            </a:r>
            <a:endParaRPr kumimoji="1" lang="ja-JP" altLang="en-US"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p:txBody>
      </p:sp>
      <p:sp>
        <p:nvSpPr>
          <p:cNvPr id="21" name="テキスト ボックス 20"/>
          <p:cNvSpPr txBox="1"/>
          <p:nvPr/>
        </p:nvSpPr>
        <p:spPr>
          <a:xfrm>
            <a:off x="7362736" y="766330"/>
            <a:ext cx="870751"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Purge control</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 solenoid</a:t>
            </a:r>
          </a:p>
        </p:txBody>
      </p:sp>
      <p:sp>
        <p:nvSpPr>
          <p:cNvPr id="25" name="テキスト ボックス 24"/>
          <p:cNvSpPr txBox="1"/>
          <p:nvPr/>
        </p:nvSpPr>
        <p:spPr>
          <a:xfrm>
            <a:off x="6085280" y="2810994"/>
            <a:ext cx="582211"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Knock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 Sensor</a:t>
            </a:r>
          </a:p>
        </p:txBody>
      </p:sp>
      <p:sp>
        <p:nvSpPr>
          <p:cNvPr id="26" name="テキスト ボックス 25"/>
          <p:cNvSpPr txBox="1"/>
          <p:nvPr/>
        </p:nvSpPr>
        <p:spPr>
          <a:xfrm>
            <a:off x="6216907" y="3300924"/>
            <a:ext cx="1217000" cy="2308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Oil Pressure Sensor</a:t>
            </a:r>
          </a:p>
        </p:txBody>
      </p:sp>
      <p:sp>
        <p:nvSpPr>
          <p:cNvPr id="27" name="テキスト ボックス 26"/>
          <p:cNvSpPr txBox="1"/>
          <p:nvPr/>
        </p:nvSpPr>
        <p:spPr>
          <a:xfrm>
            <a:off x="6975512" y="904459"/>
            <a:ext cx="421911" cy="2308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PCV</a:t>
            </a:r>
          </a:p>
        </p:txBody>
      </p:sp>
      <p:cxnSp>
        <p:nvCxnSpPr>
          <p:cNvPr id="28" name="直線コネクタ 27"/>
          <p:cNvCxnSpPr>
            <a:stCxn id="21" idx="2"/>
          </p:cNvCxnSpPr>
          <p:nvPr/>
        </p:nvCxnSpPr>
        <p:spPr bwMode="auto">
          <a:xfrm>
            <a:off x="7798112" y="1135662"/>
            <a:ext cx="286720" cy="413150"/>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コネクタ 28"/>
          <p:cNvCxnSpPr>
            <a:stCxn id="3" idx="2"/>
          </p:cNvCxnSpPr>
          <p:nvPr/>
        </p:nvCxnSpPr>
        <p:spPr bwMode="auto">
          <a:xfrm flipH="1">
            <a:off x="8286828" y="1135662"/>
            <a:ext cx="364089" cy="359791"/>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コネクタ 37"/>
          <p:cNvCxnSpPr>
            <a:stCxn id="18" idx="0"/>
          </p:cNvCxnSpPr>
          <p:nvPr/>
        </p:nvCxnSpPr>
        <p:spPr bwMode="auto">
          <a:xfrm flipV="1">
            <a:off x="8519670" y="5376613"/>
            <a:ext cx="189923" cy="512260"/>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線コネクタ 41"/>
          <p:cNvCxnSpPr>
            <a:stCxn id="19" idx="2"/>
          </p:cNvCxnSpPr>
          <p:nvPr/>
        </p:nvCxnSpPr>
        <p:spPr bwMode="auto">
          <a:xfrm flipH="1">
            <a:off x="7712839" y="3849438"/>
            <a:ext cx="901794" cy="608085"/>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線コネクタ 43"/>
          <p:cNvCxnSpPr>
            <a:stCxn id="17" idx="0"/>
          </p:cNvCxnSpPr>
          <p:nvPr/>
        </p:nvCxnSpPr>
        <p:spPr bwMode="auto">
          <a:xfrm flipH="1" flipV="1">
            <a:off x="7666325" y="2631636"/>
            <a:ext cx="275147" cy="669288"/>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線コネクタ 45"/>
          <p:cNvCxnSpPr>
            <a:stCxn id="26" idx="0"/>
          </p:cNvCxnSpPr>
          <p:nvPr/>
        </p:nvCxnSpPr>
        <p:spPr bwMode="auto">
          <a:xfrm flipV="1">
            <a:off x="6825407" y="2519668"/>
            <a:ext cx="608500" cy="781256"/>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線コネクタ 47"/>
          <p:cNvCxnSpPr>
            <a:stCxn id="25" idx="3"/>
          </p:cNvCxnSpPr>
          <p:nvPr/>
        </p:nvCxnSpPr>
        <p:spPr bwMode="auto">
          <a:xfrm flipV="1">
            <a:off x="6667491" y="2267612"/>
            <a:ext cx="697796" cy="728048"/>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線コネクタ 61"/>
          <p:cNvCxnSpPr>
            <a:stCxn id="27" idx="2"/>
          </p:cNvCxnSpPr>
          <p:nvPr/>
        </p:nvCxnSpPr>
        <p:spPr bwMode="auto">
          <a:xfrm>
            <a:off x="7186468" y="1135291"/>
            <a:ext cx="526371" cy="795744"/>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線コネクタ 63"/>
          <p:cNvCxnSpPr>
            <a:stCxn id="16" idx="2"/>
          </p:cNvCxnSpPr>
          <p:nvPr/>
        </p:nvCxnSpPr>
        <p:spPr bwMode="auto">
          <a:xfrm>
            <a:off x="6484522" y="1726285"/>
            <a:ext cx="382901" cy="623591"/>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四角形吹き出し 42"/>
          <p:cNvSpPr/>
          <p:nvPr/>
        </p:nvSpPr>
        <p:spPr bwMode="auto">
          <a:xfrm>
            <a:off x="6101198" y="4078313"/>
            <a:ext cx="996459" cy="1465675"/>
          </a:xfrm>
          <a:prstGeom prst="wedgeRectCallout">
            <a:avLst>
              <a:gd name="adj1" fmla="val 62355"/>
              <a:gd name="adj2" fmla="val -22193"/>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pic>
        <p:nvPicPr>
          <p:cNvPr id="45" name="Picture 170"/>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3948" t="39590" r="55898" b="21831"/>
          <a:stretch/>
        </p:blipFill>
        <p:spPr bwMode="auto">
          <a:xfrm>
            <a:off x="6134450" y="4166669"/>
            <a:ext cx="936568" cy="1341434"/>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 name="テキスト ボックス 46"/>
          <p:cNvSpPr txBox="1"/>
          <p:nvPr/>
        </p:nvSpPr>
        <p:spPr>
          <a:xfrm>
            <a:off x="6093330" y="3618606"/>
            <a:ext cx="582211"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TW</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 Sensor</a:t>
            </a:r>
          </a:p>
        </p:txBody>
      </p:sp>
      <p:cxnSp>
        <p:nvCxnSpPr>
          <p:cNvPr id="49" name="直線コネクタ 48"/>
          <p:cNvCxnSpPr>
            <a:stCxn id="47" idx="2"/>
          </p:cNvCxnSpPr>
          <p:nvPr/>
        </p:nvCxnSpPr>
        <p:spPr bwMode="auto">
          <a:xfrm>
            <a:off x="6384436" y="3987938"/>
            <a:ext cx="283055" cy="1147116"/>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テキスト ボックス 49"/>
          <p:cNvSpPr txBox="1"/>
          <p:nvPr/>
        </p:nvSpPr>
        <p:spPr>
          <a:xfrm>
            <a:off x="6556661" y="3620055"/>
            <a:ext cx="582211"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TDC</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 Sensor</a:t>
            </a:r>
          </a:p>
        </p:txBody>
      </p:sp>
      <p:cxnSp>
        <p:nvCxnSpPr>
          <p:cNvPr id="52" name="直線コネクタ 51"/>
          <p:cNvCxnSpPr>
            <a:stCxn id="50" idx="2"/>
          </p:cNvCxnSpPr>
          <p:nvPr/>
        </p:nvCxnSpPr>
        <p:spPr bwMode="auto">
          <a:xfrm flipH="1">
            <a:off x="6772460" y="3989387"/>
            <a:ext cx="75307" cy="802090"/>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四角形吹き出し 53"/>
          <p:cNvSpPr/>
          <p:nvPr/>
        </p:nvSpPr>
        <p:spPr bwMode="auto">
          <a:xfrm>
            <a:off x="6265642" y="5588428"/>
            <a:ext cx="832016" cy="891591"/>
          </a:xfrm>
          <a:prstGeom prst="wedgeRectCallout">
            <a:avLst>
              <a:gd name="adj1" fmla="val 104915"/>
              <a:gd name="adj2" fmla="val -54823"/>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pic>
        <p:nvPicPr>
          <p:cNvPr id="58" name="Picture 195"/>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3382" t="27377" r="60156" b="23888"/>
          <a:stretch/>
        </p:blipFill>
        <p:spPr bwMode="auto">
          <a:xfrm>
            <a:off x="6303130" y="5609630"/>
            <a:ext cx="746557" cy="86295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cxnSp>
        <p:nvCxnSpPr>
          <p:cNvPr id="65" name="直線コネクタ 64"/>
          <p:cNvCxnSpPr/>
          <p:nvPr/>
        </p:nvCxnSpPr>
        <p:spPr bwMode="auto">
          <a:xfrm flipV="1">
            <a:off x="6580522" y="6098110"/>
            <a:ext cx="333500" cy="62471"/>
          </a:xfrm>
          <a:prstGeom prst="line">
            <a:avLst/>
          </a:prstGeom>
          <a:solidFill>
            <a:schemeClr val="accent1"/>
          </a:solidFill>
          <a:ln w="3175" cap="flat" cmpd="sng" algn="ctr">
            <a:solidFill>
              <a:schemeClr val="tx1"/>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線コネクタ 66"/>
          <p:cNvCxnSpPr>
            <a:stCxn id="68" idx="1"/>
          </p:cNvCxnSpPr>
          <p:nvPr/>
        </p:nvCxnSpPr>
        <p:spPr bwMode="auto">
          <a:xfrm flipH="1" flipV="1">
            <a:off x="6810113" y="5860081"/>
            <a:ext cx="466616" cy="213458"/>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テキスト ボックス 67"/>
          <p:cNvSpPr txBox="1"/>
          <p:nvPr/>
        </p:nvSpPr>
        <p:spPr>
          <a:xfrm>
            <a:off x="7276729" y="5888873"/>
            <a:ext cx="582211"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Crank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 Sensor</a:t>
            </a:r>
          </a:p>
        </p:txBody>
      </p:sp>
      <p:cxnSp>
        <p:nvCxnSpPr>
          <p:cNvPr id="76" name="直線コネクタ 75"/>
          <p:cNvCxnSpPr/>
          <p:nvPr/>
        </p:nvCxnSpPr>
        <p:spPr bwMode="auto">
          <a:xfrm flipV="1">
            <a:off x="6465129" y="5670647"/>
            <a:ext cx="333500" cy="62471"/>
          </a:xfrm>
          <a:prstGeom prst="line">
            <a:avLst/>
          </a:prstGeom>
          <a:solidFill>
            <a:schemeClr val="accent1"/>
          </a:solidFill>
          <a:ln w="3175" cap="flat" cmpd="sng" algn="ctr">
            <a:solidFill>
              <a:schemeClr val="tx1"/>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コネクタ 36"/>
          <p:cNvCxnSpPr>
            <a:stCxn id="19" idx="2"/>
          </p:cNvCxnSpPr>
          <p:nvPr/>
        </p:nvCxnSpPr>
        <p:spPr bwMode="auto">
          <a:xfrm flipH="1">
            <a:off x="8130534" y="3849438"/>
            <a:ext cx="484099" cy="663391"/>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線コネクタ 38"/>
          <p:cNvCxnSpPr>
            <a:stCxn id="19" idx="2"/>
          </p:cNvCxnSpPr>
          <p:nvPr/>
        </p:nvCxnSpPr>
        <p:spPr bwMode="auto">
          <a:xfrm flipH="1">
            <a:off x="7912304" y="3849438"/>
            <a:ext cx="702329" cy="638994"/>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コネクタ 39"/>
          <p:cNvCxnSpPr>
            <a:stCxn id="19" idx="2"/>
          </p:cNvCxnSpPr>
          <p:nvPr/>
        </p:nvCxnSpPr>
        <p:spPr bwMode="auto">
          <a:xfrm flipH="1">
            <a:off x="8338844" y="3849438"/>
            <a:ext cx="275789" cy="695772"/>
          </a:xfrm>
          <a:prstGeom prst="line">
            <a:avLst/>
          </a:prstGeom>
          <a:solidFill>
            <a:schemeClr val="accent1"/>
          </a:solidFill>
          <a:ln w="9525"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TextBox 50"/>
          <p:cNvSpPr txBox="1"/>
          <p:nvPr/>
        </p:nvSpPr>
        <p:spPr>
          <a:xfrm>
            <a:off x="46620" y="766330"/>
            <a:ext cx="3033203"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sz="2400" b="0" i="0" u="sng" strike="noStrike" kern="1200" cap="none" spc="0" normalizeH="0" baseline="0" noProof="0">
                <a:ln>
                  <a:noFill/>
                </a:ln>
                <a:solidFill>
                  <a:srgbClr val="000000"/>
                </a:solidFill>
                <a:effectLst/>
                <a:uLnTx/>
                <a:uFillTx/>
                <a:latin typeface="Times New Roman" pitchFamily="18" charset="0"/>
                <a:ea typeface="ＭＳ Ｐゴシック" charset="-128"/>
                <a:cs typeface="+mn-cs"/>
              </a:rPr>
              <a:t>ENGINE CONTROLS</a:t>
            </a:r>
          </a:p>
        </p:txBody>
      </p:sp>
      <p:sp>
        <p:nvSpPr>
          <p:cNvPr id="55" name="Text Box 2"/>
          <p:cNvSpPr txBox="1">
            <a:spLocks noChangeArrowheads="1"/>
          </p:cNvSpPr>
          <p:nvPr/>
        </p:nvSpPr>
        <p:spPr bwMode="auto">
          <a:xfrm>
            <a:off x="250837" y="44451"/>
            <a:ext cx="8893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12.</a:t>
            </a:r>
            <a:r>
              <a:rPr kumimoji="1" lang="ja-JP" altLang="en-US"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Arial Narrow" pitchFamily="34" charset="0"/>
                <a:ea typeface="HGP創英角ｺﾞｼｯｸUB" pitchFamily="50" charset="-128"/>
                <a:cs typeface="Arial" pitchFamily="34" charset="0"/>
              </a:rPr>
              <a:t>ENG Spec Comparison from Base model (5/5)</a:t>
            </a:r>
            <a:endParaRPr kumimoji="1" lang="en-US" altLang="ja-JP" sz="1200" b="0" i="0" u="none" strike="noStrike" kern="1200" cap="none" spc="0" normalizeH="0" baseline="0" noProof="0">
              <a:ln>
                <a:noFill/>
              </a:ln>
              <a:solidFill>
                <a:srgbClr val="FFFFFF"/>
              </a:solidFill>
              <a:effectLst/>
              <a:uLnTx/>
              <a:uFillTx/>
              <a:latin typeface="Arial Narrow" pitchFamily="34" charset="0"/>
              <a:ea typeface="HGPｺﾞｼｯｸE" pitchFamily="50" charset="-128"/>
              <a:cs typeface="Arial" pitchFamily="34" charset="0"/>
            </a:endParaRPr>
          </a:p>
        </p:txBody>
      </p:sp>
      <p:sp>
        <p:nvSpPr>
          <p:cNvPr id="2" name="テキスト ボックス 1">
            <a:extLst>
              <a:ext uri="{FF2B5EF4-FFF2-40B4-BE49-F238E27FC236}">
                <a16:creationId xmlns:a16="http://schemas.microsoft.com/office/drawing/2014/main" id="{49B7C840-5033-5785-BE58-F12392F6DB10}"/>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3015644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552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kumimoji="1" lang="ja-JP" altLang="en-US"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0" y="571728"/>
            <a:ext cx="5118100" cy="6124754"/>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Project information / Non-</a:t>
            </a:r>
            <a:r>
              <a:rPr kumimoji="1" lang="en-US" altLang="ja-JP" sz="1400" b="1"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1"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7733647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テキスト ボックス 10"/>
          <p:cNvSpPr txBox="1"/>
          <p:nvPr/>
        </p:nvSpPr>
        <p:spPr>
          <a:xfrm>
            <a:off x="0" y="663706"/>
            <a:ext cx="6498529" cy="369332"/>
          </a:xfrm>
          <a:prstGeom prst="rect">
            <a:avLst/>
          </a:prstGeom>
          <a:noFill/>
        </p:spPr>
        <p:txBody>
          <a:bodyPr wrap="square" rtlCol="0">
            <a:spAutoFit/>
          </a:bodyPr>
          <a:lstStyle>
            <a:defPPr>
              <a:defRPr lang="en-US"/>
            </a:defPPr>
            <a:lvl1pPr algn="l">
              <a:defRPr sz="1600" u="sng">
                <a:latin typeface="Arial" pitchFamily="34" charset="0"/>
                <a:cs typeface="Arial" pitchFamily="34" charset="0"/>
              </a:defRPr>
            </a:lvl1pPr>
          </a:lstStyle>
          <a:p>
            <a:r>
              <a:rPr lang="ja-JP" altLang="en-US" sz="1800" u="none">
                <a:latin typeface="Meiryo UI" panose="020B0604030504040204" pitchFamily="50" charset="-128"/>
                <a:ea typeface="Meiryo UI" panose="020B0604030504040204" pitchFamily="50" charset="-128"/>
              </a:rPr>
              <a:t>＜ </a:t>
            </a:r>
            <a:r>
              <a:rPr lang="en-US" altLang="ja-JP" sz="1800" u="none">
                <a:latin typeface="Meiryo UI" panose="020B0604030504040204" pitchFamily="50" charset="-128"/>
                <a:ea typeface="Meiryo UI" panose="020B0604030504040204" pitchFamily="50" charset="-128"/>
              </a:rPr>
              <a:t>Engine</a:t>
            </a:r>
            <a:r>
              <a:rPr lang="ja-JP" altLang="en-US" sz="1800" u="none">
                <a:latin typeface="Meiryo UI" panose="020B0604030504040204" pitchFamily="50" charset="-128"/>
                <a:ea typeface="Meiryo UI" panose="020B0604030504040204" pitchFamily="50" charset="-128"/>
              </a:rPr>
              <a:t> </a:t>
            </a:r>
            <a:r>
              <a:rPr lang="en-US" altLang="ja-JP" sz="1800" u="none">
                <a:latin typeface="Meiryo UI" panose="020B0604030504040204" pitchFamily="50" charset="-128"/>
                <a:ea typeface="Meiryo UI" panose="020B0604030504040204" pitchFamily="50" charset="-128"/>
              </a:rPr>
              <a:t>Spec Overview </a:t>
            </a:r>
            <a:r>
              <a:rPr lang="ja-JP" altLang="en-US" sz="1800" u="none">
                <a:latin typeface="Meiryo UI" panose="020B0604030504040204" pitchFamily="50" charset="-128"/>
                <a:ea typeface="Meiryo UI" panose="020B0604030504040204" pitchFamily="50" charset="-128"/>
              </a:rPr>
              <a:t>＞ </a:t>
            </a:r>
          </a:p>
        </p:txBody>
      </p:sp>
      <p:pic>
        <p:nvPicPr>
          <p:cNvPr id="2076"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75" y="1012082"/>
            <a:ext cx="7639050" cy="277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7"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8604" y="2304429"/>
            <a:ext cx="7143750" cy="27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テキスト ボックス 14"/>
          <p:cNvSpPr txBox="1"/>
          <p:nvPr/>
        </p:nvSpPr>
        <p:spPr>
          <a:xfrm>
            <a:off x="5320479" y="5058116"/>
            <a:ext cx="3571875" cy="369332"/>
          </a:xfrm>
          <a:prstGeom prst="rect">
            <a:avLst/>
          </a:prstGeom>
          <a:noFill/>
        </p:spPr>
        <p:txBody>
          <a:bodyPr wrap="square" rtlCol="0">
            <a:spAutoFit/>
          </a:bodyPr>
          <a:lstStyle>
            <a:defPPr>
              <a:defRPr lang="en-US"/>
            </a:defPPr>
            <a:lvl1pPr algn="l">
              <a:defRPr sz="1600" u="sng">
                <a:latin typeface="Arial" pitchFamily="34" charset="0"/>
                <a:cs typeface="Arial" pitchFamily="34" charset="0"/>
              </a:defRPr>
            </a:lvl1pPr>
          </a:lstStyle>
          <a:p>
            <a:r>
              <a:rPr lang="ja-JP" altLang="en-US" sz="1800" u="none">
                <a:latin typeface="Meiryo UI" panose="020B0604030504040204" pitchFamily="50" charset="-128"/>
                <a:ea typeface="Meiryo UI" panose="020B0604030504040204" pitchFamily="50" charset="-128"/>
              </a:rPr>
              <a:t>＜</a:t>
            </a:r>
            <a:r>
              <a:rPr lang="en-US" altLang="ja-JP" sz="1800" u="none">
                <a:latin typeface="Meiryo UI" panose="020B0604030504040204" pitchFamily="50" charset="-128"/>
                <a:ea typeface="Meiryo UI" panose="020B0604030504040204" pitchFamily="50" charset="-128"/>
              </a:rPr>
              <a:t>Vehicle</a:t>
            </a:r>
            <a:r>
              <a:rPr lang="ja-JP" altLang="en-US" sz="1800" u="none">
                <a:latin typeface="Meiryo UI" panose="020B0604030504040204" pitchFamily="50" charset="-128"/>
                <a:ea typeface="Meiryo UI" panose="020B0604030504040204" pitchFamily="50" charset="-128"/>
              </a:rPr>
              <a:t> </a:t>
            </a:r>
            <a:r>
              <a:rPr lang="en-US" altLang="ja-JP" sz="1800" u="none">
                <a:latin typeface="Meiryo UI" panose="020B0604030504040204" pitchFamily="50" charset="-128"/>
                <a:ea typeface="Meiryo UI" panose="020B0604030504040204" pitchFamily="50" charset="-128"/>
              </a:rPr>
              <a:t>Spec overview </a:t>
            </a:r>
            <a:r>
              <a:rPr lang="ja-JP" altLang="en-US" sz="1800" u="none">
                <a:latin typeface="Meiryo UI" panose="020B0604030504040204" pitchFamily="50" charset="-128"/>
                <a:ea typeface="Meiryo UI" panose="020B0604030504040204" pitchFamily="50" charset="-128"/>
              </a:rPr>
              <a:t>＞ </a:t>
            </a:r>
          </a:p>
        </p:txBody>
      </p:sp>
      <p:sp>
        <p:nvSpPr>
          <p:cNvPr id="19" name="正方形/長方形 18"/>
          <p:cNvSpPr/>
          <p:nvPr/>
        </p:nvSpPr>
        <p:spPr>
          <a:xfrm rot="20118914">
            <a:off x="2226987" y="2737396"/>
            <a:ext cx="4376519" cy="1200329"/>
          </a:xfrm>
          <a:prstGeom prst="rect">
            <a:avLst/>
          </a:prstGeom>
          <a:noFill/>
        </p:spPr>
        <p:txBody>
          <a:bodyPr wrap="none" lIns="91440" tIns="45720" rIns="91440" bIns="45720">
            <a:spAutoFit/>
          </a:bodyPr>
          <a:lstStyle/>
          <a:p>
            <a:pPr algn="ctr"/>
            <a:r>
              <a:rPr lang="en-US" altLang="ja-JP" sz="7200" b="1" cap="none" spc="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eiryo UI" panose="020B0604030504040204" pitchFamily="50" charset="-128"/>
                <a:ea typeface="Meiryo UI" panose="020B0604030504040204" pitchFamily="50" charset="-128"/>
              </a:rPr>
              <a:t>Example</a:t>
            </a:r>
            <a:endParaRPr lang="ja-JP" altLang="en-US" sz="7200" b="1" cap="none" spc="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eiryo UI" panose="020B0604030504040204" pitchFamily="50" charset="-128"/>
              <a:ea typeface="Meiryo UI" panose="020B0604030504040204" pitchFamily="50" charset="-128"/>
            </a:endParaRPr>
          </a:p>
        </p:txBody>
      </p:sp>
      <p:sp>
        <p:nvSpPr>
          <p:cNvPr id="13" name="テキスト ボックス 12"/>
          <p:cNvSpPr txBox="1"/>
          <p:nvPr/>
        </p:nvSpPr>
        <p:spPr>
          <a:xfrm rot="21087493">
            <a:off x="5501885" y="4048036"/>
            <a:ext cx="4185761" cy="461665"/>
          </a:xfrm>
          <a:prstGeom prst="rect">
            <a:avLst/>
          </a:prstGeom>
          <a:solidFill>
            <a:srgbClr val="00FF00"/>
          </a:solidFill>
        </p:spPr>
        <p:txBody>
          <a:bodyPr wrap="none" rtlCol="0">
            <a:spAutoFit/>
          </a:bodyPr>
          <a:lstStyle/>
          <a:p>
            <a:r>
              <a:rPr kumimoji="1" lang="ja-JP" altLang="en-US">
                <a:latin typeface="+mn-ea"/>
                <a:ea typeface="+mn-ea"/>
              </a:rPr>
              <a:t>機種ごとにアップデート必要</a:t>
            </a:r>
          </a:p>
        </p:txBody>
      </p:sp>
      <p:sp>
        <p:nvSpPr>
          <p:cNvPr id="16" name="コンテンツ プレースホルダー 2"/>
          <p:cNvSpPr txBox="1">
            <a:spLocks/>
          </p:cNvSpPr>
          <p:nvPr>
            <p:custDataLst>
              <p:tags r:id="rId1"/>
            </p:custDataLst>
          </p:nvPr>
        </p:nvSpPr>
        <p:spPr bwMode="auto">
          <a:xfrm>
            <a:off x="3249264" y="6063857"/>
            <a:ext cx="5422959"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a:t>
            </a:r>
            <a:r>
              <a:rPr lang="en-US" altLang="ja-JP" sz="1400" b="1" kern="0">
                <a:solidFill>
                  <a:srgbClr val="FF0000"/>
                </a:solidFill>
                <a:latin typeface="Meiryo UI" panose="020B0604030504040204" pitchFamily="50" charset="-128"/>
              </a:rPr>
              <a:t>XXXX</a:t>
            </a:r>
            <a:r>
              <a:rPr lang="ja-JP" altLang="en-US" sz="1400" b="1" kern="0">
                <a:latin typeface="Meiryo UI" panose="020B0604030504040204" pitchFamily="50" charset="-128"/>
              </a:rPr>
              <a:t> </a:t>
            </a:r>
            <a:r>
              <a:rPr lang="en-US" altLang="ja-JP" sz="1400" b="1" kern="0">
                <a:latin typeface="Meiryo UI" panose="020B0604030504040204" pitchFamily="50" charset="-128"/>
              </a:rPr>
              <a:t>Spec list” excel file.</a:t>
            </a:r>
          </a:p>
          <a:p>
            <a:pPr marL="0" indent="0">
              <a:lnSpc>
                <a:spcPct val="105000"/>
              </a:lnSpc>
              <a:spcBef>
                <a:spcPts val="600"/>
              </a:spcBef>
              <a:spcAft>
                <a:spcPts val="0"/>
              </a:spcAft>
            </a:pPr>
            <a:r>
              <a:rPr lang="en-US" sz="1400" b="1" kern="0">
                <a:latin typeface="Meiryo UI" panose="020B0604030504040204" pitchFamily="50" charset="-128"/>
              </a:rPr>
              <a:t>In folder : “13. ENG Spec Comparison from Base model ”</a:t>
            </a:r>
          </a:p>
        </p:txBody>
      </p:sp>
      <p:sp>
        <p:nvSpPr>
          <p:cNvPr id="18" name="Text Box 2">
            <a:extLst>
              <a:ext uri="{FF2B5EF4-FFF2-40B4-BE49-F238E27FC236}">
                <a16:creationId xmlns:a16="http://schemas.microsoft.com/office/drawing/2014/main" id="{BEFA5A06-F9F9-4BEB-AA80-AA0CBE7A7A23}"/>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ENG Spec Comparison from Base Model (1/7)</a:t>
            </a:r>
            <a:endParaRPr lang="en-US" altLang="ja-JP" sz="1050">
              <a:solidFill>
                <a:srgbClr val="FFFFFF"/>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2330184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p:cNvGraphicFramePr>
            <a:graphicFrameLocks noGrp="1"/>
          </p:cNvGraphicFramePr>
          <p:nvPr>
            <p:extLst>
              <p:ext uri="{D42A27DB-BD31-4B8C-83A1-F6EECF244321}">
                <p14:modId xmlns:p14="http://schemas.microsoft.com/office/powerpoint/2010/main" val="2227537336"/>
              </p:ext>
            </p:extLst>
          </p:nvPr>
        </p:nvGraphicFramePr>
        <p:xfrm>
          <a:off x="179512" y="1163933"/>
          <a:ext cx="5422318" cy="5175452"/>
        </p:xfrm>
        <a:graphic>
          <a:graphicData uri="http://schemas.openxmlformats.org/drawingml/2006/table">
            <a:tbl>
              <a:tblPr firstRow="1" bandRow="1"/>
              <a:tblGrid>
                <a:gridCol w="1754329">
                  <a:extLst>
                    <a:ext uri="{9D8B030D-6E8A-4147-A177-3AD203B41FA5}">
                      <a16:colId xmlns:a16="http://schemas.microsoft.com/office/drawing/2014/main" val="20000"/>
                    </a:ext>
                  </a:extLst>
                </a:gridCol>
                <a:gridCol w="828000">
                  <a:extLst>
                    <a:ext uri="{9D8B030D-6E8A-4147-A177-3AD203B41FA5}">
                      <a16:colId xmlns:a16="http://schemas.microsoft.com/office/drawing/2014/main" val="20001"/>
                    </a:ext>
                  </a:extLst>
                </a:gridCol>
                <a:gridCol w="828000">
                  <a:extLst>
                    <a:ext uri="{9D8B030D-6E8A-4147-A177-3AD203B41FA5}">
                      <a16:colId xmlns:a16="http://schemas.microsoft.com/office/drawing/2014/main" val="20004"/>
                    </a:ext>
                  </a:extLst>
                </a:gridCol>
                <a:gridCol w="2011989">
                  <a:extLst>
                    <a:ext uri="{9D8B030D-6E8A-4147-A177-3AD203B41FA5}">
                      <a16:colId xmlns:a16="http://schemas.microsoft.com/office/drawing/2014/main" val="20005"/>
                    </a:ext>
                  </a:extLst>
                </a:gridCol>
              </a:tblGrid>
              <a:tr h="215135">
                <a:tc row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rPr>
                        <a:t>Part Name</a:t>
                      </a: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a:solidFill>
                            <a:srgbClr val="FF0000"/>
                          </a:solidFill>
                          <a:latin typeface="Meiryo UI" panose="020B0604030504040204" pitchFamily="50" charset="-128"/>
                          <a:ea typeface="Meiryo UI" pitchFamily="50" charset="-128"/>
                          <a:cs typeface="Arial" pitchFamily="34" charset="0"/>
                        </a:rPr>
                        <a:t>6SAA</a:t>
                      </a:r>
                    </a:p>
                  </a:txBody>
                  <a:tcPr marL="18000" marR="18000" marT="18000" marB="18000" anchor="ctr">
                    <a:lnL w="12700" cmpd="sng">
                      <a:solidFill>
                        <a:sysClr val="windowText" lastClr="000000"/>
                      </a:solid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kumimoji="1" lang="en-US" altLang="ja-JP" sz="1400" b="0" kern="1200" baseline="0">
                          <a:solidFill>
                            <a:srgbClr val="FF0000"/>
                          </a:solidFill>
                          <a:latin typeface="Meiryo UI" panose="020B0604030504040204" pitchFamily="50" charset="-128"/>
                          <a:ea typeface="Meiryo UI" pitchFamily="50" charset="-128"/>
                          <a:cs typeface="Arial" pitchFamily="34" charset="0"/>
                        </a:rPr>
                        <a:t>6SAA-MMC</a:t>
                      </a:r>
                      <a:endParaRPr kumimoji="1" lang="ja-JP" altLang="en-US" sz="1400" b="0" kern="1200" baseline="0">
                        <a:solidFill>
                          <a:srgbClr val="FF0000"/>
                        </a:solidFill>
                        <a:latin typeface="Meiryo UI" panose="020B0604030504040204" pitchFamily="50" charset="-128"/>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a:solidFill>
                            <a:schemeClr val="tx1"/>
                          </a:solidFill>
                          <a:latin typeface="Meiryo UI" panose="020B0604030504040204" pitchFamily="50" charset="-128"/>
                          <a:ea typeface="Meiryo UI" pitchFamily="50" charset="-128"/>
                          <a:cs typeface="Arial" pitchFamily="34" charset="0"/>
                        </a:rPr>
                        <a:t>NOTE</a:t>
                      </a:r>
                      <a:endParaRPr kumimoji="1" lang="ja-JP" altLang="en-US" sz="1400" b="0" baseline="0">
                        <a:solidFill>
                          <a:schemeClr val="tx1"/>
                        </a:solidFill>
                        <a:latin typeface="Meiryo UI" panose="020B0604030504040204" pitchFamily="50" charset="-128"/>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99212">
                <a:tc vMerge="1">
                  <a:txBody>
                    <a:bodyPr/>
                    <a:lstStyle/>
                    <a:p>
                      <a:endParaRPr kumimoji="1" lang="ja-JP" altLang="en-US" b="1" baseline="0">
                        <a:latin typeface="ＭＳ Ｐゴシック" pitchFamily="50" charset="-128"/>
                        <a:ea typeface="ＭＳ Ｐゴシック" pitchFamily="50" charset="-128"/>
                      </a:endParaRPr>
                    </a:p>
                  </a:txBody>
                  <a:tcPr/>
                </a:tc>
                <a:tc>
                  <a:txBody>
                    <a:bodyPr/>
                    <a:lstStyle/>
                    <a:p>
                      <a:pPr algn="ctr"/>
                      <a:r>
                        <a:rPr kumimoji="1" lang="en-US" altLang="ja-JP" sz="1400" b="0" baseline="0">
                          <a:solidFill>
                            <a:srgbClr val="FF0000"/>
                          </a:solidFill>
                          <a:latin typeface="Meiryo UI" panose="020B0604030504040204" pitchFamily="50" charset="-128"/>
                          <a:ea typeface="Meiryo UI" pitchFamily="50" charset="-128"/>
                          <a:cs typeface="Arial" pitchFamily="34" charset="0"/>
                        </a:rPr>
                        <a:t>ID/KN</a:t>
                      </a:r>
                      <a:endParaRPr kumimoji="1" lang="ja-JP" altLang="en-US" sz="1400" b="0" baseline="0">
                        <a:solidFill>
                          <a:srgbClr val="FF0000"/>
                        </a:solidFill>
                        <a:latin typeface="Meiryo UI" panose="020B0604030504040204" pitchFamily="50" charset="-128"/>
                        <a:ea typeface="Meiryo UI" pitchFamily="50" charset="-128"/>
                        <a:cs typeface="Arial" pitchFamily="34" charset="0"/>
                      </a:endParaRPr>
                    </a:p>
                  </a:txBody>
                  <a:tcPr marL="18000" marR="18000" marT="18000" marB="18000" anchor="ctr">
                    <a:lnL w="12700" cmpd="sng">
                      <a:solidFill>
                        <a:sysClr val="windowText" lastClr="000000"/>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solidFill>
                            <a:srgbClr val="FF0000"/>
                          </a:solidFill>
                          <a:latin typeface="Meiryo UI" panose="020B0604030504040204" pitchFamily="50" charset="-128"/>
                          <a:ea typeface="Meiryo UI" pitchFamily="50" charset="-128"/>
                          <a:cs typeface="Arial" pitchFamily="34" charset="0"/>
                        </a:rPr>
                        <a:t>ID/KN</a:t>
                      </a:r>
                      <a:endParaRPr kumimoji="1" lang="ja-JP" altLang="en-US" sz="1400" b="0" baseline="0">
                        <a:solidFill>
                          <a:srgbClr val="FF0000"/>
                        </a:solidFill>
                        <a:latin typeface="Meiryo UI" panose="020B0604030504040204" pitchFamily="50" charset="-128"/>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12700" cmpd="sng">
                      <a:solidFill>
                        <a:sysClr val="windowText" lastClr="000000"/>
                      </a:solid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b="1" baseline="0">
                        <a:latin typeface="ＭＳ Ｐゴシック" pitchFamily="50" charset="-128"/>
                        <a:ea typeface="ＭＳ Ｐゴシック" pitchFamily="50" charset="-128"/>
                      </a:endParaRPr>
                    </a:p>
                  </a:txBody>
                  <a:tcPr>
                    <a:solidFill>
                      <a:schemeClr val="bg1"/>
                    </a:solidFill>
                  </a:tcPr>
                </a:tc>
                <a:extLst>
                  <a:ext uri="{0D108BD9-81ED-4DB2-BD59-A6C34878D82A}">
                    <a16:rowId xmlns:a16="http://schemas.microsoft.com/office/drawing/2014/main" val="10001"/>
                  </a:ext>
                </a:extLst>
              </a:tr>
              <a:tr h="246194">
                <a:tc>
                  <a:txBody>
                    <a:bodyPr/>
                    <a:lstStyle/>
                    <a:p>
                      <a:r>
                        <a:rPr lang="en-US" altLang="ja-JP" sz="1200">
                          <a:solidFill>
                            <a:schemeClr val="tx1"/>
                          </a:solidFill>
                          <a:latin typeface="Meiryo UI" panose="020B0604030504040204" pitchFamily="50" charset="-128"/>
                          <a:cs typeface="Arial" panose="020B0604020202020204" pitchFamily="34" charset="0"/>
                        </a:rPr>
                        <a:t>Assembly</a:t>
                      </a:r>
                      <a:r>
                        <a:rPr lang="en-US" altLang="ja-JP" sz="1200" baseline="0">
                          <a:solidFill>
                            <a:schemeClr val="tx1"/>
                          </a:solidFill>
                          <a:latin typeface="Meiryo UI" panose="020B0604030504040204" pitchFamily="50" charset="-128"/>
                          <a:cs typeface="Arial" panose="020B0604020202020204" pitchFamily="34" charset="0"/>
                        </a:rPr>
                        <a:t> Factory</a:t>
                      </a:r>
                    </a:p>
                    <a:p>
                      <a:r>
                        <a:rPr lang="en-US" altLang="ja-JP" sz="1200" baseline="0">
                          <a:solidFill>
                            <a:schemeClr val="tx1"/>
                          </a:solidFill>
                          <a:latin typeface="Meiryo UI" panose="020B0604030504040204" pitchFamily="50" charset="-128"/>
                          <a:cs typeface="Arial" panose="020B0604020202020204" pitchFamily="34" charset="0"/>
                        </a:rPr>
                        <a:t>Vehicle/Engine</a:t>
                      </a:r>
                      <a:endParaRPr lang="ja-JP" altLang="en-US" sz="1200">
                        <a:solidFill>
                          <a:schemeClr val="tx1"/>
                        </a:solidFill>
                        <a:latin typeface="Meiryo UI" panose="020B0604030504040204" pitchFamily="50" charset="-128"/>
                        <a:cs typeface="Arial" panose="020B0604020202020204" pitchFamily="34" charset="0"/>
                      </a:endParaRP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baseline="0">
                          <a:solidFill>
                            <a:srgbClr val="FF0000"/>
                          </a:solidFill>
                          <a:latin typeface="Meiryo UI" panose="020B0604030504040204" pitchFamily="50" charset="-128"/>
                          <a:ea typeface="Meiryo UI" pitchFamily="50" charset="-128"/>
                          <a:cs typeface="Arial" pitchFamily="34" charset="0"/>
                        </a:rPr>
                        <a:t>HCIL</a:t>
                      </a:r>
                      <a:endParaRPr kumimoji="1" lang="ja-JP" altLang="en-US" sz="1200" b="0" baseline="0">
                        <a:solidFill>
                          <a:srgbClr val="FF0000"/>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rPr>
                        <a:t>HCIL</a:t>
                      </a:r>
                      <a:endParaRPr kumimoji="1" lang="ja-JP" altLang="en-US" sz="12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endParaRPr>
                    </a:p>
                  </a:txBody>
                  <a:tcPr marL="18000" marR="18000"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rPr>
                        <a:t>Cylinder Block Assy</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L="18000" marR="18000"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L="18000" marR="18000"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rPr>
                        <a:t>Cylinder Head Assy</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FFFF99"/>
                    </a:solidFill>
                  </a:tcPr>
                </a:tc>
                <a:tc>
                  <a:txBody>
                    <a:bodyPr/>
                    <a:lstStyle/>
                    <a:p>
                      <a:pPr algn="ct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rPr>
                        <a:t>Crankshaft</a:t>
                      </a:r>
                      <a:endParaRPr kumimoji="0"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endParaRP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5"/>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Conrod Assy</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solidFill>
                      <a:schemeClr val="bg1"/>
                    </a:solidFill>
                  </a:tcPr>
                </a:tc>
                <a:extLst>
                  <a:ext uri="{0D108BD9-81ED-4DB2-BD59-A6C34878D82A}">
                    <a16:rowId xmlns:a16="http://schemas.microsoft.com/office/drawing/2014/main" val="10006"/>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Piston</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7"/>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Piston Ring</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8"/>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Camshaft In</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Camshaft Exh</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strike="sngStrike" kern="1200" baseline="0">
                        <a:solidFill>
                          <a:srgbClr val="FF0000"/>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9"/>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Fuel pump Cam profile</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0"/>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Oil</a:t>
                      </a:r>
                      <a:r>
                        <a:rPr kumimoji="1" lang="ja-JP" altLang="en-US"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 </a:t>
                      </a: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Pan</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rgbClr val="FF0000"/>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46823137"/>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Oil pump</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1"/>
                  </a:ext>
                </a:extLst>
              </a:tr>
              <a:tr h="1833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Water pump</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bl>
          </a:graphicData>
        </a:graphic>
      </p:graphicFrame>
      <p:sp>
        <p:nvSpPr>
          <p:cNvPr id="4" name="Text Box 2"/>
          <p:cNvSpPr txBox="1">
            <a:spLocks noChangeArrowheads="1"/>
          </p:cNvSpPr>
          <p:nvPr/>
        </p:nvSpPr>
        <p:spPr bwMode="auto">
          <a:xfrm>
            <a:off x="107510" y="620716"/>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indent="-180975" algn="l" eaLnBrk="1" fontAlgn="base" hangingPunct="1">
              <a:spcBef>
                <a:spcPct val="0"/>
              </a:spcBef>
              <a:spcAft>
                <a:spcPct val="0"/>
              </a:spcAft>
            </a:pPr>
            <a:r>
              <a:rPr lang="en-US" altLang="ja-JP" sz="1400">
                <a:solidFill>
                  <a:srgbClr val="000000"/>
                </a:solidFill>
                <a:latin typeface="Meiryo UI" panose="020B0604030504040204" pitchFamily="50" charset="-128"/>
                <a:ea typeface="Meiryo UI" panose="020B0604030504040204" pitchFamily="50" charset="-128"/>
              </a:rPr>
              <a:t>Honda </a:t>
            </a:r>
            <a:r>
              <a:rPr lang="ja-JP" altLang="en-US" sz="1400">
                <a:solidFill>
                  <a:srgbClr val="000000"/>
                </a:solidFill>
                <a:latin typeface="Meiryo UI" panose="020B0604030504040204" pitchFamily="50" charset="-128"/>
                <a:ea typeface="Meiryo UI" panose="020B0604030504040204" pitchFamily="50" charset="-128"/>
              </a:rPr>
              <a:t>内製適用部品リストの目的：適用部品の情報共有</a:t>
            </a:r>
          </a:p>
        </p:txBody>
      </p:sp>
      <p:sp>
        <p:nvSpPr>
          <p:cNvPr id="5" name="Text Box 2"/>
          <p:cNvSpPr txBox="1">
            <a:spLocks noChangeArrowheads="1"/>
          </p:cNvSpPr>
          <p:nvPr/>
        </p:nvSpPr>
        <p:spPr bwMode="auto">
          <a:xfrm>
            <a:off x="97454" y="836712"/>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indent="-180975" algn="l" eaLnBrk="1" fontAlgn="base" hangingPunct="1">
              <a:spcBef>
                <a:spcPct val="0"/>
              </a:spcBef>
              <a:spcAft>
                <a:spcPct val="0"/>
              </a:spcAft>
              <a:tabLst>
                <a:tab pos="85725" algn="l"/>
              </a:tabLst>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Purpose of Honda production list : to share the ENG structure information. </a:t>
            </a:r>
            <a:endParaRPr lang="ja-JP" altLang="en-US" sz="140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8" name="Text Box 2"/>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ENG Spec Comparison from Base Model (2/7)</a:t>
            </a:r>
            <a:endParaRPr lang="en-US" altLang="ja-JP" sz="105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2" name="テキスト ボックス 1">
            <a:extLst>
              <a:ext uri="{FF2B5EF4-FFF2-40B4-BE49-F238E27FC236}">
                <a16:creationId xmlns:a16="http://schemas.microsoft.com/office/drawing/2014/main" id="{61A0CF54-1F10-A448-D552-2EA490A4252C}"/>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9460385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 5"/>
          <p:cNvGraphicFramePr>
            <a:graphicFrameLocks noGrp="1"/>
          </p:cNvGraphicFramePr>
          <p:nvPr>
            <p:extLst>
              <p:ext uri="{D42A27DB-BD31-4B8C-83A1-F6EECF244321}">
                <p14:modId xmlns:p14="http://schemas.microsoft.com/office/powerpoint/2010/main" val="4134790131"/>
              </p:ext>
            </p:extLst>
          </p:nvPr>
        </p:nvGraphicFramePr>
        <p:xfrm>
          <a:off x="175466" y="1170615"/>
          <a:ext cx="5406940" cy="3440471"/>
        </p:xfrm>
        <a:graphic>
          <a:graphicData uri="http://schemas.openxmlformats.org/drawingml/2006/table">
            <a:tbl>
              <a:tblPr firstRow="1" bandRow="1"/>
              <a:tblGrid>
                <a:gridCol w="1747166">
                  <a:extLst>
                    <a:ext uri="{9D8B030D-6E8A-4147-A177-3AD203B41FA5}">
                      <a16:colId xmlns:a16="http://schemas.microsoft.com/office/drawing/2014/main" val="20000"/>
                    </a:ext>
                  </a:extLst>
                </a:gridCol>
                <a:gridCol w="828000">
                  <a:extLst>
                    <a:ext uri="{9D8B030D-6E8A-4147-A177-3AD203B41FA5}">
                      <a16:colId xmlns:a16="http://schemas.microsoft.com/office/drawing/2014/main" val="20001"/>
                    </a:ext>
                  </a:extLst>
                </a:gridCol>
                <a:gridCol w="828000">
                  <a:extLst>
                    <a:ext uri="{9D8B030D-6E8A-4147-A177-3AD203B41FA5}">
                      <a16:colId xmlns:a16="http://schemas.microsoft.com/office/drawing/2014/main" val="20004"/>
                    </a:ext>
                  </a:extLst>
                </a:gridCol>
                <a:gridCol w="2003774">
                  <a:extLst>
                    <a:ext uri="{9D8B030D-6E8A-4147-A177-3AD203B41FA5}">
                      <a16:colId xmlns:a16="http://schemas.microsoft.com/office/drawing/2014/main" val="20005"/>
                    </a:ext>
                  </a:extLst>
                </a:gridCol>
              </a:tblGrid>
              <a:tr h="224394">
                <a:tc row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rPr>
                        <a:t>Part Name</a:t>
                      </a:r>
                      <a:endParaRPr kumimoji="1" lang="ja-JP" altLang="en-US" sz="12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a:solidFill>
                            <a:srgbClr val="FF0000"/>
                          </a:solidFill>
                          <a:latin typeface="Meiryo UI" panose="020B0604030504040204" pitchFamily="50" charset="-128"/>
                          <a:ea typeface="Meiryo UI" pitchFamily="50" charset="-128"/>
                          <a:cs typeface="Arial" pitchFamily="34" charset="0"/>
                        </a:rPr>
                        <a:t>6SAA</a:t>
                      </a:r>
                    </a:p>
                  </a:txBody>
                  <a:tcPr marL="18000" marR="18000" marT="18000" marB="18000" anchor="ctr">
                    <a:lnL w="12700" cmpd="sng">
                      <a:solidFill>
                        <a:sysClr val="windowText" lastClr="000000"/>
                      </a:solid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kumimoji="1" lang="en-US" altLang="ja-JP" sz="1400" b="0" kern="1200" baseline="0">
                          <a:solidFill>
                            <a:srgbClr val="FF0000"/>
                          </a:solidFill>
                          <a:latin typeface="Meiryo UI" panose="020B0604030504040204" pitchFamily="50" charset="-128"/>
                          <a:ea typeface="Meiryo UI" pitchFamily="50" charset="-128"/>
                          <a:cs typeface="Arial" pitchFamily="34" charset="0"/>
                        </a:rPr>
                        <a:t>6SAA-MMC</a:t>
                      </a:r>
                      <a:endParaRPr kumimoji="1" lang="ja-JP" altLang="en-US" sz="1400" b="0" kern="1200" baseline="0">
                        <a:solidFill>
                          <a:srgbClr val="FF0000"/>
                        </a:solidFill>
                        <a:latin typeface="Meiryo UI" panose="020B0604030504040204" pitchFamily="50" charset="-128"/>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200" b="0" baseline="0">
                          <a:solidFill>
                            <a:schemeClr val="tx1"/>
                          </a:solidFill>
                          <a:latin typeface="Meiryo UI" panose="020B0604030504040204" pitchFamily="50" charset="-128"/>
                          <a:ea typeface="Meiryo UI" pitchFamily="50" charset="-128"/>
                          <a:cs typeface="Arial" pitchFamily="34" charset="0"/>
                        </a:rPr>
                        <a:t>NOTE</a:t>
                      </a:r>
                      <a:endParaRPr kumimoji="1" lang="ja-JP" altLang="en-US" sz="1200" b="0" baseline="0">
                        <a:solidFill>
                          <a:schemeClr val="tx1"/>
                        </a:solidFill>
                        <a:latin typeface="Meiryo UI" panose="020B0604030504040204" pitchFamily="50" charset="-128"/>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59243">
                <a:tc vMerge="1">
                  <a:txBody>
                    <a:bodyPr/>
                    <a:lstStyle/>
                    <a:p>
                      <a:endParaRPr kumimoji="1" lang="ja-JP" altLang="en-US" b="1" baseline="0">
                        <a:latin typeface="ＭＳ Ｐゴシック" pitchFamily="50" charset="-128"/>
                        <a:ea typeface="ＭＳ Ｐゴシック" pitchFamily="50" charset="-128"/>
                      </a:endParaRPr>
                    </a:p>
                  </a:txBody>
                  <a:tcPr/>
                </a:tc>
                <a:tc>
                  <a:txBody>
                    <a:bodyPr/>
                    <a:lstStyle/>
                    <a:p>
                      <a:pPr algn="ctr"/>
                      <a:r>
                        <a:rPr kumimoji="1" lang="en-US" altLang="ja-JP" sz="1400" b="0" baseline="0">
                          <a:solidFill>
                            <a:srgbClr val="FF0000"/>
                          </a:solidFill>
                          <a:latin typeface="Meiryo UI" panose="020B0604030504040204" pitchFamily="50" charset="-128"/>
                          <a:ea typeface="Meiryo UI" pitchFamily="50" charset="-128"/>
                          <a:cs typeface="Arial" pitchFamily="34" charset="0"/>
                        </a:rPr>
                        <a:t>ID/KN</a:t>
                      </a:r>
                      <a:endParaRPr kumimoji="1" lang="ja-JP" altLang="en-US" sz="1400" b="0" baseline="0">
                        <a:solidFill>
                          <a:srgbClr val="FF0000"/>
                        </a:solidFill>
                        <a:latin typeface="Meiryo UI" panose="020B0604030504040204" pitchFamily="50" charset="-128"/>
                        <a:ea typeface="Meiryo UI" pitchFamily="50" charset="-128"/>
                        <a:cs typeface="Arial" pitchFamily="34" charset="0"/>
                      </a:endParaRPr>
                    </a:p>
                  </a:txBody>
                  <a:tcPr marL="18000" marR="18000" marT="18000" marB="18000" anchor="ctr">
                    <a:lnL w="12700" cmpd="sng">
                      <a:solidFill>
                        <a:sysClr val="windowText" lastClr="000000"/>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solidFill>
                            <a:srgbClr val="FF0000"/>
                          </a:solidFill>
                          <a:latin typeface="Meiryo UI" panose="020B0604030504040204" pitchFamily="50" charset="-128"/>
                          <a:ea typeface="Meiryo UI" pitchFamily="50" charset="-128"/>
                          <a:cs typeface="Arial" pitchFamily="34" charset="0"/>
                        </a:rPr>
                        <a:t>ID/KN</a:t>
                      </a:r>
                      <a:endParaRPr kumimoji="1" lang="ja-JP" altLang="en-US" sz="1400" b="0" baseline="0">
                        <a:solidFill>
                          <a:srgbClr val="FF0000"/>
                        </a:solidFill>
                        <a:latin typeface="Meiryo UI" panose="020B0604030504040204" pitchFamily="50" charset="-128"/>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12700" cmpd="sng">
                      <a:solidFill>
                        <a:sysClr val="windowText" lastClr="000000"/>
                      </a:solid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b="1" baseline="0">
                        <a:latin typeface="ＭＳ Ｐゴシック" pitchFamily="50" charset="-128"/>
                        <a:ea typeface="ＭＳ Ｐゴシック" pitchFamily="50" charset="-128"/>
                      </a:endParaRPr>
                    </a:p>
                  </a:txBody>
                  <a:tcPr>
                    <a:solidFill>
                      <a:schemeClr val="bg1"/>
                    </a:solidFill>
                  </a:tcPr>
                </a:tc>
                <a:extLst>
                  <a:ext uri="{0D108BD9-81ED-4DB2-BD59-A6C34878D82A}">
                    <a16:rowId xmlns:a16="http://schemas.microsoft.com/office/drawing/2014/main" val="10001"/>
                  </a:ext>
                </a:extLst>
              </a:tr>
              <a:tr h="426328">
                <a:tc>
                  <a:txBody>
                    <a:bodyPr/>
                    <a:lstStyle/>
                    <a:p>
                      <a:r>
                        <a:rPr lang="en-US" altLang="ja-JP" sz="1200">
                          <a:solidFill>
                            <a:schemeClr val="tx1"/>
                          </a:solidFill>
                          <a:latin typeface="Meiryo UI" panose="020B0604030504040204" pitchFamily="50" charset="-128"/>
                          <a:cs typeface="Arial" panose="020B0604020202020204" pitchFamily="34" charset="0"/>
                        </a:rPr>
                        <a:t>Assembly</a:t>
                      </a:r>
                      <a:r>
                        <a:rPr lang="en-US" altLang="ja-JP" sz="1200" baseline="0">
                          <a:solidFill>
                            <a:schemeClr val="tx1"/>
                          </a:solidFill>
                          <a:latin typeface="Meiryo UI" panose="020B0604030504040204" pitchFamily="50" charset="-128"/>
                          <a:cs typeface="Arial" panose="020B0604020202020204" pitchFamily="34" charset="0"/>
                        </a:rPr>
                        <a:t> Factory</a:t>
                      </a:r>
                    </a:p>
                    <a:p>
                      <a:r>
                        <a:rPr lang="en-US" altLang="ja-JP" sz="1200" baseline="0">
                          <a:solidFill>
                            <a:schemeClr val="tx1"/>
                          </a:solidFill>
                          <a:latin typeface="Meiryo UI" panose="020B0604030504040204" pitchFamily="50" charset="-128"/>
                          <a:cs typeface="Arial" panose="020B0604020202020204" pitchFamily="34" charset="0"/>
                        </a:rPr>
                        <a:t>Vehicle/Engine</a:t>
                      </a:r>
                      <a:endParaRPr lang="ja-JP" altLang="en-US" sz="1200">
                        <a:solidFill>
                          <a:schemeClr val="tx1"/>
                        </a:solidFill>
                        <a:latin typeface="Meiryo UI" panose="020B0604030504040204" pitchFamily="50" charset="-128"/>
                        <a:cs typeface="Arial" panose="020B0604020202020204" pitchFamily="34" charset="0"/>
                      </a:endParaRP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baseline="0">
                          <a:solidFill>
                            <a:srgbClr val="FF0000"/>
                          </a:solidFill>
                          <a:latin typeface="Meiryo UI" panose="020B0604030504040204" pitchFamily="50" charset="-128"/>
                          <a:ea typeface="Meiryo UI" pitchFamily="50" charset="-128"/>
                          <a:cs typeface="Arial" pitchFamily="34" charset="0"/>
                        </a:rPr>
                        <a:t>HCIL</a:t>
                      </a:r>
                      <a:endParaRPr kumimoji="1" lang="ja-JP" altLang="en-US" sz="1200" b="0" baseline="0">
                        <a:solidFill>
                          <a:srgbClr val="FF0000"/>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rPr>
                        <a:t>HCIL</a:t>
                      </a:r>
                      <a:endParaRPr kumimoji="1" lang="ja-JP" altLang="en-US" sz="12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endParaRPr>
                    </a:p>
                  </a:txBody>
                  <a:tcPr marL="18000" marR="18000"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4263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Air Flow Tube Assy</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L="18000" marR="18000"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L="18000" marR="18000"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5"/>
                  </a:ext>
                </a:extLst>
              </a:tr>
              <a:tr h="4263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Air Flow Joint</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solidFill>
                      <a:schemeClr val="bg1"/>
                    </a:solidFill>
                  </a:tcPr>
                </a:tc>
                <a:extLst>
                  <a:ext uri="{0D108BD9-81ED-4DB2-BD59-A6C34878D82A}">
                    <a16:rowId xmlns:a16="http://schemas.microsoft.com/office/drawing/2014/main" val="10006"/>
                  </a:ext>
                </a:extLst>
              </a:tr>
              <a:tr h="289186">
                <a:tc>
                  <a:txBody>
                    <a:bodyPr/>
                    <a:lstStyle/>
                    <a:p>
                      <a:r>
                        <a:rPr lang="en-US" altLang="ja-JP" sz="1200">
                          <a:solidFill>
                            <a:schemeClr val="tx1"/>
                          </a:solidFill>
                          <a:latin typeface="Meiryo UI" panose="020B0604030504040204" pitchFamily="50" charset="-128"/>
                          <a:cs typeface="Arial" panose="020B0604020202020204" pitchFamily="34" charset="0"/>
                        </a:rPr>
                        <a:t>Turbo Charger Assy</a:t>
                      </a:r>
                      <a:endParaRPr lang="ja-JP" altLang="en-US" sz="1200">
                        <a:solidFill>
                          <a:schemeClr val="tx1"/>
                        </a:solidFill>
                        <a:latin typeface="Meiryo UI" panose="020B0604030504040204" pitchFamily="50" charset="-128"/>
                        <a:cs typeface="Arial" panose="020B0604020202020204" pitchFamily="34" charset="0"/>
                      </a:endParaRP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7"/>
                  </a:ext>
                </a:extLst>
              </a:tr>
              <a:tr h="32801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50" charset="-128"/>
                          <a:cs typeface="Arial" panose="020B0604020202020204" pitchFamily="34" charset="0"/>
                        </a:rPr>
                        <a:t>CC Converter Assy</a:t>
                      </a:r>
                      <a:endParaRPr lang="ja-JP" altLang="en-US" sz="1200">
                        <a:solidFill>
                          <a:schemeClr val="tx1"/>
                        </a:solidFill>
                        <a:latin typeface="Meiryo UI" panose="020B0604030504040204" pitchFamily="50" charset="-128"/>
                        <a:cs typeface="Arial" panose="020B0604020202020204" pitchFamily="34" charset="0"/>
                      </a:endParaRP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8"/>
                  </a:ext>
                </a:extLst>
              </a:tr>
              <a:tr h="2891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Intake Manifold</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891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HFM</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9856505"/>
                  </a:ext>
                </a:extLst>
              </a:tr>
            </a:tbl>
          </a:graphicData>
        </a:graphic>
      </p:graphicFrame>
      <p:sp>
        <p:nvSpPr>
          <p:cNvPr id="8" name="Text Box 2"/>
          <p:cNvSpPr txBox="1">
            <a:spLocks noChangeArrowheads="1"/>
          </p:cNvSpPr>
          <p:nvPr/>
        </p:nvSpPr>
        <p:spPr bwMode="auto">
          <a:xfrm>
            <a:off x="107510" y="620716"/>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indent="-180975" algn="l" eaLnBrk="1" fontAlgn="base" hangingPunct="1">
              <a:spcBef>
                <a:spcPct val="0"/>
              </a:spcBef>
              <a:spcAft>
                <a:spcPct val="0"/>
              </a:spcAft>
            </a:pPr>
            <a:r>
              <a:rPr lang="en-US" altLang="ja-JP" sz="1400">
                <a:solidFill>
                  <a:srgbClr val="000000"/>
                </a:solidFill>
                <a:latin typeface="Meiryo UI" panose="020B0604030504040204" pitchFamily="50" charset="-128"/>
                <a:ea typeface="Meiryo UI" panose="020B0604030504040204" pitchFamily="50" charset="-128"/>
              </a:rPr>
              <a:t>Honda </a:t>
            </a:r>
            <a:r>
              <a:rPr lang="ja-JP" altLang="en-US" sz="1400">
                <a:solidFill>
                  <a:srgbClr val="000000"/>
                </a:solidFill>
                <a:latin typeface="Meiryo UI" panose="020B0604030504040204" pitchFamily="50" charset="-128"/>
                <a:ea typeface="Meiryo UI" panose="020B0604030504040204" pitchFamily="50" charset="-128"/>
              </a:rPr>
              <a:t>内製適用部品リストの目的：適用部品の情報共有</a:t>
            </a:r>
          </a:p>
        </p:txBody>
      </p:sp>
      <p:sp>
        <p:nvSpPr>
          <p:cNvPr id="9" name="Text Box 2"/>
          <p:cNvSpPr txBox="1">
            <a:spLocks noChangeArrowheads="1"/>
          </p:cNvSpPr>
          <p:nvPr/>
        </p:nvSpPr>
        <p:spPr bwMode="auto">
          <a:xfrm>
            <a:off x="97454" y="836712"/>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indent="-180975" algn="l" eaLnBrk="1" fontAlgn="base" hangingPunct="1">
              <a:spcBef>
                <a:spcPct val="0"/>
              </a:spcBef>
              <a:spcAft>
                <a:spcPct val="0"/>
              </a:spcAft>
              <a:tabLst>
                <a:tab pos="85725" algn="l"/>
              </a:tabLst>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Purpose of Honda production list : to share the ENG structure information. </a:t>
            </a:r>
            <a:endParaRPr lang="ja-JP" altLang="en-US" sz="140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ENG Spec Comparison from Base Model (3/7)</a:t>
            </a:r>
            <a:endParaRPr lang="en-US" altLang="ja-JP" sz="105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2" name="テキスト ボックス 1">
            <a:extLst>
              <a:ext uri="{FF2B5EF4-FFF2-40B4-BE49-F238E27FC236}">
                <a16:creationId xmlns:a16="http://schemas.microsoft.com/office/drawing/2014/main" id="{BDCE82B7-B0D9-27A9-8A75-9E56F35C071E}"/>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8104854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p:cNvGraphicFramePr>
            <a:graphicFrameLocks noGrp="1"/>
          </p:cNvGraphicFramePr>
          <p:nvPr>
            <p:extLst>
              <p:ext uri="{D42A27DB-BD31-4B8C-83A1-F6EECF244321}">
                <p14:modId xmlns:p14="http://schemas.microsoft.com/office/powerpoint/2010/main" val="2080088808"/>
              </p:ext>
            </p:extLst>
          </p:nvPr>
        </p:nvGraphicFramePr>
        <p:xfrm>
          <a:off x="205638" y="1191706"/>
          <a:ext cx="5422318" cy="3890012"/>
        </p:xfrm>
        <a:graphic>
          <a:graphicData uri="http://schemas.openxmlformats.org/drawingml/2006/table">
            <a:tbl>
              <a:tblPr firstRow="1" bandRow="1"/>
              <a:tblGrid>
                <a:gridCol w="1754329">
                  <a:extLst>
                    <a:ext uri="{9D8B030D-6E8A-4147-A177-3AD203B41FA5}">
                      <a16:colId xmlns:a16="http://schemas.microsoft.com/office/drawing/2014/main" val="20000"/>
                    </a:ext>
                  </a:extLst>
                </a:gridCol>
                <a:gridCol w="828000">
                  <a:extLst>
                    <a:ext uri="{9D8B030D-6E8A-4147-A177-3AD203B41FA5}">
                      <a16:colId xmlns:a16="http://schemas.microsoft.com/office/drawing/2014/main" val="20001"/>
                    </a:ext>
                  </a:extLst>
                </a:gridCol>
                <a:gridCol w="828000">
                  <a:extLst>
                    <a:ext uri="{9D8B030D-6E8A-4147-A177-3AD203B41FA5}">
                      <a16:colId xmlns:a16="http://schemas.microsoft.com/office/drawing/2014/main" val="20004"/>
                    </a:ext>
                  </a:extLst>
                </a:gridCol>
                <a:gridCol w="2011989">
                  <a:extLst>
                    <a:ext uri="{9D8B030D-6E8A-4147-A177-3AD203B41FA5}">
                      <a16:colId xmlns:a16="http://schemas.microsoft.com/office/drawing/2014/main" val="20005"/>
                    </a:ext>
                  </a:extLst>
                </a:gridCol>
              </a:tblGrid>
              <a:tr h="215135">
                <a:tc row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rPr>
                        <a:t>Part Name</a:t>
                      </a: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Arial" panose="020B0604020202020204" pitchFamily="34" charset="0"/>
                      </a:endParaRPr>
                    </a:p>
                  </a:txBody>
                  <a:tcPr marL="18000" marR="18000" marT="18000" marB="18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a:solidFill>
                            <a:srgbClr val="FF0000"/>
                          </a:solidFill>
                          <a:latin typeface="Meiryo UI" panose="020B0604030504040204" pitchFamily="50" charset="-128"/>
                          <a:ea typeface="Meiryo UI" pitchFamily="50" charset="-128"/>
                          <a:cs typeface="Arial" pitchFamily="34" charset="0"/>
                        </a:rPr>
                        <a:t>6SAA</a:t>
                      </a:r>
                    </a:p>
                  </a:txBody>
                  <a:tcPr marL="18000" marR="18000" marT="18000" marB="18000" anchor="ctr">
                    <a:lnL w="12700" cmpd="sng">
                      <a:solidFill>
                        <a:sysClr val="windowText" lastClr="000000"/>
                      </a:solid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kumimoji="1" lang="en-US" altLang="ja-JP" sz="1400" b="0" kern="1200" baseline="0">
                          <a:solidFill>
                            <a:srgbClr val="FF0000"/>
                          </a:solidFill>
                          <a:latin typeface="Meiryo UI" panose="020B0604030504040204" pitchFamily="50" charset="-128"/>
                          <a:ea typeface="Meiryo UI" pitchFamily="50" charset="-128"/>
                          <a:cs typeface="Arial" pitchFamily="34" charset="0"/>
                        </a:rPr>
                        <a:t>6SAA-MMC</a:t>
                      </a:r>
                      <a:endParaRPr kumimoji="1" lang="ja-JP" altLang="en-US" sz="1400" b="0" kern="1200" baseline="0">
                        <a:solidFill>
                          <a:srgbClr val="FF0000"/>
                        </a:solidFill>
                        <a:latin typeface="Meiryo UI" panose="020B0604030504040204" pitchFamily="50" charset="-128"/>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kumimoji="1" sz="1800" kern="1200">
                          <a:solidFill>
                            <a:schemeClr val="tx1"/>
                          </a:solidFill>
                          <a:latin typeface="Calibri"/>
                        </a:defRPr>
                      </a:lvl1pPr>
                      <a:lvl2pPr marL="457200" algn="l" defTabSz="914400" rtl="0" eaLnBrk="1" latinLnBrk="0" hangingPunct="1">
                        <a:defRPr kumimoji="1" sz="1800" kern="1200">
                          <a:solidFill>
                            <a:schemeClr val="tx1"/>
                          </a:solidFill>
                          <a:latin typeface="Calibri"/>
                        </a:defRPr>
                      </a:lvl2pPr>
                      <a:lvl3pPr marL="914400" algn="l" defTabSz="914400" rtl="0" eaLnBrk="1" latinLnBrk="0" hangingPunct="1">
                        <a:defRPr kumimoji="1" sz="1800" kern="1200">
                          <a:solidFill>
                            <a:schemeClr val="tx1"/>
                          </a:solidFill>
                          <a:latin typeface="Calibri"/>
                        </a:defRPr>
                      </a:lvl3pPr>
                      <a:lvl4pPr marL="1371600" algn="l" defTabSz="914400" rtl="0" eaLnBrk="1" latinLnBrk="0" hangingPunct="1">
                        <a:defRPr kumimoji="1" sz="1800" kern="1200">
                          <a:solidFill>
                            <a:schemeClr val="tx1"/>
                          </a:solidFill>
                          <a:latin typeface="Calibri"/>
                        </a:defRPr>
                      </a:lvl4pPr>
                      <a:lvl5pPr marL="1828800" algn="l" defTabSz="914400" rtl="0" eaLnBrk="1" latinLnBrk="0" hangingPunct="1">
                        <a:defRPr kumimoji="1" sz="1800" kern="1200">
                          <a:solidFill>
                            <a:schemeClr val="tx1"/>
                          </a:solidFill>
                          <a:latin typeface="Calibri"/>
                        </a:defRPr>
                      </a:lvl5pPr>
                      <a:lvl6pPr marL="2286000" algn="l" defTabSz="914400" rtl="0" eaLnBrk="1" latinLnBrk="0" hangingPunct="1">
                        <a:defRPr kumimoji="1" sz="1800" kern="1200">
                          <a:solidFill>
                            <a:schemeClr val="tx1"/>
                          </a:solidFill>
                          <a:latin typeface="Calibri"/>
                        </a:defRPr>
                      </a:lvl6pPr>
                      <a:lvl7pPr marL="2743200" algn="l" defTabSz="914400" rtl="0" eaLnBrk="1" latinLnBrk="0" hangingPunct="1">
                        <a:defRPr kumimoji="1" sz="1800" kern="1200">
                          <a:solidFill>
                            <a:schemeClr val="tx1"/>
                          </a:solidFill>
                          <a:latin typeface="Calibri"/>
                        </a:defRPr>
                      </a:lvl7pPr>
                      <a:lvl8pPr marL="3200400" algn="l" defTabSz="914400" rtl="0" eaLnBrk="1" latinLnBrk="0" hangingPunct="1">
                        <a:defRPr kumimoji="1" sz="1800" kern="1200">
                          <a:solidFill>
                            <a:schemeClr val="tx1"/>
                          </a:solidFill>
                          <a:latin typeface="Calibri"/>
                        </a:defRPr>
                      </a:lvl8pPr>
                      <a:lvl9pPr marL="3657600" algn="l" defTabSz="914400" rtl="0" eaLnBrk="1" latinLnBrk="0" hangingPunct="1">
                        <a:defRPr kumimoji="1" sz="1800" kern="1200">
                          <a:solidFill>
                            <a:schemeClr val="tx1"/>
                          </a:solidFill>
                          <a:latin typeface="Calibri"/>
                        </a:defRPr>
                      </a:lvl9pPr>
                    </a:lstStyle>
                    <a:p>
                      <a:pPr algn="ctr"/>
                      <a:r>
                        <a:rPr kumimoji="1" lang="en-US" altLang="ja-JP" sz="1400" b="0" baseline="0">
                          <a:solidFill>
                            <a:schemeClr val="tx1"/>
                          </a:solidFill>
                          <a:latin typeface="Meiryo UI" panose="020B0604030504040204" pitchFamily="50" charset="-128"/>
                          <a:ea typeface="Meiryo UI" pitchFamily="50" charset="-128"/>
                          <a:cs typeface="Arial" pitchFamily="34" charset="0"/>
                        </a:rPr>
                        <a:t>NOTE</a:t>
                      </a:r>
                      <a:endParaRPr kumimoji="1" lang="ja-JP" altLang="en-US" sz="1400" b="0" baseline="0">
                        <a:solidFill>
                          <a:schemeClr val="tx1"/>
                        </a:solidFill>
                        <a:latin typeface="Meiryo UI" panose="020B0604030504040204" pitchFamily="50" charset="-128"/>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99212">
                <a:tc vMerge="1">
                  <a:txBody>
                    <a:bodyPr/>
                    <a:lstStyle/>
                    <a:p>
                      <a:endParaRPr kumimoji="1" lang="ja-JP" altLang="en-US" b="1" baseline="0">
                        <a:latin typeface="ＭＳ Ｐゴシック" pitchFamily="50" charset="-128"/>
                        <a:ea typeface="ＭＳ Ｐゴシック" pitchFamily="50" charset="-128"/>
                      </a:endParaRPr>
                    </a:p>
                  </a:txBody>
                  <a:tcPr/>
                </a:tc>
                <a:tc>
                  <a:txBody>
                    <a:bodyPr/>
                    <a:lstStyle/>
                    <a:p>
                      <a:pPr algn="ctr"/>
                      <a:r>
                        <a:rPr kumimoji="1" lang="en-US" altLang="ja-JP" sz="1400" b="0" baseline="0">
                          <a:solidFill>
                            <a:srgbClr val="FF0000"/>
                          </a:solidFill>
                          <a:latin typeface="Meiryo UI" panose="020B0604030504040204" pitchFamily="50" charset="-128"/>
                          <a:ea typeface="Meiryo UI" pitchFamily="50" charset="-128"/>
                          <a:cs typeface="Arial" pitchFamily="34" charset="0"/>
                        </a:rPr>
                        <a:t>ID/KN</a:t>
                      </a:r>
                      <a:endParaRPr kumimoji="1" lang="ja-JP" altLang="en-US" sz="1400" b="0" baseline="0">
                        <a:solidFill>
                          <a:srgbClr val="FF0000"/>
                        </a:solidFill>
                        <a:latin typeface="Meiryo UI" panose="020B0604030504040204" pitchFamily="50" charset="-128"/>
                        <a:ea typeface="Meiryo UI" pitchFamily="50" charset="-128"/>
                        <a:cs typeface="Arial" pitchFamily="34" charset="0"/>
                      </a:endParaRPr>
                    </a:p>
                  </a:txBody>
                  <a:tcPr marL="18000" marR="18000" marT="18000" marB="18000" anchor="ctr">
                    <a:lnL w="12700" cmpd="sng">
                      <a:solidFill>
                        <a:sysClr val="windowText" lastClr="000000"/>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en-US" altLang="ja-JP" sz="1400" b="0" baseline="0">
                          <a:solidFill>
                            <a:srgbClr val="FF0000"/>
                          </a:solidFill>
                          <a:latin typeface="Meiryo UI" panose="020B0604030504040204" pitchFamily="50" charset="-128"/>
                          <a:ea typeface="Meiryo UI" pitchFamily="50" charset="-128"/>
                          <a:cs typeface="Arial" pitchFamily="34" charset="0"/>
                        </a:rPr>
                        <a:t>ID/KN</a:t>
                      </a:r>
                      <a:endParaRPr kumimoji="1" lang="ja-JP" altLang="en-US" sz="1400" b="0" baseline="0">
                        <a:solidFill>
                          <a:srgbClr val="FF0000"/>
                        </a:solidFill>
                        <a:latin typeface="Meiryo UI" panose="020B0604030504040204" pitchFamily="50" charset="-128"/>
                        <a:ea typeface="Meiryo UI" pitchFamily="50" charset="-128"/>
                        <a:cs typeface="Arial" pitchFamily="34" charset="0"/>
                      </a:endParaRPr>
                    </a:p>
                  </a:txBody>
                  <a:tcPr marL="18000" marR="18000" marT="18000" marB="18000" anchor="ctr">
                    <a:lnL w="12700" cap="flat" cmpd="sng" algn="ctr">
                      <a:solidFill>
                        <a:schemeClr val="tx1"/>
                      </a:solidFill>
                      <a:prstDash val="solid"/>
                      <a:round/>
                      <a:headEnd type="none" w="med" len="med"/>
                      <a:tailEnd type="none" w="med" len="med"/>
                    </a:lnL>
                    <a:lnR w="12700" cmpd="sng">
                      <a:solidFill>
                        <a:sysClr val="windowText" lastClr="000000"/>
                      </a:solid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en-US" altLang="ja-JP" b="1" baseline="0">
                        <a:latin typeface="ＭＳ Ｐゴシック" pitchFamily="50" charset="-128"/>
                        <a:ea typeface="ＭＳ Ｐゴシック" pitchFamily="50" charset="-128"/>
                      </a:endParaRPr>
                    </a:p>
                  </a:txBody>
                  <a:tcPr>
                    <a:solidFill>
                      <a:schemeClr val="bg1"/>
                    </a:solidFill>
                  </a:tcPr>
                </a:tc>
                <a:extLst>
                  <a:ext uri="{0D108BD9-81ED-4DB2-BD59-A6C34878D82A}">
                    <a16:rowId xmlns:a16="http://schemas.microsoft.com/office/drawing/2014/main" val="10001"/>
                  </a:ext>
                </a:extLst>
              </a:tr>
              <a:tr h="246194">
                <a:tc>
                  <a:txBody>
                    <a:bodyPr/>
                    <a:lstStyle/>
                    <a:p>
                      <a:r>
                        <a:rPr lang="en-US" altLang="ja-JP" sz="1200">
                          <a:solidFill>
                            <a:schemeClr val="tx1"/>
                          </a:solidFill>
                          <a:latin typeface="Meiryo UI" panose="020B0604030504040204" pitchFamily="50" charset="-128"/>
                          <a:cs typeface="Arial" panose="020B0604020202020204" pitchFamily="34" charset="0"/>
                        </a:rPr>
                        <a:t>Assembly</a:t>
                      </a:r>
                      <a:r>
                        <a:rPr lang="en-US" altLang="ja-JP" sz="1200" baseline="0">
                          <a:solidFill>
                            <a:schemeClr val="tx1"/>
                          </a:solidFill>
                          <a:latin typeface="Meiryo UI" panose="020B0604030504040204" pitchFamily="50" charset="-128"/>
                          <a:cs typeface="Arial" panose="020B0604020202020204" pitchFamily="34" charset="0"/>
                        </a:rPr>
                        <a:t> Factory</a:t>
                      </a:r>
                    </a:p>
                    <a:p>
                      <a:r>
                        <a:rPr lang="en-US" altLang="ja-JP" sz="1200" baseline="0">
                          <a:solidFill>
                            <a:schemeClr val="tx1"/>
                          </a:solidFill>
                          <a:latin typeface="Meiryo UI" panose="020B0604030504040204" pitchFamily="50" charset="-128"/>
                          <a:cs typeface="Arial" panose="020B0604020202020204" pitchFamily="34" charset="0"/>
                        </a:rPr>
                        <a:t>Vehicle/Engine</a:t>
                      </a:r>
                      <a:endParaRPr lang="ja-JP" altLang="en-US" sz="1200">
                        <a:solidFill>
                          <a:schemeClr val="tx1"/>
                        </a:solidFill>
                        <a:latin typeface="Meiryo UI" panose="020B0604030504040204" pitchFamily="50" charset="-128"/>
                        <a:cs typeface="Arial" panose="020B0604020202020204" pitchFamily="34" charset="0"/>
                      </a:endParaRP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baseline="0">
                          <a:solidFill>
                            <a:srgbClr val="FF0000"/>
                          </a:solidFill>
                          <a:latin typeface="Meiryo UI" panose="020B0604030504040204" pitchFamily="50" charset="-128"/>
                          <a:ea typeface="Meiryo UI" pitchFamily="50" charset="-128"/>
                          <a:cs typeface="Arial" pitchFamily="34" charset="0"/>
                        </a:rPr>
                        <a:t>HCIL</a:t>
                      </a:r>
                      <a:endParaRPr kumimoji="1" lang="ja-JP" altLang="en-US" sz="1200" b="0" baseline="0">
                        <a:solidFill>
                          <a:srgbClr val="FF0000"/>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rPr>
                        <a:t>HCIL</a:t>
                      </a:r>
                      <a:endParaRPr kumimoji="1" lang="ja-JP" altLang="en-US" sz="1200" b="0" i="0" u="none" strike="noStrike" kern="1200" cap="none" spc="0" normalizeH="0" baseline="0" noProof="0">
                        <a:ln>
                          <a:noFill/>
                        </a:ln>
                        <a:solidFill>
                          <a:srgbClr val="FF0000"/>
                        </a:solidFill>
                        <a:effectLst/>
                        <a:uLnTx/>
                        <a:uFillTx/>
                        <a:latin typeface="Meiryo UI" panose="020B0604030504040204" pitchFamily="50" charset="-128"/>
                        <a:ea typeface="Meiryo UI" pitchFamily="50" charset="-128"/>
                        <a:cs typeface="Arial" pitchFamily="34" charset="0"/>
                      </a:endParaRPr>
                    </a:p>
                  </a:txBody>
                  <a:tcPr marL="18000" marR="18000"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24619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a:ln>
                            <a:noFill/>
                          </a:ln>
                          <a:solidFill>
                            <a:schemeClr val="tx1"/>
                          </a:solidFill>
                          <a:effectLst/>
                          <a:latin typeface="Meiryo UI" panose="020B0604030504040204" pitchFamily="50" charset="-128"/>
                          <a:ea typeface="HGPSoeiKakugothicUB" pitchFamily="50" charset="-128"/>
                          <a:cs typeface="Arial" panose="020B0604020202020204" pitchFamily="34" charset="0"/>
                        </a:rPr>
                        <a:t>Electric Throttle Control</a:t>
                      </a:r>
                    </a:p>
                  </a:txBody>
                  <a:tcPr marL="84374" marR="84374" marT="54000" marB="54000" anchor="ctr" horzOverflow="overflow">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L="18000" marR="18000"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246194">
                <a:tc>
                  <a:txBody>
                    <a:bodyPr/>
                    <a:lstStyle/>
                    <a:p>
                      <a:r>
                        <a:rPr kumimoji="1" lang="en-US" altLang="ja-JP" sz="1200" b="0" baseline="0">
                          <a:solidFill>
                            <a:schemeClr val="tx1"/>
                          </a:solidFill>
                          <a:latin typeface="Meiryo UI" panose="020B0604030504040204" pitchFamily="50" charset="-128"/>
                          <a:ea typeface="Meiryo UI" pitchFamily="50" charset="-128"/>
                          <a:cs typeface="Arial" pitchFamily="34" charset="0"/>
                        </a:rPr>
                        <a:t>Radiator fan motor</a:t>
                      </a:r>
                      <a:endParaRPr kumimoji="1" lang="ja-JP" altLang="en-US" sz="1200" b="0" baseline="0">
                        <a:solidFill>
                          <a:schemeClr val="tx1"/>
                        </a:solidFill>
                        <a:latin typeface="Meiryo UI" panose="020B0604030504040204" pitchFamily="50" charset="-128"/>
                        <a:ea typeface="Meiryo UI" pitchFamily="50" charset="-128"/>
                        <a:cs typeface="Arial" pitchFamily="34" charset="0"/>
                      </a:endParaRPr>
                    </a:p>
                  </a:txBody>
                  <a:tcPr marL="90000" marR="90000"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5"/>
                  </a:ext>
                </a:extLst>
              </a:tr>
              <a:tr h="246194">
                <a:tc>
                  <a:txBody>
                    <a:bodyPr/>
                    <a:lstStyle/>
                    <a:p>
                      <a:r>
                        <a:rPr kumimoji="1" lang="en-US" altLang="ja-JP" sz="1200" b="0" baseline="0">
                          <a:solidFill>
                            <a:schemeClr val="tx1"/>
                          </a:solidFill>
                          <a:latin typeface="Meiryo UI" panose="020B0604030504040204" pitchFamily="50" charset="-128"/>
                          <a:ea typeface="Meiryo UI" pitchFamily="50" charset="-128"/>
                          <a:cs typeface="Arial" pitchFamily="34" charset="0"/>
                        </a:rPr>
                        <a:t>Alternator</a:t>
                      </a:r>
                      <a:endParaRPr kumimoji="1" lang="ja-JP" altLang="en-US" sz="1200" b="0" baseline="0">
                        <a:solidFill>
                          <a:schemeClr val="tx1"/>
                        </a:solidFill>
                        <a:latin typeface="Meiryo UI" panose="020B0604030504040204" pitchFamily="50" charset="-128"/>
                        <a:ea typeface="Meiryo UI" pitchFamily="50" charset="-128"/>
                        <a:cs typeface="Arial" pitchFamily="34" charset="0"/>
                      </a:endParaRPr>
                    </a:p>
                  </a:txBody>
                  <a:tcPr marL="90000" marR="90000"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4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solidFill>
                      <a:schemeClr val="bg1"/>
                    </a:solidFill>
                  </a:tcPr>
                </a:tc>
                <a:extLst>
                  <a:ext uri="{0D108BD9-81ED-4DB2-BD59-A6C34878D82A}">
                    <a16:rowId xmlns:a16="http://schemas.microsoft.com/office/drawing/2014/main" val="10006"/>
                  </a:ext>
                </a:extLst>
              </a:tr>
              <a:tr h="246194">
                <a:tc>
                  <a:txBody>
                    <a:bodyPr/>
                    <a:lstStyle/>
                    <a:p>
                      <a:r>
                        <a:rPr kumimoji="1" lang="en-US" altLang="ja-JP" sz="1200" b="0" baseline="0">
                          <a:solidFill>
                            <a:schemeClr val="tx1"/>
                          </a:solidFill>
                          <a:latin typeface="Meiryo UI" panose="020B0604030504040204" pitchFamily="50" charset="-128"/>
                          <a:ea typeface="Meiryo UI" pitchFamily="50" charset="-128"/>
                          <a:cs typeface="Arial" pitchFamily="34" charset="0"/>
                        </a:rPr>
                        <a:t>Starter motor</a:t>
                      </a:r>
                      <a:endParaRPr kumimoji="1" lang="ja-JP" altLang="en-US" sz="1200" b="0" baseline="0">
                        <a:solidFill>
                          <a:schemeClr val="tx1"/>
                        </a:solidFill>
                        <a:latin typeface="Meiryo UI" panose="020B0604030504040204" pitchFamily="50" charset="-128"/>
                        <a:ea typeface="Meiryo UI" pitchFamily="50" charset="-128"/>
                        <a:cs typeface="Arial" pitchFamily="34" charset="0"/>
                      </a:endParaRPr>
                    </a:p>
                  </a:txBody>
                  <a:tcPr marL="90000" marR="90000"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7"/>
                  </a:ext>
                </a:extLst>
              </a:tr>
              <a:tr h="0">
                <a:tc>
                  <a:txBody>
                    <a:bodyPr/>
                    <a:lstStyle/>
                    <a:p>
                      <a:r>
                        <a:rPr kumimoji="1" lang="en-US" altLang="ja-JP" sz="1200" b="0" baseline="0">
                          <a:solidFill>
                            <a:schemeClr val="tx1"/>
                          </a:solidFill>
                          <a:latin typeface="Meiryo UI" panose="020B0604030504040204" pitchFamily="50" charset="-128"/>
                          <a:ea typeface="Meiryo UI" pitchFamily="50" charset="-128"/>
                          <a:cs typeface="Arial" pitchFamily="34" charset="0"/>
                        </a:rPr>
                        <a:t>Accessory drive belt</a:t>
                      </a:r>
                      <a:endParaRPr kumimoji="1" lang="ja-JP" altLang="en-US" sz="1200" b="0" baseline="0">
                        <a:solidFill>
                          <a:schemeClr val="tx1"/>
                        </a:solidFill>
                        <a:latin typeface="Meiryo UI" panose="020B0604030504040204" pitchFamily="50" charset="-128"/>
                        <a:ea typeface="Meiryo UI" pitchFamily="50" charset="-128"/>
                        <a:cs typeface="Arial" pitchFamily="34" charset="0"/>
                      </a:endParaRPr>
                    </a:p>
                  </a:txBody>
                  <a:tcPr marL="90000" marR="90000"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8"/>
                  </a:ext>
                </a:extLst>
              </a:tr>
              <a:tr h="0">
                <a:tc>
                  <a:txBody>
                    <a:bodyPr/>
                    <a:lstStyle/>
                    <a:p>
                      <a:r>
                        <a:rPr kumimoji="1" lang="en-US" altLang="ja-JP" sz="1200" b="0" baseline="0">
                          <a:solidFill>
                            <a:schemeClr val="tx1"/>
                          </a:solidFill>
                          <a:latin typeface="Meiryo UI" panose="020B0604030504040204" pitchFamily="50" charset="-128"/>
                          <a:ea typeface="Meiryo UI" pitchFamily="50" charset="-128"/>
                          <a:cs typeface="Arial" pitchFamily="34" charset="0"/>
                        </a:rPr>
                        <a:t>Ignition coil</a:t>
                      </a:r>
                      <a:endParaRPr kumimoji="1" lang="ja-JP" altLang="en-US" sz="12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rPr>
                        <a:t>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9"/>
                  </a:ext>
                </a:extLst>
              </a:tr>
              <a:tr h="246194">
                <a:tc>
                  <a:txBody>
                    <a:bodyPr/>
                    <a:lstStyle/>
                    <a:p>
                      <a:r>
                        <a:rPr kumimoji="1" lang="en-US" altLang="ja-JP" sz="1200" b="0" baseline="0">
                          <a:solidFill>
                            <a:schemeClr val="tx1"/>
                          </a:solidFill>
                          <a:latin typeface="Meiryo UI" panose="020B0604030504040204" pitchFamily="50" charset="-128"/>
                          <a:ea typeface="Meiryo UI" pitchFamily="50" charset="-128"/>
                          <a:cs typeface="Arial" pitchFamily="34" charset="0"/>
                        </a:rPr>
                        <a:t>Purge control solenoid</a:t>
                      </a:r>
                    </a:p>
                  </a:txBody>
                  <a:tcPr marT="54000" marB="54000" anchor="ctr">
                    <a:lnL w="28575" cap="flat" cmpd="sng" algn="ctr">
                      <a:solidFill>
                        <a:schemeClr val="tx1"/>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a:r>
                        <a:rPr kumimoji="1" lang="en-US" altLang="ja-JP" sz="1400" b="0" baseline="0">
                          <a:solidFill>
                            <a:schemeClr val="tx1"/>
                          </a:solidFill>
                          <a:latin typeface="Meiryo UI" panose="020B0604030504040204" pitchFamily="50" charset="-128"/>
                          <a:ea typeface="Meiryo UI" pitchFamily="50" charset="-128"/>
                          <a:cs typeface="Arial" pitchFamily="34" charset="0"/>
                        </a:rPr>
                        <a:t>A</a:t>
                      </a:r>
                      <a:endParaRPr kumimoji="1" lang="ja-JP" altLang="en-US" sz="14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ctr"/>
                      <a:r>
                        <a:rPr kumimoji="1" lang="en-US" altLang="ja-JP" sz="1400" b="0" baseline="0">
                          <a:solidFill>
                            <a:schemeClr val="tx1"/>
                          </a:solidFill>
                          <a:latin typeface="Meiryo UI" panose="020B0604030504040204" pitchFamily="50" charset="-128"/>
                          <a:ea typeface="Meiryo UI" pitchFamily="50" charset="-128"/>
                          <a:cs typeface="Arial" pitchFamily="34" charset="0"/>
                        </a:rPr>
                        <a:t>A</a:t>
                      </a:r>
                      <a:endParaRPr kumimoji="1" lang="ja-JP" altLang="en-US" sz="1400" b="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kern="1200" baseline="0">
                        <a:solidFill>
                          <a:schemeClr val="tx1"/>
                        </a:solidFill>
                        <a:latin typeface="Meiryo UI" panose="020B0604030504040204" pitchFamily="50" charset="-128"/>
                        <a:ea typeface="Meiryo UI" pitchFamily="50" charset="-128"/>
                        <a:cs typeface="Arial" pitchFamily="34" charset="0"/>
                      </a:endParaRPr>
                    </a:p>
                  </a:txBody>
                  <a:tcPr marT="54000" marB="54000"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0"/>
                  </a:ext>
                </a:extLst>
              </a:tr>
            </a:tbl>
          </a:graphicData>
        </a:graphic>
      </p:graphicFrame>
      <p:sp>
        <p:nvSpPr>
          <p:cNvPr id="4" name="Text Box 2"/>
          <p:cNvSpPr txBox="1">
            <a:spLocks noChangeArrowheads="1"/>
          </p:cNvSpPr>
          <p:nvPr/>
        </p:nvSpPr>
        <p:spPr bwMode="auto">
          <a:xfrm>
            <a:off x="107510" y="620716"/>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indent="-180975" algn="l" eaLnBrk="1" fontAlgn="base" hangingPunct="1">
              <a:spcBef>
                <a:spcPct val="0"/>
              </a:spcBef>
              <a:spcAft>
                <a:spcPct val="0"/>
              </a:spcAft>
            </a:pPr>
            <a:r>
              <a:rPr lang="en-US" altLang="ja-JP" sz="1400">
                <a:solidFill>
                  <a:srgbClr val="000000"/>
                </a:solidFill>
                <a:latin typeface="Meiryo UI" panose="020B0604030504040204" pitchFamily="50" charset="-128"/>
                <a:ea typeface="Meiryo UI" panose="020B0604030504040204" pitchFamily="50" charset="-128"/>
              </a:rPr>
              <a:t>Honda </a:t>
            </a:r>
            <a:r>
              <a:rPr lang="ja-JP" altLang="en-US" sz="1400">
                <a:solidFill>
                  <a:srgbClr val="000000"/>
                </a:solidFill>
                <a:latin typeface="Meiryo UI" panose="020B0604030504040204" pitchFamily="50" charset="-128"/>
                <a:ea typeface="Meiryo UI" panose="020B0604030504040204" pitchFamily="50" charset="-128"/>
              </a:rPr>
              <a:t>内製適用部品リストの目的：適用部品の情報共有</a:t>
            </a:r>
          </a:p>
        </p:txBody>
      </p:sp>
      <p:sp>
        <p:nvSpPr>
          <p:cNvPr id="5" name="Text Box 2"/>
          <p:cNvSpPr txBox="1">
            <a:spLocks noChangeArrowheads="1"/>
          </p:cNvSpPr>
          <p:nvPr/>
        </p:nvSpPr>
        <p:spPr bwMode="auto">
          <a:xfrm>
            <a:off x="97454" y="836712"/>
            <a:ext cx="89289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180975" indent="-180975" algn="l" eaLnBrk="1" fontAlgn="base" hangingPunct="1">
              <a:spcBef>
                <a:spcPct val="0"/>
              </a:spcBef>
              <a:spcAft>
                <a:spcPct val="0"/>
              </a:spcAft>
              <a:tabLst>
                <a:tab pos="85725" algn="l"/>
              </a:tabLst>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Purpose of Honda production list : to share the ENG structure information. </a:t>
            </a:r>
            <a:endParaRPr lang="ja-JP" altLang="en-US" sz="140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7" name="Text Box 2"/>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ENG Spec Comparison from Base Model (4/7)</a:t>
            </a:r>
            <a:endParaRPr lang="en-US" altLang="ja-JP" sz="105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2" name="テキスト ボックス 1">
            <a:extLst>
              <a:ext uri="{FF2B5EF4-FFF2-40B4-BE49-F238E27FC236}">
                <a16:creationId xmlns:a16="http://schemas.microsoft.com/office/drawing/2014/main" id="{E195C46C-53BF-3B59-2F09-BFD463C12132}"/>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2327113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 y="846947"/>
            <a:ext cx="9144000" cy="2908489"/>
          </a:xfrm>
          <a:prstGeom prst="rect">
            <a:avLst/>
          </a:prstGeom>
        </p:spPr>
        <p:txBody>
          <a:bodyPr wrap="square">
            <a:spAutoFit/>
          </a:bodyPr>
          <a:lstStyle/>
          <a:p>
            <a:pPr algn="l">
              <a:spcBef>
                <a:spcPts val="600"/>
              </a:spcBef>
            </a:pPr>
            <a:r>
              <a:rPr lang="en-US" altLang="ja-JP" sz="1400">
                <a:latin typeface="Meiryo UI" panose="020B0604030504040204" pitchFamily="50" charset="-128"/>
                <a:ea typeface="Meiryo UI" panose="020B0604030504040204" pitchFamily="50" charset="-128"/>
              </a:rPr>
              <a:t>Please refer to</a:t>
            </a:r>
            <a:r>
              <a:rPr lang="ja-JP" altLang="en-US" sz="1400">
                <a:latin typeface="Meiryo UI" panose="020B0604030504040204" pitchFamily="50" charset="-128"/>
                <a:ea typeface="Meiryo UI" panose="020B0604030504040204" pitchFamily="50" charset="-128"/>
              </a:rPr>
              <a:t> </a:t>
            </a:r>
            <a:r>
              <a:rPr lang="en-US" altLang="ja-JP" sz="1400">
                <a:solidFill>
                  <a:srgbClr val="FF0000"/>
                </a:solidFill>
                <a:latin typeface="Meiryo UI" panose="020B0604030504040204" pitchFamily="50" charset="-128"/>
                <a:ea typeface="Meiryo UI" panose="020B0604030504040204" pitchFamily="50" charset="-128"/>
              </a:rPr>
              <a:t>6SAA-MMC</a:t>
            </a:r>
            <a:r>
              <a:rPr lang="en-US" altLang="ja-JP" sz="1400">
                <a:latin typeface="Meiryo UI" panose="020B0604030504040204" pitchFamily="50" charset="-128"/>
                <a:ea typeface="Meiryo UI" panose="020B0604030504040204" pitchFamily="50" charset="-128"/>
              </a:rPr>
              <a:t> Device List and 3</a:t>
            </a:r>
            <a:r>
              <a:rPr lang="en-US" altLang="ja-JP" sz="1400" baseline="30000">
                <a:latin typeface="Meiryo UI" panose="020B0604030504040204" pitchFamily="50" charset="-128"/>
                <a:ea typeface="Meiryo UI" panose="020B0604030504040204" pitchFamily="50" charset="-128"/>
              </a:rPr>
              <a:t>rd</a:t>
            </a:r>
            <a:r>
              <a:rPr lang="en-US" altLang="ja-JP" sz="1400">
                <a:latin typeface="Meiryo UI" panose="020B0604030504040204" pitchFamily="50" charset="-128"/>
                <a:ea typeface="Meiryo UI" panose="020B0604030504040204" pitchFamily="50" charset="-128"/>
              </a:rPr>
              <a:t> Party Device Spec</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(3PDS).</a:t>
            </a:r>
            <a:br>
              <a:rPr lang="en-US" altLang="ja-JP" sz="1400">
                <a:latin typeface="Meiryo UI" panose="020B0604030504040204" pitchFamily="50" charset="-128"/>
                <a:ea typeface="Meiryo UI" panose="020B0604030504040204" pitchFamily="50" charset="-128"/>
              </a:rPr>
            </a:br>
            <a:r>
              <a:rPr lang="en-US" altLang="ja-JP" sz="1400">
                <a:solidFill>
                  <a:srgbClr val="FF0000"/>
                </a:solidFill>
                <a:latin typeface="Meiryo UI" panose="020B0604030504040204" pitchFamily="50" charset="-128"/>
                <a:ea typeface="Meiryo UI" panose="020B0604030504040204" pitchFamily="50" charset="-128"/>
              </a:rPr>
              <a:t>6SAA-MMC</a:t>
            </a:r>
            <a:r>
              <a:rPr lang="en-US" altLang="ja-JP" sz="1400">
                <a:latin typeface="Meiryo UI" panose="020B0604030504040204" pitchFamily="50" charset="-128"/>
                <a:ea typeface="Meiryo UI" panose="020B0604030504040204" pitchFamily="50" charset="-128"/>
              </a:rPr>
              <a:t> Device List.xlsx</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file</a:t>
            </a:r>
          </a:p>
          <a:p>
            <a:pPr algn="l">
              <a:spcBef>
                <a:spcPts val="600"/>
              </a:spcBef>
            </a:pPr>
            <a:endParaRPr lang="en-US" altLang="ja-JP" sz="1400">
              <a:latin typeface="Meiryo UI" panose="020B0604030504040204" pitchFamily="50" charset="-128"/>
              <a:ea typeface="Meiryo UI" panose="020B0604030504040204" pitchFamily="50" charset="-128"/>
            </a:endParaRPr>
          </a:p>
          <a:p>
            <a:pPr algn="l">
              <a:spcBef>
                <a:spcPts val="600"/>
              </a:spcBef>
            </a:pPr>
            <a:r>
              <a:rPr lang="en-US" altLang="ja-JP" sz="1400">
                <a:latin typeface="Meiryo UI" panose="020B0604030504040204" pitchFamily="50" charset="-128"/>
                <a:ea typeface="Meiryo UI" panose="020B0604030504040204" pitchFamily="50" charset="-128"/>
              </a:rPr>
              <a:t>No components will be changed from </a:t>
            </a:r>
            <a:r>
              <a:rPr lang="en-US" altLang="ja-JP" sz="1400">
                <a:solidFill>
                  <a:srgbClr val="FF0000"/>
                </a:solidFill>
                <a:latin typeface="Meiryo UI" panose="020B0604030504040204" pitchFamily="50" charset="-128"/>
                <a:ea typeface="Meiryo UI" panose="020B0604030504040204" pitchFamily="50" charset="-128"/>
              </a:rPr>
              <a:t>6SAA-MMC</a:t>
            </a:r>
            <a:r>
              <a:rPr lang="en-US" altLang="ja-JP" sz="1400">
                <a:latin typeface="Meiryo UI" panose="020B0604030504040204" pitchFamily="50" charset="-128"/>
                <a:ea typeface="Meiryo UI" panose="020B0604030504040204" pitchFamily="50" charset="-128"/>
              </a:rPr>
              <a:t>. </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Honda are going to issue a file for this model by F2</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event.</a:t>
            </a:r>
          </a:p>
          <a:p>
            <a:pPr algn="l">
              <a:spcBef>
                <a:spcPts val="600"/>
              </a:spcBef>
            </a:pPr>
            <a:r>
              <a:rPr kumimoji="1" lang="en-US" altLang="ja-JP"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mn-cs"/>
              </a:rPr>
              <a:t>Bosch</a:t>
            </a:r>
            <a:r>
              <a:rPr kumimoji="1" lang="ja-JP" altLang="en-US"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mn-cs"/>
              </a:rPr>
              <a:t> </a:t>
            </a:r>
            <a:r>
              <a:rPr lang="en-US" altLang="ja-JP" sz="1400">
                <a:latin typeface="Meiryo UI" panose="020B0604030504040204" pitchFamily="50" charset="-128"/>
                <a:ea typeface="Meiryo UI" panose="020B0604030504040204" pitchFamily="50" charset="-128"/>
              </a:rPr>
              <a:t>shall design the EMS based on the values in the 3PDS.</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If it is necessary to design with values different from 3PDS, request Honda to change 3PDS.</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After that, Honda will consider whether or not it can be changed.</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If there is no request, it will be assumed that the values in 3PDS are used.</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If it is possible to change it, Honda will change the Honda’s component drawing and then change the 3PDS.</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If changes cannot be made, the parties shall discuss and decide on a countermeasures.</a:t>
            </a:r>
            <a:endParaRPr lang="ja-JP" altLang="en-US" sz="1400">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5AEB4317-CB93-487B-8050-AC7D5A9681E6}"/>
              </a:ext>
            </a:extLst>
          </p:cNvPr>
          <p:cNvSpPr txBox="1">
            <a:spLocks/>
          </p:cNvSpPr>
          <p:nvPr>
            <p:custDataLst>
              <p:tags r:id="rId1"/>
            </p:custDataLst>
          </p:nvPr>
        </p:nvSpPr>
        <p:spPr bwMode="auto">
          <a:xfrm>
            <a:off x="3644348" y="6278950"/>
            <a:ext cx="549965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squar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a:t>
            </a:r>
            <a:r>
              <a:rPr lang="en-US" altLang="ja-JP" sz="1400" b="1" kern="0">
                <a:solidFill>
                  <a:srgbClr val="FF0000"/>
                </a:solidFill>
                <a:latin typeface="Meiryo UI" panose="020B0604030504040204" pitchFamily="50" charset="-128"/>
              </a:rPr>
              <a:t>6SAA-MMC</a:t>
            </a:r>
            <a:r>
              <a:rPr lang="ja-JP" altLang="en-US" sz="1400" b="1" kern="0">
                <a:latin typeface="Meiryo UI" panose="020B0604030504040204" pitchFamily="50" charset="-128"/>
              </a:rPr>
              <a:t> </a:t>
            </a:r>
            <a:r>
              <a:rPr lang="en-US" altLang="ja-JP" sz="1400" b="1" kern="0">
                <a:latin typeface="Meiryo UI" panose="020B0604030504040204" pitchFamily="50" charset="-128"/>
              </a:rPr>
              <a:t>Device List 6SAA-MMC.xlsx ” file.</a:t>
            </a:r>
          </a:p>
          <a:p>
            <a:pPr marL="0" indent="0">
              <a:lnSpc>
                <a:spcPct val="105000"/>
              </a:lnSpc>
              <a:spcBef>
                <a:spcPts val="600"/>
              </a:spcBef>
              <a:spcAft>
                <a:spcPts val="0"/>
              </a:spcAft>
            </a:pPr>
            <a:r>
              <a:rPr lang="en-US" sz="1400" b="1" kern="0">
                <a:latin typeface="Meiryo UI" panose="020B0604030504040204" pitchFamily="50" charset="-128"/>
              </a:rPr>
              <a:t>In folder : “13. ENG Spec Comparison from Base model”</a:t>
            </a:r>
          </a:p>
        </p:txBody>
      </p:sp>
      <p:sp>
        <p:nvSpPr>
          <p:cNvPr id="12" name="正方形/長方形 11">
            <a:extLst>
              <a:ext uri="{FF2B5EF4-FFF2-40B4-BE49-F238E27FC236}">
                <a16:creationId xmlns:a16="http://schemas.microsoft.com/office/drawing/2014/main" id="{F2732FC1-8B47-4B08-AFBE-2E2038A69BAF}"/>
              </a:ext>
            </a:extLst>
          </p:cNvPr>
          <p:cNvSpPr/>
          <p:nvPr/>
        </p:nvSpPr>
        <p:spPr>
          <a:xfrm>
            <a:off x="0" y="3874887"/>
            <a:ext cx="9228808" cy="2477601"/>
          </a:xfrm>
          <a:prstGeom prst="rect">
            <a:avLst/>
          </a:prstGeom>
        </p:spPr>
        <p:txBody>
          <a:bodyPr wrap="none">
            <a:spAutoFit/>
          </a:bodyPr>
          <a:lstStyle/>
          <a:p>
            <a:pPr algn="l">
              <a:spcBef>
                <a:spcPts val="600"/>
              </a:spcBef>
            </a:pPr>
            <a:r>
              <a:rPr lang="en-US" altLang="ja-JP" sz="1400">
                <a:solidFill>
                  <a:srgbClr val="FF0000"/>
                </a:solidFill>
                <a:latin typeface="Meiryo UI" panose="020B0604030504040204" pitchFamily="50" charset="-128"/>
                <a:ea typeface="Meiryo UI" panose="020B0604030504040204" pitchFamily="50" charset="-128"/>
              </a:rPr>
              <a:t>6SAA-MMC</a:t>
            </a:r>
            <a:r>
              <a:rPr lang="en-US" altLang="ja-JP" sz="1400">
                <a:latin typeface="Meiryo UI" panose="020B0604030504040204" pitchFamily="50" charset="-128"/>
                <a:ea typeface="Meiryo UI" panose="020B0604030504040204" pitchFamily="50" charset="-128"/>
              </a:rPr>
              <a:t> Device List</a:t>
            </a:r>
            <a:r>
              <a:rPr lang="ja-JP" altLang="en-US" sz="1400">
                <a:latin typeface="Meiryo UI" panose="020B0604030504040204" pitchFamily="50" charset="-128"/>
                <a:ea typeface="Meiryo UI" panose="020B0604030504040204" pitchFamily="50" charset="-128"/>
              </a:rPr>
              <a:t>及び</a:t>
            </a:r>
            <a:r>
              <a:rPr lang="en-US" altLang="ja-JP" sz="1400">
                <a:latin typeface="Meiryo UI" panose="020B0604030504040204" pitchFamily="50" charset="-128"/>
                <a:ea typeface="Meiryo UI" panose="020B0604030504040204" pitchFamily="50" charset="-128"/>
              </a:rPr>
              <a:t>3</a:t>
            </a:r>
            <a:r>
              <a:rPr lang="en-US" altLang="ja-JP" sz="1400" baseline="30000">
                <a:latin typeface="Meiryo UI" panose="020B0604030504040204" pitchFamily="50" charset="-128"/>
                <a:ea typeface="Meiryo UI" panose="020B0604030504040204" pitchFamily="50" charset="-128"/>
              </a:rPr>
              <a:t>rd</a:t>
            </a:r>
            <a:r>
              <a:rPr lang="en-US" altLang="ja-JP" sz="1400">
                <a:latin typeface="Meiryo UI" panose="020B0604030504040204" pitchFamily="50" charset="-128"/>
                <a:ea typeface="Meiryo UI" panose="020B0604030504040204" pitchFamily="50" charset="-128"/>
              </a:rPr>
              <a:t> Party Device Spec(3PDS)</a:t>
            </a:r>
            <a:r>
              <a:rPr lang="ja-JP" altLang="en-US" sz="1400">
                <a:latin typeface="Meiryo UI" panose="020B0604030504040204" pitchFamily="50" charset="-128"/>
                <a:ea typeface="Meiryo UI" panose="020B0604030504040204" pitchFamily="50" charset="-128"/>
              </a:rPr>
              <a:t>の資料を参照してください。</a:t>
            </a:r>
            <a:br>
              <a:rPr lang="en-US" altLang="ja-JP" sz="1400">
                <a:latin typeface="Meiryo UI" panose="020B0604030504040204" pitchFamily="50" charset="-128"/>
                <a:ea typeface="Meiryo UI" panose="020B0604030504040204" pitchFamily="50" charset="-128"/>
              </a:rPr>
            </a:br>
            <a:r>
              <a:rPr lang="en-US" altLang="ja-JP" sz="1400">
                <a:solidFill>
                  <a:srgbClr val="FF0000"/>
                </a:solidFill>
                <a:latin typeface="Meiryo UI" panose="020B0604030504040204" pitchFamily="50" charset="-128"/>
                <a:ea typeface="Meiryo UI" panose="020B0604030504040204" pitchFamily="50" charset="-128"/>
              </a:rPr>
              <a:t>6SAA-MMC</a:t>
            </a:r>
            <a:r>
              <a:rPr lang="en-US" altLang="ja-JP" sz="1400">
                <a:latin typeface="Meiryo UI" panose="020B0604030504040204" pitchFamily="50" charset="-128"/>
                <a:ea typeface="Meiryo UI" panose="020B0604030504040204" pitchFamily="50" charset="-128"/>
              </a:rPr>
              <a:t> Device List </a:t>
            </a:r>
            <a:r>
              <a:rPr lang="en-US" altLang="ja-JP" sz="1400">
                <a:solidFill>
                  <a:srgbClr val="FF0000"/>
                </a:solidFill>
                <a:latin typeface="Meiryo UI" panose="020B0604030504040204" pitchFamily="50" charset="-128"/>
                <a:ea typeface="Meiryo UI" panose="020B0604030504040204" pitchFamily="50" charset="-128"/>
              </a:rPr>
              <a:t>6SAA_MMC</a:t>
            </a:r>
            <a:r>
              <a:rPr lang="en-US" altLang="ja-JP" sz="1400">
                <a:latin typeface="Meiryo UI" panose="020B0604030504040204" pitchFamily="50" charset="-128"/>
                <a:ea typeface="Meiryo UI" panose="020B0604030504040204" pitchFamily="50" charset="-128"/>
              </a:rPr>
              <a:t>.xlsx</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file</a:t>
            </a:r>
          </a:p>
          <a:p>
            <a:pPr algn="l">
              <a:spcBef>
                <a:spcPts val="600"/>
              </a:spcBef>
            </a:pPr>
            <a:endParaRPr lang="en-US" altLang="ja-JP" sz="1400">
              <a:latin typeface="Meiryo UI" panose="020B0604030504040204" pitchFamily="50" charset="-128"/>
              <a:ea typeface="Meiryo UI" panose="020B0604030504040204" pitchFamily="50" charset="-128"/>
            </a:endParaRPr>
          </a:p>
          <a:p>
            <a:pPr algn="l">
              <a:spcBef>
                <a:spcPts val="600"/>
              </a:spcBef>
            </a:pPr>
            <a:r>
              <a:rPr lang="en-US" altLang="ja-JP" sz="1400">
                <a:solidFill>
                  <a:srgbClr val="FF0000"/>
                </a:solidFill>
                <a:latin typeface="Meiryo UI" panose="020B0604030504040204" pitchFamily="50" charset="-128"/>
                <a:ea typeface="Meiryo UI" panose="020B0604030504040204" pitchFamily="50" charset="-128"/>
              </a:rPr>
              <a:t>6SAA-MMC</a:t>
            </a:r>
            <a:r>
              <a:rPr lang="ja-JP" altLang="en-US" sz="1400">
                <a:solidFill>
                  <a:srgbClr val="FF0000"/>
                </a:solidFill>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からコンポーネントに変更の予定がない場合には、</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この機種の</a:t>
            </a:r>
            <a:r>
              <a:rPr lang="en-US" altLang="ja-JP" sz="1400">
                <a:latin typeface="Meiryo UI" panose="020B0604030504040204" pitchFamily="50" charset="-128"/>
                <a:ea typeface="Meiryo UI" panose="020B0604030504040204" pitchFamily="50" charset="-128"/>
              </a:rPr>
              <a:t>F2</a:t>
            </a:r>
            <a:r>
              <a:rPr lang="ja-JP" altLang="en-US" sz="1400">
                <a:latin typeface="Meiryo UI" panose="020B0604030504040204" pitchFamily="50" charset="-128"/>
                <a:ea typeface="Meiryo UI" panose="020B0604030504040204" pitchFamily="50" charset="-128"/>
              </a:rPr>
              <a:t>イベントまでに、</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は資料を発行します。</a:t>
            </a:r>
            <a:endParaRPr lang="en-US" altLang="ja-JP" sz="1400" noProof="0">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en-US" altLang="ja-JP" sz="1400" b="0" i="0" u="none" strike="noStrike" kern="1200" cap="none" spc="0" normalizeH="0" baseline="0">
                <a:ln>
                  <a:noFill/>
                </a:ln>
                <a:solidFill>
                  <a:srgbClr val="0000FF"/>
                </a:solidFill>
                <a:effectLst/>
                <a:uLnTx/>
                <a:uFillTx/>
                <a:latin typeface="Meiryo UI" panose="020B0604030504040204" pitchFamily="50" charset="-128"/>
                <a:ea typeface="Meiryo UI" panose="020B0604030504040204" pitchFamily="50" charset="-128"/>
                <a:cs typeface="+mn-cs"/>
              </a:rPr>
              <a:t>Bosch</a:t>
            </a:r>
            <a:r>
              <a:rPr kumimoji="1" lang="ja-JP" altLang="en-US" sz="1400" b="0" i="0" u="none" strike="noStrike" kern="1200" cap="none" spc="0" normalizeH="0" baseline="0">
                <a:ln>
                  <a:noFill/>
                </a:ln>
                <a:solidFill>
                  <a:srgbClr val="000000"/>
                </a:solidFill>
                <a:effectLst/>
                <a:uLnTx/>
                <a:uFillTx/>
                <a:latin typeface="Meiryo UI" panose="020B0604030504040204" pitchFamily="50" charset="-128"/>
                <a:ea typeface="Meiryo UI" panose="020B0604030504040204" pitchFamily="50" charset="-128"/>
                <a:cs typeface="+mn-cs"/>
              </a:rPr>
              <a:t>は</a:t>
            </a:r>
            <a:r>
              <a:rPr kumimoji="1" lang="en-US" altLang="ja-JP" sz="1400" b="0" i="0" u="none" strike="noStrike" kern="1200" cap="none" spc="0" normalizeH="0" baseline="0">
                <a:ln>
                  <a:noFill/>
                </a:ln>
                <a:solidFill>
                  <a:srgbClr val="000000"/>
                </a:solidFill>
                <a:effectLst/>
                <a:uLnTx/>
                <a:uFillTx/>
                <a:latin typeface="Meiryo UI" panose="020B0604030504040204" pitchFamily="50" charset="-128"/>
                <a:ea typeface="Meiryo UI" panose="020B0604030504040204" pitchFamily="50" charset="-128"/>
                <a:cs typeface="+mn-cs"/>
              </a:rPr>
              <a:t>3PDS</a:t>
            </a:r>
            <a:r>
              <a:rPr kumimoji="1" lang="ja-JP" altLang="en-US" sz="1400" b="0" i="0" u="none" strike="noStrike" kern="1200" cap="none" spc="0" normalizeH="0" baseline="0">
                <a:ln>
                  <a:noFill/>
                </a:ln>
                <a:solidFill>
                  <a:srgbClr val="000000"/>
                </a:solidFill>
                <a:effectLst/>
                <a:uLnTx/>
                <a:uFillTx/>
                <a:latin typeface="Meiryo UI" panose="020B0604030504040204" pitchFamily="50" charset="-128"/>
                <a:ea typeface="Meiryo UI" panose="020B0604030504040204" pitchFamily="50" charset="-128"/>
                <a:cs typeface="+mn-cs"/>
              </a:rPr>
              <a:t>の記載値に基づき</a:t>
            </a:r>
            <a:r>
              <a:rPr kumimoji="1" lang="en-US" altLang="ja-JP" sz="1400" b="0" i="0" u="none" strike="noStrike" kern="1200" cap="none" spc="0" normalizeH="0" baseline="0">
                <a:ln>
                  <a:noFill/>
                </a:ln>
                <a:solidFill>
                  <a:srgbClr val="000000"/>
                </a:solidFill>
                <a:effectLst/>
                <a:uLnTx/>
                <a:uFillTx/>
                <a:latin typeface="Meiryo UI" panose="020B0604030504040204" pitchFamily="50" charset="-128"/>
                <a:ea typeface="Meiryo UI" panose="020B0604030504040204" pitchFamily="50" charset="-128"/>
                <a:cs typeface="+mn-cs"/>
              </a:rPr>
              <a:t>EMS</a:t>
            </a:r>
            <a:r>
              <a:rPr kumimoji="1" lang="ja-JP" altLang="en-US" sz="1400" b="0" i="0" u="none" strike="noStrike" kern="1200" cap="none" spc="0" normalizeH="0" baseline="0">
                <a:ln>
                  <a:noFill/>
                </a:ln>
                <a:solidFill>
                  <a:srgbClr val="000000"/>
                </a:solidFill>
                <a:effectLst/>
                <a:uLnTx/>
                <a:uFillTx/>
                <a:latin typeface="Meiryo UI" panose="020B0604030504040204" pitchFamily="50" charset="-128"/>
                <a:ea typeface="Meiryo UI" panose="020B0604030504040204" pitchFamily="50" charset="-128"/>
                <a:cs typeface="+mn-cs"/>
              </a:rPr>
              <a:t>を設計すること。</a:t>
            </a:r>
            <a:br>
              <a:rPr lang="en-US" altLang="ja-JP" sz="1400">
                <a:solidFill>
                  <a:srgbClr val="000000"/>
                </a:solidFill>
                <a:latin typeface="Meiryo UI" panose="020B0604030504040204" pitchFamily="50" charset="-128"/>
                <a:ea typeface="Meiryo UI" panose="020B0604030504040204" pitchFamily="50" charset="-128"/>
              </a:rPr>
            </a:b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3PDS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と異なる値での設計が必要な場合は、</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3PDS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の変更を</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へ</a:t>
            </a:r>
            <a:r>
              <a:rPr lang="ja-JP" altLang="en-US" sz="1400">
                <a:solidFill>
                  <a:srgbClr val="000000"/>
                </a:solidFill>
                <a:latin typeface="Meiryo UI" panose="020B0604030504040204" pitchFamily="50" charset="-128"/>
                <a:ea typeface="Meiryo UI" panose="020B0604030504040204" pitchFamily="50" charset="-128"/>
              </a:rPr>
              <a:t>要求すること。その後</a:t>
            </a:r>
            <a:r>
              <a:rPr lang="en-US" altLang="ja-JP" sz="1400">
                <a:solidFill>
                  <a:srgbClr val="000000"/>
                </a:solidFill>
                <a:latin typeface="Meiryo UI" panose="020B0604030504040204" pitchFamily="50" charset="-128"/>
                <a:ea typeface="Meiryo UI" panose="020B0604030504040204" pitchFamily="50" charset="-128"/>
              </a:rPr>
              <a:t>Honda</a:t>
            </a:r>
            <a:r>
              <a:rPr lang="ja-JP" altLang="en-US" sz="1400">
                <a:solidFill>
                  <a:srgbClr val="000000"/>
                </a:solidFill>
                <a:latin typeface="Meiryo UI" panose="020B0604030504040204" pitchFamily="50" charset="-128"/>
                <a:ea typeface="Meiryo UI" panose="020B0604030504040204" pitchFamily="50" charset="-128"/>
              </a:rPr>
              <a:t>にて変更可否を検討します。</a:t>
            </a:r>
            <a:br>
              <a:rPr lang="en-US" altLang="ja-JP" sz="1400">
                <a:solidFill>
                  <a:srgbClr val="000000"/>
                </a:solidFill>
                <a:latin typeface="Meiryo UI" panose="020B0604030504040204" pitchFamily="50" charset="-128"/>
                <a:ea typeface="Meiryo UI" panose="020B0604030504040204" pitchFamily="50" charset="-128"/>
              </a:rPr>
            </a:br>
            <a:r>
              <a:rPr lang="ja-JP" altLang="en-US" sz="1400">
                <a:solidFill>
                  <a:srgbClr val="000000"/>
                </a:solidFill>
                <a:latin typeface="Meiryo UI" panose="020B0604030504040204" pitchFamily="50" charset="-128"/>
                <a:ea typeface="Meiryo UI" panose="020B0604030504040204" pitchFamily="50" charset="-128"/>
              </a:rPr>
              <a:t>要求</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がない場合は、</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3PDS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の記載値を使用しているとみなします。</a:t>
            </a:r>
            <a:br>
              <a:rPr lang="en-US" altLang="ja-JP" sz="1400">
                <a:solidFill>
                  <a:srgbClr val="000000"/>
                </a:solidFill>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変更可能な場合、</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は</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の部品図面を変更した上で、</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3PDS</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を変更します。</a:t>
            </a:r>
            <a:br>
              <a:rPr lang="en-US" altLang="ja-JP" sz="1400">
                <a:solidFill>
                  <a:srgbClr val="000000"/>
                </a:solidFill>
                <a:latin typeface="Meiryo UI" panose="020B0604030504040204" pitchFamily="50" charset="-128"/>
                <a:ea typeface="Meiryo UI" panose="020B0604030504040204" pitchFamily="50" charset="-128"/>
              </a:rPr>
            </a:b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変更不可の場合、両社で協議し、対応を決定</a:t>
            </a:r>
            <a:r>
              <a:rPr lang="ja-JP" altLang="en-US" sz="1400">
                <a:solidFill>
                  <a:srgbClr val="000000"/>
                </a:solidFill>
                <a:latin typeface="Meiryo UI" panose="020B0604030504040204" pitchFamily="50" charset="-128"/>
                <a:ea typeface="Meiryo UI" panose="020B0604030504040204" pitchFamily="50" charset="-128"/>
              </a:rPr>
              <a:t>します</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0" name="Text Box 2">
            <a:extLst>
              <a:ext uri="{FF2B5EF4-FFF2-40B4-BE49-F238E27FC236}">
                <a16:creationId xmlns:a16="http://schemas.microsoft.com/office/drawing/2014/main" id="{5948B4A3-D35B-4249-8F97-A643AF18674D}"/>
              </a:ext>
            </a:extLst>
          </p:cNvPr>
          <p:cNvSpPr txBox="1">
            <a:spLocks noChangeArrowheads="1"/>
          </p:cNvSpPr>
          <p:nvPr/>
        </p:nvSpPr>
        <p:spPr bwMode="auto">
          <a:xfrm>
            <a:off x="259667" y="573865"/>
            <a:ext cx="5465535"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800" b="1" u="sng">
                <a:latin typeface="Meiryo UI" panose="020B0604030504040204" pitchFamily="50" charset="-128"/>
                <a:ea typeface="Meiryo UI" panose="020B0604030504040204" pitchFamily="50" charset="-128"/>
                <a:cs typeface="Arial" pitchFamily="34" charset="0"/>
              </a:rPr>
              <a:t>Appendix. Honda Parts Specification</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(1/2)</a:t>
            </a:r>
            <a:endParaRPr lang="ja-JP" altLang="en-US" sz="1600" b="1">
              <a:latin typeface="Meiryo UI" panose="020B0604030504040204" pitchFamily="50" charset="-128"/>
              <a:ea typeface="Meiryo UI" panose="020B0604030504040204" pitchFamily="50" charset="-128"/>
              <a:cs typeface="Arial" pitchFamily="34" charset="0"/>
            </a:endParaRPr>
          </a:p>
        </p:txBody>
      </p:sp>
      <p:sp>
        <p:nvSpPr>
          <p:cNvPr id="13" name="Text Box 2">
            <a:extLst>
              <a:ext uri="{FF2B5EF4-FFF2-40B4-BE49-F238E27FC236}">
                <a16:creationId xmlns:a16="http://schemas.microsoft.com/office/drawing/2014/main" id="{8F29E0F2-16E9-4484-9DCC-B2AB915D0A7B}"/>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pPr>
            <a:r>
              <a:rPr lang="en-US" altLang="ja-JP" sz="1800">
                <a:solidFill>
                  <a:srgbClr val="FFFFFF"/>
                </a:solidFill>
                <a:latin typeface="Meiryo UI" panose="020B0604030504040204" pitchFamily="50" charset="-128"/>
                <a:ea typeface="Meiryo UI" panose="020B0604030504040204" pitchFamily="50" charset="-128"/>
                <a:cs typeface="Arial" pitchFamily="34" charset="0"/>
              </a:rPr>
              <a:t>13.</a:t>
            </a:r>
            <a:r>
              <a:rPr lang="ja-JP" altLang="en-US" sz="18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ENG Spec Comparison from Base Model (5/7)</a:t>
            </a:r>
            <a:endParaRPr lang="en-US" altLang="ja-JP" sz="1050">
              <a:solidFill>
                <a:srgbClr val="FFFFFF"/>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37767796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0">
            <a:extLst>
              <a:ext uri="{FF2B5EF4-FFF2-40B4-BE49-F238E27FC236}">
                <a16:creationId xmlns:a16="http://schemas.microsoft.com/office/drawing/2014/main" id="{3182F799-AFB2-4C9C-AA40-29054A3F8C96}"/>
              </a:ext>
            </a:extLst>
          </p:cNvPr>
          <p:cNvGraphicFramePr>
            <a:graphicFrameLocks noGrp="1"/>
          </p:cNvGraphicFramePr>
          <p:nvPr>
            <p:extLst>
              <p:ext uri="{D42A27DB-BD31-4B8C-83A1-F6EECF244321}">
                <p14:modId xmlns:p14="http://schemas.microsoft.com/office/powerpoint/2010/main" val="1315521486"/>
              </p:ext>
            </p:extLst>
          </p:nvPr>
        </p:nvGraphicFramePr>
        <p:xfrm>
          <a:off x="487234" y="1599195"/>
          <a:ext cx="8124503" cy="2138880"/>
        </p:xfrm>
        <a:graphic>
          <a:graphicData uri="http://schemas.openxmlformats.org/drawingml/2006/table">
            <a:tbl>
              <a:tblPr firstRow="1" bandRow="1">
                <a:tableStyleId>{5940675A-B579-460E-94D1-54222C63F5DA}</a:tableStyleId>
              </a:tblPr>
              <a:tblGrid>
                <a:gridCol w="4180300">
                  <a:extLst>
                    <a:ext uri="{9D8B030D-6E8A-4147-A177-3AD203B41FA5}">
                      <a16:colId xmlns:a16="http://schemas.microsoft.com/office/drawing/2014/main" val="2970375546"/>
                    </a:ext>
                  </a:extLst>
                </a:gridCol>
                <a:gridCol w="3944203">
                  <a:extLst>
                    <a:ext uri="{9D8B030D-6E8A-4147-A177-3AD203B41FA5}">
                      <a16:colId xmlns:a16="http://schemas.microsoft.com/office/drawing/2014/main" val="134914771"/>
                    </a:ext>
                  </a:extLst>
                </a:gridCol>
              </a:tblGrid>
              <a:tr h="0">
                <a:tc>
                  <a:txBody>
                    <a:bodyPr/>
                    <a:lstStyle/>
                    <a:p>
                      <a:pPr algn="ctr"/>
                      <a:r>
                        <a:rPr kumimoji="1" lang="en-US" altLang="ja-JP" sz="1400">
                          <a:latin typeface="Meiryo UI" panose="020B0604030504040204" pitchFamily="50" charset="-128"/>
                          <a:ea typeface="Meiryo UI" panose="020B0604030504040204" pitchFamily="50" charset="-128"/>
                        </a:rPr>
                        <a:t>Item</a:t>
                      </a:r>
                      <a:endParaRPr kumimoji="1" lang="ja-JP" altLang="en-US" sz="1400">
                        <a:latin typeface="Meiryo UI" panose="020B0604030504040204" pitchFamily="50" charset="-128"/>
                        <a:ea typeface="Meiryo UI" panose="020B0604030504040204" pitchFamily="50" charset="-128"/>
                      </a:endParaRPr>
                    </a:p>
                  </a:txBody>
                  <a:tcPr marL="72000" marR="72000" marT="36000" marB="36000"/>
                </a:tc>
                <a:tc>
                  <a:txBody>
                    <a:bodyPr/>
                    <a:lstStyle/>
                    <a:p>
                      <a:pPr algn="ctr"/>
                      <a:r>
                        <a:rPr kumimoji="1" lang="en-US" altLang="ja-JP" sz="1400">
                          <a:latin typeface="Meiryo UI" panose="020B0604030504040204" pitchFamily="50" charset="-128"/>
                          <a:ea typeface="Meiryo UI" panose="020B0604030504040204" pitchFamily="50" charset="-128"/>
                        </a:rPr>
                        <a:t>File</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name</a:t>
                      </a:r>
                      <a:endParaRPr kumimoji="1" lang="ja-JP" altLang="en-US" sz="1400">
                        <a:latin typeface="Meiryo UI" panose="020B0604030504040204" pitchFamily="50" charset="-128"/>
                        <a:ea typeface="Meiryo UI" panose="020B0604030504040204" pitchFamily="50" charset="-128"/>
                      </a:endParaRPr>
                    </a:p>
                  </a:txBody>
                  <a:tcPr marL="72000" marR="72000" marT="36000" marB="36000"/>
                </a:tc>
                <a:extLst>
                  <a:ext uri="{0D108BD9-81ED-4DB2-BD59-A6C34878D82A}">
                    <a16:rowId xmlns:a16="http://schemas.microsoft.com/office/drawing/2014/main" val="3086824331"/>
                  </a:ext>
                </a:extLst>
              </a:tr>
              <a:tr h="127709">
                <a:tc>
                  <a:txBody>
                    <a:bodyPr/>
                    <a:lstStyle/>
                    <a:p>
                      <a:r>
                        <a:rPr lang="en-US" altLang="ja-JP" sz="1400">
                          <a:latin typeface="Meiryo UI" panose="020B0604030504040204" pitchFamily="50" charset="-128"/>
                          <a:ea typeface="Meiryo UI" panose="020B0604030504040204" pitchFamily="50" charset="-128"/>
                        </a:rPr>
                        <a:t>1.</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VG characteristics of air flow meter</a:t>
                      </a:r>
                      <a:endParaRPr kumimoji="1" lang="ja-JP" altLang="en-US" sz="1400">
                        <a:latin typeface="Meiryo UI" panose="020B0604030504040204" pitchFamily="50" charset="-128"/>
                        <a:ea typeface="Meiryo UI" panose="020B0604030504040204" pitchFamily="50" charset="-128"/>
                      </a:endParaRPr>
                    </a:p>
                  </a:txBody>
                  <a:tcPr marL="72000" marR="72000" marT="36000" marB="36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Same as 62XA</a:t>
                      </a:r>
                    </a:p>
                  </a:txBody>
                  <a:tcPr marL="72000" marR="72000" marT="36000" marB="36000"/>
                </a:tc>
                <a:extLst>
                  <a:ext uri="{0D108BD9-81ED-4DB2-BD59-A6C34878D82A}">
                    <a16:rowId xmlns:a16="http://schemas.microsoft.com/office/drawing/2014/main" val="176698670"/>
                  </a:ext>
                </a:extLst>
              </a:tr>
              <a:tr h="127709">
                <a:tc>
                  <a:txBody>
                    <a:bodyPr/>
                    <a:lstStyle/>
                    <a:p>
                      <a:r>
                        <a:rPr lang="en-US" altLang="ja-JP" sz="1400">
                          <a:latin typeface="Meiryo UI" panose="020B0604030504040204" pitchFamily="50" charset="-128"/>
                          <a:ea typeface="Meiryo UI" panose="020B0604030504040204" pitchFamily="50" charset="-128"/>
                        </a:rPr>
                        <a:t>2.</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Torque characteristics of the alternator</a:t>
                      </a:r>
                      <a:endParaRPr kumimoji="1" lang="ja-JP" altLang="en-US" sz="1400">
                        <a:latin typeface="Meiryo UI" panose="020B0604030504040204" pitchFamily="50" charset="-128"/>
                        <a:ea typeface="Meiryo UI" panose="020B0604030504040204" pitchFamily="50" charset="-128"/>
                      </a:endParaRPr>
                    </a:p>
                  </a:txBody>
                  <a:tcPr marL="72000" marR="72000" marT="36000" marB="36000"/>
                </a:tc>
                <a:tc>
                  <a:txBody>
                    <a:bodyPr/>
                    <a:lstStyle/>
                    <a:p>
                      <a:r>
                        <a:rPr kumimoji="1" lang="en-US" altLang="ja-JP" sz="1400">
                          <a:latin typeface="Meiryo UI" panose="020B0604030504040204" pitchFamily="50" charset="-128"/>
                          <a:ea typeface="Meiryo UI" panose="020B0604030504040204" pitchFamily="50" charset="-128"/>
                        </a:rPr>
                        <a:t>H3730-1 cSC1 If</a:t>
                      </a:r>
                      <a:r>
                        <a:rPr kumimoji="1" lang="ja-JP" altLang="en-US" sz="1400">
                          <a:latin typeface="Meiryo UI" panose="020B0604030504040204" pitchFamily="50" charset="-128"/>
                          <a:ea typeface="Meiryo UI" panose="020B0604030504040204" pitchFamily="50" charset="-128"/>
                        </a:rPr>
                        <a:t>毎出力、トルク</a:t>
                      </a:r>
                      <a:r>
                        <a:rPr kumimoji="1" lang="en-US" altLang="ja-JP" sz="1400">
                          <a:latin typeface="Meiryo UI" panose="020B0604030504040204" pitchFamily="50" charset="-128"/>
                          <a:ea typeface="Meiryo UI" panose="020B0604030504040204" pitchFamily="50" charset="-128"/>
                        </a:rPr>
                        <a:t>_pw.xlsx</a:t>
                      </a:r>
                    </a:p>
                  </a:txBody>
                  <a:tcPr marL="72000" marR="72000" marT="36000" marB="36000"/>
                </a:tc>
                <a:extLst>
                  <a:ext uri="{0D108BD9-81ED-4DB2-BD59-A6C34878D82A}">
                    <a16:rowId xmlns:a16="http://schemas.microsoft.com/office/drawing/2014/main" val="261946916"/>
                  </a:ext>
                </a:extLst>
              </a:tr>
              <a:tr h="127709">
                <a:tc>
                  <a:txBody>
                    <a:bodyPr/>
                    <a:lstStyle/>
                    <a:p>
                      <a:r>
                        <a:rPr lang="en-US" altLang="ja-JP" sz="1400">
                          <a:latin typeface="Meiryo UI" panose="020B0604030504040204" pitchFamily="50" charset="-128"/>
                          <a:ea typeface="Meiryo UI" panose="020B0604030504040204" pitchFamily="50" charset="-128"/>
                        </a:rPr>
                        <a:t>3.</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Torque characteristics of the air</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conditioner</a:t>
                      </a:r>
                      <a:r>
                        <a:rPr lang="ja-JP" altLang="en-US" sz="1400">
                          <a:latin typeface="Meiryo UI" panose="020B0604030504040204" pitchFamily="50" charset="-128"/>
                          <a:ea typeface="Meiryo UI" panose="020B0604030504040204" pitchFamily="50" charset="-128"/>
                        </a:rPr>
                        <a:t> </a:t>
                      </a:r>
                      <a:endParaRPr kumimoji="1" lang="ja-JP" altLang="en-US" sz="1400">
                        <a:latin typeface="Meiryo UI" panose="020B0604030504040204" pitchFamily="50" charset="-128"/>
                        <a:ea typeface="Meiryo UI" panose="020B0604030504040204" pitchFamily="50" charset="-128"/>
                      </a:endParaRPr>
                    </a:p>
                  </a:txBody>
                  <a:tcPr marL="72000" marR="72000" marT="36000" marB="36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Same as 62XA</a:t>
                      </a:r>
                    </a:p>
                  </a:txBody>
                  <a:tcPr marL="72000" marR="72000" marT="36000" marB="36000"/>
                </a:tc>
                <a:extLst>
                  <a:ext uri="{0D108BD9-81ED-4DB2-BD59-A6C34878D82A}">
                    <a16:rowId xmlns:a16="http://schemas.microsoft.com/office/drawing/2014/main" val="1634702307"/>
                  </a:ext>
                </a:extLst>
              </a:tr>
              <a:tr h="112510">
                <a:tc>
                  <a:txBody>
                    <a:bodyPr/>
                    <a:lstStyle/>
                    <a:p>
                      <a:r>
                        <a:rPr lang="en-US" altLang="ja-JP" sz="1400">
                          <a:latin typeface="Meiryo UI" panose="020B0604030504040204" pitchFamily="50" charset="-128"/>
                          <a:ea typeface="Meiryo UI" panose="020B0604030504040204" pitchFamily="50" charset="-128"/>
                        </a:rPr>
                        <a:t>4.</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Characteristics of torque converter</a:t>
                      </a:r>
                    </a:p>
                  </a:txBody>
                  <a:tcPr marL="72000" marR="72000" marT="36000" marB="36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Same as 62XA</a:t>
                      </a:r>
                    </a:p>
                  </a:txBody>
                  <a:tcPr marL="72000" marR="72000" marT="36000" marB="36000"/>
                </a:tc>
                <a:extLst>
                  <a:ext uri="{0D108BD9-81ED-4DB2-BD59-A6C34878D82A}">
                    <a16:rowId xmlns:a16="http://schemas.microsoft.com/office/drawing/2014/main" val="3144628837"/>
                  </a:ext>
                </a:extLst>
              </a:tr>
              <a:tr h="1125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5.</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Fuel level sensor</a:t>
                      </a:r>
                      <a:endParaRPr kumimoji="1" lang="ja-JP" altLang="en-US" sz="1400">
                        <a:latin typeface="Meiryo UI" panose="020B0604030504040204" pitchFamily="50" charset="-128"/>
                        <a:ea typeface="Meiryo UI" panose="020B0604030504040204" pitchFamily="50" charset="-128"/>
                      </a:endParaRPr>
                    </a:p>
                  </a:txBody>
                  <a:tcPr marL="72000" marR="72000" marT="36000" marB="360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4Dr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FLEVEL</a:t>
                      </a:r>
                      <a:r>
                        <a:rPr kumimoji="1" lang="ja-JP" altLang="en-US" sz="1400">
                          <a:latin typeface="Meiryo UI" panose="020B0604030504040204" pitchFamily="50" charset="-128"/>
                          <a:ea typeface="Meiryo UI" panose="020B0604030504040204" pitchFamily="50" charset="-128"/>
                        </a:rPr>
                        <a:t>特性</a:t>
                      </a:r>
                      <a:r>
                        <a:rPr kumimoji="1" lang="en-US" altLang="ja-JP" sz="1400">
                          <a:latin typeface="Meiryo UI" panose="020B0604030504040204" pitchFamily="50" charset="-128"/>
                          <a:ea typeface="Meiryo UI" panose="020B0604030504040204" pitchFamily="50" charset="-128"/>
                        </a:rPr>
                        <a:t>(62XA_TFT_4Dr).xlsx</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FLEVEL</a:t>
                      </a:r>
                      <a:r>
                        <a:rPr kumimoji="1" lang="ja-JP" altLang="en-US" sz="1400">
                          <a:latin typeface="Meiryo UI" panose="020B0604030504040204" pitchFamily="50" charset="-128"/>
                          <a:ea typeface="Meiryo UI" panose="020B0604030504040204" pitchFamily="50" charset="-128"/>
                        </a:rPr>
                        <a:t>特性</a:t>
                      </a:r>
                      <a:r>
                        <a:rPr kumimoji="1" lang="en-US" altLang="ja-JP" sz="1400">
                          <a:latin typeface="Meiryo UI" panose="020B0604030504040204" pitchFamily="50" charset="-128"/>
                          <a:ea typeface="Meiryo UI" panose="020B0604030504040204" pitchFamily="50" charset="-128"/>
                        </a:rPr>
                        <a:t>(62XA_SEG_4Dr).xlsx</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5Dr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TBD</a:t>
                      </a:r>
                    </a:p>
                  </a:txBody>
                  <a:tcPr marL="72000" marR="72000" marT="36000" marB="36000"/>
                </a:tc>
                <a:extLst>
                  <a:ext uri="{0D108BD9-81ED-4DB2-BD59-A6C34878D82A}">
                    <a16:rowId xmlns:a16="http://schemas.microsoft.com/office/drawing/2014/main" val="1749513999"/>
                  </a:ext>
                </a:extLst>
              </a:tr>
            </a:tbl>
          </a:graphicData>
        </a:graphic>
      </p:graphicFrame>
      <p:sp>
        <p:nvSpPr>
          <p:cNvPr id="3" name="テキスト ボックス 2">
            <a:extLst>
              <a:ext uri="{FF2B5EF4-FFF2-40B4-BE49-F238E27FC236}">
                <a16:creationId xmlns:a16="http://schemas.microsoft.com/office/drawing/2014/main" id="{6B14EBBA-104C-4F6C-8F47-8C7C46D545A4}"/>
              </a:ext>
            </a:extLst>
          </p:cNvPr>
          <p:cNvSpPr txBox="1"/>
          <p:nvPr/>
        </p:nvSpPr>
        <p:spPr>
          <a:xfrm>
            <a:off x="372508" y="974437"/>
            <a:ext cx="8758239" cy="561692"/>
          </a:xfrm>
          <a:prstGeom prst="rect">
            <a:avLst/>
          </a:prstGeom>
          <a:noFill/>
        </p:spPr>
        <p:txBody>
          <a:bodyPr wrap="square">
            <a:spAutoFit/>
          </a:bodyPr>
          <a:lstStyle/>
          <a:p>
            <a:pPr algn="l">
              <a:spcBef>
                <a:spcPts val="300"/>
              </a:spcBef>
            </a:pPr>
            <a:r>
              <a:rPr lang="en-US" altLang="ja-JP" sz="1400">
                <a:latin typeface="Meiryo UI" panose="020B0604030504040204" pitchFamily="50" charset="-128"/>
                <a:ea typeface="Meiryo UI" panose="020B0604030504040204" pitchFamily="50" charset="-128"/>
              </a:rPr>
              <a:t>The following characteristics</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data is not listed in the Non-</a:t>
            </a:r>
            <a:r>
              <a:rPr kumimoji="1" lang="en-US" altLang="ja-JP"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component, so refer to each file.</a:t>
            </a:r>
          </a:p>
          <a:p>
            <a:pPr algn="l">
              <a:spcBef>
                <a:spcPts val="300"/>
              </a:spcBef>
            </a:pPr>
            <a:r>
              <a:rPr lang="ja-JP" altLang="en-US" sz="1400">
                <a:latin typeface="Meiryo UI" panose="020B0604030504040204" pitchFamily="50" charset="-128"/>
                <a:ea typeface="Meiryo UI" panose="020B0604030504040204" pitchFamily="50" charset="-128"/>
              </a:rPr>
              <a:t>下記特性データは</a:t>
            </a:r>
            <a:r>
              <a:rPr lang="en-US" altLang="ja-JP" sz="1400">
                <a:latin typeface="Meiryo UI" panose="020B0604030504040204" pitchFamily="50" charset="-128"/>
                <a:ea typeface="Meiryo UI" panose="020B0604030504040204" pitchFamily="50" charset="-128"/>
              </a:rPr>
              <a:t>Non-</a:t>
            </a:r>
            <a:r>
              <a:rPr kumimoji="1" lang="en-US" altLang="ja-JP"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rPr>
              <a:t>構成部品に含まれてないので、それぞれのファイルを参照お願いします。</a:t>
            </a:r>
            <a:endParaRPr lang="en-US" altLang="ja-JP" sz="1400">
              <a:latin typeface="Meiryo UI" panose="020B0604030504040204" pitchFamily="50" charset="-128"/>
              <a:ea typeface="Meiryo UI" panose="020B0604030504040204" pitchFamily="50" charset="-128"/>
            </a:endParaRPr>
          </a:p>
        </p:txBody>
      </p:sp>
      <p:sp>
        <p:nvSpPr>
          <p:cNvPr id="7" name="Text Box 2">
            <a:extLst>
              <a:ext uri="{FF2B5EF4-FFF2-40B4-BE49-F238E27FC236}">
                <a16:creationId xmlns:a16="http://schemas.microsoft.com/office/drawing/2014/main" id="{489015E2-DCEA-411A-846F-F81C407C78F6}"/>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13.</a:t>
            </a:r>
            <a:r>
              <a:rPr kumimoji="1" lang="ja-JP" altLang="en-US"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ENG Spec Comparison from Base Model </a:t>
            </a:r>
            <a:r>
              <a:rPr kumimoji="1" lang="en-US" alt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6/7</a:t>
            </a:r>
            <a:r>
              <a:rPr kumimoji="1" lang="en-US" alt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a:t>
            </a:r>
            <a:endParaRPr kumimoji="1" lang="en-US" altLang="ja-JP" sz="105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8" name="Text Box 2">
            <a:extLst>
              <a:ext uri="{FF2B5EF4-FFF2-40B4-BE49-F238E27FC236}">
                <a16:creationId xmlns:a16="http://schemas.microsoft.com/office/drawing/2014/main" id="{3447E524-EA60-421F-BBDB-B8DBA188A051}"/>
              </a:ext>
            </a:extLst>
          </p:cNvPr>
          <p:cNvSpPr txBox="1">
            <a:spLocks noChangeArrowheads="1"/>
          </p:cNvSpPr>
          <p:nvPr/>
        </p:nvSpPr>
        <p:spPr bwMode="auto">
          <a:xfrm>
            <a:off x="259667" y="573865"/>
            <a:ext cx="5540876"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800" b="1" u="sng">
                <a:latin typeface="Meiryo UI" panose="020B0604030504040204" pitchFamily="50" charset="-128"/>
                <a:ea typeface="Meiryo UI" panose="020B0604030504040204" pitchFamily="50" charset="-128"/>
                <a:cs typeface="Arial" pitchFamily="34" charset="0"/>
              </a:rPr>
              <a:t>Appendix. Honda Parts Specification</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(2/2)</a:t>
            </a:r>
            <a:endParaRPr lang="ja-JP" altLang="en-US" sz="1600" b="1">
              <a:latin typeface="Meiryo UI" panose="020B0604030504040204" pitchFamily="50" charset="-128"/>
              <a:ea typeface="Meiryo UI" panose="020B0604030504040204" pitchFamily="50" charset="-128"/>
              <a:cs typeface="Arial" pitchFamily="34" charset="0"/>
            </a:endParaRPr>
          </a:p>
        </p:txBody>
      </p:sp>
      <p:sp>
        <p:nvSpPr>
          <p:cNvPr id="9" name="コンテンツ プレースホルダー 2">
            <a:extLst>
              <a:ext uri="{FF2B5EF4-FFF2-40B4-BE49-F238E27FC236}">
                <a16:creationId xmlns:a16="http://schemas.microsoft.com/office/drawing/2014/main" id="{4E628E78-38BE-47A7-9457-DF5EC34BD4F8}"/>
              </a:ext>
            </a:extLst>
          </p:cNvPr>
          <p:cNvSpPr txBox="1">
            <a:spLocks/>
          </p:cNvSpPr>
          <p:nvPr>
            <p:custDataLst>
              <p:tags r:id="rId1"/>
            </p:custDataLst>
          </p:nvPr>
        </p:nvSpPr>
        <p:spPr bwMode="auto">
          <a:xfrm>
            <a:off x="2969640" y="3895684"/>
            <a:ext cx="5661806" cy="20531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ea typeface="Meiryo UI" panose="020B0604030504040204" pitchFamily="50" charset="-128"/>
              </a:rPr>
              <a:t>※</a:t>
            </a:r>
            <a:r>
              <a:rPr lang="ja-JP" altLang="en-US" sz="1400" b="1" kern="0">
                <a:latin typeface="Meiryo UI" panose="020B0604030504040204" pitchFamily="50" charset="-128"/>
                <a:ea typeface="Meiryo UI" panose="020B0604030504040204" pitchFamily="50" charset="-128"/>
              </a:rPr>
              <a:t> </a:t>
            </a:r>
            <a:r>
              <a:rPr lang="en-US" sz="1400" b="1" kern="0">
                <a:latin typeface="Meiryo UI" panose="020B0604030504040204" pitchFamily="50" charset="-128"/>
                <a:ea typeface="Meiryo UI" panose="020B0604030504040204" pitchFamily="50" charset="-128"/>
              </a:rPr>
              <a:t>In folder : “</a:t>
            </a:r>
            <a:r>
              <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rPr>
              <a:t>13.</a:t>
            </a:r>
            <a:r>
              <a:rPr kumimoji="1" lang="ja-JP" altLang="en-US"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rPr>
              <a:t> </a:t>
            </a:r>
            <a:r>
              <a:rPr kumimoji="1" lang="en-US" altLang="ja-JP" sz="1400" b="1" i="0" u="none" strike="noStrike" kern="1200" cap="none" spc="0" normalizeH="0" baseline="0" noProof="0">
                <a:ln>
                  <a:noFill/>
                </a:ln>
                <a:effectLst/>
                <a:uLnTx/>
                <a:uFillTx/>
                <a:latin typeface="Meiryo UI" panose="020B0604030504040204" pitchFamily="50" charset="-128"/>
                <a:ea typeface="Meiryo UI" panose="020B0604030504040204" pitchFamily="50" charset="-128"/>
              </a:rPr>
              <a:t>ENG Spec Comparison from Base model </a:t>
            </a:r>
            <a:r>
              <a:rPr lang="en-US" sz="1400" b="1" kern="0">
                <a:latin typeface="Meiryo UI" panose="020B0604030504040204" pitchFamily="50" charset="-128"/>
                <a:ea typeface="Meiryo UI" panose="020B0604030504040204" pitchFamily="50" charset="-128"/>
              </a:rPr>
              <a:t>”</a:t>
            </a:r>
          </a:p>
        </p:txBody>
      </p:sp>
      <p:sp>
        <p:nvSpPr>
          <p:cNvPr id="10" name="テキスト ボックス 9">
            <a:extLst>
              <a:ext uri="{FF2B5EF4-FFF2-40B4-BE49-F238E27FC236}">
                <a16:creationId xmlns:a16="http://schemas.microsoft.com/office/drawing/2014/main" id="{6869A576-4DA6-4EC4-BCFE-A8F024A3419C}"/>
              </a:ext>
            </a:extLst>
          </p:cNvPr>
          <p:cNvSpPr txBox="1"/>
          <p:nvPr/>
        </p:nvSpPr>
        <p:spPr>
          <a:xfrm rot="21087493">
            <a:off x="3431720" y="3870165"/>
            <a:ext cx="1949573" cy="461665"/>
          </a:xfrm>
          <a:prstGeom prst="rect">
            <a:avLst/>
          </a:prstGeom>
          <a:solidFill>
            <a:srgbClr val="00FF00"/>
          </a:solidFill>
        </p:spPr>
        <p:txBody>
          <a:bodyPr wrap="none" rtlCol="0">
            <a:spAutoFit/>
          </a:bodyPr>
          <a:lstStyle/>
          <a:p>
            <a:r>
              <a:rPr kumimoji="1" lang="en-US" altLang="ja-JP">
                <a:latin typeface="+mn-ea"/>
                <a:ea typeface="+mn-ea"/>
              </a:rPr>
              <a:t>Need revise</a:t>
            </a:r>
            <a:endParaRPr kumimoji="1" lang="ja-JP" altLang="en-US">
              <a:latin typeface="+mn-ea"/>
              <a:ea typeface="+mn-ea"/>
            </a:endParaRPr>
          </a:p>
        </p:txBody>
      </p:sp>
      <p:sp>
        <p:nvSpPr>
          <p:cNvPr id="4" name="テキスト ボックス 3">
            <a:extLst>
              <a:ext uri="{FF2B5EF4-FFF2-40B4-BE49-F238E27FC236}">
                <a16:creationId xmlns:a16="http://schemas.microsoft.com/office/drawing/2014/main" id="{93C572BC-9BFA-16D0-1BE1-52AF430DF60B}"/>
              </a:ext>
            </a:extLst>
          </p:cNvPr>
          <p:cNvSpPr txBox="1"/>
          <p:nvPr/>
        </p:nvSpPr>
        <p:spPr>
          <a:xfrm>
            <a:off x="0" y="6523389"/>
            <a:ext cx="9144000" cy="330669"/>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Same spec as 6SAA</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12820825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F90CB43B-8163-48C4-8BB9-70B06248B3FE}"/>
              </a:ext>
            </a:extLst>
          </p:cNvPr>
          <p:cNvSpPr txBox="1">
            <a:spLocks noChangeArrowheads="1"/>
          </p:cNvSpPr>
          <p:nvPr/>
        </p:nvSpPr>
        <p:spPr bwMode="auto">
          <a:xfrm>
            <a:off x="133270" y="70577"/>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13.</a:t>
            </a:r>
            <a:r>
              <a:rPr kumimoji="1" lang="ja-JP" altLang="en-US"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ENG Spec Comparison from Base Model </a:t>
            </a:r>
            <a:r>
              <a:rPr kumimoji="1" lang="en-US" alt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(7/7)</a:t>
            </a:r>
            <a:endParaRPr kumimoji="1" lang="en-US" altLang="ja-JP" sz="105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8" name="テキスト ボックス 7">
            <a:extLst>
              <a:ext uri="{FF2B5EF4-FFF2-40B4-BE49-F238E27FC236}">
                <a16:creationId xmlns:a16="http://schemas.microsoft.com/office/drawing/2014/main" id="{CC982BFB-4018-4C76-A818-02E6A8DF870B}"/>
              </a:ext>
            </a:extLst>
          </p:cNvPr>
          <p:cNvSpPr txBox="1"/>
          <p:nvPr/>
        </p:nvSpPr>
        <p:spPr>
          <a:xfrm>
            <a:off x="144236" y="592678"/>
            <a:ext cx="5873724"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457200" indent="-457200" algn="l" eaLnBrk="1" hangingPunct="1">
              <a:lnSpc>
                <a:spcPct val="120000"/>
              </a:lnSpc>
              <a:defRPr sz="1800" b="1" u="sng">
                <a:latin typeface="Meiryo UI" panose="020B0604030504040204" pitchFamily="50" charset="-128"/>
                <a:ea typeface="Meiryo UI" panose="020B0604030504040204" pitchFamily="50" charset="-128"/>
                <a:cs typeface="Arial"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r>
              <a:rPr lang="en-US" altLang="ja-JP"/>
              <a:t>VG/FG Characteristics of Air Flow Meter (AFM)</a:t>
            </a:r>
            <a:endParaRPr lang="ja-JP" altLang="en-US"/>
          </a:p>
        </p:txBody>
      </p:sp>
      <p:graphicFrame>
        <p:nvGraphicFramePr>
          <p:cNvPr id="9" name="表 5">
            <a:extLst>
              <a:ext uri="{FF2B5EF4-FFF2-40B4-BE49-F238E27FC236}">
                <a16:creationId xmlns:a16="http://schemas.microsoft.com/office/drawing/2014/main" id="{F38E8331-13BD-4FEA-842D-BE6440653186}"/>
              </a:ext>
            </a:extLst>
          </p:cNvPr>
          <p:cNvGraphicFramePr>
            <a:graphicFrameLocks noGrp="1"/>
          </p:cNvGraphicFramePr>
          <p:nvPr>
            <p:extLst>
              <p:ext uri="{D42A27DB-BD31-4B8C-83A1-F6EECF244321}">
                <p14:modId xmlns:p14="http://schemas.microsoft.com/office/powerpoint/2010/main" val="3601540941"/>
              </p:ext>
            </p:extLst>
          </p:nvPr>
        </p:nvGraphicFramePr>
        <p:xfrm>
          <a:off x="78539" y="2207847"/>
          <a:ext cx="9000239" cy="2066880"/>
        </p:xfrm>
        <a:graphic>
          <a:graphicData uri="http://schemas.openxmlformats.org/drawingml/2006/table">
            <a:tbl>
              <a:tblPr firstRow="1" bandRow="1">
                <a:tableStyleId>{5940675A-B579-460E-94D1-54222C63F5DA}</a:tableStyleId>
              </a:tblPr>
              <a:tblGrid>
                <a:gridCol w="3397876">
                  <a:extLst>
                    <a:ext uri="{9D8B030D-6E8A-4147-A177-3AD203B41FA5}">
                      <a16:colId xmlns:a16="http://schemas.microsoft.com/office/drawing/2014/main" val="2577792888"/>
                    </a:ext>
                  </a:extLst>
                </a:gridCol>
                <a:gridCol w="2383146">
                  <a:extLst>
                    <a:ext uri="{9D8B030D-6E8A-4147-A177-3AD203B41FA5}">
                      <a16:colId xmlns:a16="http://schemas.microsoft.com/office/drawing/2014/main" val="3005789725"/>
                    </a:ext>
                  </a:extLst>
                </a:gridCol>
                <a:gridCol w="1578277">
                  <a:extLst>
                    <a:ext uri="{9D8B030D-6E8A-4147-A177-3AD203B41FA5}">
                      <a16:colId xmlns:a16="http://schemas.microsoft.com/office/drawing/2014/main" val="2077700662"/>
                    </a:ext>
                  </a:extLst>
                </a:gridCol>
                <a:gridCol w="1640940">
                  <a:extLst>
                    <a:ext uri="{9D8B030D-6E8A-4147-A177-3AD203B41FA5}">
                      <a16:colId xmlns:a16="http://schemas.microsoft.com/office/drawing/2014/main" val="337314932"/>
                    </a:ext>
                  </a:extLst>
                </a:gridCol>
              </a:tblGrid>
              <a:tr h="0">
                <a:tc rowSpan="2">
                  <a:txBody>
                    <a:bodyPr/>
                    <a:lstStyle/>
                    <a:p>
                      <a:pPr algn="ctr"/>
                      <a:r>
                        <a:rPr kumimoji="1" lang="en-US" altLang="ja-JP" sz="1400">
                          <a:latin typeface="Meiryo UI" panose="020B0604030504040204" pitchFamily="50" charset="-128"/>
                          <a:ea typeface="Meiryo UI" panose="020B0604030504040204" pitchFamily="50" charset="-128"/>
                        </a:rPr>
                        <a:t>Object</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rowSpan="2">
                  <a:txBody>
                    <a:bodyPr/>
                    <a:lstStyle/>
                    <a:p>
                      <a:pPr algn="ctr"/>
                      <a:r>
                        <a:rPr kumimoji="1" lang="en-US" altLang="ja-JP" sz="1400">
                          <a:latin typeface="Meiryo UI" panose="020B0604030504040204" pitchFamily="50" charset="-128"/>
                          <a:ea typeface="Meiryo UI" panose="020B0604030504040204" pitchFamily="50" charset="-128"/>
                        </a:rPr>
                        <a:t>VG</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characteristics data</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gridSpan="2">
                  <a:txBody>
                    <a:bodyPr/>
                    <a:lstStyle/>
                    <a:p>
                      <a:pPr algn="ctr"/>
                      <a:r>
                        <a:rPr kumimoji="1" lang="en-US" altLang="ja-JP" sz="1400">
                          <a:latin typeface="Meiryo UI" panose="020B0604030504040204" pitchFamily="50" charset="-128"/>
                          <a:ea typeface="Meiryo UI" panose="020B0604030504040204" pitchFamily="50" charset="-128"/>
                        </a:rPr>
                        <a:t>Hardware</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of VG/FG measurement</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hMerge="1">
                  <a:txBody>
                    <a:bodyPr/>
                    <a:lstStyle/>
                    <a:p>
                      <a:pPr algn="ct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extLst>
                  <a:ext uri="{0D108BD9-81ED-4DB2-BD59-A6C34878D82A}">
                    <a16:rowId xmlns:a16="http://schemas.microsoft.com/office/drawing/2014/main" val="2628048544"/>
                  </a:ext>
                </a:extLst>
              </a:tr>
              <a:tr h="0">
                <a:tc vMerge="1">
                  <a:txBody>
                    <a:bodyPr/>
                    <a:lstStyle/>
                    <a:p>
                      <a:pPr algn="ct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vMerge="1">
                  <a:txBody>
                    <a:bodyPr/>
                    <a:lstStyle/>
                    <a:p>
                      <a:pPr algn="ct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AFM</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Air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Cleaner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Assy</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extLst>
                  <a:ext uri="{0D108BD9-81ED-4DB2-BD59-A6C34878D82A}">
                    <a16:rowId xmlns:a16="http://schemas.microsoft.com/office/drawing/2014/main" val="3323745591"/>
                  </a:ext>
                </a:extLst>
              </a:tr>
              <a:tr h="0">
                <a:tc>
                  <a:txBody>
                    <a:bodyPr/>
                    <a:lstStyle/>
                    <a:p>
                      <a:pPr algn="ctr"/>
                      <a:r>
                        <a:rPr kumimoji="1" lang="en-US" altLang="ja-JP" sz="1400">
                          <a:latin typeface="Meiryo UI" panose="020B0604030504040204" pitchFamily="50" charset="-128"/>
                          <a:ea typeface="Meiryo UI" panose="020B0604030504040204" pitchFamily="50" charset="-128"/>
                        </a:rPr>
                        <a:t>Engine Air charge calibration test </a:t>
                      </a:r>
                    </a:p>
                    <a:p>
                      <a:pPr algn="ctr"/>
                      <a:r>
                        <a:rPr kumimoji="1" lang="en-US" altLang="ja-JP" sz="1400">
                          <a:latin typeface="Meiryo UI" panose="020B0604030504040204" pitchFamily="50" charset="-128"/>
                          <a:ea typeface="Meiryo UI" panose="020B0604030504040204" pitchFamily="50" charset="-128"/>
                        </a:rPr>
                        <a:t>during development phase</a:t>
                      </a: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Exclusive measurement </a:t>
                      </a:r>
                    </a:p>
                    <a:p>
                      <a:pPr algn="ctr"/>
                      <a:r>
                        <a:rPr kumimoji="1" lang="en-US" altLang="ja-JP" sz="1400">
                          <a:latin typeface="Meiryo UI" panose="020B0604030504040204" pitchFamily="50" charset="-128"/>
                          <a:ea typeface="Meiryo UI" panose="020B0604030504040204" pitchFamily="50" charset="-128"/>
                        </a:rPr>
                        <a:t>by AFM supplier</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solidFill>
                      <a:srgbClr val="FFFF99"/>
                    </a:solidFill>
                  </a:tcPr>
                </a:tc>
                <a:tc gridSpan="2">
                  <a:txBody>
                    <a:bodyPr/>
                    <a:lstStyle/>
                    <a:p>
                      <a:pPr algn="ctr"/>
                      <a:r>
                        <a:rPr kumimoji="1" lang="en-US" altLang="ja-JP" sz="1400">
                          <a:latin typeface="Meiryo UI" panose="020B0604030504040204" pitchFamily="50" charset="-128"/>
                          <a:ea typeface="Meiryo UI" panose="020B0604030504040204" pitchFamily="50" charset="-128"/>
                        </a:rPr>
                        <a:t>Air Cleaner Assy with AFM </a:t>
                      </a:r>
                    </a:p>
                    <a:p>
                      <a:pPr algn="ctr"/>
                      <a:r>
                        <a:rPr kumimoji="1" lang="en-US" altLang="ja-JP" sz="1400">
                          <a:latin typeface="Meiryo UI" panose="020B0604030504040204" pitchFamily="50" charset="-128"/>
                          <a:ea typeface="Meiryo UI" panose="020B0604030504040204" pitchFamily="50" charset="-128"/>
                        </a:rPr>
                        <a:t>which has exclusive VG/FG data※</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solidFill>
                      <a:srgbClr val="FFFF99"/>
                    </a:solidFill>
                  </a:tcPr>
                </a:tc>
                <a:tc hMerge="1">
                  <a:txBody>
                    <a:bodyPr/>
                    <a:lstStyle/>
                    <a:p>
                      <a:pPr algn="ctr"/>
                      <a:endParaRPr kumimoji="1" lang="ja-JP" altLang="en-US" sz="1000">
                        <a:latin typeface="Meiryo UI" panose="020B0604030504040204" pitchFamily="50" charset="-128"/>
                        <a:ea typeface="Meiryo UI" panose="020B0604030504040204" pitchFamily="50" charset="-128"/>
                      </a:endParaRPr>
                    </a:p>
                  </a:txBody>
                  <a:tcPr marL="36000" marR="36000" marT="36000" marB="36000" anchor="ctr"/>
                </a:tc>
                <a:extLst>
                  <a:ext uri="{0D108BD9-81ED-4DB2-BD59-A6C34878D82A}">
                    <a16:rowId xmlns:a16="http://schemas.microsoft.com/office/drawing/2014/main" val="697006669"/>
                  </a:ext>
                </a:extLst>
              </a:tr>
              <a:tr h="0">
                <a:tc>
                  <a:txBody>
                    <a:bodyPr/>
                    <a:lstStyle/>
                    <a:p>
                      <a:pPr algn="ctr"/>
                      <a:r>
                        <a:rPr kumimoji="1" lang="en-US" altLang="ja-JP" sz="1400">
                          <a:latin typeface="Meiryo UI" panose="020B0604030504040204" pitchFamily="50" charset="-128"/>
                          <a:ea typeface="Meiryo UI" panose="020B0604030504040204" pitchFamily="50" charset="-128"/>
                        </a:rPr>
                        <a:t>HEX</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data release</a:t>
                      </a:r>
                    </a:p>
                    <a:p>
                      <a:pPr algn="ctr"/>
                      <a:r>
                        <a:rPr kumimoji="1" lang="en-US" altLang="ja-JP" sz="1400">
                          <a:latin typeface="Meiryo UI" panose="020B0604030504040204" pitchFamily="50" charset="-128"/>
                          <a:ea typeface="Meiryo UI" panose="020B0604030504040204" pitchFamily="50" charset="-128"/>
                        </a:rPr>
                        <a:t>during development phase</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Average</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of</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measurement </a:t>
                      </a:r>
                    </a:p>
                    <a:p>
                      <a:pPr algn="ctr"/>
                      <a:r>
                        <a:rPr kumimoji="1" lang="en-US" altLang="ja-JP" sz="1400">
                          <a:latin typeface="Meiryo UI" panose="020B0604030504040204" pitchFamily="50" charset="-128"/>
                          <a:ea typeface="Meiryo UI" panose="020B0604030504040204" pitchFamily="50" charset="-128"/>
                        </a:rPr>
                        <a:t>by AFM supplier</a:t>
                      </a:r>
                      <a:r>
                        <a:rPr kumimoji="1" lang="ja-JP" altLang="en-US" sz="1400">
                          <a:latin typeface="Meiryo UI" panose="020B0604030504040204" pitchFamily="50" charset="-128"/>
                          <a:ea typeface="Meiryo UI" panose="020B0604030504040204" pitchFamily="50" charset="-128"/>
                        </a:rPr>
                        <a:t> </a:t>
                      </a:r>
                      <a:endParaRPr kumimoji="1" lang="en-US" altLang="ja-JP" sz="1400">
                        <a:latin typeface="Meiryo UI" panose="020B0604030504040204" pitchFamily="50" charset="-128"/>
                        <a:ea typeface="Meiryo UI" panose="020B0604030504040204" pitchFamily="50" charset="-128"/>
                      </a:endParaRPr>
                    </a:p>
                  </a:txBody>
                  <a:tcPr marL="36000" marR="36000" marT="36000" marB="36000" anchor="ctr">
                    <a:solidFill>
                      <a:srgbClr val="FFFF99"/>
                    </a:solidFill>
                  </a:tcPr>
                </a:tc>
                <a:tc>
                  <a:txBody>
                    <a:bodyPr/>
                    <a:lstStyle/>
                    <a:p>
                      <a:pPr algn="ctr"/>
                      <a:r>
                        <a:rPr kumimoji="1" lang="en-US" altLang="ja-JP" sz="1400">
                          <a:latin typeface="Meiryo UI" panose="020B0604030504040204" pitchFamily="50" charset="-128"/>
                          <a:ea typeface="Meiryo UI" panose="020B0604030504040204" pitchFamily="50" charset="-128"/>
                        </a:rPr>
                        <a:t>Supplier</a:t>
                      </a:r>
                    </a:p>
                    <a:p>
                      <a:pPr algn="ctr"/>
                      <a:r>
                        <a:rPr kumimoji="1" lang="en-US" altLang="ja-JP" sz="1400">
                          <a:latin typeface="Meiryo UI" panose="020B0604030504040204" pitchFamily="50" charset="-128"/>
                          <a:ea typeface="Meiryo UI" panose="020B0604030504040204" pitchFamily="50" charset="-128"/>
                        </a:rPr>
                        <a:t>Master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AFM</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Prototype</a:t>
                      </a:r>
                    </a:p>
                  </a:txBody>
                  <a:tcPr marL="36000" marR="36000" marT="36000" marB="36000" anchor="ctr"/>
                </a:tc>
                <a:extLst>
                  <a:ext uri="{0D108BD9-81ED-4DB2-BD59-A6C34878D82A}">
                    <a16:rowId xmlns:a16="http://schemas.microsoft.com/office/drawing/2014/main" val="3779105579"/>
                  </a:ext>
                </a:extLst>
              </a:tr>
              <a:tr h="0">
                <a:tc>
                  <a:txBody>
                    <a:bodyPr/>
                    <a:lstStyle/>
                    <a:p>
                      <a:pPr algn="ctr"/>
                      <a:r>
                        <a:rPr kumimoji="1" lang="en-US" altLang="ja-JP" sz="1400">
                          <a:latin typeface="Meiryo UI" panose="020B0604030504040204" pitchFamily="50" charset="-128"/>
                          <a:ea typeface="Meiryo UI" panose="020B0604030504040204" pitchFamily="50" charset="-128"/>
                        </a:rPr>
                        <a:t>Mask HEX</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data release</a:t>
                      </a: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Average</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of</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measurement </a:t>
                      </a:r>
                    </a:p>
                    <a:p>
                      <a:pPr algn="ctr"/>
                      <a:r>
                        <a:rPr kumimoji="1" lang="en-US" altLang="ja-JP" sz="1400">
                          <a:latin typeface="Meiryo UI" panose="020B0604030504040204" pitchFamily="50" charset="-128"/>
                          <a:ea typeface="Meiryo UI" panose="020B0604030504040204" pitchFamily="50" charset="-128"/>
                        </a:rPr>
                        <a:t>by AFM supplier</a:t>
                      </a:r>
                      <a:r>
                        <a:rPr kumimoji="1" lang="ja-JP" altLang="en-US" sz="1400">
                          <a:latin typeface="Meiryo UI" panose="020B0604030504040204" pitchFamily="50" charset="-128"/>
                          <a:ea typeface="Meiryo UI" panose="020B0604030504040204" pitchFamily="50" charset="-128"/>
                        </a:rPr>
                        <a:t> </a:t>
                      </a:r>
                      <a:endParaRPr kumimoji="1" lang="en-US" altLang="ja-JP" sz="1400">
                        <a:latin typeface="Meiryo UI" panose="020B0604030504040204" pitchFamily="50" charset="-128"/>
                        <a:ea typeface="Meiryo UI" panose="020B0604030504040204" pitchFamily="50" charset="-128"/>
                      </a:endParaRPr>
                    </a:p>
                  </a:txBody>
                  <a:tcPr marL="36000" marR="36000" marT="36000" marB="36000" anchor="ctr">
                    <a:solidFill>
                      <a:srgbClr val="FFFF99"/>
                    </a:solidFill>
                  </a:tcPr>
                </a:tc>
                <a:tc>
                  <a:txBody>
                    <a:bodyPr/>
                    <a:lstStyle/>
                    <a:p>
                      <a:pPr algn="ctr"/>
                      <a:r>
                        <a:rPr kumimoji="1" lang="en-US" altLang="ja-JP" sz="1400">
                          <a:latin typeface="Meiryo UI" panose="020B0604030504040204" pitchFamily="50" charset="-128"/>
                          <a:ea typeface="Meiryo UI" panose="020B0604030504040204" pitchFamily="50" charset="-128"/>
                        </a:rPr>
                        <a:t>Supplier</a:t>
                      </a:r>
                    </a:p>
                    <a:p>
                      <a:pPr algn="ctr"/>
                      <a:r>
                        <a:rPr kumimoji="1" lang="en-US" altLang="ja-JP" sz="1400">
                          <a:latin typeface="Meiryo UI" panose="020B0604030504040204" pitchFamily="50" charset="-128"/>
                          <a:ea typeface="Meiryo UI" panose="020B0604030504040204" pitchFamily="50" charset="-128"/>
                        </a:rPr>
                        <a:t>Master</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AFM</a:t>
                      </a:r>
                      <a:endParaRPr kumimoji="1" lang="ja-JP" altLang="en-US" sz="1400">
                        <a:latin typeface="Meiryo UI" panose="020B0604030504040204" pitchFamily="50" charset="-128"/>
                        <a:ea typeface="Meiryo UI" panose="020B0604030504040204" pitchFamily="50" charset="-128"/>
                      </a:endParaRPr>
                    </a:p>
                  </a:txBody>
                  <a:tcPr marL="36000" marR="36000" marT="36000" marB="36000" anchor="ctr"/>
                </a:tc>
                <a:tc>
                  <a:txBody>
                    <a:bodyPr/>
                    <a:lstStyle/>
                    <a:p>
                      <a:pPr algn="ctr"/>
                      <a:r>
                        <a:rPr kumimoji="1" lang="en-US" altLang="ja-JP" sz="1400">
                          <a:latin typeface="Meiryo UI" panose="020B0604030504040204" pitchFamily="50" charset="-128"/>
                          <a:ea typeface="Meiryo UI" panose="020B0604030504040204" pitchFamily="50" charset="-128"/>
                        </a:rPr>
                        <a:t>Mass production type</a:t>
                      </a:r>
                    </a:p>
                  </a:txBody>
                  <a:tcPr marL="36000" marR="36000" marT="36000" marB="36000" anchor="ctr"/>
                </a:tc>
                <a:extLst>
                  <a:ext uri="{0D108BD9-81ED-4DB2-BD59-A6C34878D82A}">
                    <a16:rowId xmlns:a16="http://schemas.microsoft.com/office/drawing/2014/main" val="1402589618"/>
                  </a:ext>
                </a:extLst>
              </a:tr>
            </a:tbl>
          </a:graphicData>
        </a:graphic>
      </p:graphicFrame>
      <p:sp>
        <p:nvSpPr>
          <p:cNvPr id="10" name="テキスト ボックス 9">
            <a:extLst>
              <a:ext uri="{FF2B5EF4-FFF2-40B4-BE49-F238E27FC236}">
                <a16:creationId xmlns:a16="http://schemas.microsoft.com/office/drawing/2014/main" id="{8F9E5AFF-B89C-4CE6-B4A4-B174972FD9A0}"/>
              </a:ext>
            </a:extLst>
          </p:cNvPr>
          <p:cNvSpPr txBox="1"/>
          <p:nvPr/>
        </p:nvSpPr>
        <p:spPr>
          <a:xfrm>
            <a:off x="-39073" y="4487642"/>
            <a:ext cx="9368604" cy="815608"/>
          </a:xfrm>
          <a:prstGeom prst="rect">
            <a:avLst/>
          </a:prstGeom>
          <a:noFill/>
        </p:spPr>
        <p:txBody>
          <a:bodyPr wrap="square">
            <a:spAutoFit/>
          </a:bodyPr>
          <a:lstStyle/>
          <a:p>
            <a:pPr algn="l">
              <a:spcBef>
                <a:spcPts val="300"/>
              </a:spcBef>
            </a:pPr>
            <a:r>
              <a:rPr lang="en-US" altLang="ja-JP" sz="1400">
                <a:latin typeface="Meiryo UI" panose="020B0604030504040204" pitchFamily="50" charset="-128"/>
                <a:ea typeface="Meiryo UI" panose="020B0604030504040204" pitchFamily="50" charset="-128"/>
              </a:rPr>
              <a:t>※ Don’t remove the air cleaner element</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and</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AFM unnecessarily to avoid VG/FG characteristics shifting</a:t>
            </a:r>
          </a:p>
          <a:p>
            <a:pPr algn="l">
              <a:spcBef>
                <a:spcPts val="300"/>
              </a:spcBef>
            </a:pPr>
            <a:r>
              <a:rPr lang="en-US" altLang="ja-JP" sz="1400">
                <a:latin typeface="Meiryo UI" panose="020B0604030504040204" pitchFamily="50" charset="-128"/>
                <a:ea typeface="Meiryo UI" panose="020B0604030504040204" pitchFamily="50" charset="-128"/>
              </a:rPr>
              <a:t>    in case of </a:t>
            </a:r>
            <a:r>
              <a:rPr kumimoji="1" lang="en-US" altLang="ja-JP" sz="1400">
                <a:latin typeface="Meiryo UI" panose="020B0604030504040204" pitchFamily="50" charset="-128"/>
                <a:ea typeface="Meiryo UI" panose="020B0604030504040204" pitchFamily="50" charset="-128"/>
              </a:rPr>
              <a:t>Air cleaner Assy with AFM which has exclusive VG/FG data</a:t>
            </a:r>
            <a:endParaRPr kumimoji="1" lang="ja-JP" altLang="en-US"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特性データ付き</a:t>
            </a:r>
            <a:r>
              <a:rPr lang="en-US" altLang="ja-JP" sz="1400">
                <a:latin typeface="Meiryo UI" panose="020B0604030504040204" pitchFamily="50" charset="-128"/>
                <a:ea typeface="Meiryo UI" panose="020B0604030504040204" pitchFamily="50" charset="-128"/>
              </a:rPr>
              <a:t>Air Cleaner Assy</a:t>
            </a:r>
            <a:r>
              <a:rPr lang="ja-JP" altLang="en-US" sz="1400">
                <a:latin typeface="Meiryo UI" panose="020B0604030504040204" pitchFamily="50" charset="-128"/>
                <a:ea typeface="Meiryo UI" panose="020B0604030504040204" pitchFamily="50" charset="-128"/>
              </a:rPr>
              <a:t>は、むやみにエレメントや</a:t>
            </a:r>
            <a:r>
              <a:rPr lang="en-US" altLang="ja-JP" sz="1400">
                <a:latin typeface="Meiryo UI" panose="020B0604030504040204" pitchFamily="50" charset="-128"/>
                <a:ea typeface="Meiryo UI" panose="020B0604030504040204" pitchFamily="50" charset="-128"/>
              </a:rPr>
              <a:t>AFM</a:t>
            </a:r>
            <a:r>
              <a:rPr lang="ja-JP" altLang="en-US" sz="1400">
                <a:latin typeface="Meiryo UI" panose="020B0604030504040204" pitchFamily="50" charset="-128"/>
                <a:ea typeface="Meiryo UI" panose="020B0604030504040204" pitchFamily="50" charset="-128"/>
              </a:rPr>
              <a:t>を取り外しないでください。</a:t>
            </a:r>
            <a:r>
              <a:rPr lang="en-US" altLang="ja-JP" sz="1400">
                <a:latin typeface="Meiryo UI" panose="020B0604030504040204" pitchFamily="50" charset="-128"/>
                <a:ea typeface="Meiryo UI" panose="020B0604030504040204" pitchFamily="50" charset="-128"/>
              </a:rPr>
              <a:t>(VG/FG</a:t>
            </a:r>
            <a:r>
              <a:rPr lang="ja-JP" altLang="en-US" sz="1400">
                <a:latin typeface="Meiryo UI" panose="020B0604030504040204" pitchFamily="50" charset="-128"/>
                <a:ea typeface="Meiryo UI" panose="020B0604030504040204" pitchFamily="50" charset="-128"/>
              </a:rPr>
              <a:t>特性ずれが発生するため）</a:t>
            </a:r>
            <a:endParaRPr lang="en-US" altLang="ja-JP" sz="1400">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BB06B09C-B4A3-4884-9806-8D1C8E83CA4B}"/>
              </a:ext>
            </a:extLst>
          </p:cNvPr>
          <p:cNvSpPr txBox="1"/>
          <p:nvPr/>
        </p:nvSpPr>
        <p:spPr>
          <a:xfrm>
            <a:off x="133270" y="980092"/>
            <a:ext cx="8782130" cy="1069524"/>
          </a:xfrm>
          <a:prstGeom prst="rect">
            <a:avLst/>
          </a:prstGeom>
          <a:noFill/>
        </p:spPr>
        <p:txBody>
          <a:bodyPr wrap="square">
            <a:spAutoFit/>
          </a:bodyPr>
          <a:lstStyle/>
          <a:p>
            <a:pPr algn="l">
              <a:spcBef>
                <a:spcPts val="300"/>
              </a:spcBef>
            </a:pPr>
            <a:r>
              <a:rPr lang="en-US" altLang="ja-JP" sz="1400">
                <a:latin typeface="Meiryo UI" pitchFamily="50" charset="-128"/>
                <a:ea typeface="Meiryo UI" pitchFamily="50" charset="-128"/>
                <a:cs typeface="Meiryo UI" pitchFamily="50" charset="-128"/>
              </a:rPr>
              <a:t>HONDA will provide Air Cleaner Assy with AFM which has exclusive VG/FG data.</a:t>
            </a:r>
            <a:r>
              <a:rPr lang="ja-JP" altLang="en-US" sz="1400">
                <a:latin typeface="Meiryo UI" pitchFamily="50" charset="-128"/>
                <a:ea typeface="Meiryo UI" pitchFamily="50" charset="-128"/>
                <a:cs typeface="Meiryo UI" pitchFamily="50" charset="-128"/>
              </a:rPr>
              <a:t> </a:t>
            </a:r>
            <a:r>
              <a:rPr lang="en-US" altLang="ja-JP" sz="1400">
                <a:latin typeface="Meiryo UI" pitchFamily="50" charset="-128"/>
                <a:ea typeface="Meiryo UI" pitchFamily="50" charset="-128"/>
                <a:cs typeface="Meiryo UI" pitchFamily="50" charset="-128"/>
              </a:rPr>
              <a:t>(Nominal version)</a:t>
            </a:r>
          </a:p>
          <a:p>
            <a:pPr algn="l">
              <a:spcBef>
                <a:spcPts val="300"/>
              </a:spcBef>
            </a:pPr>
            <a:r>
              <a:rPr lang="en-US" altLang="ja-JP" sz="1400">
                <a:latin typeface="Meiryo UI" pitchFamily="50" charset="-128"/>
                <a:ea typeface="Meiryo UI" pitchFamily="50" charset="-128"/>
                <a:cs typeface="Meiryo UI" pitchFamily="50" charset="-128"/>
              </a:rPr>
              <a:t>Please u</a:t>
            </a:r>
            <a:r>
              <a:rPr kumimoji="1" lang="en-US" altLang="ja-JP" sz="1400">
                <a:latin typeface="Meiryo UI" pitchFamily="50" charset="-128"/>
                <a:ea typeface="Meiryo UI" pitchFamily="50" charset="-128"/>
                <a:cs typeface="Meiryo UI" pitchFamily="50" charset="-128"/>
              </a:rPr>
              <a:t>se it to keep Air mass accurate in Engine calibration test during development phase </a:t>
            </a:r>
          </a:p>
          <a:p>
            <a:pPr algn="l">
              <a:spcBef>
                <a:spcPts val="300"/>
              </a:spcBef>
            </a:pPr>
            <a:r>
              <a:rPr lang="en-US" altLang="ja-JP" sz="1400">
                <a:latin typeface="Meiryo UI" pitchFamily="50" charset="-128"/>
                <a:ea typeface="Meiryo UI" pitchFamily="50" charset="-128"/>
                <a:cs typeface="Meiryo UI" pitchFamily="50" charset="-128"/>
              </a:rPr>
              <a:t>HONDA</a:t>
            </a:r>
            <a:r>
              <a:rPr lang="ja-JP" altLang="en-US" sz="1400">
                <a:latin typeface="Meiryo UI" pitchFamily="50" charset="-128"/>
                <a:ea typeface="Meiryo UI" pitchFamily="50" charset="-128"/>
                <a:cs typeface="Meiryo UI" pitchFamily="50" charset="-128"/>
              </a:rPr>
              <a:t>は</a:t>
            </a:r>
            <a:r>
              <a:rPr lang="en-US" altLang="ja-JP" sz="1400">
                <a:latin typeface="Meiryo UI" pitchFamily="50" charset="-128"/>
                <a:ea typeface="Meiryo UI" pitchFamily="50" charset="-128"/>
                <a:cs typeface="Meiryo UI" pitchFamily="50" charset="-128"/>
              </a:rPr>
              <a:t>VG/FG</a:t>
            </a:r>
            <a:r>
              <a:rPr lang="ja-JP" altLang="en-US" sz="1400">
                <a:latin typeface="Meiryo UI" pitchFamily="50" charset="-128"/>
                <a:ea typeface="Meiryo UI" pitchFamily="50" charset="-128"/>
                <a:cs typeface="Meiryo UI" pitchFamily="50" charset="-128"/>
              </a:rPr>
              <a:t>特性データと関連した</a:t>
            </a:r>
            <a:r>
              <a:rPr lang="en-US" altLang="ja-JP" sz="1400">
                <a:latin typeface="Meiryo UI" pitchFamily="50" charset="-128"/>
                <a:ea typeface="Meiryo UI" pitchFamily="50" charset="-128"/>
                <a:cs typeface="Meiryo UI" pitchFamily="50" charset="-128"/>
              </a:rPr>
              <a:t>AFM</a:t>
            </a:r>
            <a:r>
              <a:rPr lang="ja-JP" altLang="en-US" sz="1400">
                <a:latin typeface="Meiryo UI" pitchFamily="50" charset="-128"/>
                <a:ea typeface="Meiryo UI" pitchFamily="50" charset="-128"/>
                <a:cs typeface="Meiryo UI" pitchFamily="50" charset="-128"/>
              </a:rPr>
              <a:t>中央特性仕様の</a:t>
            </a:r>
            <a:r>
              <a:rPr lang="en-US" altLang="ja-JP" sz="1400">
                <a:latin typeface="Meiryo UI" pitchFamily="50" charset="-128"/>
                <a:ea typeface="Meiryo UI" pitchFamily="50" charset="-128"/>
                <a:cs typeface="Meiryo UI" pitchFamily="50" charset="-128"/>
              </a:rPr>
              <a:t>Air</a:t>
            </a:r>
            <a:r>
              <a:rPr lang="ja-JP" altLang="en-US" sz="1400">
                <a:latin typeface="Meiryo UI" pitchFamily="50" charset="-128"/>
                <a:ea typeface="Meiryo UI" pitchFamily="50" charset="-128"/>
                <a:cs typeface="Meiryo UI" pitchFamily="50" charset="-128"/>
              </a:rPr>
              <a:t> </a:t>
            </a:r>
            <a:r>
              <a:rPr lang="en-US" altLang="ja-JP" sz="1400">
                <a:latin typeface="Meiryo UI" pitchFamily="50" charset="-128"/>
                <a:ea typeface="Meiryo UI" pitchFamily="50" charset="-128"/>
                <a:cs typeface="Meiryo UI" pitchFamily="50" charset="-128"/>
              </a:rPr>
              <a:t>Cleaner</a:t>
            </a:r>
            <a:r>
              <a:rPr lang="ja-JP" altLang="en-US" sz="1400">
                <a:latin typeface="Meiryo UI" pitchFamily="50" charset="-128"/>
                <a:ea typeface="Meiryo UI" pitchFamily="50" charset="-128"/>
                <a:cs typeface="Meiryo UI" pitchFamily="50" charset="-128"/>
              </a:rPr>
              <a:t>セットを提供する。</a:t>
            </a:r>
            <a:endParaRPr kumimoji="1" lang="en-US" altLang="ja-JP" sz="1400">
              <a:latin typeface="Meiryo UI" pitchFamily="50" charset="-128"/>
              <a:ea typeface="Meiryo UI" pitchFamily="50" charset="-128"/>
              <a:cs typeface="Meiryo UI" pitchFamily="50" charset="-128"/>
            </a:endParaRPr>
          </a:p>
          <a:p>
            <a:pPr algn="l">
              <a:spcBef>
                <a:spcPts val="300"/>
              </a:spcBef>
            </a:pPr>
            <a:r>
              <a:rPr kumimoji="1" lang="ja-JP" altLang="en-US" sz="1400">
                <a:latin typeface="Meiryo UI" pitchFamily="50" charset="-128"/>
                <a:ea typeface="Meiryo UI" pitchFamily="50" charset="-128"/>
                <a:cs typeface="Meiryo UI" pitchFamily="50" charset="-128"/>
              </a:rPr>
              <a:t>開発中の</a:t>
            </a:r>
            <a:r>
              <a:rPr lang="ja-JP" altLang="en-US" sz="1400">
                <a:latin typeface="Meiryo UI" pitchFamily="50" charset="-128"/>
                <a:ea typeface="Meiryo UI" pitchFamily="50" charset="-128"/>
                <a:cs typeface="Meiryo UI" pitchFamily="50" charset="-128"/>
              </a:rPr>
              <a:t>エンジン</a:t>
            </a:r>
            <a:r>
              <a:rPr kumimoji="1" lang="ja-JP" altLang="en-US" sz="1400">
                <a:latin typeface="Meiryo UI" pitchFamily="50" charset="-128"/>
                <a:ea typeface="Meiryo UI" pitchFamily="50" charset="-128"/>
                <a:cs typeface="Meiryo UI" pitchFamily="50" charset="-128"/>
              </a:rPr>
              <a:t>適合に対しては</a:t>
            </a:r>
            <a:r>
              <a:rPr kumimoji="1" lang="en-US" altLang="ja-JP" sz="1400">
                <a:latin typeface="Meiryo UI" pitchFamily="50" charset="-128"/>
                <a:ea typeface="Meiryo UI" pitchFamily="50" charset="-128"/>
                <a:cs typeface="Meiryo UI" pitchFamily="50" charset="-128"/>
              </a:rPr>
              <a:t>ECU</a:t>
            </a:r>
            <a:r>
              <a:rPr kumimoji="1" lang="ja-JP" altLang="en-US" sz="1400">
                <a:latin typeface="Meiryo UI" pitchFamily="50" charset="-128"/>
                <a:ea typeface="Meiryo UI" pitchFamily="50" charset="-128"/>
                <a:cs typeface="Meiryo UI" pitchFamily="50" charset="-128"/>
              </a:rPr>
              <a:t>が空気流量を正確に認識できるよう、この「特性仕様セット」を使用する。</a:t>
            </a:r>
            <a:endParaRPr lang="en-US" altLang="ja-JP" sz="1400">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354E7858-549F-4389-A417-C2F545A9BE6E}"/>
              </a:ext>
            </a:extLst>
          </p:cNvPr>
          <p:cNvSpPr txBox="1"/>
          <p:nvPr/>
        </p:nvSpPr>
        <p:spPr>
          <a:xfrm>
            <a:off x="221135" y="5418737"/>
            <a:ext cx="5673028"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457200" indent="-457200" algn="l" eaLnBrk="1" hangingPunct="1">
              <a:lnSpc>
                <a:spcPct val="120000"/>
              </a:lnSpc>
              <a:defRPr sz="1800" b="1" u="sng">
                <a:latin typeface="Meiryo UI" panose="020B0604030504040204" pitchFamily="50" charset="-128"/>
                <a:ea typeface="Meiryo UI" panose="020B0604030504040204" pitchFamily="50" charset="-128"/>
                <a:cs typeface="Arial"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0"/>
              </a:spcBef>
              <a:spcAft>
                <a:spcPct val="0"/>
              </a:spcAft>
            </a:lvl6pPr>
            <a:lvl7pPr marL="2971800" indent="-228600" algn="ctr" eaLnBrk="0" fontAlgn="base" hangingPunct="0">
              <a:spcBef>
                <a:spcPct val="0"/>
              </a:spcBef>
              <a:spcAft>
                <a:spcPct val="0"/>
              </a:spcAft>
            </a:lvl7pPr>
            <a:lvl8pPr marL="3429000" indent="-228600" algn="ctr" eaLnBrk="0" fontAlgn="base" hangingPunct="0">
              <a:spcBef>
                <a:spcPct val="0"/>
              </a:spcBef>
              <a:spcAft>
                <a:spcPct val="0"/>
              </a:spcAft>
            </a:lvl8pPr>
            <a:lvl9pPr marL="3886200" indent="-228600" algn="ctr" eaLnBrk="0" fontAlgn="base" hangingPunct="0">
              <a:spcBef>
                <a:spcPct val="0"/>
              </a:spcBef>
              <a:spcAft>
                <a:spcPct val="0"/>
              </a:spcAft>
            </a:lvl9pPr>
          </a:lstStyle>
          <a:p>
            <a:r>
              <a:rPr kumimoji="1" lang="en-US" altLang="ja-JP" sz="1800" i="0" strike="noStrike" kern="1200" cap="none" spc="0" normalizeH="0" baseline="0" noProof="0">
                <a:ln>
                  <a:noFill/>
                </a:ln>
                <a:solidFill>
                  <a:srgbClr val="000000"/>
                </a:solidFill>
                <a:effectLst/>
                <a:uLnTx/>
                <a:uFillTx/>
                <a:cs typeface="+mn-cs"/>
              </a:rPr>
              <a:t>Tolerance of VG characteristics(AFM System)</a:t>
            </a:r>
            <a:endParaRPr lang="ja-JP" altLang="en-US"/>
          </a:p>
        </p:txBody>
      </p:sp>
      <p:sp>
        <p:nvSpPr>
          <p:cNvPr id="13" name="テキスト ボックス 12">
            <a:extLst>
              <a:ext uri="{FF2B5EF4-FFF2-40B4-BE49-F238E27FC236}">
                <a16:creationId xmlns:a16="http://schemas.microsoft.com/office/drawing/2014/main" id="{EDD17808-E65E-4AAA-9456-97D0174109FA}"/>
              </a:ext>
            </a:extLst>
          </p:cNvPr>
          <p:cNvSpPr txBox="1"/>
          <p:nvPr/>
        </p:nvSpPr>
        <p:spPr>
          <a:xfrm>
            <a:off x="221135" y="5806151"/>
            <a:ext cx="6741397" cy="523220"/>
          </a:xfrm>
          <a:prstGeom prst="rect">
            <a:avLst/>
          </a:prstGeom>
          <a:noFill/>
        </p:spPr>
        <p:txBody>
          <a:bodyPr wrap="none">
            <a:spAutoFit/>
          </a:bodyPr>
          <a:lstStyle/>
          <a:p>
            <a:pPr algn="l"/>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rPr>
              <a:t>Consider -8%/+8% tolerance (Mass</a:t>
            </a:r>
            <a:r>
              <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rPr>
              <a:t> </a:t>
            </a: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rPr>
              <a:t>production variation) for AFM systems</a:t>
            </a:r>
          </a:p>
          <a:p>
            <a:pPr algn="l"/>
            <a:r>
              <a:rPr lang="en-US" altLang="ja-JP" sz="1400">
                <a:latin typeface="Meiryo UI" panose="020B0604030504040204" pitchFamily="50" charset="-128"/>
                <a:ea typeface="Meiryo UI" panose="020B0604030504040204" pitchFamily="50" charset="-128"/>
              </a:rPr>
              <a:t>AFM</a:t>
            </a:r>
            <a:r>
              <a:rPr lang="ja-JP" altLang="en-US" sz="1400">
                <a:latin typeface="Meiryo UI" panose="020B0604030504040204" pitchFamily="50" charset="-128"/>
                <a:ea typeface="Meiryo UI" panose="020B0604030504040204" pitchFamily="50" charset="-128"/>
              </a:rPr>
              <a:t>システムでは、</a:t>
            </a:r>
            <a:r>
              <a:rPr lang="en-US" altLang="ja-JP" sz="1400">
                <a:latin typeface="Meiryo UI" panose="020B0604030504040204" pitchFamily="50" charset="-128"/>
                <a:ea typeface="Meiryo UI" panose="020B0604030504040204" pitchFamily="50" charset="-128"/>
              </a:rPr>
              <a:t>+8%/-8%</a:t>
            </a:r>
            <a:r>
              <a:rPr lang="ja-JP" altLang="en-US" sz="1400">
                <a:latin typeface="Meiryo UI" panose="020B0604030504040204" pitchFamily="50" charset="-128"/>
                <a:ea typeface="Meiryo UI" panose="020B0604030504040204" pitchFamily="50" charset="-128"/>
              </a:rPr>
              <a:t>公差</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量産品バラツキ</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を考慮する事</a:t>
            </a:r>
            <a:endParaRPr lang="en-US" altLang="ja-JP" sz="14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4420629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6124754"/>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0349642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61254" y="574254"/>
            <a:ext cx="6599242"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HGP創英角ｺﾞｼｯｸUB" pitchFamily="50" charset="-128"/>
                <a:cs typeface="Arial" pitchFamily="34" charset="0"/>
              </a:rPr>
              <a:t>Vehicle (Major) Functions and ECU Variant Overview</a:t>
            </a:r>
            <a:endPar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HGP創英角ｺﾞｼｯｸUB" pitchFamily="50" charset="-128"/>
              <a:cs typeface="Arial" pitchFamily="34" charset="0"/>
            </a:endParaRPr>
          </a:p>
        </p:txBody>
      </p:sp>
      <p:sp>
        <p:nvSpPr>
          <p:cNvPr id="5" name="テキスト ボックス 4"/>
          <p:cNvSpPr txBox="1"/>
          <p:nvPr/>
        </p:nvSpPr>
        <p:spPr>
          <a:xfrm>
            <a:off x="7704182" y="528450"/>
            <a:ext cx="1439818" cy="43088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X</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Application</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No application</a:t>
            </a:r>
          </a:p>
        </p:txBody>
      </p:sp>
      <p:sp>
        <p:nvSpPr>
          <p:cNvPr id="12" name="テキスト ボックス 11"/>
          <p:cNvSpPr txBox="1"/>
          <p:nvPr/>
        </p:nvSpPr>
        <p:spPr>
          <a:xfrm>
            <a:off x="0" y="6331506"/>
            <a:ext cx="4060086"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&lt; System Matrix &gt;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Detail would be written in system matrix file</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7"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14. In-Vehicle Functions Relating ECU and Features</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3" name="コンテンツ プレースホルダー 2"/>
          <p:cNvSpPr txBox="1">
            <a:spLocks/>
          </p:cNvSpPr>
          <p:nvPr>
            <p:custDataLst>
              <p:tags r:id="rId1"/>
            </p:custDataLst>
          </p:nvPr>
        </p:nvSpPr>
        <p:spPr bwMode="auto">
          <a:xfrm>
            <a:off x="5341352" y="6354612"/>
            <a:ext cx="3606757" cy="529376"/>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“System matrix” excel file.</a:t>
            </a:r>
          </a:p>
          <a:p>
            <a:pPr marL="0" indent="0">
              <a:lnSpc>
                <a:spcPct val="105000"/>
              </a:lnSpc>
              <a:spcBef>
                <a:spcPts val="600"/>
              </a:spcBef>
              <a:spcAft>
                <a:spcPts val="0"/>
              </a:spcAft>
            </a:pPr>
            <a:r>
              <a:rPr lang="en-US" sz="1400" b="1" kern="0">
                <a:latin typeface="Meiryo UI" panose="020B0604030504040204" pitchFamily="50" charset="-128"/>
              </a:rPr>
              <a:t>In folder : “14. Vehicle function”</a:t>
            </a:r>
          </a:p>
        </p:txBody>
      </p:sp>
      <p:graphicFrame>
        <p:nvGraphicFramePr>
          <p:cNvPr id="2" name="表 1">
            <a:extLst>
              <a:ext uri="{FF2B5EF4-FFF2-40B4-BE49-F238E27FC236}">
                <a16:creationId xmlns:a16="http://schemas.microsoft.com/office/drawing/2014/main" id="{4F7A67EA-B2EF-78CC-353B-9660762109C7}"/>
              </a:ext>
            </a:extLst>
          </p:cNvPr>
          <p:cNvGraphicFramePr>
            <a:graphicFrameLocks noGrp="1"/>
          </p:cNvGraphicFramePr>
          <p:nvPr>
            <p:extLst>
              <p:ext uri="{D42A27DB-BD31-4B8C-83A1-F6EECF244321}">
                <p14:modId xmlns:p14="http://schemas.microsoft.com/office/powerpoint/2010/main" val="1840155979"/>
              </p:ext>
            </p:extLst>
          </p:nvPr>
        </p:nvGraphicFramePr>
        <p:xfrm>
          <a:off x="361590" y="994847"/>
          <a:ext cx="8420819" cy="5324255"/>
        </p:xfrm>
        <a:graphic>
          <a:graphicData uri="http://schemas.openxmlformats.org/drawingml/2006/table">
            <a:tbl>
              <a:tblPr/>
              <a:tblGrid>
                <a:gridCol w="1187387">
                  <a:extLst>
                    <a:ext uri="{9D8B030D-6E8A-4147-A177-3AD203B41FA5}">
                      <a16:colId xmlns:a16="http://schemas.microsoft.com/office/drawing/2014/main" val="20000"/>
                    </a:ext>
                  </a:extLst>
                </a:gridCol>
                <a:gridCol w="1647041">
                  <a:extLst>
                    <a:ext uri="{9D8B030D-6E8A-4147-A177-3AD203B41FA5}">
                      <a16:colId xmlns:a16="http://schemas.microsoft.com/office/drawing/2014/main" val="20001"/>
                    </a:ext>
                  </a:extLst>
                </a:gridCol>
                <a:gridCol w="945284">
                  <a:extLst>
                    <a:ext uri="{9D8B030D-6E8A-4147-A177-3AD203B41FA5}">
                      <a16:colId xmlns:a16="http://schemas.microsoft.com/office/drawing/2014/main" val="4165756772"/>
                    </a:ext>
                  </a:extLst>
                </a:gridCol>
                <a:gridCol w="529721">
                  <a:extLst>
                    <a:ext uri="{9D8B030D-6E8A-4147-A177-3AD203B41FA5}">
                      <a16:colId xmlns:a16="http://schemas.microsoft.com/office/drawing/2014/main" val="20008"/>
                    </a:ext>
                  </a:extLst>
                </a:gridCol>
                <a:gridCol w="492106">
                  <a:extLst>
                    <a:ext uri="{9D8B030D-6E8A-4147-A177-3AD203B41FA5}">
                      <a16:colId xmlns:a16="http://schemas.microsoft.com/office/drawing/2014/main" val="20011"/>
                    </a:ext>
                  </a:extLst>
                </a:gridCol>
                <a:gridCol w="492106">
                  <a:extLst>
                    <a:ext uri="{9D8B030D-6E8A-4147-A177-3AD203B41FA5}">
                      <a16:colId xmlns:a16="http://schemas.microsoft.com/office/drawing/2014/main" val="3606203996"/>
                    </a:ext>
                  </a:extLst>
                </a:gridCol>
                <a:gridCol w="492106">
                  <a:extLst>
                    <a:ext uri="{9D8B030D-6E8A-4147-A177-3AD203B41FA5}">
                      <a16:colId xmlns:a16="http://schemas.microsoft.com/office/drawing/2014/main" val="2846732512"/>
                    </a:ext>
                  </a:extLst>
                </a:gridCol>
                <a:gridCol w="579375">
                  <a:extLst>
                    <a:ext uri="{9D8B030D-6E8A-4147-A177-3AD203B41FA5}">
                      <a16:colId xmlns:a16="http://schemas.microsoft.com/office/drawing/2014/main" val="3776807724"/>
                    </a:ext>
                  </a:extLst>
                </a:gridCol>
                <a:gridCol w="492106">
                  <a:extLst>
                    <a:ext uri="{9D8B030D-6E8A-4147-A177-3AD203B41FA5}">
                      <a16:colId xmlns:a16="http://schemas.microsoft.com/office/drawing/2014/main" val="3844004479"/>
                    </a:ext>
                  </a:extLst>
                </a:gridCol>
                <a:gridCol w="492106">
                  <a:extLst>
                    <a:ext uri="{9D8B030D-6E8A-4147-A177-3AD203B41FA5}">
                      <a16:colId xmlns:a16="http://schemas.microsoft.com/office/drawing/2014/main" val="2472166535"/>
                    </a:ext>
                  </a:extLst>
                </a:gridCol>
                <a:gridCol w="492106">
                  <a:extLst>
                    <a:ext uri="{9D8B030D-6E8A-4147-A177-3AD203B41FA5}">
                      <a16:colId xmlns:a16="http://schemas.microsoft.com/office/drawing/2014/main" val="1224812421"/>
                    </a:ext>
                  </a:extLst>
                </a:gridCol>
                <a:gridCol w="579375">
                  <a:extLst>
                    <a:ext uri="{9D8B030D-6E8A-4147-A177-3AD203B41FA5}">
                      <a16:colId xmlns:a16="http://schemas.microsoft.com/office/drawing/2014/main" val="2259295763"/>
                    </a:ext>
                  </a:extLst>
                </a:gridCol>
              </a:tblGrid>
              <a:tr h="165901">
                <a:tc rowSpan="3">
                  <a:txBody>
                    <a:bodyPr/>
                    <a:lstStyle/>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Classification</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rowSpan="3" gridSpan="2">
                  <a:txBody>
                    <a:bodyPr/>
                    <a:lstStyle/>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Functions</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rowSpan="3" hMerge="1">
                  <a:txBody>
                    <a:bodyPr/>
                    <a:lstStyle/>
                    <a:p>
                      <a:endParaRPr lang="en-US"/>
                    </a:p>
                  </a:txBody>
                  <a:tcPr/>
                </a:tc>
                <a:tc gridSpan="9">
                  <a:txBody>
                    <a:bodyPr/>
                    <a:lstStyle/>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NP1 1.2 PFI</a:t>
                      </a:r>
                      <a:endParaRPr 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tc hMerge="1">
                  <a:txBody>
                    <a:bodyPr/>
                    <a:lstStyle/>
                    <a:p>
                      <a:pPr algn="ctr" fontAlgn="ctr"/>
                      <a:endParaRPr lang="en-US" sz="105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pPr algn="ctr" fontAlgn="ctr"/>
                      <a:endParaRPr lang="en-US" sz="105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105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105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65901">
                <a:tc vMerge="1">
                  <a:txBody>
                    <a:bodyPr/>
                    <a:lstStyle/>
                    <a:p>
                      <a:pPr algn="ctr" fontAlgn="ctr"/>
                      <a:endParaRPr lang="en-US" sz="1400" b="0" i="0" u="none" strike="noStrike">
                        <a:solidFill>
                          <a:srgbClr val="000000"/>
                        </a:solidFill>
                        <a:effectLst/>
                        <a:latin typeface="Arial" pitchFamily="34" charset="0"/>
                        <a:cs typeface="Arial"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gridSpan="2" vMerge="1">
                  <a:txBody>
                    <a:bodyPr/>
                    <a:lstStyle/>
                    <a:p>
                      <a:pPr algn="l" fontAlgn="ctr"/>
                      <a:endParaRPr lang="ja-JP" altLang="en-US" sz="1400" b="0" i="0" u="none" strike="noStrike">
                        <a:solidFill>
                          <a:srgbClr val="000000"/>
                        </a:solidFill>
                        <a:effectLst/>
                        <a:latin typeface="Arial" pitchFamily="34" charset="0"/>
                        <a:cs typeface="Arial" pitchFamily="34" charset="0"/>
                      </a:endParaRPr>
                    </a:p>
                  </a:txBody>
                  <a:tcPr marL="9525" marR="9525" marT="9525" marB="0" anchor="ctr">
                    <a:lnL w="635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dbl" algn="ctr">
                      <a:solidFill>
                        <a:srgbClr val="000000"/>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hMerge="1" vMerge="1">
                  <a:txBody>
                    <a:bodyPr/>
                    <a:lstStyle/>
                    <a:p>
                      <a:endParaRPr lang="en-US"/>
                    </a:p>
                  </a:txBody>
                  <a:tcPr/>
                </a:tc>
                <a:tc gridSpan="9">
                  <a:txBody>
                    <a:bodyPr/>
                    <a:lstStyle/>
                    <a:p>
                      <a:pPr algn="ctr" fontAlgn="ctr"/>
                      <a:r>
                        <a:rPr lang="en-US" sz="1000" b="0" i="0" u="none" strike="noStrike">
                          <a:solidFill>
                            <a:schemeClr val="tx1"/>
                          </a:solidFill>
                          <a:effectLst/>
                          <a:latin typeface="Arial" pitchFamily="34" charset="0"/>
                          <a:ea typeface="Meiryo UI" pitchFamily="50" charset="-128"/>
                          <a:cs typeface="Arial" pitchFamily="34" charset="0"/>
                        </a:rPr>
                        <a:t>6SAA</a:t>
                      </a:r>
                    </a:p>
                  </a:txBody>
                  <a:tcPr marL="46800" marR="46800" marT="14400" marB="14400" anchor="ctr">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tc hMerge="1">
                  <a:txBody>
                    <a:bodyPr/>
                    <a:lstStyle/>
                    <a:p>
                      <a:pPr algn="ctr" fontAlgn="ctr"/>
                      <a:endParaRPr lang="en-US" sz="105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pPr algn="ctr" fontAlgn="ctr"/>
                      <a:endParaRPr lang="en-US" sz="105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105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105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5901">
                <a:tc vMerge="1">
                  <a:txBody>
                    <a:bodyPr/>
                    <a:lstStyle/>
                    <a:p>
                      <a:pPr algn="ctr" fontAlgn="ctr"/>
                      <a:endParaRPr lang="en-US" sz="1400" b="0" i="0" u="none" strike="noStrike">
                        <a:solidFill>
                          <a:srgbClr val="000000"/>
                        </a:solidFill>
                        <a:effectLst/>
                        <a:latin typeface="Arial" pitchFamily="34" charset="0"/>
                        <a:cs typeface="Arial"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solidFill>
                  </a:tcPr>
                </a:tc>
                <a:tc gridSpan="2" vMerge="1">
                  <a:txBody>
                    <a:bodyPr/>
                    <a:lstStyle/>
                    <a:p>
                      <a:pPr algn="l" fontAlgn="ctr"/>
                      <a:endParaRPr lang="ja-JP" altLang="en-US" sz="1400" b="0" i="0" u="none" strike="noStrike">
                        <a:solidFill>
                          <a:srgbClr val="000000"/>
                        </a:solidFill>
                        <a:effectLst/>
                        <a:latin typeface="Arial" pitchFamily="34" charset="0"/>
                        <a:cs typeface="Arial" pitchFamily="34" charset="0"/>
                      </a:endParaRPr>
                    </a:p>
                  </a:txBody>
                  <a:tcPr marL="9525" marR="9525" marT="9525" marB="0" anchor="ctr">
                    <a:lnL w="6350" cap="flat" cmpd="sng" algn="ctr">
                      <a:solidFill>
                        <a:srgbClr val="000000"/>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chemeClr val="bg1"/>
                    </a:solidFill>
                  </a:tcPr>
                </a:tc>
                <a:tc hMerge="1" v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S</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VX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ZX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Trend</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Comfort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S</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VX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ZX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Comfort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5901">
                <a:tc rowSpan="3">
                  <a:txBody>
                    <a:bodyPr/>
                    <a:lstStyle/>
                    <a:p>
                      <a:pPr algn="ctr" fontAlgn="ctr"/>
                      <a:r>
                        <a:rPr lang="en-US" sz="1000" b="0" i="0" u="none" strike="noStrike">
                          <a:solidFill>
                            <a:schemeClr val="tx1"/>
                          </a:solidFill>
                          <a:effectLst/>
                          <a:latin typeface="Arial" pitchFamily="34" charset="0"/>
                          <a:ea typeface="Meiryo UI" pitchFamily="50" charset="-128"/>
                          <a:cs typeface="Arial" pitchFamily="34" charset="0"/>
                        </a:rPr>
                        <a:t>Drivetrain</a:t>
                      </a: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5MT</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5901">
                <a:tc vMerge="1">
                  <a:txBody>
                    <a:bodyPr/>
                    <a:lstStyle/>
                    <a:p>
                      <a:endParaRPr kumimoji="1" lang="ja-JP" altLang="en-US"/>
                    </a:p>
                  </a:txBody>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CVT with Paddle Shift</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5901">
                <a:tc vMerge="1">
                  <a:txBody>
                    <a:bodyPr/>
                    <a:lstStyle/>
                    <a:p>
                      <a:pPr algn="ctr" fontAlgn="ctr"/>
                      <a:endParaRPr lang="en-US" sz="105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CVT without Paddle Shift</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5901">
                <a:tc rowSpan="2">
                  <a:txBody>
                    <a:bodyPr/>
                    <a:lstStyle/>
                    <a:p>
                      <a:pPr algn="ctr" fontAlgn="ctr"/>
                      <a:r>
                        <a:rPr lang="en-US" sz="1000" b="0" i="0" u="none" strike="noStrike">
                          <a:solidFill>
                            <a:schemeClr val="tx1"/>
                          </a:solidFill>
                          <a:effectLst/>
                          <a:latin typeface="Arial" pitchFamily="34" charset="0"/>
                          <a:ea typeface="Meiryo UI" pitchFamily="50" charset="-128"/>
                          <a:cs typeface="Arial" pitchFamily="34" charset="0"/>
                        </a:rPr>
                        <a:t>Start Stop</a:t>
                      </a: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One Push Start </a:t>
                      </a:r>
                      <a:r>
                        <a:rPr lang="en-US" altLang="ja-JP" sz="1000" b="0" i="0" u="none" strike="noStrike" baseline="0">
                          <a:solidFill>
                            <a:schemeClr val="tx1"/>
                          </a:solidFill>
                          <a:effectLst/>
                          <a:latin typeface="Arial" pitchFamily="34" charset="0"/>
                          <a:ea typeface="Meiryo UI" pitchFamily="50" charset="-128"/>
                          <a:cs typeface="Arial" pitchFamily="34" charset="0"/>
                        </a:rPr>
                        <a:t>(with </a:t>
                      </a:r>
                      <a:r>
                        <a:rPr lang="en-US" altLang="ja-JP" sz="1000" b="0" i="0" u="none" strike="noStrike">
                          <a:solidFill>
                            <a:schemeClr val="tx1"/>
                          </a:solidFill>
                          <a:effectLst/>
                          <a:latin typeface="Arial" pitchFamily="34" charset="0"/>
                          <a:ea typeface="Meiryo UI" pitchFamily="50" charset="-128"/>
                          <a:cs typeface="Arial" pitchFamily="34" charset="0"/>
                        </a:rPr>
                        <a:t>Smart Entry)</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5901">
                <a:tc vMerge="1">
                  <a:txBody>
                    <a:bodyPr/>
                    <a:lstStyle/>
                    <a:p>
                      <a:endParaRPr kumimoji="1" lang="ja-JP" altLang="en-US"/>
                    </a:p>
                  </a:txBody>
                  <a:tcPr/>
                </a:tc>
                <a:tc gridSpan="2">
                  <a:txBody>
                    <a:bodyPr/>
                    <a:lstStyle/>
                    <a:p>
                      <a:pPr algn="l" fontAlgn="ctr"/>
                      <a:r>
                        <a:rPr lang="en-US" altLang="ja-JP" sz="1000" b="0" i="0" u="none" strike="noStrike" baseline="0">
                          <a:solidFill>
                            <a:schemeClr val="tx1"/>
                          </a:solidFill>
                          <a:effectLst/>
                          <a:latin typeface="Arial" pitchFamily="34" charset="0"/>
                          <a:ea typeface="Meiryo UI" pitchFamily="50" charset="-128"/>
                          <a:cs typeface="Arial" pitchFamily="34" charset="0"/>
                        </a:rPr>
                        <a:t>Idling Stop</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5901">
                <a:tc rowSpan="2">
                  <a:txBody>
                    <a:bodyPr/>
                    <a:lstStyle/>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Comfort</a:t>
                      </a: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Cruise Control</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with</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65901">
                <a:tc vMerge="1">
                  <a:txBody>
                    <a:bodyPr/>
                    <a:lstStyle/>
                    <a:p>
                      <a:endParaRPr kumimoji="1" lang="ja-JP" altLang="en-US"/>
                    </a:p>
                  </a:txBody>
                  <a:tcPr/>
                </a:tc>
                <a:tc vMerge="1">
                  <a:txBody>
                    <a:bodyPr/>
                    <a:lstStyle/>
                    <a:p>
                      <a:pPr algn="l" fontAlgn="ctr"/>
                      <a:endParaRPr lang="ja-JP" altLang="en-US" sz="1400" b="0" i="0" u="none" strike="noStrike">
                        <a:solidFill>
                          <a:srgbClr val="000000"/>
                        </a:solidFill>
                        <a:effectLst/>
                        <a:latin typeface="Arial" pitchFamily="34" charset="0"/>
                        <a:cs typeface="Arial" pitchFamily="34" charset="0"/>
                      </a:endParaRPr>
                    </a:p>
                  </a:txBody>
                  <a:tcPr marL="9525" marR="9525" marT="952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without</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9458">
                <a:tc rowSpan="2">
                  <a:txBody>
                    <a:bodyPr/>
                    <a:lstStyle/>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Safety</a:t>
                      </a:r>
                      <a:r>
                        <a:rPr lang="en-US" altLang="ja-JP" sz="1000" b="0" i="0" u="none" strike="noStrike" baseline="0">
                          <a:solidFill>
                            <a:schemeClr val="tx1"/>
                          </a:solidFill>
                          <a:effectLst/>
                          <a:latin typeface="Arial" pitchFamily="34" charset="0"/>
                          <a:ea typeface="Meiryo UI" pitchFamily="50" charset="-128"/>
                          <a:cs typeface="Arial" pitchFamily="34" charset="0"/>
                        </a:rPr>
                        <a:t> </a:t>
                      </a:r>
                      <a:r>
                        <a:rPr lang="en-US" altLang="ja-JP" sz="1000" b="0" i="0" u="none" strike="noStrike">
                          <a:solidFill>
                            <a:schemeClr val="tx1"/>
                          </a:solidFill>
                          <a:effectLst/>
                          <a:latin typeface="Arial" pitchFamily="34" charset="0"/>
                          <a:ea typeface="Meiryo UI" pitchFamily="50" charset="-128"/>
                          <a:cs typeface="Arial" pitchFamily="34" charset="0"/>
                        </a:rPr>
                        <a:t>Crash,</a:t>
                      </a:r>
                    </a:p>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Safety</a:t>
                      </a:r>
                      <a:r>
                        <a:rPr lang="en-US" altLang="ja-JP" sz="1000" b="0" i="0" u="none" strike="noStrike" baseline="0">
                          <a:solidFill>
                            <a:schemeClr val="tx1"/>
                          </a:solidFill>
                          <a:effectLst/>
                          <a:latin typeface="Arial" pitchFamily="34" charset="0"/>
                          <a:ea typeface="Meiryo UI" pitchFamily="50" charset="-128"/>
                          <a:cs typeface="Arial" pitchFamily="34" charset="0"/>
                        </a:rPr>
                        <a:t> Departure,</a:t>
                      </a:r>
                    </a:p>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Safety Speed</a:t>
                      </a:r>
                      <a:r>
                        <a:rPr lang="en-US" altLang="ja-JP" sz="1000" b="0" i="0" u="none" strike="noStrike" baseline="0">
                          <a:solidFill>
                            <a:schemeClr val="tx1"/>
                          </a:solidFill>
                          <a:effectLst/>
                          <a:latin typeface="Arial" pitchFamily="34" charset="0"/>
                          <a:ea typeface="Meiryo UI" pitchFamily="50" charset="-128"/>
                          <a:cs typeface="Arial" pitchFamily="34" charset="0"/>
                        </a:rPr>
                        <a:t> Limit</a:t>
                      </a:r>
                    </a:p>
                    <a:p>
                      <a:pPr algn="ctr" fontAlgn="ctr"/>
                      <a:r>
                        <a:rPr lang="en-US" altLang="ja-JP" sz="1000" b="0" i="0" u="none" strike="noStrike" baseline="0">
                          <a:solidFill>
                            <a:schemeClr val="tx1"/>
                          </a:solidFill>
                          <a:effectLst/>
                          <a:latin typeface="Arial" pitchFamily="34" charset="0"/>
                          <a:ea typeface="Meiryo UI" pitchFamily="50" charset="-128"/>
                          <a:cs typeface="Arial" pitchFamily="34" charset="0"/>
                        </a:rPr>
                        <a:t>(ADAS)</a:t>
                      </a:r>
                      <a:endParaRPr lang="en-US" altLang="ja-JP"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CMBS </a:t>
                      </a:r>
                      <a:r>
                        <a:rPr lang="en-US" altLang="ja-JP" sz="1000" b="0" i="0" u="none" strike="noStrike" baseline="0">
                          <a:solidFill>
                            <a:schemeClr val="tx1"/>
                          </a:solidFill>
                          <a:effectLst/>
                          <a:latin typeface="Arial" pitchFamily="34" charset="0"/>
                          <a:ea typeface="Meiryo UI" pitchFamily="50" charset="-128"/>
                          <a:cs typeface="Arial" pitchFamily="34" charset="0"/>
                        </a:rPr>
                        <a:t>with</a:t>
                      </a:r>
                    </a:p>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 Adaptive Cruise Control + Lane Keep Assist System+ Lane Departure Warning + Road Departure Mitigation</a:t>
                      </a: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with</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79458">
                <a:tc vMerge="1">
                  <a:txBody>
                    <a:bodyPr/>
                    <a:lstStyle/>
                    <a:p>
                      <a:endParaRPr kumimoji="1" lang="ja-JP"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lgn="l" fontAlgn="ctr"/>
                      <a:endParaRPr lang="en-US" altLang="ja-JP" sz="1400" b="0" u="none" strike="noStrike">
                        <a:solidFill>
                          <a:schemeClr val="tx1"/>
                        </a:solidFill>
                        <a:effectLst/>
                        <a:latin typeface="Arial" pitchFamily="34" charset="0"/>
                        <a:ea typeface="+mn-ea"/>
                        <a:cs typeface="Arial" pitchFamily="34" charset="0"/>
                      </a:endParaRPr>
                    </a:p>
                  </a:txBody>
                  <a:tcPr marL="35995" marR="35995"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without</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65901">
                <a:tc rowSpan="5">
                  <a:txBody>
                    <a:bodyPr/>
                    <a:lstStyle/>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Additional</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Electric Power Steering</a:t>
                      </a:r>
                      <a:r>
                        <a:rPr lang="en-US" altLang="ja-JP" sz="1000" b="0" i="0" u="none" strike="noStrike" baseline="0">
                          <a:solidFill>
                            <a:schemeClr val="tx1"/>
                          </a:solidFill>
                          <a:effectLst/>
                          <a:latin typeface="Arial" pitchFamily="34" charset="0"/>
                          <a:ea typeface="Meiryo UI" pitchFamily="50" charset="-128"/>
                          <a:cs typeface="Arial" pitchFamily="34" charset="0"/>
                        </a:rPr>
                        <a:t> </a:t>
                      </a:r>
                      <a:r>
                        <a:rPr lang="en-US" altLang="ja-JP" sz="1000" b="0" i="0" u="none" strike="noStrike">
                          <a:solidFill>
                            <a:schemeClr val="tx1"/>
                          </a:solidFill>
                          <a:effectLst/>
                          <a:latin typeface="Arial" pitchFamily="34" charset="0"/>
                          <a:ea typeface="Meiryo UI" pitchFamily="50" charset="-128"/>
                          <a:cs typeface="Arial" pitchFamily="34" charset="0"/>
                        </a:rPr>
                        <a:t>(EPS)</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165901">
                <a:tc vMerge="1">
                  <a:txBody>
                    <a:bodyPr/>
                    <a:lstStyle/>
                    <a:p>
                      <a:pPr algn="ctr" fontAlgn="ctr"/>
                      <a:endParaRPr lang="ja-JP" altLang="en-US" sz="1400" b="0" i="0" u="none" strike="noStrike">
                        <a:solidFill>
                          <a:schemeClr val="tx1"/>
                        </a:solidFill>
                        <a:effectLst/>
                        <a:latin typeface="Arial" pitchFamily="34" charset="0"/>
                        <a:ea typeface="+mn-ea"/>
                        <a:cs typeface="Arial" pitchFamily="34" charset="0"/>
                      </a:endParaRPr>
                    </a:p>
                  </a:txBody>
                  <a:tcPr marL="35995" marR="3599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Vehicle</a:t>
                      </a:r>
                      <a:r>
                        <a:rPr lang="en-US" altLang="ja-JP" sz="1000" b="0" i="0" u="none" strike="noStrike" baseline="0">
                          <a:solidFill>
                            <a:schemeClr val="tx1"/>
                          </a:solidFill>
                          <a:effectLst/>
                          <a:latin typeface="Arial" pitchFamily="34" charset="0"/>
                          <a:ea typeface="Meiryo UI" pitchFamily="50" charset="-128"/>
                          <a:cs typeface="Arial" pitchFamily="34" charset="0"/>
                        </a:rPr>
                        <a:t> Stability Assist (VSA)</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165901">
                <a:tc vMerge="1">
                  <a:txBody>
                    <a:bodyPr/>
                    <a:lstStyle/>
                    <a:p>
                      <a:endParaRPr kumimoji="1" lang="ja-JP" altLang="en-US"/>
                    </a:p>
                  </a:txBody>
                  <a:tcPr/>
                </a:tc>
                <a:tc gridSpan="2">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altLang="ja-JP" sz="1000" b="0" i="0" u="none" strike="noStrike" baseline="0">
                          <a:solidFill>
                            <a:schemeClr val="tx1"/>
                          </a:solidFill>
                          <a:effectLst/>
                          <a:latin typeface="Arial" pitchFamily="34" charset="0"/>
                          <a:ea typeface="Meiryo UI" pitchFamily="50" charset="-128"/>
                          <a:cs typeface="Arial" pitchFamily="34" charset="0"/>
                        </a:rPr>
                        <a:t>ABS</a:t>
                      </a:r>
                      <a:endParaRPr lang="en-US" altLang="ja-JP"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65901">
                <a:tc vMerge="1">
                  <a:txBody>
                    <a:bodyPr/>
                    <a:lstStyle/>
                    <a:p>
                      <a:pPr algn="ctr" fontAlgn="ctr"/>
                      <a:endParaRPr lang="ja-JP" altLang="en-US" sz="1400" b="0" i="0" u="none" strike="noStrike">
                        <a:solidFill>
                          <a:schemeClr val="tx1"/>
                        </a:solidFill>
                        <a:effectLst/>
                        <a:latin typeface="Arial" pitchFamily="34" charset="0"/>
                        <a:ea typeface="+mn-ea"/>
                        <a:cs typeface="Arial" pitchFamily="34" charset="0"/>
                      </a:endParaRPr>
                    </a:p>
                  </a:txBody>
                  <a:tcPr marL="35995" marR="3599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Electric Parking Brake (EPB)</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65901">
                <a:tc vMerge="1">
                  <a:txBody>
                    <a:bodyPr/>
                    <a:lstStyle/>
                    <a:p>
                      <a:endParaRPr kumimoji="1" lang="ja-JP" altLang="en-US"/>
                    </a:p>
                  </a:txBody>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Electric</a:t>
                      </a:r>
                      <a:r>
                        <a:rPr lang="en-US" altLang="ja-JP" sz="1000" b="0" i="0" u="none" strike="noStrike" baseline="0">
                          <a:solidFill>
                            <a:schemeClr val="tx1"/>
                          </a:solidFill>
                          <a:effectLst/>
                          <a:latin typeface="Arial" pitchFamily="34" charset="0"/>
                          <a:ea typeface="Meiryo UI" pitchFamily="50" charset="-128"/>
                          <a:cs typeface="Arial" pitchFamily="34" charset="0"/>
                        </a:rPr>
                        <a:t> Boost Brake (</a:t>
                      </a:r>
                      <a:r>
                        <a:rPr lang="en-US" altLang="ja-JP" sz="1000" b="0" i="0" u="none" strike="noStrike">
                          <a:solidFill>
                            <a:schemeClr val="tx1"/>
                          </a:solidFill>
                          <a:effectLst/>
                          <a:latin typeface="Arial" pitchFamily="34" charset="0"/>
                          <a:ea typeface="Meiryo UI" pitchFamily="50" charset="-128"/>
                          <a:cs typeface="Arial" pitchFamily="34" charset="0"/>
                        </a:rPr>
                        <a:t>EBB)</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65901">
                <a:tc rowSpan="2">
                  <a:txBody>
                    <a:bodyPr/>
                    <a:lstStyle/>
                    <a:p>
                      <a:pPr algn="ctr" fontAlgn="ct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Radiator</a:t>
                      </a:r>
                      <a:r>
                        <a:rPr lang="en-US" altLang="ja-JP" sz="1000" b="0" i="0" u="none" strike="noStrike" baseline="0">
                          <a:solidFill>
                            <a:schemeClr val="tx1"/>
                          </a:solidFill>
                          <a:effectLst/>
                          <a:latin typeface="Arial" pitchFamily="34" charset="0"/>
                          <a:ea typeface="Meiryo UI" pitchFamily="50" charset="-128"/>
                          <a:cs typeface="Arial" pitchFamily="34" charset="0"/>
                        </a:rPr>
                        <a:t> fun control</a:t>
                      </a:r>
                      <a:endParaRPr lang="en-US" altLang="ja-JP"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PWM</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65901">
                <a:tc vMerge="1">
                  <a:txBody>
                    <a:bodyPr/>
                    <a:lstStyle/>
                    <a:p>
                      <a:pPr algn="ctr" fontAlgn="ctr"/>
                      <a:endParaRPr lang="ja-JP" altLang="en-US" sz="1400" b="0" i="0" u="none" strike="noStrike">
                        <a:solidFill>
                          <a:schemeClr val="tx1"/>
                        </a:solidFill>
                        <a:effectLst/>
                        <a:latin typeface="Arial" pitchFamily="34" charset="0"/>
                        <a:ea typeface="+mn-ea"/>
                        <a:cs typeface="Arial" pitchFamily="34" charset="0"/>
                      </a:endParaRPr>
                    </a:p>
                  </a:txBody>
                  <a:tcPr marL="35995" marR="3599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vMerge="1">
                  <a:txBody>
                    <a:bodyPr/>
                    <a:lstStyle/>
                    <a:p>
                      <a:pPr algn="l" fontAlgn="ctr"/>
                      <a:endParaRPr lang="en-US" altLang="ja-JP" sz="1400" b="0" u="none" strike="noStrike">
                        <a:solidFill>
                          <a:schemeClr val="tx1"/>
                        </a:solidFill>
                        <a:effectLst/>
                        <a:latin typeface="Arial" pitchFamily="34" charset="0"/>
                        <a:ea typeface="+mn-ea"/>
                        <a:cs typeface="Arial" pitchFamily="34" charset="0"/>
                      </a:endParaRPr>
                    </a:p>
                  </a:txBody>
                  <a:tcPr marL="35995" marR="35995"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ON/OFF</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kumimoji="1" lang="ja-JP" altLang="en-US"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r h="184655">
                <a:tc rowSpan="2">
                  <a:txBody>
                    <a:bodyPr/>
                    <a:lstStyle/>
                    <a:p>
                      <a:pPr algn="ctr" fontAlgn="ct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Air conditioner control</a:t>
                      </a: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Manual</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9"/>
                  </a:ext>
                </a:extLst>
              </a:tr>
              <a:tr h="165901">
                <a:tc vMerge="1">
                  <a:txBody>
                    <a:bodyPr/>
                    <a:lstStyle/>
                    <a:p>
                      <a:endParaRPr kumimoji="1" lang="ja-JP" altLang="en-US"/>
                    </a:p>
                  </a:txBody>
                  <a:tcPr/>
                </a:tc>
                <a:tc vMerge="1">
                  <a:txBody>
                    <a:bodyPr/>
                    <a:lstStyle/>
                    <a:p>
                      <a:endParaRPr kumimoji="1" lang="ja-JP" altLang="en-US"/>
                    </a:p>
                  </a:txBody>
                  <a:tcPr/>
                </a:tc>
                <a:tc>
                  <a:txBody>
                    <a:bodyPr/>
                    <a:lstStyle/>
                    <a:p>
                      <a:r>
                        <a:rPr kumimoji="1" lang="en-US" altLang="ja-JP" sz="1000" b="0" i="0">
                          <a:solidFill>
                            <a:schemeClr val="tx1"/>
                          </a:solidFill>
                          <a:latin typeface="Arial" pitchFamily="34" charset="0"/>
                          <a:ea typeface="Meiryo UI" pitchFamily="50" charset="-128"/>
                          <a:cs typeface="Arial" pitchFamily="34" charset="0"/>
                        </a:rPr>
                        <a:t>Auto</a:t>
                      </a:r>
                      <a:endParaRPr kumimoji="1"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0"/>
                  </a:ext>
                </a:extLst>
              </a:tr>
              <a:tr h="165901">
                <a:tc>
                  <a:txBody>
                    <a:bodyPr/>
                    <a:lstStyle/>
                    <a:p>
                      <a:pPr algn="ctr" fontAlgn="ct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PTC heater</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1"/>
                  </a:ext>
                </a:extLst>
              </a:tr>
              <a:tr h="165901">
                <a:tc>
                  <a:txBody>
                    <a:bodyPr/>
                    <a:lstStyle/>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Emission</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BS6</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2"/>
                  </a:ext>
                </a:extLst>
              </a:tr>
              <a:tr h="165901">
                <a:tc>
                  <a:txBody>
                    <a:bodyPr/>
                    <a:lstStyle/>
                    <a:p>
                      <a:pPr algn="ctr" fontAlgn="ct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ECON SW </a:t>
                      </a:r>
                      <a:r>
                        <a:rPr lang="en-US" altLang="ja-JP" sz="1000" b="0" i="0" u="none" strike="noStrike" baseline="0">
                          <a:solidFill>
                            <a:schemeClr val="tx1"/>
                          </a:solidFill>
                          <a:effectLst/>
                          <a:latin typeface="Arial" pitchFamily="34" charset="0"/>
                          <a:ea typeface="Meiryo UI" pitchFamily="50" charset="-128"/>
                          <a:cs typeface="Arial" pitchFamily="34" charset="0"/>
                        </a:rPr>
                        <a:t>(</a:t>
                      </a:r>
                      <a:r>
                        <a:rPr lang="en-US" altLang="ja-JP" sz="1000" b="0" i="0" u="none" strike="noStrike">
                          <a:solidFill>
                            <a:schemeClr val="tx1"/>
                          </a:solidFill>
                          <a:effectLst/>
                          <a:latin typeface="Arial" pitchFamily="34" charset="0"/>
                          <a:ea typeface="Meiryo UI" pitchFamily="50" charset="-128"/>
                          <a:cs typeface="Arial" pitchFamily="34" charset="0"/>
                        </a:rPr>
                        <a:t>Two drive</a:t>
                      </a:r>
                      <a:r>
                        <a:rPr lang="en-US" altLang="ja-JP" sz="1000" b="0" i="0" u="none" strike="noStrike" baseline="0">
                          <a:solidFill>
                            <a:schemeClr val="tx1"/>
                          </a:solidFill>
                          <a:effectLst/>
                          <a:latin typeface="Arial" pitchFamily="34" charset="0"/>
                          <a:ea typeface="Meiryo UI" pitchFamily="50" charset="-128"/>
                          <a:cs typeface="Arial" pitchFamily="34" charset="0"/>
                        </a:rPr>
                        <a:t> modes </a:t>
                      </a:r>
                      <a:r>
                        <a:rPr lang="en-US" altLang="ja-JP" sz="1000" b="0" i="0" u="none" strike="noStrike">
                          <a:solidFill>
                            <a:schemeClr val="tx1"/>
                          </a:solidFill>
                          <a:effectLst/>
                          <a:latin typeface="Arial" pitchFamily="34" charset="0"/>
                          <a:ea typeface="Meiryo UI" pitchFamily="50" charset="-128"/>
                          <a:cs typeface="Arial" pitchFamily="34" charset="0"/>
                        </a:rPr>
                        <a:t>system apply)</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3"/>
                  </a:ext>
                </a:extLst>
              </a:tr>
              <a:tr h="165901">
                <a:tc>
                  <a:txBody>
                    <a:bodyPr/>
                    <a:lstStyle/>
                    <a:p>
                      <a:pPr algn="ctr" fontAlgn="ctr"/>
                      <a:r>
                        <a:rPr lang="en-US" altLang="ja-JP" sz="1000" b="0" i="0" u="none" strike="noStrike">
                          <a:solidFill>
                            <a:schemeClr val="tx1"/>
                          </a:solidFill>
                          <a:effectLst/>
                          <a:latin typeface="Arial" pitchFamily="34" charset="0"/>
                          <a:ea typeface="Meiryo UI" pitchFamily="50" charset="-128"/>
                          <a:cs typeface="Arial" pitchFamily="34" charset="0"/>
                        </a:rPr>
                        <a:t>Security</a:t>
                      </a: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Immobilizer </a:t>
                      </a:r>
                      <a:r>
                        <a:rPr lang="en-US" altLang="ja-JP" sz="1000" b="0" i="0" u="none" strike="noStrike" baseline="0">
                          <a:solidFill>
                            <a:schemeClr val="tx1"/>
                          </a:solidFill>
                          <a:effectLst/>
                          <a:latin typeface="Arial" pitchFamily="34" charset="0"/>
                          <a:ea typeface="Meiryo UI" pitchFamily="50" charset="-128"/>
                          <a:cs typeface="Arial" pitchFamily="34" charset="0"/>
                        </a:rPr>
                        <a:t>(</a:t>
                      </a:r>
                      <a:r>
                        <a:rPr lang="en-US" altLang="ja-JP" sz="1000" b="0" i="0" u="none" strike="noStrike">
                          <a:solidFill>
                            <a:schemeClr val="tx1"/>
                          </a:solidFill>
                          <a:effectLst/>
                          <a:latin typeface="Arial" pitchFamily="34" charset="0"/>
                          <a:ea typeface="Meiryo UI" pitchFamily="50" charset="-128"/>
                          <a:cs typeface="Arial" pitchFamily="34" charset="0"/>
                        </a:rPr>
                        <a:t>Generation 6</a:t>
                      </a:r>
                      <a:r>
                        <a:rPr lang="en-US" altLang="ja-JP" sz="1000" b="0" i="0" u="none" strike="noStrike" baseline="30000">
                          <a:solidFill>
                            <a:schemeClr val="tx1"/>
                          </a:solidFill>
                          <a:effectLst/>
                          <a:latin typeface="Arial" pitchFamily="34" charset="0"/>
                          <a:ea typeface="Meiryo UI" pitchFamily="50" charset="-128"/>
                          <a:cs typeface="Arial" pitchFamily="34" charset="0"/>
                        </a:rPr>
                        <a:t>th</a:t>
                      </a:r>
                      <a:r>
                        <a:rPr lang="en-US" altLang="ja-JP" sz="1000" b="0" i="0" u="none" strike="noStrike" baseline="0">
                          <a:solidFill>
                            <a:schemeClr val="tx1"/>
                          </a:solidFill>
                          <a:effectLst/>
                          <a:latin typeface="Arial" pitchFamily="34" charset="0"/>
                          <a:ea typeface="Meiryo UI" pitchFamily="50" charset="-128"/>
                          <a:cs typeface="Arial" pitchFamily="34" charset="0"/>
                        </a:rPr>
                        <a:t>)</a:t>
                      </a:r>
                      <a:endParaRPr lang="en-US" altLang="ja-JP"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4"/>
                  </a:ext>
                </a:extLst>
              </a:tr>
              <a:tr h="165901">
                <a:tc>
                  <a:txBody>
                    <a:bodyPr/>
                    <a:lstStyle/>
                    <a:p>
                      <a:pPr algn="ctr" fontAlgn="ct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Battery</a:t>
                      </a:r>
                      <a:r>
                        <a:rPr lang="en-US" altLang="ja-JP" sz="1000" b="0" i="0" u="none" strike="noStrike" baseline="0">
                          <a:solidFill>
                            <a:schemeClr val="tx1"/>
                          </a:solidFill>
                          <a:effectLst/>
                          <a:latin typeface="Arial" pitchFamily="34" charset="0"/>
                          <a:ea typeface="Meiryo UI" pitchFamily="50" charset="-128"/>
                          <a:cs typeface="Arial" pitchFamily="34" charset="0"/>
                        </a:rPr>
                        <a:t> (34B19L)</a:t>
                      </a:r>
                      <a:endParaRPr lang="en-US" altLang="ja-JP"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X</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5"/>
                  </a:ext>
                </a:extLst>
              </a:tr>
              <a:tr h="165901">
                <a:tc>
                  <a:txBody>
                    <a:bodyPr/>
                    <a:lstStyle/>
                    <a:p>
                      <a:pPr algn="ctr" fontAlgn="ctr"/>
                      <a:endParaRPr lang="ja-JP" altLang="en-US" sz="1000" b="0" i="0" u="none" strike="noStrike">
                        <a:solidFill>
                          <a:schemeClr val="tx1"/>
                        </a:solidFill>
                        <a:effectLst/>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gridSpan="2">
                  <a:txBody>
                    <a:bodyPr/>
                    <a:lstStyle/>
                    <a:p>
                      <a:pPr algn="l" fontAlgn="ctr"/>
                      <a:r>
                        <a:rPr lang="en-US" altLang="ja-JP" sz="1000" b="0" i="0" u="none" strike="noStrike">
                          <a:solidFill>
                            <a:schemeClr val="tx1"/>
                          </a:solidFill>
                          <a:effectLst/>
                          <a:latin typeface="Arial" pitchFamily="34" charset="0"/>
                          <a:ea typeface="Meiryo UI" pitchFamily="50" charset="-128"/>
                          <a:cs typeface="Arial" pitchFamily="34" charset="0"/>
                        </a:rPr>
                        <a:t>Gear Shift Indicator</a:t>
                      </a:r>
                      <a:r>
                        <a:rPr lang="en-US" altLang="ja-JP" sz="1000" b="0" i="0" u="none" strike="noStrike" baseline="0">
                          <a:solidFill>
                            <a:schemeClr val="tx1"/>
                          </a:solidFill>
                          <a:effectLst/>
                          <a:latin typeface="Arial" pitchFamily="34" charset="0"/>
                          <a:ea typeface="Meiryo UI" pitchFamily="50" charset="-128"/>
                          <a:cs typeface="Arial" pitchFamily="34" charset="0"/>
                        </a:rPr>
                        <a:t> (</a:t>
                      </a:r>
                      <a:r>
                        <a:rPr lang="en-US" altLang="ja-JP" sz="1000" b="0" i="0" u="none" strike="noStrike">
                          <a:solidFill>
                            <a:schemeClr val="tx1"/>
                          </a:solidFill>
                          <a:effectLst/>
                          <a:latin typeface="Arial" pitchFamily="34" charset="0"/>
                          <a:ea typeface="Meiryo UI" pitchFamily="50" charset="-128"/>
                          <a:cs typeface="Arial" pitchFamily="34" charset="0"/>
                        </a:rPr>
                        <a:t>GSI)</a:t>
                      </a:r>
                    </a:p>
                  </a:txBody>
                  <a:tcPr marL="46800" marR="46800" marT="14400" marB="1440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ja-JP" sz="1000" b="0" i="0">
                          <a:solidFill>
                            <a:schemeClr val="tx1"/>
                          </a:solidFill>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kumimoji="1" lang="en-US" altLang="ja-JP" sz="1000" b="0" i="0" u="none" strike="noStrike" kern="1200" cap="none" spc="0" normalizeH="0" baseline="0" noProof="0">
                          <a:ln>
                            <a:noFill/>
                          </a:ln>
                          <a:solidFill>
                            <a:srgbClr val="000000"/>
                          </a:solidFill>
                          <a:effectLst/>
                          <a:uLnTx/>
                          <a:uFillTx/>
                          <a:latin typeface="Arial" pitchFamily="34" charset="0"/>
                          <a:ea typeface="Meiryo UI" pitchFamily="50" charset="-128"/>
                          <a:cs typeface="Arial" pitchFamily="34" charset="0"/>
                        </a:rPr>
                        <a:t>-</a:t>
                      </a:r>
                      <a:endParaRPr lang="ja-JP" altLang="en-US" sz="1000" b="0" i="0">
                        <a:solidFill>
                          <a:schemeClr val="tx1"/>
                        </a:solidFill>
                        <a:latin typeface="Arial" pitchFamily="34" charset="0"/>
                        <a:ea typeface="Meiryo UI" pitchFamily="50" charset="-128"/>
                        <a:cs typeface="Arial" pitchFamily="34" charset="0"/>
                      </a:endParaRPr>
                    </a:p>
                  </a:txBody>
                  <a:tcPr marL="46800" marR="46800" marT="14400" marB="1440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6"/>
                  </a:ext>
                </a:extLst>
              </a:tr>
            </a:tbl>
          </a:graphicData>
        </a:graphic>
      </p:graphicFrame>
      <p:sp>
        <p:nvSpPr>
          <p:cNvPr id="6" name="テキスト ボックス 5">
            <a:extLst>
              <a:ext uri="{FF2B5EF4-FFF2-40B4-BE49-F238E27FC236}">
                <a16:creationId xmlns:a16="http://schemas.microsoft.com/office/drawing/2014/main" id="{A3B3BB3E-64D3-69C4-BF4B-606110215937}"/>
              </a:ext>
            </a:extLst>
          </p:cNvPr>
          <p:cNvSpPr txBox="1"/>
          <p:nvPr/>
        </p:nvSpPr>
        <p:spPr>
          <a:xfrm rot="21087493">
            <a:off x="3225912" y="3410770"/>
            <a:ext cx="3062633" cy="461665"/>
          </a:xfrm>
          <a:prstGeom prst="rect">
            <a:avLst/>
          </a:prstGeom>
          <a:solidFill>
            <a:srgbClr val="00FF00"/>
          </a:solidFill>
        </p:spPr>
        <p:txBody>
          <a:bodyPr wrap="none" rtlCol="0">
            <a:spAutoFit/>
          </a:bodyPr>
          <a:lstStyle/>
          <a:p>
            <a:r>
              <a:rPr kumimoji="1" lang="en-US" altLang="ja-JP">
                <a:latin typeface="+mn-ea"/>
                <a:ea typeface="+mn-ea"/>
              </a:rPr>
              <a:t>Feature will update</a:t>
            </a:r>
          </a:p>
        </p:txBody>
      </p:sp>
    </p:spTree>
    <p:extLst>
      <p:ext uri="{BB962C8B-B14F-4D97-AF65-F5344CB8AC3E}">
        <p14:creationId xmlns:p14="http://schemas.microsoft.com/office/powerpoint/2010/main" val="1687321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ext Box 2"/>
          <p:cNvSpPr txBox="1">
            <a:spLocks noChangeArrowheads="1"/>
          </p:cNvSpPr>
          <p:nvPr/>
        </p:nvSpPr>
        <p:spPr bwMode="auto">
          <a:xfrm>
            <a:off x="196774" y="537528"/>
            <a:ext cx="5828390"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ECU Input / Output Changed from Base Model</a:t>
            </a:r>
          </a:p>
        </p:txBody>
      </p:sp>
      <p:sp>
        <p:nvSpPr>
          <p:cNvPr id="5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14. In-Vehicle Functions Relating ECU and Features</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0" name="Text Box 2">
            <a:extLst>
              <a:ext uri="{FF2B5EF4-FFF2-40B4-BE49-F238E27FC236}">
                <a16:creationId xmlns:a16="http://schemas.microsoft.com/office/drawing/2014/main" id="{C6AEE159-B8FE-DB75-8F4C-398D5A17CD8B}"/>
              </a:ext>
            </a:extLst>
          </p:cNvPr>
          <p:cNvSpPr txBox="1">
            <a:spLocks noChangeArrowheads="1"/>
          </p:cNvSpPr>
          <p:nvPr/>
        </p:nvSpPr>
        <p:spPr bwMode="auto">
          <a:xfrm>
            <a:off x="196774" y="537528"/>
            <a:ext cx="5828390"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ECU Input / Output Changed from Base Model</a:t>
            </a:r>
          </a:p>
        </p:txBody>
      </p:sp>
      <p:sp>
        <p:nvSpPr>
          <p:cNvPr id="11" name="Text Box 2">
            <a:extLst>
              <a:ext uri="{FF2B5EF4-FFF2-40B4-BE49-F238E27FC236}">
                <a16:creationId xmlns:a16="http://schemas.microsoft.com/office/drawing/2014/main" id="{B9A8B0B9-1892-6582-6BEA-25269FE6F03F}"/>
              </a:ext>
            </a:extLst>
          </p:cNvPr>
          <p:cNvSpPr txBox="1">
            <a:spLocks noChangeArrowheads="1"/>
          </p:cNvSpPr>
          <p:nvPr/>
        </p:nvSpPr>
        <p:spPr bwMode="auto">
          <a:xfrm>
            <a:off x="219144" y="3759055"/>
            <a:ext cx="5730305" cy="618118"/>
          </a:xfrm>
          <a:prstGeom prst="rect">
            <a:avLst/>
          </a:prstGeom>
          <a:noFill/>
          <a:ln>
            <a:noFill/>
          </a:ln>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ECU</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の外部部品との 電気的なインターフェース、部品の特性 の詳細は</a:t>
            </a:r>
            <a:endParaRPr lang="en-US" altLang="ja-JP" sz="1400">
              <a:solidFill>
                <a:srgbClr val="000000"/>
              </a:solidFill>
              <a:latin typeface="Meiryo UI" panose="020B0604030504040204" pitchFamily="50" charset="-128"/>
              <a:ea typeface="Meiryo UI" panose="020B0604030504040204" pitchFamily="50" charset="-128"/>
              <a:cs typeface="Arial" pitchFamily="34" charset="0"/>
            </a:endParaRPr>
          </a:p>
          <a:p>
            <a:pPr algn="l" eaLnBrk="1" hangingPunct="1">
              <a:lnSpc>
                <a:spcPct val="13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Non-</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component spec</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にて定義します。</a:t>
            </a:r>
            <a:endParaRPr lang="en-US" altLang="ja-JP" sz="140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2" name="Text Box 2">
            <a:extLst>
              <a:ext uri="{FF2B5EF4-FFF2-40B4-BE49-F238E27FC236}">
                <a16:creationId xmlns:a16="http://schemas.microsoft.com/office/drawing/2014/main" id="{789EEC0C-EF58-A731-A7A3-A9F53DD3E57A}"/>
              </a:ext>
            </a:extLst>
          </p:cNvPr>
          <p:cNvSpPr txBox="1">
            <a:spLocks noChangeArrowheads="1"/>
          </p:cNvSpPr>
          <p:nvPr/>
        </p:nvSpPr>
        <p:spPr bwMode="auto">
          <a:xfrm>
            <a:off x="219144" y="4482329"/>
            <a:ext cx="5730305" cy="618118"/>
          </a:xfrm>
          <a:prstGeom prst="rect">
            <a:avLst/>
          </a:prstGeom>
          <a:noFill/>
          <a:ln>
            <a:noFill/>
          </a:ln>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Characteristics of each parts and electric interface would be defined in Non-</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component spec.</a:t>
            </a:r>
          </a:p>
        </p:txBody>
      </p:sp>
      <p:sp>
        <p:nvSpPr>
          <p:cNvPr id="13" name="正方形/長方形 12">
            <a:extLst>
              <a:ext uri="{FF2B5EF4-FFF2-40B4-BE49-F238E27FC236}">
                <a16:creationId xmlns:a16="http://schemas.microsoft.com/office/drawing/2014/main" id="{82D2C4CA-3B69-AD11-B363-596115432193}"/>
              </a:ext>
            </a:extLst>
          </p:cNvPr>
          <p:cNvSpPr/>
          <p:nvPr/>
        </p:nvSpPr>
        <p:spPr>
          <a:xfrm>
            <a:off x="3136322" y="1275887"/>
            <a:ext cx="2528928" cy="212271"/>
          </a:xfrm>
          <a:prstGeom prst="rect">
            <a:avLst/>
          </a:prstGeom>
          <a:gradFill rotWithShape="1">
            <a:gsLst>
              <a:gs pos="0">
                <a:srgbClr val="ED7D31">
                  <a:lumMod val="110000"/>
                  <a:satMod val="105000"/>
                  <a:tint val="67000"/>
                </a:srgbClr>
              </a:gs>
              <a:gs pos="50000">
                <a:srgbClr val="ED7D31">
                  <a:lumMod val="105000"/>
                  <a:satMod val="103000"/>
                  <a:tint val="73000"/>
                </a:srgbClr>
              </a:gs>
              <a:gs pos="100000">
                <a:srgbClr val="ED7D31">
                  <a:lumMod val="105000"/>
                  <a:satMod val="109000"/>
                  <a:tint val="81000"/>
                </a:srgbClr>
              </a:gs>
            </a:gsLst>
            <a:lin ang="5400000" scaled="0"/>
          </a:gradFill>
          <a:ln w="6350" cap="flat" cmpd="sng" algn="ctr">
            <a:solidFill>
              <a:schemeClr val="tx1"/>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ja-JP" sz="1400">
                <a:solidFill>
                  <a:schemeClr val="tx1"/>
                </a:solidFill>
                <a:latin typeface="Meiryo UI" panose="020B0604030504040204" pitchFamily="50" charset="-128"/>
                <a:ea typeface="Meiryo UI" panose="020B0604030504040204" pitchFamily="50" charset="-128"/>
                <a:cs typeface="Meiryo UI" panose="020B0604030504040204" pitchFamily="50" charset="-128"/>
              </a:rPr>
              <a:t>Input </a:t>
            </a:r>
            <a:r>
              <a:rPr lang="en-US" altLang="ja-JP" sz="1400" err="1">
                <a:solidFill>
                  <a:schemeClr val="tx1"/>
                </a:solidFill>
                <a:latin typeface="Meiryo UI" panose="020B0604030504040204" pitchFamily="50" charset="-128"/>
                <a:ea typeface="Meiryo UI" panose="020B0604030504040204" pitchFamily="50" charset="-128"/>
                <a:cs typeface="Meiryo UI" panose="020B0604030504040204" pitchFamily="50" charset="-128"/>
              </a:rPr>
              <a:t>compornet</a:t>
            </a:r>
            <a:endParaRPr lang="ja-JP" altLang="en-US" sz="14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4" name="直線コネクタ 13">
            <a:extLst>
              <a:ext uri="{FF2B5EF4-FFF2-40B4-BE49-F238E27FC236}">
                <a16:creationId xmlns:a16="http://schemas.microsoft.com/office/drawing/2014/main" id="{B9D2D849-2FA7-301E-ACD5-1C41E5C1AD7A}"/>
              </a:ext>
            </a:extLst>
          </p:cNvPr>
          <p:cNvCxnSpPr/>
          <p:nvPr/>
        </p:nvCxnSpPr>
        <p:spPr>
          <a:xfrm flipH="1">
            <a:off x="1864224" y="1382022"/>
            <a:ext cx="125435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AB4CADD6-1790-36FD-46CC-015BDEC3C9F2}"/>
              </a:ext>
            </a:extLst>
          </p:cNvPr>
          <p:cNvSpPr/>
          <p:nvPr/>
        </p:nvSpPr>
        <p:spPr>
          <a:xfrm>
            <a:off x="442250" y="1195334"/>
            <a:ext cx="1421974" cy="193239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chemeClr val="tx1"/>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cxnSp>
        <p:nvCxnSpPr>
          <p:cNvPr id="16" name="カギ線コネクタ 18">
            <a:extLst>
              <a:ext uri="{FF2B5EF4-FFF2-40B4-BE49-F238E27FC236}">
                <a16:creationId xmlns:a16="http://schemas.microsoft.com/office/drawing/2014/main" id="{48240F30-DA44-D8AB-FADE-0CE55ED6E339}"/>
              </a:ext>
            </a:extLst>
          </p:cNvPr>
          <p:cNvCxnSpPr>
            <a:stCxn id="23" idx="3"/>
            <a:endCxn id="17" idx="1"/>
          </p:cNvCxnSpPr>
          <p:nvPr/>
        </p:nvCxnSpPr>
        <p:spPr bwMode="auto">
          <a:xfrm>
            <a:off x="1879514" y="2241381"/>
            <a:ext cx="1256808" cy="335772"/>
          </a:xfrm>
          <a:prstGeom prst="bentConnector3">
            <a:avLst>
              <a:gd name="adj1" fmla="val 50000"/>
            </a:avLst>
          </a:prstGeom>
          <a:solidFill>
            <a:schemeClr val="accent1"/>
          </a:solidFill>
          <a:ln w="19050"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正方形/長方形 16">
            <a:extLst>
              <a:ext uri="{FF2B5EF4-FFF2-40B4-BE49-F238E27FC236}">
                <a16:creationId xmlns:a16="http://schemas.microsoft.com/office/drawing/2014/main" id="{33CDB9C8-8313-33AE-71D1-504A918BB4CF}"/>
              </a:ext>
            </a:extLst>
          </p:cNvPr>
          <p:cNvSpPr/>
          <p:nvPr/>
        </p:nvSpPr>
        <p:spPr>
          <a:xfrm>
            <a:off x="3136322" y="2471017"/>
            <a:ext cx="2528928" cy="21227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ja-JP" sz="1400">
                <a:latin typeface="Meiryo UI" panose="020B0604030504040204" pitchFamily="50" charset="-128"/>
                <a:ea typeface="Meiryo UI" panose="020B0604030504040204" pitchFamily="50" charset="-128"/>
                <a:cs typeface="Meiryo UI" panose="020B0604030504040204" pitchFamily="50" charset="-128"/>
              </a:rPr>
              <a:t>Battery sensor</a:t>
            </a:r>
            <a:endParaRPr kumimoji="1"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正方形/長方形 17">
            <a:extLst>
              <a:ext uri="{FF2B5EF4-FFF2-40B4-BE49-F238E27FC236}">
                <a16:creationId xmlns:a16="http://schemas.microsoft.com/office/drawing/2014/main" id="{E12A1819-6021-5415-3388-AC1BE9CDA791}"/>
              </a:ext>
            </a:extLst>
          </p:cNvPr>
          <p:cNvSpPr/>
          <p:nvPr/>
        </p:nvSpPr>
        <p:spPr>
          <a:xfrm>
            <a:off x="3136322" y="2807058"/>
            <a:ext cx="2528928" cy="21227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ja-JP" sz="1400">
                <a:latin typeface="Meiryo UI" panose="020B0604030504040204" pitchFamily="50" charset="-128"/>
                <a:ea typeface="Meiryo UI" panose="020B0604030504040204" pitchFamily="50" charset="-128"/>
                <a:cs typeface="Meiryo UI" panose="020B0604030504040204" pitchFamily="50" charset="-128"/>
              </a:rPr>
              <a:t>Alternator</a:t>
            </a:r>
            <a:endParaRPr kumimoji="1" lang="ja-JP" altLang="en-US" sz="1400">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テキスト ボックス 18">
            <a:extLst>
              <a:ext uri="{FF2B5EF4-FFF2-40B4-BE49-F238E27FC236}">
                <a16:creationId xmlns:a16="http://schemas.microsoft.com/office/drawing/2014/main" id="{9D006321-9443-2B35-1489-6201D687572C}"/>
              </a:ext>
            </a:extLst>
          </p:cNvPr>
          <p:cNvSpPr txBox="1"/>
          <p:nvPr/>
        </p:nvSpPr>
        <p:spPr>
          <a:xfrm>
            <a:off x="5736852" y="2408713"/>
            <a:ext cx="1116011" cy="307777"/>
          </a:xfrm>
          <a:prstGeom prst="rect">
            <a:avLst/>
          </a:prstGeom>
          <a:noFill/>
        </p:spPr>
        <p:txBody>
          <a:bodyPr wrap="none" rtlCol="0">
            <a:spAutoFit/>
          </a:bodyPr>
          <a:lstStyle/>
          <a:p>
            <a:pPr algn="l"/>
            <a:r>
              <a:rPr lang="en-US" altLang="ja-JP" sz="1400">
                <a:latin typeface="Meiryo UI" panose="020B0604030504040204" pitchFamily="50" charset="-128"/>
                <a:ea typeface="Meiryo UI" panose="020B0604030504040204" pitchFamily="50" charset="-128"/>
                <a:cs typeface="Arial" panose="020B0604020202020204" pitchFamily="34" charset="0"/>
              </a:rPr>
              <a:t>No change</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p:txBody>
      </p:sp>
      <p:sp>
        <p:nvSpPr>
          <p:cNvPr id="20" name="テキスト ボックス 19">
            <a:extLst>
              <a:ext uri="{FF2B5EF4-FFF2-40B4-BE49-F238E27FC236}">
                <a16:creationId xmlns:a16="http://schemas.microsoft.com/office/drawing/2014/main" id="{5C2F5BE8-154D-5ABD-1330-0996615F1E54}"/>
              </a:ext>
            </a:extLst>
          </p:cNvPr>
          <p:cNvSpPr txBox="1"/>
          <p:nvPr/>
        </p:nvSpPr>
        <p:spPr>
          <a:xfrm>
            <a:off x="5736852" y="2745592"/>
            <a:ext cx="1116011" cy="307777"/>
          </a:xfrm>
          <a:prstGeom prst="rect">
            <a:avLst/>
          </a:prstGeom>
          <a:noFill/>
        </p:spPr>
        <p:txBody>
          <a:bodyPr wrap="none" rtlCol="0">
            <a:spAutoFit/>
          </a:bodyPr>
          <a:lstStyle/>
          <a:p>
            <a:pPr algn="l"/>
            <a:r>
              <a:rPr lang="en-US" altLang="ja-JP" sz="1400">
                <a:latin typeface="Meiryo UI" panose="020B0604030504040204" pitchFamily="50" charset="-128"/>
                <a:ea typeface="Meiryo UI" panose="020B0604030504040204" pitchFamily="50" charset="-128"/>
                <a:cs typeface="Arial" panose="020B0604020202020204" pitchFamily="34" charset="0"/>
              </a:rPr>
              <a:t>No change</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p:txBody>
      </p:sp>
      <p:cxnSp>
        <p:nvCxnSpPr>
          <p:cNvPr id="21" name="カギ線コネクタ 26">
            <a:extLst>
              <a:ext uri="{FF2B5EF4-FFF2-40B4-BE49-F238E27FC236}">
                <a16:creationId xmlns:a16="http://schemas.microsoft.com/office/drawing/2014/main" id="{9B81900A-4343-9637-7B17-F663D1AC119A}"/>
              </a:ext>
            </a:extLst>
          </p:cNvPr>
          <p:cNvCxnSpPr>
            <a:stCxn id="23" idx="3"/>
            <a:endCxn id="18" idx="1"/>
          </p:cNvCxnSpPr>
          <p:nvPr/>
        </p:nvCxnSpPr>
        <p:spPr bwMode="auto">
          <a:xfrm>
            <a:off x="1879514" y="2241381"/>
            <a:ext cx="1256808" cy="671813"/>
          </a:xfrm>
          <a:prstGeom prst="bentConnector3">
            <a:avLst>
              <a:gd name="adj1" fmla="val 50000"/>
            </a:avLst>
          </a:prstGeom>
          <a:solidFill>
            <a:schemeClr val="accent1"/>
          </a:solidFill>
          <a:ln w="19050"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テキスト ボックス 21">
            <a:extLst>
              <a:ext uri="{FF2B5EF4-FFF2-40B4-BE49-F238E27FC236}">
                <a16:creationId xmlns:a16="http://schemas.microsoft.com/office/drawing/2014/main" id="{C67F24ED-9FD0-0655-0E46-83AF900023FD}"/>
              </a:ext>
            </a:extLst>
          </p:cNvPr>
          <p:cNvSpPr txBox="1"/>
          <p:nvPr/>
        </p:nvSpPr>
        <p:spPr>
          <a:xfrm>
            <a:off x="1316539" y="1244868"/>
            <a:ext cx="562975" cy="276999"/>
          </a:xfrm>
          <a:prstGeom prst="rect">
            <a:avLst/>
          </a:prstGeom>
          <a:noFill/>
        </p:spPr>
        <p:txBody>
          <a:bodyPr wrap="none" rtlCol="0">
            <a:spAutoFit/>
          </a:bodyPr>
          <a:lstStyle/>
          <a:p>
            <a:pPr algn="r"/>
            <a:r>
              <a:rPr lang="en-US" altLang="ja-JP" sz="1200">
                <a:latin typeface="Meiryo UI" panose="020B0604030504040204" pitchFamily="50" charset="-128"/>
                <a:ea typeface="Meiryo UI" panose="020B0604030504040204" pitchFamily="50" charset="-128"/>
                <a:cs typeface="Arial" panose="020B0604020202020204" pitchFamily="34" charset="0"/>
              </a:rPr>
              <a:t>i</a:t>
            </a:r>
            <a:r>
              <a:rPr kumimoji="1" lang="en-US" altLang="ja-JP" sz="1200">
                <a:latin typeface="Meiryo UI" panose="020B0604030504040204" pitchFamily="50" charset="-128"/>
                <a:ea typeface="Meiryo UI" panose="020B0604030504040204" pitchFamily="50" charset="-128"/>
                <a:cs typeface="Arial" panose="020B0604020202020204" pitchFamily="34" charset="0"/>
              </a:rPr>
              <a:t>nput</a:t>
            </a:r>
            <a:endParaRPr kumimoji="1" lang="ja-JP" altLang="en-US" sz="1200">
              <a:latin typeface="Meiryo UI" panose="020B0604030504040204" pitchFamily="50" charset="-128"/>
              <a:ea typeface="Meiryo UI" panose="020B0604030504040204" pitchFamily="50" charset="-128"/>
              <a:cs typeface="Arial" panose="020B0604020202020204" pitchFamily="34" charset="0"/>
            </a:endParaRPr>
          </a:p>
        </p:txBody>
      </p:sp>
      <p:sp>
        <p:nvSpPr>
          <p:cNvPr id="23" name="テキスト ボックス 22">
            <a:extLst>
              <a:ext uri="{FF2B5EF4-FFF2-40B4-BE49-F238E27FC236}">
                <a16:creationId xmlns:a16="http://schemas.microsoft.com/office/drawing/2014/main" id="{DD6223F9-8923-340D-B9D8-5487D0D7C46A}"/>
              </a:ext>
            </a:extLst>
          </p:cNvPr>
          <p:cNvSpPr txBox="1"/>
          <p:nvPr/>
        </p:nvSpPr>
        <p:spPr>
          <a:xfrm>
            <a:off x="551906" y="2010548"/>
            <a:ext cx="1327608" cy="461665"/>
          </a:xfrm>
          <a:prstGeom prst="rect">
            <a:avLst/>
          </a:prstGeom>
          <a:noFill/>
        </p:spPr>
        <p:txBody>
          <a:bodyPr wrap="none" rtlCol="0">
            <a:spAutoFit/>
          </a:bodyPr>
          <a:lstStyle/>
          <a:p>
            <a:pPr algn="r"/>
            <a:r>
              <a:rPr lang="en-US" altLang="ja-JP" sz="1200">
                <a:latin typeface="Meiryo UI" panose="020B0604030504040204" pitchFamily="50" charset="-128"/>
                <a:ea typeface="Meiryo UI" panose="020B0604030504040204" pitchFamily="50" charset="-128"/>
                <a:cs typeface="Arial" panose="020B0604020202020204" pitchFamily="34" charset="0"/>
              </a:rPr>
              <a:t>LIN</a:t>
            </a:r>
          </a:p>
          <a:p>
            <a:pPr algn="r"/>
            <a:r>
              <a:rPr lang="en-US" altLang="ja-JP" sz="1200">
                <a:latin typeface="Meiryo UI" panose="020B0604030504040204" pitchFamily="50" charset="-128"/>
                <a:ea typeface="Meiryo UI" panose="020B0604030504040204" pitchFamily="50" charset="-128"/>
                <a:cs typeface="Arial" panose="020B0604020202020204" pitchFamily="34" charset="0"/>
              </a:rPr>
              <a:t>communication</a:t>
            </a:r>
            <a:endParaRPr kumimoji="1" lang="ja-JP" altLang="en-US" sz="1200">
              <a:latin typeface="Meiryo UI" panose="020B0604030504040204" pitchFamily="50" charset="-128"/>
              <a:ea typeface="Meiryo UI" panose="020B0604030504040204" pitchFamily="50" charset="-128"/>
              <a:cs typeface="Arial" panose="020B0604020202020204" pitchFamily="34" charset="0"/>
            </a:endParaRPr>
          </a:p>
        </p:txBody>
      </p:sp>
      <p:sp>
        <p:nvSpPr>
          <p:cNvPr id="24" name="テキスト ボックス 23">
            <a:extLst>
              <a:ext uri="{FF2B5EF4-FFF2-40B4-BE49-F238E27FC236}">
                <a16:creationId xmlns:a16="http://schemas.microsoft.com/office/drawing/2014/main" id="{AD2EA470-BD63-0DED-761D-E6C6ECA77CBE}"/>
              </a:ext>
            </a:extLst>
          </p:cNvPr>
          <p:cNvSpPr txBox="1"/>
          <p:nvPr/>
        </p:nvSpPr>
        <p:spPr>
          <a:xfrm>
            <a:off x="441475" y="1211747"/>
            <a:ext cx="615874" cy="338554"/>
          </a:xfrm>
          <a:prstGeom prst="rect">
            <a:avLst/>
          </a:prstGeom>
          <a:noFill/>
        </p:spPr>
        <p:txBody>
          <a:bodyPr wrap="none" rtlCol="0">
            <a:spAutoFit/>
          </a:bodyPr>
          <a:lstStyle/>
          <a:p>
            <a:pPr algn="l"/>
            <a:r>
              <a:rPr lang="en-US" altLang="ja-JP" sz="1600" b="1">
                <a:latin typeface="Meiryo UI" panose="020B0604030504040204" pitchFamily="50" charset="-128"/>
                <a:ea typeface="Meiryo UI" panose="020B0604030504040204" pitchFamily="50" charset="-128"/>
                <a:cs typeface="Arial" panose="020B0604020202020204" pitchFamily="34" charset="0"/>
              </a:rPr>
              <a:t>ECU</a:t>
            </a:r>
            <a:endParaRPr kumimoji="1" lang="ja-JP" altLang="en-US" sz="1600" b="1">
              <a:latin typeface="Meiryo UI" panose="020B0604030504040204" pitchFamily="50" charset="-128"/>
              <a:ea typeface="Meiryo UI" panose="020B0604030504040204" pitchFamily="50" charset="-128"/>
              <a:cs typeface="Arial" panose="020B0604020202020204" pitchFamily="34" charset="0"/>
            </a:endParaRPr>
          </a:p>
        </p:txBody>
      </p:sp>
      <p:sp>
        <p:nvSpPr>
          <p:cNvPr id="25" name="テキスト ボックス 24">
            <a:extLst>
              <a:ext uri="{FF2B5EF4-FFF2-40B4-BE49-F238E27FC236}">
                <a16:creationId xmlns:a16="http://schemas.microsoft.com/office/drawing/2014/main" id="{4E888A11-F858-3208-21F4-28FCC9DF7FC0}"/>
              </a:ext>
            </a:extLst>
          </p:cNvPr>
          <p:cNvSpPr txBox="1"/>
          <p:nvPr/>
        </p:nvSpPr>
        <p:spPr>
          <a:xfrm>
            <a:off x="551906" y="5419738"/>
            <a:ext cx="6864894" cy="461665"/>
          </a:xfrm>
          <a:prstGeom prst="rect">
            <a:avLst/>
          </a:prstGeom>
          <a:solidFill>
            <a:srgbClr val="FFFF00"/>
          </a:solidFill>
        </p:spPr>
        <p:txBody>
          <a:bodyPr wrap="square" rtlCol="0">
            <a:spAutoFit/>
          </a:bodyPr>
          <a:lstStyle/>
          <a:p>
            <a:r>
              <a:rPr lang="en-US" altLang="ja-JP"/>
              <a:t>No change From 6SAA</a:t>
            </a:r>
            <a:endParaRPr kumimoji="1" lang="en-US" altLang="ja-JP"/>
          </a:p>
        </p:txBody>
      </p:sp>
      <p:sp>
        <p:nvSpPr>
          <p:cNvPr id="26" name="テキスト ボックス 25">
            <a:extLst>
              <a:ext uri="{FF2B5EF4-FFF2-40B4-BE49-F238E27FC236}">
                <a16:creationId xmlns:a16="http://schemas.microsoft.com/office/drawing/2014/main" id="{558C7F2D-EFE1-7835-A4F1-B44466ED0246}"/>
              </a:ext>
            </a:extLst>
          </p:cNvPr>
          <p:cNvSpPr txBox="1"/>
          <p:nvPr/>
        </p:nvSpPr>
        <p:spPr>
          <a:xfrm>
            <a:off x="5736851" y="1216162"/>
            <a:ext cx="1116011" cy="307777"/>
          </a:xfrm>
          <a:prstGeom prst="rect">
            <a:avLst/>
          </a:prstGeom>
          <a:noFill/>
        </p:spPr>
        <p:txBody>
          <a:bodyPr wrap="none" rtlCol="0">
            <a:spAutoFit/>
          </a:bodyPr>
          <a:lstStyle/>
          <a:p>
            <a:pPr algn="l"/>
            <a:r>
              <a:rPr lang="en-US" altLang="ja-JP" sz="1400">
                <a:latin typeface="Meiryo UI" panose="020B0604030504040204" pitchFamily="50" charset="-128"/>
                <a:ea typeface="Meiryo UI" panose="020B0604030504040204" pitchFamily="50" charset="-128"/>
                <a:cs typeface="Arial" panose="020B0604020202020204" pitchFamily="34" charset="0"/>
              </a:rPr>
              <a:t>No change</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23004060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 Box 2"/>
          <p:cNvSpPr txBox="1">
            <a:spLocks noChangeArrowheads="1"/>
          </p:cNvSpPr>
          <p:nvPr/>
        </p:nvSpPr>
        <p:spPr bwMode="auto">
          <a:xfrm>
            <a:off x="147644" y="535944"/>
            <a:ext cx="5091907"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CAN Structure with Cooperative Control </a:t>
            </a:r>
            <a:endParaRPr lang="ja-JP" altLang="en-US" sz="18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4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14. In-Vehicle Functions Relating ECU and Features</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2" name="Text Box 2">
            <a:extLst>
              <a:ext uri="{FF2B5EF4-FFF2-40B4-BE49-F238E27FC236}">
                <a16:creationId xmlns:a16="http://schemas.microsoft.com/office/drawing/2014/main" id="{025ADAF4-60F4-23D8-A91B-8A52C68A6288}"/>
              </a:ext>
            </a:extLst>
          </p:cNvPr>
          <p:cNvSpPr txBox="1">
            <a:spLocks noChangeArrowheads="1"/>
          </p:cNvSpPr>
          <p:nvPr/>
        </p:nvSpPr>
        <p:spPr bwMode="auto">
          <a:xfrm>
            <a:off x="250829" y="3774968"/>
            <a:ext cx="5954028" cy="652486"/>
          </a:xfrm>
          <a:prstGeom prst="rect">
            <a:avLst/>
          </a:prstGeom>
          <a:noFill/>
          <a:ln>
            <a:noFill/>
          </a:ln>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CAN</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Structure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はロットごとに異なる可能性があります。</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CAN</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Structure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は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CR</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CAN_structure_for_6SAA</a:t>
            </a:r>
            <a:r>
              <a:rPr kumimoji="1" lang="ja-JP" altLang="en-US" sz="1400" b="0" i="0" u="none" strike="noStrike" kern="1200" cap="none" spc="0" normalizeH="0" baseline="0" noProof="0" err="1">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にて</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定義されます。</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3" name="Text Box 2">
            <a:extLst>
              <a:ext uri="{FF2B5EF4-FFF2-40B4-BE49-F238E27FC236}">
                <a16:creationId xmlns:a16="http://schemas.microsoft.com/office/drawing/2014/main" id="{D472AC9D-AF3C-D27A-9B9E-A56F55694D44}"/>
              </a:ext>
            </a:extLst>
          </p:cNvPr>
          <p:cNvSpPr txBox="1">
            <a:spLocks noChangeArrowheads="1"/>
          </p:cNvSpPr>
          <p:nvPr/>
        </p:nvSpPr>
        <p:spPr bwMode="auto">
          <a:xfrm>
            <a:off x="207102" y="4941090"/>
            <a:ext cx="8170539" cy="338041"/>
          </a:xfrm>
          <a:prstGeom prst="rect">
            <a:avLst/>
          </a:prstGeom>
          <a:noFill/>
          <a:ln>
            <a:noFill/>
          </a:ln>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Each lot might have different CAN structure which is defined in CAN structure for 6SAA.</a:t>
            </a:r>
          </a:p>
        </p:txBody>
      </p:sp>
      <p:cxnSp>
        <p:nvCxnSpPr>
          <p:cNvPr id="5" name="直線コネクタ 4">
            <a:extLst>
              <a:ext uri="{FF2B5EF4-FFF2-40B4-BE49-F238E27FC236}">
                <a16:creationId xmlns:a16="http://schemas.microsoft.com/office/drawing/2014/main" id="{2369FDC9-F1B9-F6BD-5E92-752485535CB1}"/>
              </a:ext>
            </a:extLst>
          </p:cNvPr>
          <p:cNvCxnSpPr/>
          <p:nvPr/>
        </p:nvCxnSpPr>
        <p:spPr>
          <a:xfrm>
            <a:off x="1903298" y="2508601"/>
            <a:ext cx="14220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3807404C-3388-C595-A653-AEFA88851385}"/>
              </a:ext>
            </a:extLst>
          </p:cNvPr>
          <p:cNvCxnSpPr/>
          <p:nvPr/>
        </p:nvCxnSpPr>
        <p:spPr>
          <a:xfrm>
            <a:off x="1903298" y="2651743"/>
            <a:ext cx="14220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88C21AC6-2E0B-86CE-B4AD-16ADED62365C}"/>
              </a:ext>
            </a:extLst>
          </p:cNvPr>
          <p:cNvCxnSpPr/>
          <p:nvPr/>
        </p:nvCxnSpPr>
        <p:spPr>
          <a:xfrm>
            <a:off x="1903298" y="2802489"/>
            <a:ext cx="142202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8B8CE57B-65CE-1D6D-9079-D6BD9FA3215F}"/>
              </a:ext>
            </a:extLst>
          </p:cNvPr>
          <p:cNvSpPr txBox="1"/>
          <p:nvPr/>
        </p:nvSpPr>
        <p:spPr>
          <a:xfrm>
            <a:off x="1903298" y="1139609"/>
            <a:ext cx="2039331" cy="2616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PFCAN1</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9" name="正方形/長方形 8">
            <a:extLst>
              <a:ext uri="{FF2B5EF4-FFF2-40B4-BE49-F238E27FC236}">
                <a16:creationId xmlns:a16="http://schemas.microsoft.com/office/drawing/2014/main" id="{F142B3A4-E961-99E4-717B-B1165075DBB8}"/>
              </a:ext>
            </a:extLst>
          </p:cNvPr>
          <p:cNvSpPr/>
          <p:nvPr/>
        </p:nvSpPr>
        <p:spPr>
          <a:xfrm>
            <a:off x="1111211" y="1067601"/>
            <a:ext cx="792088" cy="2140118"/>
          </a:xfrm>
          <a:prstGeom prst="rect">
            <a:avLst/>
          </a:prstGeom>
          <a:ln/>
        </p:spPr>
        <p:style>
          <a:lnRef idx="1">
            <a:schemeClr val="dk1"/>
          </a:lnRef>
          <a:fillRef idx="2">
            <a:schemeClr val="dk1"/>
          </a:fillRef>
          <a:effectRef idx="1">
            <a:schemeClr val="dk1"/>
          </a:effectRef>
          <a:fontRef idx="minor">
            <a:schemeClr val="dk1"/>
          </a:fontRef>
        </p:style>
        <p:txBody>
          <a:bodyPr rtlCol="0" anchor="t" anchorCtr="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rPr>
              <a:t>IMG</a:t>
            </a:r>
            <a:endParaRPr kumimoji="1" lang="ja-JP" altLang="en-US" sz="1000" b="0"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endParaRPr>
          </a:p>
        </p:txBody>
      </p:sp>
      <p:cxnSp>
        <p:nvCxnSpPr>
          <p:cNvPr id="10" name="直線コネクタ 9">
            <a:extLst>
              <a:ext uri="{FF2B5EF4-FFF2-40B4-BE49-F238E27FC236}">
                <a16:creationId xmlns:a16="http://schemas.microsoft.com/office/drawing/2014/main" id="{34964D56-E951-9649-6513-84ABE52084AA}"/>
              </a:ext>
            </a:extLst>
          </p:cNvPr>
          <p:cNvCxnSpPr/>
          <p:nvPr/>
        </p:nvCxnSpPr>
        <p:spPr>
          <a:xfrm>
            <a:off x="1903297" y="1355633"/>
            <a:ext cx="379539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図形 39">
            <a:extLst>
              <a:ext uri="{FF2B5EF4-FFF2-40B4-BE49-F238E27FC236}">
                <a16:creationId xmlns:a16="http://schemas.microsoft.com/office/drawing/2014/main" id="{E7FE55D7-B553-6B92-9C99-E80CDB20E6AB}"/>
              </a:ext>
            </a:extLst>
          </p:cNvPr>
          <p:cNvSpPr txBox="1"/>
          <p:nvPr/>
        </p:nvSpPr>
        <p:spPr>
          <a:xfrm>
            <a:off x="2335346" y="1355633"/>
            <a:ext cx="0" cy="9525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2" name="図形 39">
            <a:extLst>
              <a:ext uri="{FF2B5EF4-FFF2-40B4-BE49-F238E27FC236}">
                <a16:creationId xmlns:a16="http://schemas.microsoft.com/office/drawing/2014/main" id="{36D3A977-3E2F-2A2C-B09F-6DC5A39642CC}"/>
              </a:ext>
            </a:extLst>
          </p:cNvPr>
          <p:cNvSpPr txBox="1"/>
          <p:nvPr/>
        </p:nvSpPr>
        <p:spPr>
          <a:xfrm flipH="1">
            <a:off x="1903297" y="1799820"/>
            <a:ext cx="360040" cy="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 name="図形 39">
            <a:extLst>
              <a:ext uri="{FF2B5EF4-FFF2-40B4-BE49-F238E27FC236}">
                <a16:creationId xmlns:a16="http://schemas.microsoft.com/office/drawing/2014/main" id="{BF63380A-E994-AA1B-6D39-11A5F86063CC}"/>
              </a:ext>
            </a:extLst>
          </p:cNvPr>
          <p:cNvSpPr txBox="1"/>
          <p:nvPr/>
        </p:nvSpPr>
        <p:spPr>
          <a:xfrm>
            <a:off x="2191330" y="1704570"/>
            <a:ext cx="0" cy="9525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4" name="図形 38">
            <a:extLst>
              <a:ext uri="{FF2B5EF4-FFF2-40B4-BE49-F238E27FC236}">
                <a16:creationId xmlns:a16="http://schemas.microsoft.com/office/drawing/2014/main" id="{F2CCF3DE-11E0-2358-4713-0F6E6EDF514E}"/>
              </a:ext>
            </a:extLst>
          </p:cNvPr>
          <p:cNvSpPr txBox="1"/>
          <p:nvPr/>
        </p:nvSpPr>
        <p:spPr>
          <a:xfrm>
            <a:off x="2049596" y="1432700"/>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ENG</a:t>
            </a:r>
          </a:p>
        </p:txBody>
      </p:sp>
      <p:cxnSp>
        <p:nvCxnSpPr>
          <p:cNvPr id="15" name="直線コネクタ 14">
            <a:extLst>
              <a:ext uri="{FF2B5EF4-FFF2-40B4-BE49-F238E27FC236}">
                <a16:creationId xmlns:a16="http://schemas.microsoft.com/office/drawing/2014/main" id="{3AB18823-517B-2D44-D676-F35FBE7215F6}"/>
              </a:ext>
            </a:extLst>
          </p:cNvPr>
          <p:cNvCxnSpPr/>
          <p:nvPr/>
        </p:nvCxnSpPr>
        <p:spPr>
          <a:xfrm>
            <a:off x="520921" y="1591114"/>
            <a:ext cx="59029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正方形/長方形 15">
            <a:extLst>
              <a:ext uri="{FF2B5EF4-FFF2-40B4-BE49-F238E27FC236}">
                <a16:creationId xmlns:a16="http://schemas.microsoft.com/office/drawing/2014/main" id="{E0D2C7CB-D3B6-0C60-AAC2-0847C4378396}"/>
              </a:ext>
            </a:extLst>
          </p:cNvPr>
          <p:cNvSpPr/>
          <p:nvPr/>
        </p:nvSpPr>
        <p:spPr>
          <a:xfrm>
            <a:off x="2224699" y="1264250"/>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0" i="0" u="none" strike="noStrike" kern="1200" cap="none" spc="0" normalizeH="0" baseline="0" noProof="0">
                <a:ln>
                  <a:noFill/>
                </a:ln>
                <a:solidFill>
                  <a:srgbClr val="0000FF"/>
                </a:solidFill>
                <a:effectLst/>
                <a:uLnTx/>
                <a:uFillTx/>
                <a:latin typeface="Meiryo UI" pitchFamily="50" charset="-128"/>
                <a:ea typeface="Meiryo UI" pitchFamily="50" charset="-128"/>
                <a:cs typeface="Meiryo UI" pitchFamily="50" charset="-128"/>
              </a:rPr>
              <a:t>●</a:t>
            </a:r>
          </a:p>
        </p:txBody>
      </p:sp>
      <p:sp>
        <p:nvSpPr>
          <p:cNvPr id="17" name="正方形/長方形 16">
            <a:extLst>
              <a:ext uri="{FF2B5EF4-FFF2-40B4-BE49-F238E27FC236}">
                <a16:creationId xmlns:a16="http://schemas.microsoft.com/office/drawing/2014/main" id="{24995148-4132-A2FC-38D0-03EE1FE92B97}"/>
              </a:ext>
            </a:extLst>
          </p:cNvPr>
          <p:cNvSpPr/>
          <p:nvPr/>
        </p:nvSpPr>
        <p:spPr>
          <a:xfrm>
            <a:off x="1675974" y="1174899"/>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0" i="0" u="none" strike="noStrike" kern="1200" cap="none" spc="0" normalizeH="0" baseline="0" noProof="0">
                <a:ln>
                  <a:noFill/>
                </a:ln>
                <a:solidFill>
                  <a:srgbClr val="0000FF"/>
                </a:solidFill>
                <a:effectLst/>
                <a:uLnTx/>
                <a:uFillTx/>
                <a:latin typeface="Meiryo UI" pitchFamily="50" charset="-128"/>
                <a:ea typeface="Meiryo UI" pitchFamily="50" charset="-128"/>
                <a:cs typeface="Meiryo UI" pitchFamily="50" charset="-128"/>
              </a:rPr>
              <a:t>●</a:t>
            </a:r>
          </a:p>
        </p:txBody>
      </p:sp>
      <p:sp>
        <p:nvSpPr>
          <p:cNvPr id="18" name="正方形/長方形 17">
            <a:extLst>
              <a:ext uri="{FF2B5EF4-FFF2-40B4-BE49-F238E27FC236}">
                <a16:creationId xmlns:a16="http://schemas.microsoft.com/office/drawing/2014/main" id="{5BDF3C30-3689-D258-6280-83952F205339}"/>
              </a:ext>
            </a:extLst>
          </p:cNvPr>
          <p:cNvSpPr/>
          <p:nvPr/>
        </p:nvSpPr>
        <p:spPr>
          <a:xfrm>
            <a:off x="1675974" y="1606947"/>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0" i="0" u="none" strike="noStrike" kern="1200" cap="none" spc="0" normalizeH="0" baseline="0" noProof="0">
                <a:ln>
                  <a:noFill/>
                </a:ln>
                <a:solidFill>
                  <a:srgbClr val="0000FF"/>
                </a:solidFill>
                <a:effectLst/>
                <a:uLnTx/>
                <a:uFillTx/>
                <a:latin typeface="Meiryo UI" pitchFamily="50" charset="-128"/>
                <a:ea typeface="Meiryo UI" pitchFamily="50" charset="-128"/>
                <a:cs typeface="Meiryo UI" pitchFamily="50" charset="-128"/>
              </a:rPr>
              <a:t>●</a:t>
            </a:r>
          </a:p>
        </p:txBody>
      </p:sp>
      <p:sp>
        <p:nvSpPr>
          <p:cNvPr id="19" name="正方形/長方形 18">
            <a:extLst>
              <a:ext uri="{FF2B5EF4-FFF2-40B4-BE49-F238E27FC236}">
                <a16:creationId xmlns:a16="http://schemas.microsoft.com/office/drawing/2014/main" id="{FB8CA5AC-8468-D2F7-B627-EF1C695F9BDD}"/>
              </a:ext>
            </a:extLst>
          </p:cNvPr>
          <p:cNvSpPr/>
          <p:nvPr/>
        </p:nvSpPr>
        <p:spPr>
          <a:xfrm>
            <a:off x="1922712" y="1483427"/>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0" i="0" u="none" strike="noStrike" kern="1200" cap="none" spc="0" normalizeH="0" baseline="0" noProof="0">
                <a:ln>
                  <a:noFill/>
                </a:ln>
                <a:solidFill>
                  <a:srgbClr val="0000FF"/>
                </a:solidFill>
                <a:effectLst/>
                <a:uLnTx/>
                <a:uFillTx/>
                <a:latin typeface="Meiryo UI" pitchFamily="50" charset="-128"/>
                <a:ea typeface="Meiryo UI" pitchFamily="50" charset="-128"/>
                <a:cs typeface="Meiryo UI" pitchFamily="50" charset="-128"/>
              </a:rPr>
              <a:t>●</a:t>
            </a:r>
          </a:p>
        </p:txBody>
      </p:sp>
      <p:grpSp>
        <p:nvGrpSpPr>
          <p:cNvPr id="20" name="グループ化 19">
            <a:extLst>
              <a:ext uri="{FF2B5EF4-FFF2-40B4-BE49-F238E27FC236}">
                <a16:creationId xmlns:a16="http://schemas.microsoft.com/office/drawing/2014/main" id="{FE76E2E7-179F-4E8E-6CE5-D815CD69BDC6}"/>
              </a:ext>
            </a:extLst>
          </p:cNvPr>
          <p:cNvGrpSpPr/>
          <p:nvPr/>
        </p:nvGrpSpPr>
        <p:grpSpPr>
          <a:xfrm>
            <a:off x="35298" y="1432173"/>
            <a:ext cx="576262" cy="304800"/>
            <a:chOff x="-828600" y="2152543"/>
            <a:chExt cx="576262" cy="304800"/>
          </a:xfrm>
        </p:grpSpPr>
        <p:sp>
          <p:nvSpPr>
            <p:cNvPr id="21" name="台形 20">
              <a:extLst>
                <a:ext uri="{FF2B5EF4-FFF2-40B4-BE49-F238E27FC236}">
                  <a16:creationId xmlns:a16="http://schemas.microsoft.com/office/drawing/2014/main" id="{95E9BB48-7B53-6A1B-4695-95A8656EE760}"/>
                </a:ext>
              </a:extLst>
            </p:cNvPr>
            <p:cNvSpPr/>
            <p:nvPr/>
          </p:nvSpPr>
          <p:spPr>
            <a:xfrm rot="10800000">
              <a:off x="-828600" y="2152543"/>
              <a:ext cx="576262" cy="304800"/>
            </a:xfrm>
            <a:prstGeom prst="trapezoid">
              <a:avLst>
                <a:gd name="adj" fmla="val 15909"/>
              </a:avLst>
            </a:prstGeom>
            <a:solidFill>
              <a:srgbClr val="99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endParaRPr>
            </a:p>
          </p:txBody>
        </p:sp>
        <p:sp>
          <p:nvSpPr>
            <p:cNvPr id="22" name="FCAN">
              <a:extLst>
                <a:ext uri="{FF2B5EF4-FFF2-40B4-BE49-F238E27FC236}">
                  <a16:creationId xmlns:a16="http://schemas.microsoft.com/office/drawing/2014/main" id="{0A37CBED-D079-0FFC-31FE-7D3575F553F6}"/>
                </a:ext>
              </a:extLst>
            </p:cNvPr>
            <p:cNvSpPr/>
            <p:nvPr/>
          </p:nvSpPr>
          <p:spPr>
            <a:xfrm>
              <a:off x="-760241" y="2178998"/>
              <a:ext cx="439544" cy="246221"/>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txBody>
            <a:bodyPr wrap="none">
              <a:sp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rgbClr val="050000"/>
                  </a:solidFill>
                  <a:effectLst/>
                  <a:uLnTx/>
                  <a:uFillTx/>
                  <a:latin typeface="Meiryo UI" pitchFamily="50" charset="-128"/>
                  <a:ea typeface="Meiryo UI" pitchFamily="50" charset="-128"/>
                  <a:cs typeface="Meiryo UI" pitchFamily="50" charset="-128"/>
                </a:rPr>
                <a:t>DLC</a:t>
              </a:r>
              <a:endParaRPr kumimoji="0" lang="ja-JP" altLang="en-US" sz="1000" b="0" i="0" u="none" strike="noStrike" kern="0" cap="none" spc="0" normalizeH="0" baseline="0" noProof="0">
                <a:ln>
                  <a:noFill/>
                </a:ln>
                <a:solidFill>
                  <a:srgbClr val="050000"/>
                </a:solidFill>
                <a:effectLst/>
                <a:uLnTx/>
                <a:uFillTx/>
                <a:latin typeface="Meiryo UI" pitchFamily="50" charset="-128"/>
                <a:ea typeface="Meiryo UI" pitchFamily="50" charset="-128"/>
                <a:cs typeface="Meiryo UI" pitchFamily="50" charset="-128"/>
              </a:endParaRPr>
            </a:p>
          </p:txBody>
        </p:sp>
      </p:grpSp>
      <p:sp>
        <p:nvSpPr>
          <p:cNvPr id="23" name="正方形/長方形 22">
            <a:extLst>
              <a:ext uri="{FF2B5EF4-FFF2-40B4-BE49-F238E27FC236}">
                <a16:creationId xmlns:a16="http://schemas.microsoft.com/office/drawing/2014/main" id="{664D17BD-2847-0CB0-A97D-2002B87C8E37}"/>
              </a:ext>
            </a:extLst>
          </p:cNvPr>
          <p:cNvSpPr/>
          <p:nvPr/>
        </p:nvSpPr>
        <p:spPr>
          <a:xfrm>
            <a:off x="968696" y="1401004"/>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0" i="0" u="none" strike="noStrike" kern="1200" cap="none" spc="0" normalizeH="0" baseline="0" noProof="0">
                <a:ln>
                  <a:noFill/>
                </a:ln>
                <a:solidFill>
                  <a:srgbClr val="0000FF"/>
                </a:solidFill>
                <a:effectLst/>
                <a:uLnTx/>
                <a:uFillTx/>
                <a:latin typeface="Meiryo UI" pitchFamily="50" charset="-128"/>
                <a:ea typeface="Meiryo UI" pitchFamily="50" charset="-128"/>
                <a:cs typeface="Meiryo UI" pitchFamily="50" charset="-128"/>
              </a:rPr>
              <a:t>●</a:t>
            </a:r>
          </a:p>
        </p:txBody>
      </p:sp>
      <p:sp>
        <p:nvSpPr>
          <p:cNvPr id="24" name="テキスト ボックス 23">
            <a:extLst>
              <a:ext uri="{FF2B5EF4-FFF2-40B4-BE49-F238E27FC236}">
                <a16:creationId xmlns:a16="http://schemas.microsoft.com/office/drawing/2014/main" id="{1ADD7A83-87BA-CBEC-0B4A-3DDCBDCC45E0}"/>
              </a:ext>
            </a:extLst>
          </p:cNvPr>
          <p:cNvSpPr txBox="1"/>
          <p:nvPr/>
        </p:nvSpPr>
        <p:spPr>
          <a:xfrm>
            <a:off x="2449858" y="1769376"/>
            <a:ext cx="1873709" cy="253916"/>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PFCAN3</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5" name="テキスト ボックス 24">
            <a:extLst>
              <a:ext uri="{FF2B5EF4-FFF2-40B4-BE49-F238E27FC236}">
                <a16:creationId xmlns:a16="http://schemas.microsoft.com/office/drawing/2014/main" id="{6B940AAE-995E-A04A-E665-269F0263E025}"/>
              </a:ext>
            </a:extLst>
          </p:cNvPr>
          <p:cNvSpPr txBox="1"/>
          <p:nvPr/>
        </p:nvSpPr>
        <p:spPr>
          <a:xfrm>
            <a:off x="520921" y="1371214"/>
            <a:ext cx="675185" cy="253916"/>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DFCAN</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6" name="角丸四角形 76">
            <a:extLst>
              <a:ext uri="{FF2B5EF4-FFF2-40B4-BE49-F238E27FC236}">
                <a16:creationId xmlns:a16="http://schemas.microsoft.com/office/drawing/2014/main" id="{AC8F9C7F-2883-C5DC-17CD-B5638F16812E}"/>
              </a:ext>
            </a:extLst>
          </p:cNvPr>
          <p:cNvSpPr/>
          <p:nvPr/>
        </p:nvSpPr>
        <p:spPr bwMode="auto">
          <a:xfrm>
            <a:off x="3058715" y="2239487"/>
            <a:ext cx="5777540" cy="968232"/>
          </a:xfrm>
          <a:prstGeom prst="roundRect">
            <a:avLst/>
          </a:prstGeom>
          <a:solidFill>
            <a:schemeClr val="bg1"/>
          </a:solidFill>
          <a:ln w="1905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27" name="テキスト ボックス 26">
            <a:extLst>
              <a:ext uri="{FF2B5EF4-FFF2-40B4-BE49-F238E27FC236}">
                <a16:creationId xmlns:a16="http://schemas.microsoft.com/office/drawing/2014/main" id="{23163161-F3D1-A25F-132D-848C704C0C97}"/>
              </a:ext>
            </a:extLst>
          </p:cNvPr>
          <p:cNvSpPr txBox="1"/>
          <p:nvPr/>
        </p:nvSpPr>
        <p:spPr>
          <a:xfrm rot="5400000">
            <a:off x="2107931" y="2882196"/>
            <a:ext cx="669219" cy="2616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p:txBody>
      </p:sp>
      <p:sp>
        <p:nvSpPr>
          <p:cNvPr id="28" name="テキスト ボックス 27">
            <a:extLst>
              <a:ext uri="{FF2B5EF4-FFF2-40B4-BE49-F238E27FC236}">
                <a16:creationId xmlns:a16="http://schemas.microsoft.com/office/drawing/2014/main" id="{FC01B5B8-3E44-0E3A-994B-8B5146D7AC57}"/>
              </a:ext>
            </a:extLst>
          </p:cNvPr>
          <p:cNvSpPr txBox="1"/>
          <p:nvPr/>
        </p:nvSpPr>
        <p:spPr>
          <a:xfrm>
            <a:off x="1501052" y="2099262"/>
            <a:ext cx="1873709" cy="415498"/>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Multiple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other buses</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9" name="正方形/長方形 28">
            <a:extLst>
              <a:ext uri="{FF2B5EF4-FFF2-40B4-BE49-F238E27FC236}">
                <a16:creationId xmlns:a16="http://schemas.microsoft.com/office/drawing/2014/main" id="{39CA2716-DE91-6E92-99D4-A5771FFC6A76}"/>
              </a:ext>
            </a:extLst>
          </p:cNvPr>
          <p:cNvSpPr/>
          <p:nvPr/>
        </p:nvSpPr>
        <p:spPr>
          <a:xfrm>
            <a:off x="5947485" y="1196790"/>
            <a:ext cx="2430156"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0000FF"/>
                </a:solidFill>
                <a:effectLst/>
                <a:uLnTx/>
                <a:uFillTx/>
                <a:latin typeface="Meiryo UI" pitchFamily="50" charset="-128"/>
                <a:ea typeface="Meiryo UI" pitchFamily="50" charset="-128"/>
                <a:cs typeface="Meiryo UI" pitchFamily="50" charset="-128"/>
              </a:rPr>
              <a:t>●</a:t>
            </a:r>
            <a:r>
              <a:rPr kumimoji="1" lang="ja-JP" altLang="en-US"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TERMINAL RESISTOR</a:t>
            </a:r>
            <a:endParaRPr kumimoji="1" lang="ja-JP" altLang="en-US"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30" name="図形 38">
            <a:extLst>
              <a:ext uri="{FF2B5EF4-FFF2-40B4-BE49-F238E27FC236}">
                <a16:creationId xmlns:a16="http://schemas.microsoft.com/office/drawing/2014/main" id="{BFEC50DB-AE0C-C58F-CDA5-4A0D6FCFAE73}"/>
              </a:ext>
            </a:extLst>
          </p:cNvPr>
          <p:cNvSpPr txBox="1"/>
          <p:nvPr/>
        </p:nvSpPr>
        <p:spPr>
          <a:xfrm>
            <a:off x="3201847" y="2363330"/>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VSA/EPB</a:t>
            </a:r>
          </a:p>
        </p:txBody>
      </p:sp>
      <p:sp>
        <p:nvSpPr>
          <p:cNvPr id="31" name="図形 38">
            <a:extLst>
              <a:ext uri="{FF2B5EF4-FFF2-40B4-BE49-F238E27FC236}">
                <a16:creationId xmlns:a16="http://schemas.microsoft.com/office/drawing/2014/main" id="{3FAAA7F4-30C3-3716-661E-205BD4839EDB}"/>
              </a:ext>
            </a:extLst>
          </p:cNvPr>
          <p:cNvSpPr txBox="1"/>
          <p:nvPr/>
        </p:nvSpPr>
        <p:spPr>
          <a:xfrm>
            <a:off x="4607137" y="2364192"/>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SRS/</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YAW</a:t>
            </a:r>
          </a:p>
        </p:txBody>
      </p:sp>
      <p:sp>
        <p:nvSpPr>
          <p:cNvPr id="32" name="図形 38">
            <a:extLst>
              <a:ext uri="{FF2B5EF4-FFF2-40B4-BE49-F238E27FC236}">
                <a16:creationId xmlns:a16="http://schemas.microsoft.com/office/drawing/2014/main" id="{0FF68994-C19B-1B29-6C95-60176A18F8ED}"/>
              </a:ext>
            </a:extLst>
          </p:cNvPr>
          <p:cNvSpPr txBox="1"/>
          <p:nvPr/>
        </p:nvSpPr>
        <p:spPr>
          <a:xfrm>
            <a:off x="5309782" y="2365726"/>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700" b="0" i="0" u="none" strike="noStrike" kern="1200" cap="none" spc="0" normalizeH="0" baseline="0" noProof="0">
                <a:ln>
                  <a:noFill/>
                </a:ln>
                <a:solidFill>
                  <a:srgbClr val="000000"/>
                </a:solidFill>
                <a:effectLst/>
                <a:uLnTx/>
                <a:uFillTx/>
                <a:latin typeface="Meiryo UI" pitchFamily="50" charset="-128"/>
                <a:ea typeface="Meiryo UI" pitchFamily="50" charset="-128"/>
              </a:rPr>
              <a:t>IDAS</a:t>
            </a:r>
            <a:br>
              <a:rPr kumimoji="1" lang="ja-JP" altLang="en-US" sz="700" b="0" i="0" u="none" strike="noStrike" kern="1200" cap="none" spc="0" normalizeH="0" baseline="0" noProof="0">
                <a:ln>
                  <a:noFill/>
                </a:ln>
                <a:solidFill>
                  <a:srgbClr val="000000"/>
                </a:solidFill>
                <a:effectLst/>
                <a:uLnTx/>
                <a:uFillTx/>
                <a:latin typeface="Meiryo UI" pitchFamily="50" charset="-128"/>
                <a:ea typeface="Meiryo UI" pitchFamily="50" charset="-128"/>
              </a:rPr>
            </a:br>
            <a:r>
              <a:rPr kumimoji="1" lang="en-US" altLang="ja-JP" sz="700" b="0" i="0" u="none" strike="noStrike" kern="1200" cap="none" spc="0" normalizeH="0" baseline="0" noProof="0">
                <a:ln>
                  <a:noFill/>
                </a:ln>
                <a:solidFill>
                  <a:srgbClr val="000000"/>
                </a:solidFill>
                <a:effectLst/>
                <a:uLnTx/>
                <a:uFillTx/>
                <a:latin typeface="Meiryo UI" pitchFamily="50" charset="-128"/>
                <a:ea typeface="Meiryo UI" pitchFamily="50" charset="-128"/>
              </a:rPr>
              <a:t>(CAMERA)</a:t>
            </a:r>
          </a:p>
        </p:txBody>
      </p:sp>
      <p:sp>
        <p:nvSpPr>
          <p:cNvPr id="33" name="図形 38">
            <a:extLst>
              <a:ext uri="{FF2B5EF4-FFF2-40B4-BE49-F238E27FC236}">
                <a16:creationId xmlns:a16="http://schemas.microsoft.com/office/drawing/2014/main" id="{E1F226F9-789E-3DC2-D3A3-EFE74FA1A36B}"/>
              </a:ext>
            </a:extLst>
          </p:cNvPr>
          <p:cNvSpPr txBox="1"/>
          <p:nvPr/>
        </p:nvSpPr>
        <p:spPr>
          <a:xfrm>
            <a:off x="6637760" y="2371605"/>
            <a:ext cx="571500" cy="285750"/>
          </a:xfrm>
          <a:prstGeom prst="rect">
            <a:avLst/>
          </a:prstGeom>
          <a:gradFill flip="none" rotWithShape="1">
            <a:gsLst>
              <a:gs pos="0">
                <a:srgbClr val="CCFFFF"/>
              </a:gs>
              <a:gs pos="100000">
                <a:srgbClr val="FFCC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BCM</a:t>
            </a:r>
          </a:p>
        </p:txBody>
      </p:sp>
      <p:sp>
        <p:nvSpPr>
          <p:cNvPr id="34" name="図形 39">
            <a:extLst>
              <a:ext uri="{FF2B5EF4-FFF2-40B4-BE49-F238E27FC236}">
                <a16:creationId xmlns:a16="http://schemas.microsoft.com/office/drawing/2014/main" id="{8916E954-C826-A753-211A-28E093C88BA1}"/>
              </a:ext>
            </a:extLst>
          </p:cNvPr>
          <p:cNvSpPr txBox="1"/>
          <p:nvPr/>
        </p:nvSpPr>
        <p:spPr>
          <a:xfrm>
            <a:off x="3475855" y="3069188"/>
            <a:ext cx="0" cy="382729"/>
          </a:xfrm>
          <a:prstGeom prst="line">
            <a:avLst/>
          </a:prstGeom>
          <a:noFill/>
          <a:ln w="38100" cmpd="sng">
            <a:solidFill>
              <a:srgbClr val="FF00FF"/>
            </a:solidFill>
          </a:ln>
        </p:spPr>
        <p:style>
          <a:lnRef idx="0">
            <a:scrgbClr r="0" g="0" b="0"/>
          </a:lnRef>
          <a:fillRef idx="0">
            <a:scrgbClr r="0" g="0" b="0"/>
          </a:fillRef>
          <a:effectRef idx="0">
            <a:scrgbClr r="0" g="0" b="0"/>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35" name="図形 38">
            <a:extLst>
              <a:ext uri="{FF2B5EF4-FFF2-40B4-BE49-F238E27FC236}">
                <a16:creationId xmlns:a16="http://schemas.microsoft.com/office/drawing/2014/main" id="{491056D3-A004-3E06-803F-A2DA08DE221A}"/>
              </a:ext>
            </a:extLst>
          </p:cNvPr>
          <p:cNvSpPr txBox="1"/>
          <p:nvPr/>
        </p:nvSpPr>
        <p:spPr>
          <a:xfrm>
            <a:off x="3200435" y="3440033"/>
            <a:ext cx="571500" cy="285750"/>
          </a:xfrm>
          <a:prstGeom prst="rect">
            <a:avLst/>
          </a:prstGeom>
          <a:gradFill flip="none" rotWithShape="1">
            <a:gsLst>
              <a:gs pos="0">
                <a:srgbClr val="FFCCFF"/>
              </a:gs>
              <a:gs pos="100000">
                <a:schemeClr val="bg1"/>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AC</a:t>
            </a:r>
          </a:p>
        </p:txBody>
      </p:sp>
      <p:sp>
        <p:nvSpPr>
          <p:cNvPr id="36" name="図形 38">
            <a:extLst>
              <a:ext uri="{FF2B5EF4-FFF2-40B4-BE49-F238E27FC236}">
                <a16:creationId xmlns:a16="http://schemas.microsoft.com/office/drawing/2014/main" id="{B22C1DC9-0E88-3886-7BA0-B2B302C0C0C2}"/>
              </a:ext>
            </a:extLst>
          </p:cNvPr>
          <p:cNvSpPr txBox="1"/>
          <p:nvPr/>
        </p:nvSpPr>
        <p:spPr>
          <a:xfrm>
            <a:off x="3200435" y="2783439"/>
            <a:ext cx="571500" cy="285750"/>
          </a:xfrm>
          <a:prstGeom prst="rect">
            <a:avLst/>
          </a:prstGeom>
          <a:gradFill flip="none" rotWithShape="1">
            <a:gsLst>
              <a:gs pos="0">
                <a:srgbClr val="CCFFFF"/>
              </a:gs>
              <a:gs pos="100000">
                <a:srgbClr val="FFCC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METER</a:t>
            </a:r>
          </a:p>
        </p:txBody>
      </p:sp>
      <p:sp>
        <p:nvSpPr>
          <p:cNvPr id="37" name="図形 38">
            <a:extLst>
              <a:ext uri="{FF2B5EF4-FFF2-40B4-BE49-F238E27FC236}">
                <a16:creationId xmlns:a16="http://schemas.microsoft.com/office/drawing/2014/main" id="{432390B5-C4B2-3486-9F83-9044E12C6E4B}"/>
              </a:ext>
            </a:extLst>
          </p:cNvPr>
          <p:cNvSpPr txBox="1"/>
          <p:nvPr/>
        </p:nvSpPr>
        <p:spPr>
          <a:xfrm>
            <a:off x="3904492" y="2366778"/>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EPS/</a:t>
            </a:r>
            <a:br>
              <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rPr>
            </a:b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STR</a:t>
            </a:r>
          </a:p>
        </p:txBody>
      </p:sp>
      <p:sp>
        <p:nvSpPr>
          <p:cNvPr id="38" name="図形 38">
            <a:extLst>
              <a:ext uri="{FF2B5EF4-FFF2-40B4-BE49-F238E27FC236}">
                <a16:creationId xmlns:a16="http://schemas.microsoft.com/office/drawing/2014/main" id="{6BF93D1E-4797-E2E7-345F-A08CF3F1398C}"/>
              </a:ext>
            </a:extLst>
          </p:cNvPr>
          <p:cNvSpPr txBox="1"/>
          <p:nvPr/>
        </p:nvSpPr>
        <p:spPr>
          <a:xfrm>
            <a:off x="5973771" y="2371605"/>
            <a:ext cx="571500" cy="285750"/>
          </a:xfrm>
          <a:prstGeom prst="rect">
            <a:avLst/>
          </a:prstGeom>
          <a:gradFill flip="none" rotWithShape="1">
            <a:gsLst>
              <a:gs pos="0">
                <a:srgbClr val="CCFFFF"/>
              </a:gs>
              <a:gs pos="100000">
                <a:srgbClr val="FFCCFF"/>
              </a:gs>
            </a:gsLst>
            <a:lin ang="162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rPr>
              <a:t>TEL</a:t>
            </a:r>
          </a:p>
        </p:txBody>
      </p:sp>
      <p:sp>
        <p:nvSpPr>
          <p:cNvPr id="39" name="図形 38">
            <a:extLst>
              <a:ext uri="{FF2B5EF4-FFF2-40B4-BE49-F238E27FC236}">
                <a16:creationId xmlns:a16="http://schemas.microsoft.com/office/drawing/2014/main" id="{6A1FC7F5-4684-FD31-E4AD-68A428B24208}"/>
              </a:ext>
            </a:extLst>
          </p:cNvPr>
          <p:cNvSpPr txBox="1"/>
          <p:nvPr/>
        </p:nvSpPr>
        <p:spPr>
          <a:xfrm>
            <a:off x="3100963" y="1436084"/>
            <a:ext cx="571500" cy="285750"/>
          </a:xfrm>
          <a:prstGeom prst="rect">
            <a:avLst/>
          </a:prstGeom>
          <a:gradFill flip="none" rotWithShape="1">
            <a:gsLst>
              <a:gs pos="0">
                <a:srgbClr val="CCFFFF"/>
              </a:gs>
              <a:gs pos="100000">
                <a:srgbClr val="FFFFFF"/>
              </a:gs>
            </a:gsLst>
            <a:lin ang="5400000" scaled="1"/>
            <a:tileRect/>
          </a:gra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1000">
                <a:solidFill>
                  <a:srgbClr val="000000"/>
                </a:solidFill>
                <a:latin typeface="Meiryo UI" pitchFamily="50" charset="-128"/>
                <a:ea typeface="Meiryo UI" pitchFamily="50" charset="-128"/>
                <a:cs typeface="Meiryo UI" pitchFamily="50" charset="-128"/>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rPr>
              <a:t>TM(CVT)</a:t>
            </a:r>
          </a:p>
        </p:txBody>
      </p:sp>
      <p:sp>
        <p:nvSpPr>
          <p:cNvPr id="40" name="図形 39">
            <a:extLst>
              <a:ext uri="{FF2B5EF4-FFF2-40B4-BE49-F238E27FC236}">
                <a16:creationId xmlns:a16="http://schemas.microsoft.com/office/drawing/2014/main" id="{74733583-C6ED-72A1-3FFF-1E7A3445C940}"/>
              </a:ext>
            </a:extLst>
          </p:cNvPr>
          <p:cNvSpPr txBox="1"/>
          <p:nvPr/>
        </p:nvSpPr>
        <p:spPr>
          <a:xfrm>
            <a:off x="3402316" y="1352100"/>
            <a:ext cx="0" cy="9525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41" name="直線コネクタ 40">
            <a:extLst>
              <a:ext uri="{FF2B5EF4-FFF2-40B4-BE49-F238E27FC236}">
                <a16:creationId xmlns:a16="http://schemas.microsoft.com/office/drawing/2014/main" id="{CBBCFAE7-06C5-A4A1-F2F0-0C79924F577C}"/>
              </a:ext>
            </a:extLst>
          </p:cNvPr>
          <p:cNvCxnSpPr/>
          <p:nvPr/>
        </p:nvCxnSpPr>
        <p:spPr>
          <a:xfrm flipV="1">
            <a:off x="2437906" y="1767635"/>
            <a:ext cx="1010026" cy="29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図形 39">
            <a:extLst>
              <a:ext uri="{FF2B5EF4-FFF2-40B4-BE49-F238E27FC236}">
                <a16:creationId xmlns:a16="http://schemas.microsoft.com/office/drawing/2014/main" id="{F926CBB3-9918-0158-156C-420949F4F19A}"/>
              </a:ext>
            </a:extLst>
          </p:cNvPr>
          <p:cNvSpPr txBox="1"/>
          <p:nvPr/>
        </p:nvSpPr>
        <p:spPr>
          <a:xfrm>
            <a:off x="2491664" y="1703618"/>
            <a:ext cx="0" cy="9525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44" name="図形 39">
            <a:extLst>
              <a:ext uri="{FF2B5EF4-FFF2-40B4-BE49-F238E27FC236}">
                <a16:creationId xmlns:a16="http://schemas.microsoft.com/office/drawing/2014/main" id="{0AEACDBF-495E-85AC-C6CB-F8C4D6D4A899}"/>
              </a:ext>
            </a:extLst>
          </p:cNvPr>
          <p:cNvSpPr txBox="1"/>
          <p:nvPr/>
        </p:nvSpPr>
        <p:spPr>
          <a:xfrm>
            <a:off x="3366956" y="1689348"/>
            <a:ext cx="0" cy="95250"/>
          </a:xfrm>
          <a:prstGeom prst="line">
            <a:avLst/>
          </a:prstGeom>
          <a:noFill/>
          <a:ln w="38100" cmpd="sng">
            <a:solidFill>
              <a:schemeClr val="tx1"/>
            </a:solidFill>
          </a:ln>
        </p:spPr>
        <p:style>
          <a:lnRef idx="0">
            <a:scrgbClr r="0" g="0" b="0"/>
          </a:lnRef>
          <a:fillRef idx="0">
            <a:scrgbClr r="0" g="0" b="0"/>
          </a:fillRef>
          <a:effectRef idx="0">
            <a:scrgbClr r="0" g="0" b="0"/>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49" name="テキスト ボックス 48">
            <a:extLst>
              <a:ext uri="{FF2B5EF4-FFF2-40B4-BE49-F238E27FC236}">
                <a16:creationId xmlns:a16="http://schemas.microsoft.com/office/drawing/2014/main" id="{3BB3718D-A1EE-6278-F9C2-90A3E7425546}"/>
              </a:ext>
            </a:extLst>
          </p:cNvPr>
          <p:cNvSpPr txBox="1"/>
          <p:nvPr/>
        </p:nvSpPr>
        <p:spPr>
          <a:xfrm>
            <a:off x="1254475" y="1874524"/>
            <a:ext cx="1873709" cy="253916"/>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PFCAN2</a:t>
            </a:r>
            <a:endParaRPr kumimoji="1" lang="ja-JP" altLang="en-US" sz="1050" b="1"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50" name="正方形/長方形 49">
            <a:extLst>
              <a:ext uri="{FF2B5EF4-FFF2-40B4-BE49-F238E27FC236}">
                <a16:creationId xmlns:a16="http://schemas.microsoft.com/office/drawing/2014/main" id="{494E5F3F-EE37-5D55-A82E-C462F9C46CA2}"/>
              </a:ext>
            </a:extLst>
          </p:cNvPr>
          <p:cNvSpPr/>
          <p:nvPr/>
        </p:nvSpPr>
        <p:spPr bwMode="auto">
          <a:xfrm>
            <a:off x="2850940" y="1439811"/>
            <a:ext cx="1327381" cy="649925"/>
          </a:xfrm>
          <a:prstGeom prst="rect">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51" name="テキスト ボックス 50">
            <a:extLst>
              <a:ext uri="{FF2B5EF4-FFF2-40B4-BE49-F238E27FC236}">
                <a16:creationId xmlns:a16="http://schemas.microsoft.com/office/drawing/2014/main" id="{6BA0DB99-E664-B764-EEFF-8599B6A962FA}"/>
              </a:ext>
            </a:extLst>
          </p:cNvPr>
          <p:cNvSpPr txBox="1"/>
          <p:nvPr/>
        </p:nvSpPr>
        <p:spPr>
          <a:xfrm>
            <a:off x="4147050" y="1845041"/>
            <a:ext cx="1873709" cy="25391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050" b="1" i="0" u="none" strike="noStrike" kern="1200" cap="none" spc="0" normalizeH="0" baseline="0" noProof="0">
                <a:ln>
                  <a:noFill/>
                </a:ln>
                <a:solidFill>
                  <a:srgbClr val="FF0000"/>
                </a:solidFill>
                <a:effectLst/>
                <a:uLnTx/>
                <a:uFillTx/>
                <a:latin typeface="Meiryo UI" pitchFamily="50" charset="-128"/>
                <a:ea typeface="Meiryo UI" pitchFamily="50" charset="-128"/>
                <a:cs typeface="Meiryo UI" pitchFamily="50" charset="-128"/>
              </a:rPr>
              <a:t>Only CVT variant</a:t>
            </a:r>
            <a:endParaRPr kumimoji="1" lang="ja-JP" altLang="en-US" sz="1050" b="1" i="0" u="none" strike="noStrike" kern="1200" cap="none" spc="0" normalizeH="0" baseline="0" noProof="0">
              <a:ln>
                <a:noFill/>
              </a:ln>
              <a:solidFill>
                <a:srgbClr val="FF0000"/>
              </a:solidFill>
              <a:effectLst/>
              <a:uLnTx/>
              <a:uFillTx/>
              <a:latin typeface="Meiryo UI" pitchFamily="50" charset="-128"/>
              <a:ea typeface="Meiryo UI" pitchFamily="50" charset="-128"/>
              <a:cs typeface="Meiryo UI" pitchFamily="50" charset="-128"/>
            </a:endParaRPr>
          </a:p>
        </p:txBody>
      </p:sp>
      <p:sp>
        <p:nvSpPr>
          <p:cNvPr id="52" name="正方形/長方形 51">
            <a:extLst>
              <a:ext uri="{FF2B5EF4-FFF2-40B4-BE49-F238E27FC236}">
                <a16:creationId xmlns:a16="http://schemas.microsoft.com/office/drawing/2014/main" id="{76D6E1F0-09C0-3346-4F4D-E29ACC1DFB57}"/>
              </a:ext>
            </a:extLst>
          </p:cNvPr>
          <p:cNvSpPr/>
          <p:nvPr/>
        </p:nvSpPr>
        <p:spPr>
          <a:xfrm>
            <a:off x="2319837" y="1476596"/>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0" i="0" u="none" strike="noStrike" kern="1200" cap="none" spc="0" normalizeH="0" baseline="0" noProof="0">
                <a:ln>
                  <a:noFill/>
                </a:ln>
                <a:solidFill>
                  <a:srgbClr val="0000FF"/>
                </a:solidFill>
                <a:effectLst/>
                <a:uLnTx/>
                <a:uFillTx/>
                <a:latin typeface="Meiryo UI" pitchFamily="50" charset="-128"/>
                <a:ea typeface="Meiryo UI" pitchFamily="50" charset="-128"/>
                <a:cs typeface="Meiryo UI" pitchFamily="50" charset="-128"/>
              </a:rPr>
              <a:t>●</a:t>
            </a:r>
          </a:p>
        </p:txBody>
      </p:sp>
      <p:sp>
        <p:nvSpPr>
          <p:cNvPr id="53" name="正方形/長方形 52">
            <a:extLst>
              <a:ext uri="{FF2B5EF4-FFF2-40B4-BE49-F238E27FC236}">
                <a16:creationId xmlns:a16="http://schemas.microsoft.com/office/drawing/2014/main" id="{82839BBB-759B-1D07-878A-7C5F50034D9B}"/>
              </a:ext>
            </a:extLst>
          </p:cNvPr>
          <p:cNvSpPr/>
          <p:nvPr/>
        </p:nvSpPr>
        <p:spPr>
          <a:xfrm>
            <a:off x="3294172" y="1504395"/>
            <a:ext cx="388789" cy="361467"/>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0" i="0" u="none" strike="noStrike" kern="1200" cap="none" spc="0" normalizeH="0" baseline="0" noProof="0">
                <a:ln>
                  <a:noFill/>
                </a:ln>
                <a:solidFill>
                  <a:srgbClr val="0000FF"/>
                </a:solidFill>
                <a:effectLst/>
                <a:uLnTx/>
                <a:uFillTx/>
                <a:latin typeface="Meiryo UI" pitchFamily="50" charset="-128"/>
                <a:ea typeface="Meiryo UI" pitchFamily="50" charset="-128"/>
                <a:cs typeface="Meiryo UI" pitchFamily="50" charset="-128"/>
              </a:rPr>
              <a:t>●</a:t>
            </a:r>
          </a:p>
        </p:txBody>
      </p:sp>
      <p:sp>
        <p:nvSpPr>
          <p:cNvPr id="4" name="テキスト ボックス 3">
            <a:extLst>
              <a:ext uri="{FF2B5EF4-FFF2-40B4-BE49-F238E27FC236}">
                <a16:creationId xmlns:a16="http://schemas.microsoft.com/office/drawing/2014/main" id="{81DA4B2F-6764-C8BC-F0DF-12ABB897B974}"/>
              </a:ext>
            </a:extLst>
          </p:cNvPr>
          <p:cNvSpPr txBox="1"/>
          <p:nvPr/>
        </p:nvSpPr>
        <p:spPr>
          <a:xfrm>
            <a:off x="883909" y="5366473"/>
            <a:ext cx="6864894" cy="461665"/>
          </a:xfrm>
          <a:prstGeom prst="rect">
            <a:avLst/>
          </a:prstGeom>
          <a:solidFill>
            <a:srgbClr val="FFFF00"/>
          </a:solidFill>
        </p:spPr>
        <p:txBody>
          <a:bodyPr wrap="square" rtlCol="0">
            <a:spAutoFit/>
          </a:bodyPr>
          <a:lstStyle/>
          <a:p>
            <a:r>
              <a:rPr lang="en-US" altLang="ja-JP"/>
              <a:t>No change From 6SAA.</a:t>
            </a:r>
          </a:p>
        </p:txBody>
      </p:sp>
    </p:spTree>
    <p:extLst>
      <p:ext uri="{BB962C8B-B14F-4D97-AF65-F5344CB8AC3E}">
        <p14:creationId xmlns:p14="http://schemas.microsoft.com/office/powerpoint/2010/main" val="39947290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4504-55B0-77A2-07ED-23038ACE160F}"/>
            </a:ext>
          </a:extLst>
        </p:cNvPr>
        <p:cNvGrpSpPr/>
        <p:nvPr/>
      </p:nvGrpSpPr>
      <p:grpSpPr>
        <a:xfrm>
          <a:off x="0" y="0"/>
          <a:ext cx="0" cy="0"/>
          <a:chOff x="0" y="0"/>
          <a:chExt cx="0" cy="0"/>
        </a:xfrm>
      </p:grpSpPr>
      <p:sp>
        <p:nvSpPr>
          <p:cNvPr id="142" name="Text Box 2">
            <a:extLst>
              <a:ext uri="{FF2B5EF4-FFF2-40B4-BE49-F238E27FC236}">
                <a16:creationId xmlns:a16="http://schemas.microsoft.com/office/drawing/2014/main" id="{7BFC02CF-64ED-93D3-461C-8D8731759DC0}"/>
              </a:ext>
            </a:extLst>
          </p:cNvPr>
          <p:cNvSpPr txBox="1">
            <a:spLocks noChangeArrowheads="1"/>
          </p:cNvSpPr>
          <p:nvPr/>
        </p:nvSpPr>
        <p:spPr bwMode="auto">
          <a:xfrm>
            <a:off x="147644" y="535944"/>
            <a:ext cx="4715009"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New develop item From SY category</a:t>
            </a:r>
            <a:endParaRPr lang="ja-JP" altLang="en-US" sz="18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45" name="Text Box 2">
            <a:extLst>
              <a:ext uri="{FF2B5EF4-FFF2-40B4-BE49-F238E27FC236}">
                <a16:creationId xmlns:a16="http://schemas.microsoft.com/office/drawing/2014/main" id="{97280A7B-0485-5296-98CF-C0D5DC5ABB4E}"/>
              </a:ext>
            </a:extLst>
          </p:cNvPr>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14. In-Vehicle Functions Relating ECU and Features</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7" name="表 6">
            <a:extLst>
              <a:ext uri="{FF2B5EF4-FFF2-40B4-BE49-F238E27FC236}">
                <a16:creationId xmlns:a16="http://schemas.microsoft.com/office/drawing/2014/main" id="{1F643591-AEF4-A292-F24E-B0F32DE38454}"/>
              </a:ext>
            </a:extLst>
          </p:cNvPr>
          <p:cNvGraphicFramePr>
            <a:graphicFrameLocks noGrp="1"/>
          </p:cNvGraphicFramePr>
          <p:nvPr>
            <p:extLst>
              <p:ext uri="{D42A27DB-BD31-4B8C-83A1-F6EECF244321}">
                <p14:modId xmlns:p14="http://schemas.microsoft.com/office/powerpoint/2010/main" val="3411628516"/>
              </p:ext>
            </p:extLst>
          </p:nvPr>
        </p:nvGraphicFramePr>
        <p:xfrm>
          <a:off x="152400" y="1203960"/>
          <a:ext cx="8888419" cy="3735917"/>
        </p:xfrm>
        <a:graphic>
          <a:graphicData uri="http://schemas.openxmlformats.org/drawingml/2006/table">
            <a:tbl>
              <a:tblPr firstRow="1" bandRow="1">
                <a:tableStyleId>{5940675A-B579-460E-94D1-54222C63F5DA}</a:tableStyleId>
              </a:tblPr>
              <a:tblGrid>
                <a:gridCol w="3135564">
                  <a:extLst>
                    <a:ext uri="{9D8B030D-6E8A-4147-A177-3AD203B41FA5}">
                      <a16:colId xmlns:a16="http://schemas.microsoft.com/office/drawing/2014/main" val="2028289434"/>
                    </a:ext>
                  </a:extLst>
                </a:gridCol>
                <a:gridCol w="3122361">
                  <a:extLst>
                    <a:ext uri="{9D8B030D-6E8A-4147-A177-3AD203B41FA5}">
                      <a16:colId xmlns:a16="http://schemas.microsoft.com/office/drawing/2014/main" val="2205257042"/>
                    </a:ext>
                  </a:extLst>
                </a:gridCol>
                <a:gridCol w="2630494">
                  <a:extLst>
                    <a:ext uri="{9D8B030D-6E8A-4147-A177-3AD203B41FA5}">
                      <a16:colId xmlns:a16="http://schemas.microsoft.com/office/drawing/2014/main" val="3905202413"/>
                    </a:ext>
                  </a:extLst>
                </a:gridCol>
              </a:tblGrid>
              <a:tr h="626957">
                <a:tc>
                  <a:txBody>
                    <a:bodyPr/>
                    <a:lstStyle/>
                    <a:p>
                      <a:r>
                        <a:rPr kumimoji="1" lang="en-US" altLang="ja-JP">
                          <a:latin typeface="Meiryo UI" panose="020B0604030504040204" pitchFamily="50" charset="-128"/>
                          <a:ea typeface="Meiryo UI" panose="020B0604030504040204" pitchFamily="50" charset="-128"/>
                        </a:rPr>
                        <a:t>Items</a:t>
                      </a:r>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en-US" altLang="ja-JP">
                          <a:latin typeface="Meiryo UI" panose="020B0604030504040204" pitchFamily="50" charset="-128"/>
                          <a:ea typeface="Meiryo UI" panose="020B0604030504040204" pitchFamily="50" charset="-128"/>
                        </a:rPr>
                        <a:t>Description</a:t>
                      </a:r>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en-US" altLang="ja-JP">
                          <a:latin typeface="Meiryo UI" panose="020B0604030504040204" pitchFamily="50" charset="-128"/>
                          <a:ea typeface="Meiryo UI" panose="020B0604030504040204" pitchFamily="50" charset="-128"/>
                        </a:rPr>
                        <a:t>detail</a:t>
                      </a:r>
                      <a:endParaRPr kumimoji="1" lang="ja-JP" altLang="en-US">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680711026"/>
                  </a:ext>
                </a:extLst>
              </a:tr>
              <a:tr h="626957">
                <a:tc>
                  <a:txBody>
                    <a:bodyPr/>
                    <a:lstStyle/>
                    <a:p>
                      <a:r>
                        <a:rPr kumimoji="1" lang="en-US" altLang="ja-JP">
                          <a:latin typeface="Meiryo UI" panose="020B0604030504040204" pitchFamily="50" charset="-128"/>
                          <a:ea typeface="Meiryo UI" panose="020B0604030504040204" pitchFamily="50" charset="-128"/>
                        </a:rPr>
                        <a:t>Voltage monitoring</a:t>
                      </a:r>
                    </a:p>
                    <a:p>
                      <a:r>
                        <a:rPr kumimoji="1" lang="en-US" altLang="ja-JP">
                          <a:latin typeface="Meiryo UI" panose="020B0604030504040204" pitchFamily="50" charset="-128"/>
                          <a:ea typeface="Meiryo UI" panose="020B0604030504040204" pitchFamily="50" charset="-128"/>
                        </a:rPr>
                        <a:t>(Not Fix)</a:t>
                      </a:r>
                    </a:p>
                  </a:txBody>
                  <a:tcPr/>
                </a:tc>
                <a:tc>
                  <a:txBody>
                    <a:bodyPr/>
                    <a:lstStyle/>
                    <a:p>
                      <a:r>
                        <a:rPr kumimoji="1" lang="en-US" altLang="ja-JP">
                          <a:latin typeface="Meiryo UI" panose="020B0604030504040204" pitchFamily="50" charset="-128"/>
                          <a:ea typeface="Meiryo UI" panose="020B0604030504040204" pitchFamily="50" charset="-128"/>
                        </a:rPr>
                        <a:t>Implement voltage monitor support</a:t>
                      </a:r>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en-US" altLang="ja-JP">
                          <a:latin typeface="Meiryo UI" panose="020B0604030504040204" pitchFamily="50" charset="-128"/>
                          <a:ea typeface="Meiryo UI" panose="020B0604030504040204" pitchFamily="50" charset="-128"/>
                        </a:rPr>
                        <a:t>Same as 62XS.</a:t>
                      </a:r>
                      <a:endParaRPr kumimoji="1" lang="ja-JP" altLang="en-US">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509927030"/>
                  </a:ext>
                </a:extLst>
              </a:tr>
              <a:tr h="626957">
                <a:tc>
                  <a:txBody>
                    <a:bodyPr/>
                    <a:lstStyle/>
                    <a:p>
                      <a:r>
                        <a:rPr kumimoji="1" lang="en-US" altLang="ja-JP">
                          <a:latin typeface="Meiryo UI" panose="020B0604030504040204" pitchFamily="50" charset="-128"/>
                          <a:ea typeface="Meiryo UI" panose="020B0604030504040204" pitchFamily="50" charset="-128"/>
                        </a:rPr>
                        <a:t>CAN Matrix update</a:t>
                      </a:r>
                    </a:p>
                    <a:p>
                      <a:r>
                        <a:rPr kumimoji="1" lang="en-US" altLang="ja-JP">
                          <a:latin typeface="Meiryo UI" panose="020B0604030504040204" pitchFamily="50" charset="-128"/>
                          <a:ea typeface="Meiryo UI" panose="020B0604030504040204" pitchFamily="50" charset="-128"/>
                        </a:rPr>
                        <a:t>(Not Fix)</a:t>
                      </a:r>
                      <a:endParaRPr kumimoji="1" lang="ja-JP" altLang="en-US">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Meiryo UI" panose="020B0604030504040204" pitchFamily="50" charset="-128"/>
                          <a:ea typeface="Meiryo UI" panose="020B0604030504040204" pitchFamily="50" charset="-128"/>
                        </a:rPr>
                        <a:t>Add CAN for voltage monitoring.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Meiryo UI" panose="020B0604030504040204" pitchFamily="50" charset="-128"/>
                          <a:ea typeface="Meiryo UI" panose="020B0604030504040204" pitchFamily="50" charset="-128"/>
                        </a:rPr>
                        <a:t>ID 40Bh,40E,444h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Meiryo UI" panose="020B0604030504040204" pitchFamily="50" charset="-128"/>
                          <a:ea typeface="Meiryo UI" panose="020B0604030504040204" pitchFamily="50" charset="-128"/>
                        </a:rPr>
                        <a:t>Same as 62XS.</a:t>
                      </a:r>
                      <a:endParaRPr kumimoji="1" lang="ja-JP" altLang="en-US">
                        <a:latin typeface="Meiryo UI" panose="020B0604030504040204" pitchFamily="50" charset="-128"/>
                        <a:ea typeface="Meiryo UI" panose="020B0604030504040204" pitchFamily="50" charset="-128"/>
                      </a:endParaRPr>
                    </a:p>
                    <a:p>
                      <a:endParaRPr kumimoji="1" lang="ja-JP" altLang="en-US">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73536274"/>
                  </a:ext>
                </a:extLst>
              </a:tr>
              <a:tr h="626957">
                <a:tc>
                  <a:txBody>
                    <a:bodyPr/>
                    <a:lstStyle/>
                    <a:p>
                      <a:r>
                        <a:rPr kumimoji="1" lang="en-US" altLang="ja-JP">
                          <a:latin typeface="Meiryo UI" panose="020B0604030504040204" pitchFamily="50" charset="-128"/>
                          <a:ea typeface="Meiryo UI" panose="020B0604030504040204" pitchFamily="50" charset="-128"/>
                        </a:rPr>
                        <a:t>IMG MIL Request spec.</a:t>
                      </a:r>
                    </a:p>
                    <a:p>
                      <a:r>
                        <a:rPr kumimoji="1" lang="en-US" altLang="ja-JP">
                          <a:latin typeface="Meiryo UI" panose="020B0604030504040204" pitchFamily="50" charset="-128"/>
                          <a:ea typeface="Meiryo UI" panose="020B0604030504040204" pitchFamily="50" charset="-128"/>
                        </a:rPr>
                        <a:t>(Not Fix)</a:t>
                      </a:r>
                      <a:endParaRPr kumimoji="1" lang="ja-JP" altLang="en-US">
                        <a:latin typeface="Meiryo UI" panose="020B0604030504040204" pitchFamily="50" charset="-128"/>
                        <a:ea typeface="Meiryo UI" panose="020B0604030504040204" pitchFamily="50" charset="-128"/>
                      </a:endParaRPr>
                    </a:p>
                  </a:txBody>
                  <a:tcPr/>
                </a:tc>
                <a:tc>
                  <a:txBody>
                    <a:bodyPr/>
                    <a:lstStyle/>
                    <a:p>
                      <a:r>
                        <a:rPr kumimoji="1" lang="en-US" altLang="ja-JP">
                          <a:latin typeface="Meiryo UI" panose="020B0604030504040204" pitchFamily="50" charset="-128"/>
                          <a:ea typeface="Meiryo UI" panose="020B0604030504040204" pitchFamily="50" charset="-128"/>
                        </a:rPr>
                        <a:t>Add MIL lighting control via IMG.</a:t>
                      </a:r>
                      <a:endParaRPr kumimoji="1" lang="ja-JP" altLang="en-US">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Meiryo UI" panose="020B0604030504040204" pitchFamily="50" charset="-128"/>
                          <a:ea typeface="Meiryo UI" panose="020B0604030504040204" pitchFamily="50" charset="-128"/>
                        </a:rPr>
                        <a:t>Same as 62XS.</a:t>
                      </a:r>
                      <a:endParaRPr kumimoji="1" lang="ja-JP" altLang="en-US">
                        <a:latin typeface="Meiryo UI" panose="020B0604030504040204" pitchFamily="50" charset="-128"/>
                        <a:ea typeface="Meiryo UI" panose="020B0604030504040204" pitchFamily="50" charset="-128"/>
                      </a:endParaRPr>
                    </a:p>
                    <a:p>
                      <a:endParaRPr kumimoji="1" lang="ja-JP" altLang="en-US">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260474735"/>
                  </a:ext>
                </a:extLst>
              </a:tr>
              <a:tr h="626957">
                <a:tc>
                  <a:txBody>
                    <a:bodyPr/>
                    <a:lstStyle/>
                    <a:p>
                      <a:r>
                        <a:rPr kumimoji="1" lang="en-US" altLang="ja-JP">
                          <a:latin typeface="Meiryo UI" panose="020B0604030504040204" pitchFamily="50" charset="-128"/>
                          <a:ea typeface="Meiryo UI" panose="020B0604030504040204" pitchFamily="50" charset="-128"/>
                        </a:rPr>
                        <a:t>UNR-155/156 regulation</a:t>
                      </a:r>
                    </a:p>
                    <a:p>
                      <a:r>
                        <a:rPr kumimoji="1" lang="en-US" altLang="ja-JP">
                          <a:latin typeface="Meiryo UI" panose="020B0604030504040204" pitchFamily="50" charset="-128"/>
                          <a:ea typeface="Meiryo UI" panose="020B0604030504040204" pitchFamily="50" charset="-128"/>
                        </a:rPr>
                        <a:t>(Fix)</a:t>
                      </a:r>
                      <a:endParaRPr kumimoji="1" lang="ja-JP" altLang="en-US">
                        <a:latin typeface="Meiryo UI" panose="020B0604030504040204" pitchFamily="50" charset="-128"/>
                        <a:ea typeface="Meiryo UI" panose="020B0604030504040204" pitchFamily="50" charset="-128"/>
                      </a:endParaRPr>
                    </a:p>
                  </a:txBody>
                  <a:tcPr>
                    <a:solidFill>
                      <a:srgbClr val="CCECFF"/>
                    </a:solidFill>
                  </a:tcPr>
                </a:tc>
                <a:tc>
                  <a:txBody>
                    <a:bodyPr/>
                    <a:lstStyle/>
                    <a:p>
                      <a:r>
                        <a:rPr kumimoji="1" lang="en-US" altLang="ja-JP">
                          <a:latin typeface="Meiryo UI" panose="020B0604030504040204" pitchFamily="50" charset="-128"/>
                          <a:ea typeface="Meiryo UI" panose="020B0604030504040204" pitchFamily="50" charset="-128"/>
                        </a:rPr>
                        <a:t>Supports UNR-155/156</a:t>
                      </a:r>
                      <a:endParaRPr kumimoji="1" lang="ja-JP" altLang="en-US">
                        <a:latin typeface="Meiryo UI" panose="020B0604030504040204" pitchFamily="50" charset="-128"/>
                        <a:ea typeface="Meiryo UI" panose="020B0604030504040204" pitchFamily="50" charset="-128"/>
                      </a:endParaRPr>
                    </a:p>
                  </a:txBody>
                  <a:tcPr>
                    <a:solidFill>
                      <a:srgbClr val="CCECFF"/>
                    </a:solidFill>
                  </a:tcPr>
                </a:tc>
                <a:tc>
                  <a:txBody>
                    <a:bodyPr/>
                    <a:lstStyle/>
                    <a:p>
                      <a:r>
                        <a:rPr kumimoji="1" lang="en-US" altLang="ja-JP">
                          <a:latin typeface="Meiryo UI" panose="020B0604030504040204" pitchFamily="50" charset="-128"/>
                          <a:ea typeface="Meiryo UI" panose="020B0604030504040204" pitchFamily="50" charset="-128"/>
                        </a:rPr>
                        <a:t>CIA/SIA</a:t>
                      </a:r>
                      <a:r>
                        <a:rPr kumimoji="1" lang="ja-JP" altLang="en-US">
                          <a:latin typeface="Meiryo UI" panose="020B0604030504040204" pitchFamily="50" charset="-128"/>
                          <a:ea typeface="Meiryo UI" panose="020B0604030504040204" pitchFamily="50" charset="-128"/>
                        </a:rPr>
                        <a:t> </a:t>
                      </a:r>
                      <a:r>
                        <a:rPr kumimoji="1" lang="en-US" altLang="ja-JP">
                          <a:latin typeface="Meiryo UI" panose="020B0604030504040204" pitchFamily="50" charset="-128"/>
                          <a:ea typeface="Meiryo UI" panose="020B0604030504040204" pitchFamily="50" charset="-128"/>
                        </a:rPr>
                        <a:t>Exchange.</a:t>
                      </a:r>
                    </a:p>
                    <a:p>
                      <a:r>
                        <a:rPr kumimoji="1" lang="en-US" altLang="ja-JP">
                          <a:latin typeface="Meiryo UI" panose="020B0604030504040204" pitchFamily="50" charset="-128"/>
                          <a:ea typeface="Meiryo UI" panose="020B0604030504040204" pitchFamily="50" charset="-128"/>
                        </a:rPr>
                        <a:t>(Refer P.40)</a:t>
                      </a:r>
                      <a:endParaRPr kumimoji="1" lang="ja-JP" altLang="en-US">
                        <a:latin typeface="Meiryo UI" panose="020B0604030504040204" pitchFamily="50" charset="-128"/>
                        <a:ea typeface="Meiryo UI" panose="020B0604030504040204" pitchFamily="50" charset="-128"/>
                      </a:endParaRPr>
                    </a:p>
                  </a:txBody>
                  <a:tcPr>
                    <a:solidFill>
                      <a:srgbClr val="CCECFF"/>
                    </a:solidFill>
                  </a:tcPr>
                </a:tc>
                <a:extLst>
                  <a:ext uri="{0D108BD9-81ED-4DB2-BD59-A6C34878D82A}">
                    <a16:rowId xmlns:a16="http://schemas.microsoft.com/office/drawing/2014/main" val="1940255782"/>
                  </a:ext>
                </a:extLst>
              </a:tr>
            </a:tbl>
          </a:graphicData>
        </a:graphic>
      </p:graphicFrame>
      <p:sp>
        <p:nvSpPr>
          <p:cNvPr id="2" name="テキスト ボックス 1">
            <a:extLst>
              <a:ext uri="{FF2B5EF4-FFF2-40B4-BE49-F238E27FC236}">
                <a16:creationId xmlns:a16="http://schemas.microsoft.com/office/drawing/2014/main" id="{DA025245-F95C-D4F4-6FF6-859AE4A6E7DD}"/>
              </a:ext>
            </a:extLst>
          </p:cNvPr>
          <p:cNvSpPr txBox="1"/>
          <p:nvPr/>
        </p:nvSpPr>
        <p:spPr>
          <a:xfrm>
            <a:off x="0" y="6488668"/>
            <a:ext cx="9144000" cy="400110"/>
          </a:xfrm>
          <a:prstGeom prst="rect">
            <a:avLst/>
          </a:prstGeom>
          <a:solidFill>
            <a:srgbClr val="FFFF00"/>
          </a:solidFill>
        </p:spPr>
        <p:txBody>
          <a:bodyPr wrap="square" rtlCol="0">
            <a:spAutoFit/>
          </a:bodyPr>
          <a:lstStyle>
            <a:defPPr>
              <a:defRPr lang="en-US"/>
            </a:defPPr>
            <a:lvl1pPr>
              <a:defRPr sz="2000">
                <a:latin typeface="Meiryo UI" panose="020B0604030504040204" pitchFamily="50" charset="-128"/>
                <a:ea typeface="Meiryo UI" panose="020B0604030504040204" pitchFamily="50" charset="-128"/>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On going item , Will fix  End of ’25 Feb.</a:t>
            </a:r>
            <a:endParaRPr kumimoji="1" lang="ja-JP" altLang="en-US" sz="2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0493337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Box 2"/>
          <p:cNvSpPr txBox="1">
            <a:spLocks noChangeArrowheads="1"/>
          </p:cNvSpPr>
          <p:nvPr/>
        </p:nvSpPr>
        <p:spPr bwMode="auto">
          <a:xfrm>
            <a:off x="181006" y="512778"/>
            <a:ext cx="2363339" cy="45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IDAS Information</a:t>
            </a:r>
            <a:endParaRPr lang="ja-JP" altLang="en-US" sz="18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48"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14. In-Vehicle Functions Relating ECU and Features</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2" name="正方形/長方形 1">
            <a:extLst>
              <a:ext uri="{FF2B5EF4-FFF2-40B4-BE49-F238E27FC236}">
                <a16:creationId xmlns:a16="http://schemas.microsoft.com/office/drawing/2014/main" id="{7FE44E0A-F238-4F64-BABD-016152DCD6B2}"/>
              </a:ext>
            </a:extLst>
          </p:cNvPr>
          <p:cNvSpPr/>
          <p:nvPr/>
        </p:nvSpPr>
        <p:spPr bwMode="auto">
          <a:xfrm>
            <a:off x="1529026" y="5235288"/>
            <a:ext cx="2880320" cy="1020044"/>
          </a:xfrm>
          <a:prstGeom prst="rect">
            <a:avLst/>
          </a:prstGeom>
          <a:solidFill>
            <a:srgbClr val="CC99FF"/>
          </a:solidFill>
          <a:ln w="38100"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bodyPr>
          <a:lstStyle/>
          <a:p>
            <a:pPr marL="0" marR="0" lvl="0" indent="0" algn="r" defTabSz="762000" rtl="0" eaLnBrk="1" fontAlgn="base" latinLnBrk="0" hangingPunct="1">
              <a:lnSpc>
                <a:spcPct val="100000"/>
              </a:lnSpc>
              <a:spcBef>
                <a:spcPct val="0"/>
              </a:spcBef>
              <a:spcAft>
                <a:spcPct val="0"/>
              </a:spcAft>
              <a:buClrTx/>
              <a:buSzTx/>
              <a:buFontTx/>
              <a:buNone/>
              <a:tabLst/>
              <a:defRPr/>
            </a:pPr>
            <a:r>
              <a:rPr kumimoji="1" lang="en-US" altLang="ja-JP" sz="1100" b="1"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FI-ECU</a:t>
            </a:r>
            <a:r>
              <a:rPr kumimoji="1" lang="ja-JP" altLang="en-US" sz="1100" b="1"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 </a:t>
            </a:r>
            <a:r>
              <a:rPr kumimoji="1" lang="en-US" altLang="ja-JP" sz="1100" b="1"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 ASL/ISA Function</a:t>
            </a:r>
          </a:p>
        </p:txBody>
      </p:sp>
      <p:sp>
        <p:nvSpPr>
          <p:cNvPr id="3" name="正方形/長方形 2">
            <a:extLst>
              <a:ext uri="{FF2B5EF4-FFF2-40B4-BE49-F238E27FC236}">
                <a16:creationId xmlns:a16="http://schemas.microsoft.com/office/drawing/2014/main" id="{A521ECB0-90FF-F69B-27D6-1C393DBA112B}"/>
              </a:ext>
            </a:extLst>
          </p:cNvPr>
          <p:cNvSpPr/>
          <p:nvPr/>
        </p:nvSpPr>
        <p:spPr bwMode="auto">
          <a:xfrm>
            <a:off x="1529026" y="3507096"/>
            <a:ext cx="2880320" cy="1020044"/>
          </a:xfrm>
          <a:prstGeom prst="rect">
            <a:avLst/>
          </a:prstGeom>
          <a:solidFill>
            <a:srgbClr val="FFFF00"/>
          </a:solidFill>
          <a:ln w="38100" cap="flat" cmpd="sng" algn="ctr">
            <a:noFill/>
            <a:prstDash val="solid"/>
            <a:round/>
            <a:headEnd type="none" w="sm" len="sm"/>
            <a:tailEnd type="none" w="sm" len="sm"/>
          </a:ln>
          <a:effectLst/>
        </p:spPr>
        <p:txBody>
          <a:bodyPr vert="horz" wrap="square" lIns="91440" tIns="45720" rIns="91440" bIns="45720" numCol="1" rtlCol="0" anchor="b" anchorCtr="0" compatLnSpc="1">
            <a:prstTxWarp prst="textNoShape">
              <a:avLst/>
            </a:prstTxWarp>
          </a:bodyPr>
          <a:lstStyle/>
          <a:p>
            <a:pPr marL="0" marR="0" lvl="0" indent="0" algn="r" defTabSz="762000" rtl="0" eaLnBrk="1" fontAlgn="base" latinLnBrk="0" hangingPunct="1">
              <a:lnSpc>
                <a:spcPct val="100000"/>
              </a:lnSpc>
              <a:spcBef>
                <a:spcPct val="0"/>
              </a:spcBef>
              <a:spcAft>
                <a:spcPct val="0"/>
              </a:spcAft>
              <a:buClrTx/>
              <a:buSzTx/>
              <a:buFontTx/>
              <a:buNone/>
              <a:tabLst/>
              <a:defRPr/>
            </a:pPr>
            <a:r>
              <a:rPr kumimoji="1" lang="en-US" altLang="ja-JP" sz="1100" b="1"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FI-ECU</a:t>
            </a:r>
            <a:r>
              <a:rPr kumimoji="1" lang="ja-JP" altLang="en-US" sz="1100" b="1"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a:t>
            </a:r>
            <a:r>
              <a:rPr kumimoji="1" lang="en-US" altLang="ja-JP" sz="1100" b="1"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Acceleration control</a:t>
            </a:r>
          </a:p>
        </p:txBody>
      </p:sp>
      <p:graphicFrame>
        <p:nvGraphicFramePr>
          <p:cNvPr id="4" name="表 3">
            <a:extLst>
              <a:ext uri="{FF2B5EF4-FFF2-40B4-BE49-F238E27FC236}">
                <a16:creationId xmlns:a16="http://schemas.microsoft.com/office/drawing/2014/main" id="{B6070B0D-156B-DD36-F84E-AD95EC05BFA4}"/>
              </a:ext>
            </a:extLst>
          </p:cNvPr>
          <p:cNvGraphicFramePr>
            <a:graphicFrameLocks noGrp="1"/>
          </p:cNvGraphicFramePr>
          <p:nvPr>
            <p:extLst>
              <p:ext uri="{D42A27DB-BD31-4B8C-83A1-F6EECF244321}">
                <p14:modId xmlns:p14="http://schemas.microsoft.com/office/powerpoint/2010/main" val="335344615"/>
              </p:ext>
            </p:extLst>
          </p:nvPr>
        </p:nvGraphicFramePr>
        <p:xfrm>
          <a:off x="1259632" y="901792"/>
          <a:ext cx="7560840" cy="778272"/>
        </p:xfrm>
        <a:graphic>
          <a:graphicData uri="http://schemas.openxmlformats.org/drawingml/2006/table">
            <a:tbl>
              <a:tblPr firstRow="1" bandRow="1">
                <a:tableStyleId>{21E4AEA4-8DFA-4A89-87EB-49C32662AFE0}</a:tableStyleId>
              </a:tblPr>
              <a:tblGrid>
                <a:gridCol w="835673">
                  <a:extLst>
                    <a:ext uri="{9D8B030D-6E8A-4147-A177-3AD203B41FA5}">
                      <a16:colId xmlns:a16="http://schemas.microsoft.com/office/drawing/2014/main" val="20000"/>
                    </a:ext>
                  </a:extLst>
                </a:gridCol>
                <a:gridCol w="1272596">
                  <a:extLst>
                    <a:ext uri="{9D8B030D-6E8A-4147-A177-3AD203B41FA5}">
                      <a16:colId xmlns:a16="http://schemas.microsoft.com/office/drawing/2014/main" val="20001"/>
                    </a:ext>
                  </a:extLst>
                </a:gridCol>
                <a:gridCol w="1092897">
                  <a:extLst>
                    <a:ext uri="{9D8B030D-6E8A-4147-A177-3AD203B41FA5}">
                      <a16:colId xmlns:a16="http://schemas.microsoft.com/office/drawing/2014/main" val="20002"/>
                    </a:ext>
                  </a:extLst>
                </a:gridCol>
                <a:gridCol w="1767386">
                  <a:extLst>
                    <a:ext uri="{9D8B030D-6E8A-4147-A177-3AD203B41FA5}">
                      <a16:colId xmlns:a16="http://schemas.microsoft.com/office/drawing/2014/main" val="20003"/>
                    </a:ext>
                  </a:extLst>
                </a:gridCol>
                <a:gridCol w="1368152">
                  <a:extLst>
                    <a:ext uri="{9D8B030D-6E8A-4147-A177-3AD203B41FA5}">
                      <a16:colId xmlns:a16="http://schemas.microsoft.com/office/drawing/2014/main" val="20004"/>
                    </a:ext>
                  </a:extLst>
                </a:gridCol>
                <a:gridCol w="1224136">
                  <a:extLst>
                    <a:ext uri="{9D8B030D-6E8A-4147-A177-3AD203B41FA5}">
                      <a16:colId xmlns:a16="http://schemas.microsoft.com/office/drawing/2014/main" val="20005"/>
                    </a:ext>
                  </a:extLst>
                </a:gridCol>
              </a:tblGrid>
              <a:tr h="274216">
                <a:tc>
                  <a:txBody>
                    <a:bodyPr/>
                    <a:lstStyle/>
                    <a:p>
                      <a:pPr algn="ctr"/>
                      <a:r>
                        <a:rPr kumimoji="1" lang="en-US" altLang="ja-JP" sz="1200">
                          <a:latin typeface="Arial" pitchFamily="34" charset="0"/>
                          <a:cs typeface="Arial" pitchFamily="34" charset="0"/>
                        </a:rPr>
                        <a:t>IDAS</a:t>
                      </a:r>
                      <a:endParaRPr kumimoji="1" lang="ja-JP" altLang="en-US" sz="1200">
                        <a:latin typeface="Arial" pitchFamily="34" charset="0"/>
                        <a:cs typeface="Arial" pitchFamily="34" charset="0"/>
                      </a:endParaRPr>
                    </a:p>
                  </a:txBody>
                  <a:tcPr anchor="ctr"/>
                </a:tc>
                <a:tc>
                  <a:txBody>
                    <a:bodyPr/>
                    <a:lstStyle/>
                    <a:p>
                      <a:pPr algn="ctr"/>
                      <a:r>
                        <a:rPr kumimoji="1" lang="en-US" altLang="ja-JP" sz="1200">
                          <a:latin typeface="Arial" pitchFamily="34" charset="0"/>
                          <a:cs typeface="Arial" pitchFamily="34" charset="0"/>
                        </a:rPr>
                        <a:t>Radar</a:t>
                      </a:r>
                      <a:endParaRPr kumimoji="1" lang="ja-JP" altLang="en-US" sz="1200">
                        <a:latin typeface="Arial" pitchFamily="34" charset="0"/>
                        <a:cs typeface="Arial" pitchFamily="34" charset="0"/>
                      </a:endParaRPr>
                    </a:p>
                  </a:txBody>
                  <a:tcPr anchor="ctr"/>
                </a:tc>
                <a:tc>
                  <a:txBody>
                    <a:bodyPr/>
                    <a:lstStyle/>
                    <a:p>
                      <a:pPr algn="ctr"/>
                      <a:r>
                        <a:rPr kumimoji="1" lang="en-US" altLang="ja-JP" sz="1200">
                          <a:latin typeface="Arial" pitchFamily="34" charset="0"/>
                          <a:cs typeface="Arial" pitchFamily="34" charset="0"/>
                        </a:rPr>
                        <a:t>Camera</a:t>
                      </a:r>
                      <a:endParaRPr kumimoji="1" lang="ja-JP" altLang="en-US" sz="1200">
                        <a:latin typeface="Arial" pitchFamily="34" charset="0"/>
                        <a:cs typeface="Arial" pitchFamily="34" charset="0"/>
                      </a:endParaRPr>
                    </a:p>
                  </a:txBody>
                  <a:tcPr anchor="ctr"/>
                </a:tc>
                <a:tc>
                  <a:txBody>
                    <a:bodyPr/>
                    <a:lstStyle/>
                    <a:p>
                      <a:pPr algn="ctr"/>
                      <a:r>
                        <a:rPr kumimoji="1" lang="en-US" altLang="ja-JP" sz="1200">
                          <a:latin typeface="Arial" pitchFamily="34" charset="0"/>
                          <a:cs typeface="Arial" pitchFamily="34" charset="0"/>
                        </a:rPr>
                        <a:t>Control</a:t>
                      </a:r>
                      <a:r>
                        <a:rPr kumimoji="1" lang="en-US" altLang="ja-JP" sz="1200" baseline="0">
                          <a:latin typeface="Arial" pitchFamily="34" charset="0"/>
                          <a:cs typeface="Arial" pitchFamily="34" charset="0"/>
                        </a:rPr>
                        <a:t> Unit</a:t>
                      </a:r>
                      <a:endParaRPr kumimoji="1" lang="ja-JP" altLang="en-US" sz="1200">
                        <a:latin typeface="Arial" pitchFamily="34" charset="0"/>
                        <a:cs typeface="Arial" pitchFamily="34" charset="0"/>
                      </a:endParaRPr>
                    </a:p>
                  </a:txBody>
                  <a:tcPr anchor="ctr"/>
                </a:tc>
                <a:tc>
                  <a:txBody>
                    <a:bodyPr/>
                    <a:lstStyle/>
                    <a:p>
                      <a:pPr algn="ctr"/>
                      <a:r>
                        <a:rPr kumimoji="1" lang="en-US" altLang="ja-JP" sz="1200">
                          <a:latin typeface="Arial" pitchFamily="34" charset="0"/>
                          <a:cs typeface="Arial" pitchFamily="34" charset="0"/>
                        </a:rPr>
                        <a:t>Function</a:t>
                      </a:r>
                      <a:r>
                        <a:rPr kumimoji="1" lang="en-US" altLang="ja-JP" sz="1200" baseline="0">
                          <a:latin typeface="Arial" pitchFamily="34" charset="0"/>
                          <a:cs typeface="Arial" pitchFamily="34" charset="0"/>
                        </a:rPr>
                        <a:t> Spec</a:t>
                      </a:r>
                      <a:endParaRPr kumimoji="1" lang="ja-JP" altLang="en-US" sz="1200">
                        <a:latin typeface="Arial" pitchFamily="34" charset="0"/>
                        <a:cs typeface="Arial" pitchFamily="34" charset="0"/>
                      </a:endParaRPr>
                    </a:p>
                  </a:txBody>
                  <a:tcPr anchor="ctr"/>
                </a:tc>
                <a:tc>
                  <a:txBody>
                    <a:bodyPr/>
                    <a:lstStyle/>
                    <a:p>
                      <a:pPr algn="ctr"/>
                      <a:r>
                        <a:rPr kumimoji="1" lang="en-US" altLang="ja-JP" sz="1200">
                          <a:latin typeface="Arial" pitchFamily="34" charset="0"/>
                          <a:cs typeface="Arial" pitchFamily="34" charset="0"/>
                        </a:rPr>
                        <a:t>Control</a:t>
                      </a:r>
                      <a:r>
                        <a:rPr kumimoji="1" lang="en-US" altLang="ja-JP" sz="1200" baseline="0">
                          <a:latin typeface="Arial" pitchFamily="34" charset="0"/>
                          <a:cs typeface="Arial" pitchFamily="34" charset="0"/>
                        </a:rPr>
                        <a:t> Spec</a:t>
                      </a:r>
                      <a:endParaRPr kumimoji="1" lang="ja-JP" altLang="en-US" sz="1200">
                        <a:latin typeface="Arial" pitchFamily="34" charset="0"/>
                        <a:cs typeface="Arial" pitchFamily="34" charset="0"/>
                      </a:endParaRPr>
                    </a:p>
                  </a:txBody>
                  <a:tcPr anchor="ctr"/>
                </a:tc>
                <a:extLst>
                  <a:ext uri="{0D108BD9-81ED-4DB2-BD59-A6C34878D82A}">
                    <a16:rowId xmlns:a16="http://schemas.microsoft.com/office/drawing/2014/main" val="10000"/>
                  </a:ext>
                </a:extLst>
              </a:tr>
              <a:tr h="503952">
                <a:tc>
                  <a:txBody>
                    <a:bodyPr/>
                    <a:lstStyle/>
                    <a:p>
                      <a:pPr algn="ctr"/>
                      <a:r>
                        <a:rPr kumimoji="1" lang="en-US" altLang="ja-JP" sz="1200">
                          <a:latin typeface="Arial" pitchFamily="34" charset="0"/>
                          <a:cs typeface="Arial" pitchFamily="34" charset="0"/>
                        </a:rPr>
                        <a:t>24.5M</a:t>
                      </a:r>
                      <a:endParaRPr kumimoji="1" lang="ja-JP" altLang="en-US" sz="1200">
                        <a:latin typeface="Arial" pitchFamily="34" charset="0"/>
                        <a:cs typeface="Arial" pitchFamily="34" charset="0"/>
                      </a:endParaRPr>
                    </a:p>
                  </a:txBody>
                  <a:tcPr anchor="ctr"/>
                </a:tc>
                <a:tc>
                  <a:txBody>
                    <a:bodyPr/>
                    <a:lstStyle/>
                    <a:p>
                      <a:pPr algn="ctr"/>
                      <a:r>
                        <a:rPr kumimoji="1" lang="ja-JP" altLang="en-US" sz="1200">
                          <a:latin typeface="Arial" pitchFamily="34" charset="0"/>
                          <a:cs typeface="Arial" pitchFamily="34" charset="0"/>
                        </a:rPr>
                        <a:t>－</a:t>
                      </a:r>
                    </a:p>
                  </a:txBody>
                  <a:tcPr anchor="ctr"/>
                </a:tc>
                <a:tc>
                  <a:txBody>
                    <a:bodyPr/>
                    <a:lstStyle/>
                    <a:p>
                      <a:pPr algn="ctr"/>
                      <a:r>
                        <a:rPr kumimoji="1" lang="en-US" altLang="ja-JP" sz="1200">
                          <a:latin typeface="Arial" pitchFamily="34" charset="0"/>
                          <a:cs typeface="Arial" pitchFamily="34" charset="0"/>
                        </a:rPr>
                        <a:t>VALEO</a:t>
                      </a:r>
                      <a:endParaRPr kumimoji="1" lang="ja-JP" altLang="en-US" sz="1200">
                        <a:latin typeface="Arial" pitchFamily="34" charset="0"/>
                        <a:cs typeface="Arial" pitchFamily="34" charset="0"/>
                      </a:endParaRPr>
                    </a:p>
                  </a:txBody>
                  <a:tcPr anchor="ctr"/>
                </a:tc>
                <a:tc>
                  <a:txBody>
                    <a:bodyPr/>
                    <a:lstStyle/>
                    <a:p>
                      <a:pPr algn="ctr"/>
                      <a:endParaRPr kumimoji="1" lang="ja-JP" altLang="en-US" sz="1200">
                        <a:latin typeface="Arial" pitchFamily="34" charset="0"/>
                        <a:cs typeface="Arial" pitchFamily="34" charset="0"/>
                      </a:endParaRPr>
                    </a:p>
                  </a:txBody>
                  <a:tcPr anchor="ctr"/>
                </a:tc>
                <a:tc>
                  <a:txBody>
                    <a:bodyPr/>
                    <a:lstStyle/>
                    <a:p>
                      <a:pPr algn="ctr"/>
                      <a:endParaRPr kumimoji="1" lang="ja-JP" altLang="en-US" sz="1200">
                        <a:latin typeface="Arial" pitchFamily="34" charset="0"/>
                        <a:cs typeface="Arial" pitchFamily="34" charset="0"/>
                      </a:endParaRPr>
                    </a:p>
                  </a:txBody>
                  <a:tcPr anchor="ctr"/>
                </a:tc>
                <a:tc>
                  <a:txBody>
                    <a:bodyPr/>
                    <a:lstStyle/>
                    <a:p>
                      <a:pPr algn="ctr"/>
                      <a:r>
                        <a:rPr kumimoji="1" lang="en-US" altLang="ja-JP" sz="1200">
                          <a:latin typeface="Arial" pitchFamily="34" charset="0"/>
                          <a:cs typeface="Arial" pitchFamily="34" charset="0"/>
                        </a:rPr>
                        <a:t>VALEO</a:t>
                      </a:r>
                      <a:endParaRPr kumimoji="1" lang="ja-JP" altLang="en-US" sz="1200">
                        <a:latin typeface="Arial" pitchFamily="34" charset="0"/>
                        <a:cs typeface="Arial" pitchFamily="34" charset="0"/>
                      </a:endParaRPr>
                    </a:p>
                  </a:txBody>
                  <a:tcPr anchor="ctr"/>
                </a:tc>
                <a:extLst>
                  <a:ext uri="{0D108BD9-81ED-4DB2-BD59-A6C34878D82A}">
                    <a16:rowId xmlns:a16="http://schemas.microsoft.com/office/drawing/2014/main" val="10001"/>
                  </a:ext>
                </a:extLst>
              </a:tr>
            </a:tbl>
          </a:graphicData>
        </a:graphic>
      </p:graphicFrame>
      <p:pic>
        <p:nvPicPr>
          <p:cNvPr id="5" name="図 73">
            <a:extLst>
              <a:ext uri="{FF2B5EF4-FFF2-40B4-BE49-F238E27FC236}">
                <a16:creationId xmlns:a16="http://schemas.microsoft.com/office/drawing/2014/main" id="{841496D0-AEC4-EBBD-42B3-47A22FDF3D89}"/>
              </a:ext>
            </a:extLst>
          </p:cNvPr>
          <p:cNvPicPr>
            <a:picLocks noChangeAspect="1" noChangeArrowheads="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845449" y="1337203"/>
            <a:ext cx="388584" cy="243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6" name="テキスト ボックス 137">
            <a:extLst>
              <a:ext uri="{FF2B5EF4-FFF2-40B4-BE49-F238E27FC236}">
                <a16:creationId xmlns:a16="http://schemas.microsoft.com/office/drawing/2014/main" id="{B110D909-8AEB-68FE-5B65-7AF3F50C31F3}"/>
              </a:ext>
            </a:extLst>
          </p:cNvPr>
          <p:cNvSpPr txBox="1">
            <a:spLocks noChangeArrowheads="1"/>
          </p:cNvSpPr>
          <p:nvPr/>
        </p:nvSpPr>
        <p:spPr bwMode="auto">
          <a:xfrm>
            <a:off x="106752" y="1084255"/>
            <a:ext cx="115288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HW / SW</a:t>
            </a:r>
            <a:endParaRPr kumimoji="1" lang="ja-JP" altLang="en-US" sz="14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cxnSp>
        <p:nvCxnSpPr>
          <p:cNvPr id="7" name="カギ線コネクタ 31">
            <a:extLst>
              <a:ext uri="{FF2B5EF4-FFF2-40B4-BE49-F238E27FC236}">
                <a16:creationId xmlns:a16="http://schemas.microsoft.com/office/drawing/2014/main" id="{C406BF5F-7E2D-CD57-F31F-ABB05B5E14D8}"/>
              </a:ext>
            </a:extLst>
          </p:cNvPr>
          <p:cNvCxnSpPr>
            <a:cxnSpLocks noChangeShapeType="1"/>
            <a:stCxn id="10" idx="3"/>
            <a:endCxn id="11" idx="1"/>
          </p:cNvCxnSpPr>
          <p:nvPr/>
        </p:nvCxnSpPr>
        <p:spPr bwMode="auto">
          <a:xfrm flipV="1">
            <a:off x="617104" y="2406165"/>
            <a:ext cx="2333472" cy="429614"/>
          </a:xfrm>
          <a:prstGeom prst="bentConnector3">
            <a:avLst>
              <a:gd name="adj1" fmla="val 33886"/>
            </a:avLst>
          </a:prstGeom>
          <a:noFill/>
          <a:ln w="38100" algn="ctr">
            <a:solidFill>
              <a:srgbClr val="FFC00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カギ線コネクタ 32">
            <a:extLst>
              <a:ext uri="{FF2B5EF4-FFF2-40B4-BE49-F238E27FC236}">
                <a16:creationId xmlns:a16="http://schemas.microsoft.com/office/drawing/2014/main" id="{9372B4F2-A326-59A5-B70E-263582863578}"/>
              </a:ext>
            </a:extLst>
          </p:cNvPr>
          <p:cNvCxnSpPr>
            <a:cxnSpLocks noChangeShapeType="1"/>
            <a:stCxn id="25" idx="3"/>
            <a:endCxn id="13" idx="1"/>
          </p:cNvCxnSpPr>
          <p:nvPr/>
        </p:nvCxnSpPr>
        <p:spPr bwMode="auto">
          <a:xfrm flipV="1">
            <a:off x="931691" y="3150777"/>
            <a:ext cx="2132542" cy="1108620"/>
          </a:xfrm>
          <a:prstGeom prst="bentConnector3">
            <a:avLst>
              <a:gd name="adj1" fmla="val 20747"/>
            </a:avLst>
          </a:prstGeom>
          <a:noFill/>
          <a:ln w="38100" algn="ctr">
            <a:solidFill>
              <a:srgbClr val="FF00FF"/>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カギ線コネクタ 33">
            <a:extLst>
              <a:ext uri="{FF2B5EF4-FFF2-40B4-BE49-F238E27FC236}">
                <a16:creationId xmlns:a16="http://schemas.microsoft.com/office/drawing/2014/main" id="{DEF918DB-D5E3-D7AD-94DE-A104AF404D4E}"/>
              </a:ext>
            </a:extLst>
          </p:cNvPr>
          <p:cNvCxnSpPr>
            <a:cxnSpLocks noChangeShapeType="1"/>
            <a:stCxn id="25" idx="3"/>
            <a:endCxn id="12" idx="1"/>
          </p:cNvCxnSpPr>
          <p:nvPr/>
        </p:nvCxnSpPr>
        <p:spPr bwMode="auto">
          <a:xfrm flipV="1">
            <a:off x="931691" y="3932545"/>
            <a:ext cx="2118687" cy="326852"/>
          </a:xfrm>
          <a:prstGeom prst="bentConnector3">
            <a:avLst>
              <a:gd name="adj1" fmla="val 25799"/>
            </a:avLst>
          </a:prstGeom>
          <a:noFill/>
          <a:ln w="38100" algn="ctr">
            <a:solidFill>
              <a:schemeClr val="accent6">
                <a:lumMod val="60000"/>
                <a:lumOff val="40000"/>
              </a:schemeClr>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図 73">
            <a:extLst>
              <a:ext uri="{FF2B5EF4-FFF2-40B4-BE49-F238E27FC236}">
                <a16:creationId xmlns:a16="http://schemas.microsoft.com/office/drawing/2014/main" id="{869432B8-2796-94DA-0F4C-92BB4FDA89E4}"/>
              </a:ext>
            </a:extLst>
          </p:cNvPr>
          <p:cNvPicPr>
            <a:picLocks noChangeAspect="1" noChangeArrowheads="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69416" y="2642104"/>
            <a:ext cx="54768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pic>
        <p:nvPicPr>
          <p:cNvPr id="11" name="Picture 91">
            <a:extLst>
              <a:ext uri="{FF2B5EF4-FFF2-40B4-BE49-F238E27FC236}">
                <a16:creationId xmlns:a16="http://schemas.microsoft.com/office/drawing/2014/main" id="{73D900EF-9A85-757F-2FD6-F413504BE1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0576" y="2210108"/>
            <a:ext cx="609600" cy="392113"/>
          </a:xfrm>
          <a:prstGeom prst="rect">
            <a:avLst/>
          </a:prstGeom>
          <a:noFill/>
          <a:ln w="28575">
            <a:solidFill>
              <a:srgbClr val="FFC000"/>
            </a:solidFill>
            <a:miter lim="800000"/>
            <a:headEnd type="none" w="sm" len="sm"/>
            <a:tailEnd type="none" w="sm" len="sm"/>
          </a:ln>
          <a:extLst>
            <a:ext uri="{909E8E84-426E-40DD-AFC4-6F175D3DCCD1}">
              <a14:hiddenFill xmlns:a14="http://schemas.microsoft.com/office/drawing/2010/main">
                <a:solidFill>
                  <a:schemeClr val="accent1"/>
                </a:solidFill>
              </a14:hiddenFill>
            </a:ext>
          </a:extLst>
        </p:spPr>
      </p:pic>
      <p:pic>
        <p:nvPicPr>
          <p:cNvPr id="12" name="図 11" descr="MLB9C0.jpg">
            <a:extLst>
              <a:ext uri="{FF2B5EF4-FFF2-40B4-BE49-F238E27FC236}">
                <a16:creationId xmlns:a16="http://schemas.microsoft.com/office/drawing/2014/main" id="{7DC3349D-8B44-AECE-3CD5-028A69BE927A}"/>
              </a:ext>
            </a:extLst>
          </p:cNvPr>
          <p:cNvPicPr>
            <a:picLocks/>
          </p:cNvPicPr>
          <p:nvPr>
            <p:custDataLst>
              <p:tags r:id="rId1"/>
            </p:custDataLst>
          </p:nvPr>
        </p:nvPicPr>
        <p:blipFill>
          <a:blip r:embed="rId7"/>
          <a:srcRect/>
          <a:stretch>
            <a:fillRect/>
          </a:stretch>
        </p:blipFill>
        <p:spPr bwMode="auto">
          <a:xfrm>
            <a:off x="3050378" y="3674576"/>
            <a:ext cx="508000" cy="515938"/>
          </a:xfrm>
          <a:prstGeom prst="rect">
            <a:avLst/>
          </a:prstGeom>
          <a:noFill/>
          <a:ln w="28575">
            <a:solidFill>
              <a:schemeClr val="accent6">
                <a:lumMod val="40000"/>
                <a:lumOff val="60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13" name="図 12" descr="MLBCAE.jpg">
            <a:extLst>
              <a:ext uri="{FF2B5EF4-FFF2-40B4-BE49-F238E27FC236}">
                <a16:creationId xmlns:a16="http://schemas.microsoft.com/office/drawing/2014/main" id="{5C81865D-6512-4ABE-F381-5F3B76703DC9}"/>
              </a:ext>
            </a:extLst>
          </p:cNvPr>
          <p:cNvPicPr>
            <a:picLocks/>
          </p:cNvPicPr>
          <p:nvPr>
            <p:custDataLst>
              <p:tags r:id="rId2"/>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3064233" y="2888839"/>
            <a:ext cx="503237" cy="523875"/>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
        <p:nvSpPr>
          <p:cNvPr id="14" name="テキスト ボックス 1">
            <a:extLst>
              <a:ext uri="{FF2B5EF4-FFF2-40B4-BE49-F238E27FC236}">
                <a16:creationId xmlns:a16="http://schemas.microsoft.com/office/drawing/2014/main" id="{EBA74423-BBC5-BDDC-7CB2-1ED992290C3C}"/>
              </a:ext>
            </a:extLst>
          </p:cNvPr>
          <p:cNvSpPr txBox="1">
            <a:spLocks noChangeArrowheads="1"/>
          </p:cNvSpPr>
          <p:nvPr/>
        </p:nvSpPr>
        <p:spPr bwMode="auto">
          <a:xfrm>
            <a:off x="1616855" y="3007038"/>
            <a:ext cx="1095173" cy="261610"/>
          </a:xfrm>
          <a:prstGeom prst="rect">
            <a:avLst/>
          </a:prstGeom>
          <a:solidFill>
            <a:srgbClr val="FFCCFF"/>
          </a:solidFill>
          <a:ln w="38100">
            <a:solidFill>
              <a:srgbClr val="FF00FF"/>
            </a:solidFill>
            <a:miter lim="800000"/>
            <a:headEnd/>
            <a:tailEnd/>
          </a:ln>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1" i="0" u="none" strike="noStrike" kern="1200" cap="none" spc="0" normalizeH="0" baseline="0" noProof="0">
                <a:ln>
                  <a:noFill/>
                </a:ln>
                <a:solidFill>
                  <a:srgbClr val="2D2DB9"/>
                </a:solidFill>
                <a:effectLst/>
                <a:uLnTx/>
                <a:uFillTx/>
                <a:latin typeface="Arial" pitchFamily="34" charset="0"/>
                <a:ea typeface="ＭＳ Ｐゴシック" pitchFamily="50" charset="-128"/>
                <a:cs typeface="Arial" pitchFamily="34" charset="0"/>
              </a:rPr>
              <a:t>Brake Torque</a:t>
            </a:r>
            <a:endParaRPr kumimoji="1" lang="ja-JP" altLang="en-US" sz="1100" b="1" i="0" u="none" strike="noStrike" kern="1200" cap="none" spc="0" normalizeH="0" baseline="0" noProof="0">
              <a:ln>
                <a:noFill/>
              </a:ln>
              <a:solidFill>
                <a:srgbClr val="2D2DB9"/>
              </a:solidFill>
              <a:effectLst/>
              <a:uLnTx/>
              <a:uFillTx/>
              <a:latin typeface="Arial" pitchFamily="34" charset="0"/>
              <a:ea typeface="ＭＳ Ｐゴシック" pitchFamily="50" charset="-128"/>
              <a:cs typeface="Arial" pitchFamily="34" charset="0"/>
            </a:endParaRPr>
          </a:p>
        </p:txBody>
      </p:sp>
      <p:sp>
        <p:nvSpPr>
          <p:cNvPr id="15" name="テキスト ボックス 1">
            <a:extLst>
              <a:ext uri="{FF2B5EF4-FFF2-40B4-BE49-F238E27FC236}">
                <a16:creationId xmlns:a16="http://schemas.microsoft.com/office/drawing/2014/main" id="{A3C9851B-33CD-96AD-3CD6-9A64584A9C47}"/>
              </a:ext>
            </a:extLst>
          </p:cNvPr>
          <p:cNvSpPr txBox="1">
            <a:spLocks noChangeArrowheads="1"/>
          </p:cNvSpPr>
          <p:nvPr/>
        </p:nvSpPr>
        <p:spPr bwMode="auto">
          <a:xfrm>
            <a:off x="1630798" y="3819846"/>
            <a:ext cx="1076183" cy="241980"/>
          </a:xfrm>
          <a:prstGeom prst="rect">
            <a:avLst/>
          </a:prstGeom>
          <a:solidFill>
            <a:schemeClr val="accent2">
              <a:lumMod val="20000"/>
              <a:lumOff val="80000"/>
            </a:schemeClr>
          </a:solidFill>
          <a:ln w="38100">
            <a:solidFill>
              <a:schemeClr val="accent2"/>
            </a:solidFill>
          </a:ln>
        </p:spPr>
        <p:txBody>
          <a:bodyPr wrap="none" lIns="36000" tIns="36000" rIns="36000" bIns="36000">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1" i="0" u="none" strike="noStrike" kern="1200" cap="none" spc="0" normalizeH="0" baseline="0" noProof="0">
                <a:ln>
                  <a:noFill/>
                </a:ln>
                <a:solidFill>
                  <a:srgbClr val="2D2DB9"/>
                </a:solidFill>
                <a:effectLst/>
                <a:uLnTx/>
                <a:uFillTx/>
                <a:latin typeface="Arial" pitchFamily="34" charset="0"/>
                <a:ea typeface="ＭＳ Ｐゴシック" pitchFamily="50" charset="-128"/>
                <a:cs typeface="Arial" pitchFamily="34" charset="0"/>
              </a:rPr>
              <a:t>Driving Torque</a:t>
            </a:r>
            <a:endParaRPr kumimoji="1" lang="ja-JP" altLang="en-US" sz="1100" b="1" i="0" u="none" strike="noStrike" kern="1200" cap="none" spc="0" normalizeH="0" baseline="0" noProof="0">
              <a:ln>
                <a:noFill/>
              </a:ln>
              <a:solidFill>
                <a:srgbClr val="2D2DB9"/>
              </a:solidFill>
              <a:effectLst/>
              <a:uLnTx/>
              <a:uFillTx/>
              <a:latin typeface="Arial" pitchFamily="34" charset="0"/>
              <a:ea typeface="ＭＳ Ｐゴシック" pitchFamily="50" charset="-128"/>
              <a:cs typeface="Arial" pitchFamily="34" charset="0"/>
            </a:endParaRPr>
          </a:p>
        </p:txBody>
      </p:sp>
      <p:sp>
        <p:nvSpPr>
          <p:cNvPr id="16" name="テキスト ボックス 137">
            <a:extLst>
              <a:ext uri="{FF2B5EF4-FFF2-40B4-BE49-F238E27FC236}">
                <a16:creationId xmlns:a16="http://schemas.microsoft.com/office/drawing/2014/main" id="{DEBC082C-D1B2-27D5-E520-B8664486BC57}"/>
              </a:ext>
            </a:extLst>
          </p:cNvPr>
          <p:cNvSpPr txBox="1">
            <a:spLocks noChangeArrowheads="1"/>
          </p:cNvSpPr>
          <p:nvPr/>
        </p:nvSpPr>
        <p:spPr bwMode="auto">
          <a:xfrm>
            <a:off x="82580" y="1699083"/>
            <a:ext cx="1249060"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Control</a:t>
            </a:r>
            <a:r>
              <a:rPr kumimoji="1" lang="ja-JP" altLang="en-US" sz="14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I/F</a:t>
            </a:r>
            <a:endParaRPr kumimoji="1" lang="ja-JP" altLang="en-US" sz="14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sp>
        <p:nvSpPr>
          <p:cNvPr id="17" name="テキスト ボックス 1">
            <a:extLst>
              <a:ext uri="{FF2B5EF4-FFF2-40B4-BE49-F238E27FC236}">
                <a16:creationId xmlns:a16="http://schemas.microsoft.com/office/drawing/2014/main" id="{B55D3BF9-4B15-F876-61E8-CC36B2AE10B8}"/>
              </a:ext>
            </a:extLst>
          </p:cNvPr>
          <p:cNvSpPr txBox="1">
            <a:spLocks noChangeArrowheads="1"/>
          </p:cNvSpPr>
          <p:nvPr/>
        </p:nvSpPr>
        <p:spPr bwMode="auto">
          <a:xfrm>
            <a:off x="3774734" y="2096055"/>
            <a:ext cx="710451"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Steering</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Current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Control</a:t>
            </a:r>
            <a:endParaRPr kumimoji="1" lang="ja-JP" altLang="en-US"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sp>
        <p:nvSpPr>
          <p:cNvPr id="18" name="テキスト ボックス 1">
            <a:extLst>
              <a:ext uri="{FF2B5EF4-FFF2-40B4-BE49-F238E27FC236}">
                <a16:creationId xmlns:a16="http://schemas.microsoft.com/office/drawing/2014/main" id="{549AC855-2D2D-B0F2-549A-500CDA0F966B}"/>
              </a:ext>
            </a:extLst>
          </p:cNvPr>
          <p:cNvSpPr txBox="1">
            <a:spLocks noChangeArrowheads="1"/>
          </p:cNvSpPr>
          <p:nvPr/>
        </p:nvSpPr>
        <p:spPr bwMode="auto">
          <a:xfrm>
            <a:off x="3567398" y="2938963"/>
            <a:ext cx="97815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Deceleration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Control</a:t>
            </a:r>
            <a:endParaRPr kumimoji="1" lang="ja-JP" altLang="en-US"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sp>
        <p:nvSpPr>
          <p:cNvPr id="19" name="テキスト ボックス 1">
            <a:extLst>
              <a:ext uri="{FF2B5EF4-FFF2-40B4-BE49-F238E27FC236}">
                <a16:creationId xmlns:a16="http://schemas.microsoft.com/office/drawing/2014/main" id="{69C0EF5C-4F61-7BC4-588C-5073EFD07DE1}"/>
              </a:ext>
            </a:extLst>
          </p:cNvPr>
          <p:cNvSpPr txBox="1">
            <a:spLocks noChangeArrowheads="1"/>
          </p:cNvSpPr>
          <p:nvPr/>
        </p:nvSpPr>
        <p:spPr bwMode="auto">
          <a:xfrm>
            <a:off x="3736514" y="3629899"/>
            <a:ext cx="63991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2D2DB9"/>
                </a:solidFill>
                <a:effectLst/>
                <a:uLnTx/>
                <a:uFillTx/>
                <a:latin typeface="Arial" pitchFamily="34" charset="0"/>
                <a:ea typeface="ＭＳ Ｐゴシック"/>
                <a:cs typeface="Arial" pitchFamily="34" charset="0"/>
              </a:rPr>
              <a:t>Torque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2D2DB9"/>
                </a:solidFill>
                <a:effectLst/>
                <a:uLnTx/>
                <a:uFillTx/>
                <a:latin typeface="Arial" pitchFamily="34" charset="0"/>
                <a:ea typeface="ＭＳ Ｐゴシック"/>
                <a:cs typeface="Arial" pitchFamily="34" charset="0"/>
              </a:rPr>
              <a:t>Control</a:t>
            </a:r>
            <a:endParaRPr kumimoji="1" lang="ja-JP" altLang="en-US" sz="1100" b="0" i="0" u="none" strike="noStrike" kern="1200" cap="none" spc="0" normalizeH="0" baseline="0" noProof="0">
              <a:ln>
                <a:noFill/>
              </a:ln>
              <a:solidFill>
                <a:srgbClr val="2D2DB9"/>
              </a:solidFill>
              <a:effectLst/>
              <a:uLnTx/>
              <a:uFillTx/>
              <a:latin typeface="Arial" pitchFamily="34" charset="0"/>
              <a:ea typeface="ＭＳ Ｐゴシック"/>
              <a:cs typeface="Arial" pitchFamily="34" charset="0"/>
            </a:endParaRPr>
          </a:p>
        </p:txBody>
      </p:sp>
      <p:sp>
        <p:nvSpPr>
          <p:cNvPr id="20" name="テキスト ボックス 19">
            <a:extLst>
              <a:ext uri="{FF2B5EF4-FFF2-40B4-BE49-F238E27FC236}">
                <a16:creationId xmlns:a16="http://schemas.microsoft.com/office/drawing/2014/main" id="{01716271-76BD-B3EF-94D7-6BB452F2CA27}"/>
              </a:ext>
            </a:extLst>
          </p:cNvPr>
          <p:cNvSpPr txBox="1"/>
          <p:nvPr/>
        </p:nvSpPr>
        <p:spPr bwMode="auto">
          <a:xfrm>
            <a:off x="5346839" y="1310521"/>
            <a:ext cx="84189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anose="020B0604020202020204" pitchFamily="34" charset="0"/>
                <a:ea typeface="ＭＳ Ｐゴシック"/>
                <a:cs typeface="Arial" panose="020B0604020202020204" pitchFamily="34" charset="0"/>
              </a:rPr>
              <a:t>CAMERA</a:t>
            </a:r>
            <a:endParaRPr kumimoji="1" lang="ja-JP"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a:cs typeface="Arial" panose="020B0604020202020204" pitchFamily="34" charset="0"/>
            </a:endParaRPr>
          </a:p>
        </p:txBody>
      </p:sp>
      <p:sp>
        <p:nvSpPr>
          <p:cNvPr id="21" name="テキスト ボックス 1">
            <a:extLst>
              <a:ext uri="{FF2B5EF4-FFF2-40B4-BE49-F238E27FC236}">
                <a16:creationId xmlns:a16="http://schemas.microsoft.com/office/drawing/2014/main" id="{CDF3AB22-E1FA-2B93-4080-F0AAE3111A10}"/>
              </a:ext>
            </a:extLst>
          </p:cNvPr>
          <p:cNvSpPr txBox="1">
            <a:spLocks noChangeArrowheads="1"/>
          </p:cNvSpPr>
          <p:nvPr/>
        </p:nvSpPr>
        <p:spPr bwMode="auto">
          <a:xfrm>
            <a:off x="1773956" y="2205223"/>
            <a:ext cx="770010" cy="411257"/>
          </a:xfrm>
          <a:prstGeom prst="rect">
            <a:avLst/>
          </a:prstGeom>
          <a:solidFill>
            <a:srgbClr val="FFCC99"/>
          </a:solidFill>
          <a:ln w="38100">
            <a:solidFill>
              <a:srgbClr val="FFC000"/>
            </a:solidFill>
          </a:ln>
        </p:spPr>
        <p:txBody>
          <a:bodyPr wrap="none" lIns="36000" tIns="36000" rIns="36000" bIns="36000">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ＥＰＳ </a:t>
            </a: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Motor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Current</a:t>
            </a:r>
            <a:endParaRPr kumimoji="1" lang="ja-JP" altLang="en-US"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sp>
        <p:nvSpPr>
          <p:cNvPr id="22" name="テキスト ボックス 5">
            <a:extLst>
              <a:ext uri="{FF2B5EF4-FFF2-40B4-BE49-F238E27FC236}">
                <a16:creationId xmlns:a16="http://schemas.microsoft.com/office/drawing/2014/main" id="{03EEADF4-3FE3-B827-C13B-B46F50605112}"/>
              </a:ext>
            </a:extLst>
          </p:cNvPr>
          <p:cNvSpPr txBox="1">
            <a:spLocks noChangeArrowheads="1"/>
          </p:cNvSpPr>
          <p:nvPr/>
        </p:nvSpPr>
        <p:spPr bwMode="auto">
          <a:xfrm>
            <a:off x="8043483" y="1618902"/>
            <a:ext cx="10386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 </a:t>
            </a:r>
            <a:r>
              <a:rPr kumimoji="1" lang="en-US" altLang="ja-JP" sz="12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Apply </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a:t>
            </a:r>
            <a:r>
              <a:rPr kumimoji="1" lang="ja-JP" altLang="en-US" sz="12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 </a:t>
            </a:r>
            <a:r>
              <a:rPr kumimoji="1" lang="en-US" altLang="ja-JP" sz="12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Not Apply</a:t>
            </a:r>
            <a:endParaRPr kumimoji="1" lang="ja-JP" altLang="en-US" sz="12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sp>
        <p:nvSpPr>
          <p:cNvPr id="23" name="正方形/長方形 22">
            <a:extLst>
              <a:ext uri="{FF2B5EF4-FFF2-40B4-BE49-F238E27FC236}">
                <a16:creationId xmlns:a16="http://schemas.microsoft.com/office/drawing/2014/main" id="{40A5880C-C648-60F8-9BE1-9F33440F0C4B}"/>
              </a:ext>
            </a:extLst>
          </p:cNvPr>
          <p:cNvSpPr/>
          <p:nvPr/>
        </p:nvSpPr>
        <p:spPr>
          <a:xfrm>
            <a:off x="4454472" y="1699083"/>
            <a:ext cx="1827488" cy="307777"/>
          </a:xfrm>
          <a:prstGeom prst="rect">
            <a:avLst/>
          </a:prstGeom>
          <a:ln>
            <a:noFill/>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Arial" pitchFamily="34" charset="0"/>
                <a:ea typeface="HGP創英角ｺﾞｼｯｸUB"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Arial" pitchFamily="34" charset="0"/>
                <a:ea typeface="HGP創英角ｺﾞｼｯｸUB" pitchFamily="50" charset="-128"/>
                <a:cs typeface="Arial" pitchFamily="34" charset="0"/>
              </a:rPr>
              <a:t>Applied Functions</a:t>
            </a:r>
            <a:endParaRPr kumimoji="1" lang="ja-JP" altLang="en-US" sz="1400" b="0" i="0" u="none" strike="noStrike" kern="1200" cap="none" spc="0" normalizeH="0" baseline="0" noProof="0">
              <a:ln>
                <a:noFill/>
              </a:ln>
              <a:solidFill>
                <a:srgbClr val="000000"/>
              </a:solidFill>
              <a:effectLst/>
              <a:uLnTx/>
              <a:uFillTx/>
              <a:latin typeface="Arial" pitchFamily="34" charset="0"/>
              <a:ea typeface="HGP創英角ｺﾞｼｯｸUB" pitchFamily="50" charset="-128"/>
              <a:cs typeface="Arial" pitchFamily="34" charset="0"/>
            </a:endParaRPr>
          </a:p>
        </p:txBody>
      </p:sp>
      <p:pic>
        <p:nvPicPr>
          <p:cNvPr id="24" name="Picture 2">
            <a:extLst>
              <a:ext uri="{FF2B5EF4-FFF2-40B4-BE49-F238E27FC236}">
                <a16:creationId xmlns:a16="http://schemas.microsoft.com/office/drawing/2014/main" id="{A0C6A1A2-7D63-33B8-2CF7-03679F346A06}"/>
              </a:ext>
            </a:extLst>
          </p:cNvPr>
          <p:cNvPicPr>
            <a:picLocks noChangeAspect="1" noChangeArrowheads="1"/>
          </p:cNvPicPr>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01496" y="1344186"/>
            <a:ext cx="965184" cy="135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テキスト ボックス 1">
            <a:extLst>
              <a:ext uri="{FF2B5EF4-FFF2-40B4-BE49-F238E27FC236}">
                <a16:creationId xmlns:a16="http://schemas.microsoft.com/office/drawing/2014/main" id="{D0678326-3A48-2829-810F-820497BCF25E}"/>
              </a:ext>
            </a:extLst>
          </p:cNvPr>
          <p:cNvSpPr txBox="1">
            <a:spLocks noChangeArrowheads="1"/>
          </p:cNvSpPr>
          <p:nvPr/>
        </p:nvSpPr>
        <p:spPr bwMode="auto">
          <a:xfrm>
            <a:off x="482529" y="4128592"/>
            <a:ext cx="449162" cy="261610"/>
          </a:xfrm>
          <a:prstGeom prst="rect">
            <a:avLst/>
          </a:prstGeom>
          <a:solidFill>
            <a:srgbClr val="99FF66"/>
          </a:solidFill>
          <a:ln w="38100">
            <a:solidFill>
              <a:srgbClr val="00B050"/>
            </a:solidFill>
            <a:miter lim="800000"/>
            <a:headEnd/>
            <a:tailEnd/>
          </a:ln>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1"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IMG</a:t>
            </a:r>
            <a:endParaRPr kumimoji="1" lang="ja-JP" altLang="en-US" sz="1100" b="1"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cxnSp>
        <p:nvCxnSpPr>
          <p:cNvPr id="26" name="カギ線コネクタ 33">
            <a:extLst>
              <a:ext uri="{FF2B5EF4-FFF2-40B4-BE49-F238E27FC236}">
                <a16:creationId xmlns:a16="http://schemas.microsoft.com/office/drawing/2014/main" id="{F4EA4A47-5D93-79F4-8B19-752BD871DA05}"/>
              </a:ext>
            </a:extLst>
          </p:cNvPr>
          <p:cNvCxnSpPr>
            <a:cxnSpLocks noChangeShapeType="1"/>
            <a:stCxn id="10" idx="3"/>
            <a:endCxn id="25" idx="0"/>
          </p:cNvCxnSpPr>
          <p:nvPr/>
        </p:nvCxnSpPr>
        <p:spPr bwMode="auto">
          <a:xfrm>
            <a:off x="617104" y="2835779"/>
            <a:ext cx="90006" cy="1292813"/>
          </a:xfrm>
          <a:prstGeom prst="bentConnector2">
            <a:avLst/>
          </a:prstGeom>
          <a:noFill/>
          <a:ln w="38100" algn="ctr">
            <a:solidFill>
              <a:srgbClr val="00B05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テキスト ボックス 1">
            <a:extLst>
              <a:ext uri="{FF2B5EF4-FFF2-40B4-BE49-F238E27FC236}">
                <a16:creationId xmlns:a16="http://schemas.microsoft.com/office/drawing/2014/main" id="{49460638-0932-8151-77E5-1D15F68347BB}"/>
              </a:ext>
            </a:extLst>
          </p:cNvPr>
          <p:cNvSpPr txBox="1">
            <a:spLocks noChangeArrowheads="1"/>
          </p:cNvSpPr>
          <p:nvPr/>
        </p:nvSpPr>
        <p:spPr bwMode="auto">
          <a:xfrm>
            <a:off x="196423" y="3303781"/>
            <a:ext cx="1031052" cy="430887"/>
          </a:xfrm>
          <a:prstGeom prst="rect">
            <a:avLst/>
          </a:prstGeom>
          <a:solidFill>
            <a:srgbClr val="99FF66"/>
          </a:solidFill>
          <a:ln w="38100">
            <a:solidFill>
              <a:srgbClr val="00B050"/>
            </a:solidFill>
            <a:miter lim="800000"/>
            <a:headEnd/>
            <a:tailEnd/>
          </a:ln>
        </p:spPr>
        <p:txBody>
          <a:bodyPr wrap="none">
            <a:spAutoFit/>
          </a:bodyPr>
          <a:lstStyle>
            <a:defPPr>
              <a:defRPr lang="en-US"/>
            </a:defPPr>
            <a:lvl1pPr eaLnBrk="1" hangingPunct="1">
              <a:defRPr sz="1100" b="1">
                <a:solidFill>
                  <a:srgbClr val="2D2DB9"/>
                </a:solidFill>
                <a:latin typeface="Arial" pitchFamily="34" charset="0"/>
                <a:ea typeface="ＭＳ Ｐゴシック" pitchFamily="50" charset="-128"/>
                <a:cs typeface="Arial" pitchFamily="34" charset="0"/>
              </a:defRPr>
            </a:lvl1pPr>
            <a:lvl2pPr marL="742950" indent="-285750" eaLnBrk="0" hangingPunct="0">
              <a:defRPr>
                <a:ea typeface="ＭＳ Ｐゴシック" pitchFamily="50" charset="-128"/>
              </a:defRPr>
            </a:lvl2pPr>
            <a:lvl3pPr marL="1143000" indent="-228600" eaLnBrk="0" hangingPunct="0">
              <a:defRPr>
                <a:ea typeface="ＭＳ Ｐゴシック" pitchFamily="50" charset="-128"/>
              </a:defRPr>
            </a:lvl3pPr>
            <a:lvl4pPr marL="1600200" indent="-228600" eaLnBrk="0" hangingPunct="0">
              <a:defRPr>
                <a:ea typeface="ＭＳ Ｐゴシック" pitchFamily="50" charset="-128"/>
              </a:defRPr>
            </a:lvl4pPr>
            <a:lvl5pPr marL="2057400" indent="-228600" eaLnBrk="0" hangingPunct="0">
              <a:defRPr>
                <a:ea typeface="ＭＳ Ｐゴシック" pitchFamily="50" charset="-128"/>
              </a:defRPr>
            </a:lvl5pPr>
            <a:lvl6pPr marL="2514600" indent="-228600" eaLnBrk="0" fontAlgn="base" hangingPunct="0">
              <a:spcBef>
                <a:spcPct val="0"/>
              </a:spcBef>
              <a:spcAft>
                <a:spcPct val="0"/>
              </a:spcAft>
              <a:defRPr>
                <a:ea typeface="ＭＳ Ｐゴシック" pitchFamily="50" charset="-128"/>
              </a:defRPr>
            </a:lvl6pPr>
            <a:lvl7pPr marL="2971800" indent="-228600" eaLnBrk="0" fontAlgn="base" hangingPunct="0">
              <a:spcBef>
                <a:spcPct val="0"/>
              </a:spcBef>
              <a:spcAft>
                <a:spcPct val="0"/>
              </a:spcAft>
              <a:defRPr>
                <a:ea typeface="ＭＳ Ｐゴシック" pitchFamily="50" charset="-128"/>
              </a:defRPr>
            </a:lvl7pPr>
            <a:lvl8pPr marL="3429000" indent="-228600" eaLnBrk="0" fontAlgn="base" hangingPunct="0">
              <a:spcBef>
                <a:spcPct val="0"/>
              </a:spcBef>
              <a:spcAft>
                <a:spcPct val="0"/>
              </a:spcAft>
              <a:defRPr>
                <a:ea typeface="ＭＳ Ｐゴシック" pitchFamily="50" charset="-128"/>
              </a:defRPr>
            </a:lvl8pPr>
            <a:lvl9pPr marL="3886200" indent="-228600" eaLnBrk="0" fontAlgn="base" hangingPunct="0">
              <a:spcBef>
                <a:spcPct val="0"/>
              </a:spcBef>
              <a:spcAft>
                <a:spcPct val="0"/>
              </a:spcAft>
              <a:defRPr>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1" i="0" u="none" strike="noStrike" kern="1200" cap="none" spc="0" normalizeH="0" baseline="0" noProof="0">
                <a:ln>
                  <a:noFill/>
                </a:ln>
                <a:solidFill>
                  <a:srgbClr val="2D2DB9"/>
                </a:solidFill>
                <a:effectLst/>
                <a:uLnTx/>
                <a:uFillTx/>
                <a:latin typeface="Arial" pitchFamily="34" charset="0"/>
                <a:ea typeface="ＭＳ Ｐゴシック" pitchFamily="50" charset="-128"/>
                <a:cs typeface="Arial" pitchFamily="34" charset="0"/>
              </a:rPr>
              <a:t>Target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1" i="0" u="none" strike="noStrike" kern="1200" cap="none" spc="0" normalizeH="0" baseline="0" noProof="0">
                <a:ln>
                  <a:noFill/>
                </a:ln>
                <a:solidFill>
                  <a:srgbClr val="2D2DB9"/>
                </a:solidFill>
                <a:effectLst/>
                <a:uLnTx/>
                <a:uFillTx/>
                <a:latin typeface="Arial" pitchFamily="34" charset="0"/>
                <a:ea typeface="ＭＳ Ｐゴシック" pitchFamily="50" charset="-128"/>
                <a:cs typeface="Arial" pitchFamily="34" charset="0"/>
              </a:rPr>
              <a:t>Acceleration</a:t>
            </a:r>
            <a:endParaRPr kumimoji="1" lang="ja-JP" altLang="en-US" sz="1100" b="1" i="0" u="none" strike="noStrike" kern="1200" cap="none" spc="0" normalizeH="0" baseline="0" noProof="0">
              <a:ln>
                <a:noFill/>
              </a:ln>
              <a:solidFill>
                <a:srgbClr val="2D2DB9"/>
              </a:solidFill>
              <a:effectLst/>
              <a:uLnTx/>
              <a:uFillTx/>
              <a:latin typeface="Arial" pitchFamily="34" charset="0"/>
              <a:ea typeface="ＭＳ Ｐゴシック" pitchFamily="50" charset="-128"/>
              <a:cs typeface="Arial" pitchFamily="34" charset="0"/>
            </a:endParaRPr>
          </a:p>
        </p:txBody>
      </p:sp>
      <p:sp>
        <p:nvSpPr>
          <p:cNvPr id="28" name="テキスト ボックス 1">
            <a:extLst>
              <a:ext uri="{FF2B5EF4-FFF2-40B4-BE49-F238E27FC236}">
                <a16:creationId xmlns:a16="http://schemas.microsoft.com/office/drawing/2014/main" id="{2B3FB75A-B5B5-D347-86DE-75DAAC820CED}"/>
              </a:ext>
            </a:extLst>
          </p:cNvPr>
          <p:cNvSpPr txBox="1">
            <a:spLocks noChangeArrowheads="1"/>
          </p:cNvSpPr>
          <p:nvPr/>
        </p:nvSpPr>
        <p:spPr bwMode="auto">
          <a:xfrm>
            <a:off x="-4140" y="2380494"/>
            <a:ext cx="79060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CAMERA</a:t>
            </a:r>
            <a:endParaRPr kumimoji="1" lang="ja-JP" altLang="en-US"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sp>
        <p:nvSpPr>
          <p:cNvPr id="29" name="テキスト ボックス 1">
            <a:extLst>
              <a:ext uri="{FF2B5EF4-FFF2-40B4-BE49-F238E27FC236}">
                <a16:creationId xmlns:a16="http://schemas.microsoft.com/office/drawing/2014/main" id="{B4ADB4A5-E980-DF4C-FE65-9374C60FF436}"/>
              </a:ext>
            </a:extLst>
          </p:cNvPr>
          <p:cNvSpPr txBox="1">
            <a:spLocks noChangeArrowheads="1"/>
          </p:cNvSpPr>
          <p:nvPr/>
        </p:nvSpPr>
        <p:spPr bwMode="auto">
          <a:xfrm>
            <a:off x="144938" y="2071969"/>
            <a:ext cx="49244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1" i="0" u="sng"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ACC</a:t>
            </a:r>
            <a:endParaRPr kumimoji="1" lang="ja-JP" altLang="en-US" sz="1100" b="1" i="0" u="sng"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sp>
        <p:nvSpPr>
          <p:cNvPr id="30" name="テキスト ボックス 1">
            <a:extLst>
              <a:ext uri="{FF2B5EF4-FFF2-40B4-BE49-F238E27FC236}">
                <a16:creationId xmlns:a16="http://schemas.microsoft.com/office/drawing/2014/main" id="{EEB671FD-BE5E-F640-BDDB-7EBEE92D4529}"/>
              </a:ext>
            </a:extLst>
          </p:cNvPr>
          <p:cNvSpPr txBox="1">
            <a:spLocks noChangeArrowheads="1"/>
          </p:cNvSpPr>
          <p:nvPr/>
        </p:nvSpPr>
        <p:spPr bwMode="auto">
          <a:xfrm>
            <a:off x="181006" y="4586089"/>
            <a:ext cx="4203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1" i="0" u="sng"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ISA</a:t>
            </a:r>
            <a:endParaRPr kumimoji="1" lang="ja-JP" altLang="en-US" sz="1100" b="1" i="0" u="sng"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pic>
        <p:nvPicPr>
          <p:cNvPr id="31" name="図 73">
            <a:extLst>
              <a:ext uri="{FF2B5EF4-FFF2-40B4-BE49-F238E27FC236}">
                <a16:creationId xmlns:a16="http://schemas.microsoft.com/office/drawing/2014/main" id="{C2FB5E4F-71C9-F5DE-E147-EFF560632FBD}"/>
              </a:ext>
            </a:extLst>
          </p:cNvPr>
          <p:cNvPicPr>
            <a:picLocks noChangeAspect="1" noChangeArrowheads="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69416" y="5132379"/>
            <a:ext cx="54768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32" name="テキスト ボックス 1">
            <a:extLst>
              <a:ext uri="{FF2B5EF4-FFF2-40B4-BE49-F238E27FC236}">
                <a16:creationId xmlns:a16="http://schemas.microsoft.com/office/drawing/2014/main" id="{352D2578-5EC9-F57E-CB3E-19BFC1D3DC06}"/>
              </a:ext>
            </a:extLst>
          </p:cNvPr>
          <p:cNvSpPr txBox="1">
            <a:spLocks noChangeArrowheads="1"/>
          </p:cNvSpPr>
          <p:nvPr/>
        </p:nvSpPr>
        <p:spPr bwMode="auto">
          <a:xfrm>
            <a:off x="-4140" y="4870769"/>
            <a:ext cx="79060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CAMERA</a:t>
            </a:r>
            <a:endParaRPr kumimoji="1" lang="ja-JP" altLang="en-US"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endParaRPr>
          </a:p>
        </p:txBody>
      </p:sp>
      <p:cxnSp>
        <p:nvCxnSpPr>
          <p:cNvPr id="33" name="カギ線コネクタ 33">
            <a:extLst>
              <a:ext uri="{FF2B5EF4-FFF2-40B4-BE49-F238E27FC236}">
                <a16:creationId xmlns:a16="http://schemas.microsoft.com/office/drawing/2014/main" id="{2C751519-1AF7-2748-7A3D-64059A7FE7AF}"/>
              </a:ext>
            </a:extLst>
          </p:cNvPr>
          <p:cNvCxnSpPr>
            <a:cxnSpLocks noChangeShapeType="1"/>
            <a:stCxn id="31" idx="3"/>
            <a:endCxn id="35" idx="1"/>
          </p:cNvCxnSpPr>
          <p:nvPr/>
        </p:nvCxnSpPr>
        <p:spPr bwMode="auto">
          <a:xfrm>
            <a:off x="617104" y="5326054"/>
            <a:ext cx="2433274" cy="241323"/>
          </a:xfrm>
          <a:prstGeom prst="bentConnector3">
            <a:avLst>
              <a:gd name="adj1" fmla="val 33493"/>
            </a:avLst>
          </a:prstGeom>
          <a:noFill/>
          <a:ln w="38100" algn="ctr">
            <a:solidFill>
              <a:srgbClr val="00B050"/>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テキスト ボックス 1">
            <a:extLst>
              <a:ext uri="{FF2B5EF4-FFF2-40B4-BE49-F238E27FC236}">
                <a16:creationId xmlns:a16="http://schemas.microsoft.com/office/drawing/2014/main" id="{107D8B84-4EE5-D8DD-B16D-62C0217A756A}"/>
              </a:ext>
            </a:extLst>
          </p:cNvPr>
          <p:cNvSpPr txBox="1">
            <a:spLocks noChangeArrowheads="1"/>
          </p:cNvSpPr>
          <p:nvPr/>
        </p:nvSpPr>
        <p:spPr bwMode="auto">
          <a:xfrm>
            <a:off x="587543" y="5350452"/>
            <a:ext cx="88197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speed limit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Information</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(TSR)</a:t>
            </a:r>
            <a:r>
              <a:rPr kumimoji="1" lang="ja-JP" altLang="en-US" sz="1100" b="0" i="0" u="none" strike="noStrike" kern="1200" cap="none" spc="0" normalizeH="0" baseline="0" noProof="0">
                <a:ln>
                  <a:noFill/>
                </a:ln>
                <a:solidFill>
                  <a:srgbClr val="000000"/>
                </a:solidFill>
                <a:effectLst/>
                <a:uLnTx/>
                <a:uFillTx/>
                <a:latin typeface="Arial" pitchFamily="34" charset="0"/>
                <a:ea typeface="ＭＳ Ｐゴシック"/>
                <a:cs typeface="Arial" pitchFamily="34" charset="0"/>
              </a:rPr>
              <a:t> </a:t>
            </a:r>
          </a:p>
        </p:txBody>
      </p:sp>
      <p:pic>
        <p:nvPicPr>
          <p:cNvPr id="35" name="図 68" descr="MLB9C0.jpg">
            <a:extLst>
              <a:ext uri="{FF2B5EF4-FFF2-40B4-BE49-F238E27FC236}">
                <a16:creationId xmlns:a16="http://schemas.microsoft.com/office/drawing/2014/main" id="{5683FF0F-FA98-173B-5F13-AC32930076D6}"/>
              </a:ext>
            </a:extLst>
          </p:cNvPr>
          <p:cNvPicPr>
            <a:picLocks/>
          </p:cNvPicPr>
          <p:nvPr>
            <p:custDataLst>
              <p:tags r:id="rId3"/>
            </p:custDataLst>
          </p:nvPr>
        </p:nvPicPr>
        <p:blipFill>
          <a:blip r:embed="rId7"/>
          <a:srcRect/>
          <a:stretch>
            <a:fillRect/>
          </a:stretch>
        </p:blipFill>
        <p:spPr bwMode="auto">
          <a:xfrm>
            <a:off x="3050378" y="5309408"/>
            <a:ext cx="508000" cy="515938"/>
          </a:xfrm>
          <a:prstGeom prst="rect">
            <a:avLst/>
          </a:prstGeom>
          <a:noFill/>
          <a:ln w="28575">
            <a:solidFill>
              <a:schemeClr val="accent6">
                <a:lumMod val="40000"/>
                <a:lumOff val="60000"/>
              </a:schemeClr>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36" name="表 35">
            <a:extLst>
              <a:ext uri="{FF2B5EF4-FFF2-40B4-BE49-F238E27FC236}">
                <a16:creationId xmlns:a16="http://schemas.microsoft.com/office/drawing/2014/main" id="{EE3D03F4-FA4C-9D1C-281C-718C2EA1C106}"/>
              </a:ext>
            </a:extLst>
          </p:cNvPr>
          <p:cNvGraphicFramePr>
            <a:graphicFrameLocks noGrp="1"/>
          </p:cNvGraphicFramePr>
          <p:nvPr>
            <p:extLst>
              <p:ext uri="{D42A27DB-BD31-4B8C-83A1-F6EECF244321}">
                <p14:modId xmlns:p14="http://schemas.microsoft.com/office/powerpoint/2010/main" val="286975188"/>
              </p:ext>
            </p:extLst>
          </p:nvPr>
        </p:nvGraphicFramePr>
        <p:xfrm>
          <a:off x="4571657" y="2054994"/>
          <a:ext cx="4517242" cy="4271040"/>
        </p:xfrm>
        <a:graphic>
          <a:graphicData uri="http://schemas.openxmlformats.org/drawingml/2006/table">
            <a:tbl>
              <a:tblPr>
                <a:tableStyleId>{5940675A-B579-460E-94D1-54222C63F5DA}</a:tableStyleId>
              </a:tblPr>
              <a:tblGrid>
                <a:gridCol w="979676">
                  <a:extLst>
                    <a:ext uri="{9D8B030D-6E8A-4147-A177-3AD203B41FA5}">
                      <a16:colId xmlns:a16="http://schemas.microsoft.com/office/drawing/2014/main" val="20000"/>
                    </a:ext>
                  </a:extLst>
                </a:gridCol>
                <a:gridCol w="1238802">
                  <a:extLst>
                    <a:ext uri="{9D8B030D-6E8A-4147-A177-3AD203B41FA5}">
                      <a16:colId xmlns:a16="http://schemas.microsoft.com/office/drawing/2014/main" val="20001"/>
                    </a:ext>
                  </a:extLst>
                </a:gridCol>
                <a:gridCol w="1761353">
                  <a:extLst>
                    <a:ext uri="{9D8B030D-6E8A-4147-A177-3AD203B41FA5}">
                      <a16:colId xmlns:a16="http://schemas.microsoft.com/office/drawing/2014/main" val="4087338863"/>
                    </a:ext>
                  </a:extLst>
                </a:gridCol>
                <a:gridCol w="537411">
                  <a:extLst>
                    <a:ext uri="{9D8B030D-6E8A-4147-A177-3AD203B41FA5}">
                      <a16:colId xmlns:a16="http://schemas.microsoft.com/office/drawing/2014/main" val="20002"/>
                    </a:ext>
                  </a:extLst>
                </a:gridCol>
              </a:tblGrid>
              <a:tr h="216000">
                <a:tc>
                  <a:txBody>
                    <a:bodyPr/>
                    <a:lstStyle/>
                    <a:p>
                      <a:pPr algn="ctr" fontAlgn="ctr"/>
                      <a:r>
                        <a:rPr lang="en-US" altLang="ja-JP" sz="1200" u="none" strike="noStrike">
                          <a:effectLst/>
                          <a:latin typeface="Arial" pitchFamily="34" charset="0"/>
                          <a:cs typeface="Arial" pitchFamily="34" charset="0"/>
                        </a:rPr>
                        <a:t>Classification</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a:effectLst/>
                          <a:latin typeface="Arial" pitchFamily="34" charset="0"/>
                          <a:cs typeface="Arial" pitchFamily="34" charset="0"/>
                        </a:rPr>
                        <a:t>Functions</a:t>
                      </a:r>
                      <a:endParaRPr lang="en-US" altLang="ja-JP" sz="1200" b="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algn="ctr" fontAlgn="ctr"/>
                      <a:r>
                        <a:rPr lang="en-US" altLang="ja-JP" sz="1200" u="none" strike="noStrike">
                          <a:effectLst/>
                          <a:latin typeface="Arial" pitchFamily="34" charset="0"/>
                          <a:cs typeface="Arial" pitchFamily="34" charset="0"/>
                        </a:rPr>
                        <a:t>24.5M</a:t>
                      </a:r>
                      <a:endParaRPr lang="en-US" altLang="ja-JP" sz="1200" b="0" i="0" u="none" strike="noStrike">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00"/>
                  </a:ext>
                </a:extLst>
              </a:tr>
              <a:tr h="216000">
                <a:tc rowSpan="4">
                  <a:txBody>
                    <a:bodyPr/>
                    <a:lstStyle/>
                    <a:p>
                      <a:pPr algn="ctr" fontAlgn="ctr"/>
                      <a:r>
                        <a:rPr lang="en-US" altLang="ja-JP" sz="1200" u="none" strike="noStrike">
                          <a:effectLst/>
                          <a:latin typeface="Arial" pitchFamily="34" charset="0"/>
                          <a:cs typeface="Arial" pitchFamily="34" charset="0"/>
                        </a:rPr>
                        <a:t>Comfort</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a:effectLst/>
                          <a:latin typeface="Arial" pitchFamily="34" charset="0"/>
                          <a:cs typeface="Arial" pitchFamily="34" charset="0"/>
                        </a:rPr>
                        <a:t>Adaptive</a:t>
                      </a:r>
                      <a:r>
                        <a:rPr lang="en-US" altLang="ja-JP" sz="1200" u="none" strike="noStrike" baseline="0">
                          <a:effectLst/>
                          <a:latin typeface="Arial" pitchFamily="34" charset="0"/>
                          <a:cs typeface="Arial" pitchFamily="34" charset="0"/>
                        </a:rPr>
                        <a:t> Crouse Control</a:t>
                      </a:r>
                      <a:endParaRPr lang="en-US" altLang="ja-JP" sz="1200" b="1" u="none" strike="noStrike">
                        <a:solidFill>
                          <a:schemeClr val="accent6"/>
                        </a:solidFill>
                        <a:effectLst/>
                        <a:latin typeface="Arial" pitchFamily="34" charset="0"/>
                        <a:ea typeface="+mn-ea"/>
                        <a:cs typeface="Arial" pitchFamily="34" charset="0"/>
                      </a:endParaRPr>
                    </a:p>
                  </a:txBody>
                  <a:tcPr marL="35995" marR="35995" marT="0" marB="0" anchor="ctr">
                    <a:solidFill>
                      <a:srgbClr val="FFFF00"/>
                    </a:solidFill>
                  </a:tcPr>
                </a:tc>
                <a:tc hMerge="1">
                  <a:txBody>
                    <a:bodyPr/>
                    <a:lstStyle/>
                    <a:p>
                      <a:endParaRPr kumimoji="1" lang="ja-JP" altLang="en-US"/>
                    </a:p>
                  </a:txBody>
                  <a:tcPr/>
                </a:tc>
                <a:tc>
                  <a:txBody>
                    <a:bodyPr/>
                    <a:lstStyle/>
                    <a:p>
                      <a:pPr algn="ctr" fontAlgn="ctr"/>
                      <a:r>
                        <a:rPr lang="ja-JP" altLang="en-US" sz="1200" u="none" strike="noStrike">
                          <a:effectLst/>
                          <a:latin typeface="Arial" pitchFamily="34" charset="0"/>
                          <a:cs typeface="Arial" pitchFamily="34" charset="0"/>
                        </a:rPr>
                        <a:t>○</a:t>
                      </a:r>
                      <a:endParaRPr lang="ja-JP" altLang="en-US" sz="1200" b="1" i="0" u="none" strike="noStrike">
                        <a:solidFill>
                          <a:schemeClr val="accent6"/>
                        </a:solidFill>
                        <a:effectLst/>
                        <a:latin typeface="Arial" pitchFamily="34" charset="0"/>
                        <a:ea typeface="+mn-ea"/>
                        <a:cs typeface="Arial" pitchFamily="34" charset="0"/>
                      </a:endParaRPr>
                    </a:p>
                  </a:txBody>
                  <a:tcPr marL="35995" marR="35995" marT="0" marB="0" anchor="ctr">
                    <a:solidFill>
                      <a:srgbClr val="FFFF00"/>
                    </a:solidFill>
                  </a:tcPr>
                </a:tc>
                <a:extLst>
                  <a:ext uri="{0D108BD9-81ED-4DB2-BD59-A6C34878D82A}">
                    <a16:rowId xmlns:a16="http://schemas.microsoft.com/office/drawing/2014/main" val="10001"/>
                  </a:ext>
                </a:extLst>
              </a:tr>
              <a:tr h="216000">
                <a:tc vMerge="1">
                  <a:txBody>
                    <a:bodyPr/>
                    <a:lstStyle/>
                    <a:p>
                      <a:endParaRPr kumimoji="1" lang="ja-JP" altLang="en-US"/>
                    </a:p>
                  </a:txBody>
                  <a:tcPr/>
                </a:tc>
                <a:tc gridSpan="2">
                  <a:txBody>
                    <a:bodyPr/>
                    <a:lstStyle/>
                    <a:p>
                      <a:pPr algn="ctr" fontAlgn="ctr"/>
                      <a:r>
                        <a:rPr lang="en-US" sz="1200" u="none" strike="noStrike">
                          <a:effectLst/>
                          <a:latin typeface="Arial" pitchFamily="34" charset="0"/>
                          <a:cs typeface="Arial" pitchFamily="34" charset="0"/>
                        </a:rPr>
                        <a:t>Low Speed Following</a:t>
                      </a:r>
                      <a:endParaRPr lang="en-US" sz="1200" b="1" i="0" u="none" strike="noStrike">
                        <a:solidFill>
                          <a:schemeClr val="accent6"/>
                        </a:solidFill>
                        <a:effectLst/>
                        <a:latin typeface="Arial" pitchFamily="34" charset="0"/>
                        <a:ea typeface="+mn-ea"/>
                        <a:cs typeface="Arial" pitchFamily="34" charset="0"/>
                      </a:endParaRPr>
                    </a:p>
                  </a:txBody>
                  <a:tcPr marL="35995" marR="35995" marT="0" marB="0" anchor="ctr">
                    <a:noFill/>
                  </a:tcPr>
                </a:tc>
                <a:tc hMerge="1">
                  <a:txBody>
                    <a:bodyPr/>
                    <a:lstStyle/>
                    <a:p>
                      <a:endParaRPr kumimoji="1" lang="ja-JP" alt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chemeClr val="tx1"/>
                          </a:solidFill>
                          <a:effectLst/>
                          <a:latin typeface="Arial" pitchFamily="34" charset="0"/>
                          <a:ea typeface="+mn-ea"/>
                          <a:cs typeface="Arial" pitchFamily="34" charset="0"/>
                        </a:rPr>
                        <a:t>✕</a:t>
                      </a:r>
                      <a:endParaRPr lang="ja-JP" altLang="en-US" sz="1200" b="1" i="0" u="none" strike="noStrike">
                        <a:solidFill>
                          <a:schemeClr val="accent6"/>
                        </a:solidFill>
                        <a:effectLst/>
                        <a:latin typeface="Arial" pitchFamily="34" charset="0"/>
                        <a:ea typeface="+mn-ea"/>
                        <a:cs typeface="Arial" pitchFamily="34" charset="0"/>
                      </a:endParaRPr>
                    </a:p>
                  </a:txBody>
                  <a:tcPr marL="35995" marR="35995" marT="0" marB="0" anchor="ctr">
                    <a:noFill/>
                  </a:tcPr>
                </a:tc>
                <a:extLst>
                  <a:ext uri="{0D108BD9-81ED-4DB2-BD59-A6C34878D82A}">
                    <a16:rowId xmlns:a16="http://schemas.microsoft.com/office/drawing/2014/main" val="10002"/>
                  </a:ext>
                </a:extLst>
              </a:tr>
              <a:tr h="216000">
                <a:tc vMerge="1">
                  <a:txBody>
                    <a:bodyPr/>
                    <a:lstStyle/>
                    <a:p>
                      <a:endParaRPr kumimoji="1" lang="ja-JP" altLang="en-US"/>
                    </a:p>
                  </a:txBody>
                  <a:tcPr/>
                </a:tc>
                <a:tc gridSpan="2">
                  <a:txBody>
                    <a:bodyPr/>
                    <a:lstStyle/>
                    <a:p>
                      <a:pPr algn="ctr" fontAlgn="ctr"/>
                      <a:r>
                        <a:rPr lang="en-US" altLang="ja-JP" sz="1200" u="none" strike="noStrike">
                          <a:effectLst/>
                          <a:latin typeface="Arial" pitchFamily="34" charset="0"/>
                          <a:cs typeface="Arial" pitchFamily="34" charset="0"/>
                        </a:rPr>
                        <a:t>ACC with Cut-in prediction(</a:t>
                      </a:r>
                      <a:r>
                        <a:rPr lang="en-US" altLang="ja-JP" sz="1200" u="none" strike="noStrike" err="1">
                          <a:effectLst/>
                          <a:latin typeface="Arial" pitchFamily="34" charset="0"/>
                          <a:cs typeface="Arial" pitchFamily="34" charset="0"/>
                        </a:rPr>
                        <a:t>iACC</a:t>
                      </a:r>
                      <a:r>
                        <a:rPr lang="en-US" altLang="ja-JP" sz="1200" u="none" strike="noStrike">
                          <a:effectLst/>
                          <a:latin typeface="Arial" pitchFamily="34" charset="0"/>
                          <a:cs typeface="Arial" pitchFamily="34" charset="0"/>
                        </a:rPr>
                        <a:t>)</a:t>
                      </a:r>
                      <a:endParaRPr lang="en-US" sz="1200" b="1" i="0" u="none" strike="noStrike">
                        <a:solidFill>
                          <a:schemeClr val="accent6"/>
                        </a:solidFill>
                        <a:effectLst/>
                        <a:latin typeface="Arial" pitchFamily="34" charset="0"/>
                        <a:ea typeface="+mn-ea"/>
                        <a:cs typeface="Arial" pitchFamily="34" charset="0"/>
                      </a:endParaRPr>
                    </a:p>
                  </a:txBody>
                  <a:tcPr marL="35995" marR="35995" marT="0" marB="0" anchor="ctr">
                    <a:solidFill>
                      <a:schemeClr val="bg1"/>
                    </a:solidFill>
                  </a:tcP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chemeClr val="tx1"/>
                          </a:solidFill>
                          <a:effectLst/>
                          <a:latin typeface="Arial" pitchFamily="34" charset="0"/>
                          <a:ea typeface="+mn-ea"/>
                          <a:cs typeface="Arial" pitchFamily="34" charset="0"/>
                        </a:rPr>
                        <a:t>✕</a:t>
                      </a:r>
                      <a:endParaRPr lang="ja-JP" altLang="en-US" sz="1200" b="1" i="0" u="none" strike="noStrike">
                        <a:solidFill>
                          <a:schemeClr val="accent6"/>
                        </a:solidFill>
                        <a:effectLst/>
                        <a:latin typeface="Arial" pitchFamily="34" charset="0"/>
                        <a:ea typeface="+mn-ea"/>
                        <a:cs typeface="Arial" pitchFamily="34" charset="0"/>
                      </a:endParaRPr>
                    </a:p>
                  </a:txBody>
                  <a:tcPr marL="35995" marR="35995" marT="0" marB="0" anchor="ctr">
                    <a:solidFill>
                      <a:schemeClr val="bg1"/>
                    </a:solidFill>
                  </a:tcPr>
                </a:tc>
                <a:extLst>
                  <a:ext uri="{0D108BD9-81ED-4DB2-BD59-A6C34878D82A}">
                    <a16:rowId xmlns:a16="http://schemas.microsoft.com/office/drawing/2014/main" val="10003"/>
                  </a:ext>
                </a:extLst>
              </a:tr>
              <a:tr h="216000">
                <a:tc vMerge="1">
                  <a:txBody>
                    <a:bodyPr/>
                    <a:lstStyle/>
                    <a:p>
                      <a:endParaRPr kumimoji="1" lang="ja-JP" altLang="en-US"/>
                    </a:p>
                  </a:txBody>
                  <a:tcPr/>
                </a:tc>
                <a:tc gridSpan="2">
                  <a:txBody>
                    <a:bodyPr/>
                    <a:lstStyle/>
                    <a:p>
                      <a:pPr algn="ctr" fontAlgn="ctr"/>
                      <a:r>
                        <a:rPr lang="en-US" altLang="ja-JP" sz="1200" u="none" strike="noStrike">
                          <a:effectLst/>
                          <a:latin typeface="Arial" pitchFamily="34" charset="0"/>
                          <a:cs typeface="Arial" pitchFamily="34" charset="0"/>
                        </a:rPr>
                        <a:t>Lane Keep Assist System</a:t>
                      </a:r>
                      <a:endParaRPr lang="en-US" sz="1200" b="0" i="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a:effectLst/>
                          <a:latin typeface="Arial" pitchFamily="34" charset="0"/>
                          <a:cs typeface="Arial" pitchFamily="34" charset="0"/>
                        </a:rPr>
                        <a:t>○</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04"/>
                  </a:ext>
                </a:extLst>
              </a:tr>
              <a:tr h="216000">
                <a:tc rowSpan="5">
                  <a:txBody>
                    <a:bodyPr/>
                    <a:lstStyle/>
                    <a:p>
                      <a:pPr algn="ctr" fontAlgn="ctr"/>
                      <a:r>
                        <a:rPr lang="en-US" altLang="ja-JP" sz="1200" u="none" strike="noStrike">
                          <a:effectLst/>
                          <a:latin typeface="Arial" pitchFamily="34" charset="0"/>
                          <a:cs typeface="Arial" pitchFamily="34" charset="0"/>
                        </a:rPr>
                        <a:t>Safety</a:t>
                      </a:r>
                    </a:p>
                    <a:p>
                      <a:pPr algn="ctr" fontAlgn="ctr"/>
                      <a:r>
                        <a:rPr lang="en-US" altLang="ja-JP" sz="1200" u="none" strike="noStrike">
                          <a:effectLst/>
                          <a:latin typeface="Arial" pitchFamily="34" charset="0"/>
                          <a:cs typeface="Arial" pitchFamily="34" charset="0"/>
                        </a:rPr>
                        <a:t>Crash</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a:effectLst/>
                          <a:latin typeface="Arial" pitchFamily="34" charset="0"/>
                          <a:cs typeface="Arial" pitchFamily="34" charset="0"/>
                        </a:rPr>
                        <a:t>Forward Collision Warning</a:t>
                      </a:r>
                      <a:endParaRPr lang="en-US" altLang="ja-JP" sz="1200" b="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a:effectLst/>
                          <a:latin typeface="Arial" pitchFamily="34" charset="0"/>
                          <a:cs typeface="Arial" pitchFamily="34" charset="0"/>
                        </a:rPr>
                        <a:t>○</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05"/>
                  </a:ext>
                </a:extLst>
              </a:tr>
              <a:tr h="216000">
                <a:tc vMerge="1">
                  <a:txBody>
                    <a:bodyPr/>
                    <a:lstStyle/>
                    <a:p>
                      <a:endParaRPr kumimoji="1" lang="ja-JP" altLang="en-US"/>
                    </a:p>
                  </a:txBody>
                  <a:tcPr/>
                </a:tc>
                <a:tc gridSpan="2">
                  <a:txBody>
                    <a:bodyPr/>
                    <a:lstStyle/>
                    <a:p>
                      <a:pPr algn="ctr" fontAlgn="ctr"/>
                      <a:r>
                        <a:rPr lang="en-US" altLang="ja-JP" sz="1200" u="none" strike="noStrike">
                          <a:effectLst/>
                          <a:latin typeface="Arial" pitchFamily="34" charset="0"/>
                          <a:cs typeface="Arial" pitchFamily="34" charset="0"/>
                        </a:rPr>
                        <a:t>Collision Mitigation Brake System(CMBS)</a:t>
                      </a:r>
                      <a:endParaRPr lang="en-US" altLang="ja-JP" sz="1200" b="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a:effectLst/>
                          <a:latin typeface="Arial" pitchFamily="34" charset="0"/>
                          <a:cs typeface="Arial" pitchFamily="34" charset="0"/>
                        </a:rPr>
                        <a:t>○</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06"/>
                  </a:ext>
                </a:extLst>
              </a:tr>
              <a:tr h="216000">
                <a:tc vMerge="1">
                  <a:txBody>
                    <a:bodyPr/>
                    <a:lstStyle/>
                    <a:p>
                      <a:endParaRPr kumimoji="1" lang="ja-JP" altLang="en-US"/>
                    </a:p>
                  </a:txBody>
                  <a:tcPr/>
                </a:tc>
                <a:tc gridSpan="2">
                  <a:txBody>
                    <a:bodyPr/>
                    <a:lstStyle/>
                    <a:p>
                      <a:pPr algn="ctr" fontAlgn="ctr"/>
                      <a:r>
                        <a:rPr lang="en-US" altLang="ja-JP" sz="1200" u="none" strike="noStrike">
                          <a:effectLst/>
                          <a:latin typeface="Arial" pitchFamily="34" charset="0"/>
                          <a:cs typeface="Arial" pitchFamily="34" charset="0"/>
                        </a:rPr>
                        <a:t>Pedestrian</a:t>
                      </a:r>
                      <a:r>
                        <a:rPr lang="en-US" altLang="ja-JP" sz="1200" u="none" strike="noStrike" baseline="0">
                          <a:effectLst/>
                          <a:latin typeface="Arial" pitchFamily="34" charset="0"/>
                          <a:cs typeface="Arial" pitchFamily="34" charset="0"/>
                        </a:rPr>
                        <a:t> Collision Mitigation</a:t>
                      </a:r>
                    </a:p>
                    <a:p>
                      <a:pPr algn="ctr" fontAlgn="ctr"/>
                      <a:r>
                        <a:rPr lang="en-US" altLang="ja-JP" sz="1200" u="none" strike="noStrike" baseline="0">
                          <a:effectLst/>
                          <a:latin typeface="Arial" pitchFamily="34" charset="0"/>
                          <a:cs typeface="Arial" pitchFamily="34" charset="0"/>
                        </a:rPr>
                        <a:t>Steering System (PCMSS)</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chemeClr val="tx1"/>
                          </a:solidFill>
                          <a:effectLst/>
                          <a:latin typeface="Arial" pitchFamily="34" charset="0"/>
                          <a:ea typeface="+mn-ea"/>
                          <a:cs typeface="Arial" pitchFamily="34" charset="0"/>
                        </a:rPr>
                        <a:t>✕</a:t>
                      </a:r>
                    </a:p>
                  </a:txBody>
                  <a:tcPr marL="35995" marR="35995" marT="0" marB="0" anchor="ctr"/>
                </a:tc>
                <a:extLst>
                  <a:ext uri="{0D108BD9-81ED-4DB2-BD59-A6C34878D82A}">
                    <a16:rowId xmlns:a16="http://schemas.microsoft.com/office/drawing/2014/main" val="10009"/>
                  </a:ext>
                </a:extLst>
              </a:tr>
              <a:tr h="216000">
                <a:tc vMerge="1">
                  <a:txBody>
                    <a:bodyPr/>
                    <a:lstStyle/>
                    <a:p>
                      <a:endParaRPr kumimoji="1" lang="ja-JP" altLang="en-US"/>
                    </a:p>
                  </a:txBody>
                  <a:tcPr/>
                </a:tc>
                <a:tc rowSpan="2">
                  <a:txBody>
                    <a:bodyPr/>
                    <a:lstStyle/>
                    <a:p>
                      <a:pPr algn="ctr" fontAlgn="ctr"/>
                      <a:r>
                        <a:rPr lang="en-US" altLang="ja-JP" sz="1200" b="0" i="0" u="none" strike="noStrike">
                          <a:solidFill>
                            <a:schemeClr val="tx1"/>
                          </a:solidFill>
                          <a:effectLst/>
                          <a:latin typeface="Arial" pitchFamily="34" charset="0"/>
                          <a:ea typeface="+mn-ea"/>
                          <a:cs typeface="Arial" pitchFamily="34" charset="0"/>
                        </a:rPr>
                        <a:t>Low</a:t>
                      </a:r>
                      <a:r>
                        <a:rPr lang="ja-JP" altLang="en-US" sz="1200" b="0" i="0" u="none" strike="noStrike" baseline="0">
                          <a:solidFill>
                            <a:schemeClr val="tx1"/>
                          </a:solidFill>
                          <a:effectLst/>
                          <a:latin typeface="Arial" pitchFamily="34" charset="0"/>
                          <a:ea typeface="+mn-ea"/>
                          <a:cs typeface="Arial" pitchFamily="34" charset="0"/>
                        </a:rPr>
                        <a:t> </a:t>
                      </a:r>
                      <a:r>
                        <a:rPr lang="en-US" altLang="ja-JP" sz="1200" b="0" i="0" u="none" strike="noStrike">
                          <a:solidFill>
                            <a:schemeClr val="tx1"/>
                          </a:solidFill>
                          <a:effectLst/>
                          <a:latin typeface="Arial" pitchFamily="34" charset="0"/>
                          <a:ea typeface="+mn-ea"/>
                          <a:cs typeface="Arial" pitchFamily="34" charset="0"/>
                        </a:rPr>
                        <a:t>speed</a:t>
                      </a:r>
                    </a:p>
                    <a:p>
                      <a:pPr algn="ctr" fontAlgn="ctr"/>
                      <a:r>
                        <a:rPr lang="en-US" altLang="ja-JP" sz="1200" b="0" i="0" u="none" strike="noStrike" err="1">
                          <a:solidFill>
                            <a:schemeClr val="tx1"/>
                          </a:solidFill>
                          <a:effectLst/>
                          <a:latin typeface="Arial" pitchFamily="34" charset="0"/>
                          <a:ea typeface="+mn-ea"/>
                          <a:cs typeface="Arial" pitchFamily="34" charset="0"/>
                        </a:rPr>
                        <a:t>Autonomaus</a:t>
                      </a:r>
                      <a:endParaRPr lang="en-US" altLang="ja-JP" sz="1200" b="0" i="0" u="none" strike="noStrike">
                        <a:solidFill>
                          <a:schemeClr val="tx1"/>
                        </a:solidFill>
                        <a:effectLst/>
                        <a:latin typeface="Arial" pitchFamily="34" charset="0"/>
                        <a:ea typeface="+mn-ea"/>
                        <a:cs typeface="Arial" pitchFamily="34" charset="0"/>
                      </a:endParaRPr>
                    </a:p>
                    <a:p>
                      <a:pPr algn="ctr" fontAlgn="ctr"/>
                      <a:r>
                        <a:rPr lang="en-US" altLang="ja-JP" sz="1200" b="0" i="0" u="none" strike="noStrike">
                          <a:solidFill>
                            <a:schemeClr val="tx1"/>
                          </a:solidFill>
                          <a:effectLst/>
                          <a:latin typeface="Arial" pitchFamily="34" charset="0"/>
                          <a:ea typeface="+mn-ea"/>
                          <a:cs typeface="Arial" pitchFamily="34" charset="0"/>
                        </a:rPr>
                        <a:t>Emergency </a:t>
                      </a:r>
                    </a:p>
                    <a:p>
                      <a:pPr algn="ctr" fontAlgn="ctr"/>
                      <a:r>
                        <a:rPr lang="en-US" altLang="ja-JP" sz="1200" b="0" i="0" u="none" strike="noStrike">
                          <a:solidFill>
                            <a:schemeClr val="tx1"/>
                          </a:solidFill>
                          <a:effectLst/>
                          <a:latin typeface="Arial" pitchFamily="34" charset="0"/>
                          <a:ea typeface="+mn-ea"/>
                          <a:cs typeface="Arial" pitchFamily="34" charset="0"/>
                        </a:rPr>
                        <a:t>Braking (</a:t>
                      </a:r>
                      <a:r>
                        <a:rPr lang="en-US" altLang="ja-JP" sz="1200" b="0" i="0" u="none" strike="noStrike" err="1">
                          <a:solidFill>
                            <a:schemeClr val="tx1"/>
                          </a:solidFill>
                          <a:effectLst/>
                          <a:latin typeface="Arial" pitchFamily="34" charset="0"/>
                          <a:ea typeface="+mn-ea"/>
                          <a:cs typeface="Arial" pitchFamily="34" charset="0"/>
                        </a:rPr>
                        <a:t>LsAEB</a:t>
                      </a:r>
                      <a:r>
                        <a:rPr lang="en-US" altLang="ja-JP" sz="1200" b="0" i="0" u="none" strike="noStrike">
                          <a:solidFill>
                            <a:schemeClr val="tx1"/>
                          </a:solidFill>
                          <a:effectLst/>
                          <a:latin typeface="Arial" pitchFamily="34" charset="0"/>
                          <a:ea typeface="+mn-ea"/>
                          <a:cs typeface="Arial" pitchFamily="34" charset="0"/>
                        </a:rPr>
                        <a:t>)</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lnR w="6350" cap="flat" cmpd="sng" algn="ctr">
                      <a:solidFill>
                        <a:schemeClr val="tx1"/>
                      </a:solidFill>
                      <a:prstDash val="sysDot"/>
                      <a:round/>
                      <a:headEnd type="none" w="med" len="med"/>
                      <a:tailEnd type="none" w="med" len="med"/>
                    </a:lnR>
                  </a:tcPr>
                </a:tc>
                <a:tc>
                  <a:txBody>
                    <a:bodyPr/>
                    <a:lstStyle/>
                    <a:p>
                      <a:pPr algn="ctr" fontAlgn="ctr"/>
                      <a:r>
                        <a:rPr lang="en-US" altLang="ja-JP" sz="1200" b="0" i="0" u="none" strike="noStrike">
                          <a:solidFill>
                            <a:schemeClr val="tx1"/>
                          </a:solidFill>
                          <a:effectLst/>
                          <a:latin typeface="Arial" pitchFamily="34" charset="0"/>
                          <a:ea typeface="+mn-ea"/>
                          <a:cs typeface="Arial" pitchFamily="34" charset="0"/>
                        </a:rPr>
                        <a:t>Parking Sensor with Brake(</a:t>
                      </a:r>
                      <a:r>
                        <a:rPr lang="en-US" altLang="ja-JP" sz="1200" b="0" i="0" u="none" strike="noStrike" err="1">
                          <a:solidFill>
                            <a:schemeClr val="tx1"/>
                          </a:solidFill>
                          <a:effectLst/>
                          <a:latin typeface="Arial" pitchFamily="34" charset="0"/>
                          <a:ea typeface="+mn-ea"/>
                          <a:cs typeface="Arial" pitchFamily="34" charset="0"/>
                        </a:rPr>
                        <a:t>PKSwB</a:t>
                      </a:r>
                      <a:r>
                        <a:rPr lang="en-US" altLang="ja-JP" sz="1200" b="0" i="0" u="none" strike="noStrike">
                          <a:solidFill>
                            <a:schemeClr val="tx1"/>
                          </a:solidFill>
                          <a:effectLst/>
                          <a:latin typeface="Arial" pitchFamily="34" charset="0"/>
                          <a:ea typeface="+mn-ea"/>
                          <a:cs typeface="Arial" pitchFamily="34" charset="0"/>
                        </a:rPr>
                        <a:t>) </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lnL w="6350" cap="flat" cmpd="sng" algn="ctr">
                      <a:solidFill>
                        <a:schemeClr val="tx1"/>
                      </a:solidFill>
                      <a:prstDash val="sysDot"/>
                      <a:round/>
                      <a:headEnd type="none" w="med" len="med"/>
                      <a:tailEnd type="none" w="med" len="med"/>
                    </a:lnL>
                    <a:lnB w="6350" cap="flat" cmpd="sng" algn="ctr">
                      <a:solidFill>
                        <a:schemeClr val="tx1"/>
                      </a:solidFill>
                      <a:prstDash val="sysDot"/>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chemeClr val="tx1"/>
                          </a:solidFill>
                          <a:effectLst/>
                          <a:latin typeface="Arial" pitchFamily="34" charset="0"/>
                          <a:ea typeface="+mn-ea"/>
                          <a:cs typeface="Arial" pitchFamily="34" charset="0"/>
                        </a:rPr>
                        <a:t>✕</a:t>
                      </a:r>
                    </a:p>
                  </a:txBody>
                  <a:tcPr marL="35995" marR="35995" marT="0" marB="0" anchor="ctr">
                    <a:lnB w="635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029546426"/>
                  </a:ext>
                </a:extLst>
              </a:tr>
              <a:tr h="216000">
                <a:tc vMerge="1">
                  <a:txBody>
                    <a:bodyPr/>
                    <a:lstStyle/>
                    <a:p>
                      <a:endParaRPr kumimoji="1" lang="ja-JP" altLang="en-US"/>
                    </a:p>
                  </a:txBody>
                  <a:tcPr/>
                </a:tc>
                <a:tc vMerge="1">
                  <a:txBody>
                    <a:bodyPr/>
                    <a:lstStyle/>
                    <a:p>
                      <a:pPr algn="ctr" fontAlgn="ct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chemeClr val="tx1"/>
                          </a:solidFill>
                          <a:effectLst/>
                          <a:latin typeface="Arial" pitchFamily="34" charset="0"/>
                          <a:ea typeface="+mn-ea"/>
                          <a:cs typeface="Arial" pitchFamily="34" charset="0"/>
                        </a:rPr>
                        <a:t>Collision Mitigation Throttle Control(CMTC)</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lnL w="6350" cap="flat" cmpd="sng" algn="ctr">
                      <a:solidFill>
                        <a:schemeClr val="tx1"/>
                      </a:solidFill>
                      <a:prstDash val="sysDot"/>
                      <a:round/>
                      <a:headEnd type="none" w="med" len="med"/>
                      <a:tailEnd type="none" w="med" len="med"/>
                    </a:lnL>
                    <a:lnT w="6350" cap="flat" cmpd="sng" algn="ctr">
                      <a:solidFill>
                        <a:schemeClr val="tx1"/>
                      </a:solidFill>
                      <a:prstDash val="sysDot"/>
                      <a:round/>
                      <a:headEnd type="none" w="med" len="med"/>
                      <a:tailEnd type="none" w="med" len="med"/>
                    </a:lnT>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chemeClr val="tx1"/>
                          </a:solidFill>
                          <a:effectLst/>
                          <a:latin typeface="Arial" pitchFamily="34" charset="0"/>
                          <a:ea typeface="+mn-ea"/>
                          <a:cs typeface="Arial" pitchFamily="34" charset="0"/>
                        </a:rPr>
                        <a:t>✕</a:t>
                      </a:r>
                    </a:p>
                  </a:txBody>
                  <a:tcPr marL="35995" marR="35995" marT="0" marB="0" anchor="ctr">
                    <a:lnT w="6350" cap="flat" cmpd="sng" algn="ctr">
                      <a:solidFill>
                        <a:schemeClr val="tx1"/>
                      </a:solidFill>
                      <a:prstDash val="sysDot"/>
                      <a:round/>
                      <a:headEnd type="none" w="med" len="med"/>
                      <a:tailEnd type="none" w="med" len="med"/>
                    </a:lnT>
                  </a:tcPr>
                </a:tc>
                <a:extLst>
                  <a:ext uri="{0D108BD9-81ED-4DB2-BD59-A6C34878D82A}">
                    <a16:rowId xmlns:a16="http://schemas.microsoft.com/office/drawing/2014/main" val="10010"/>
                  </a:ext>
                </a:extLst>
              </a:tr>
              <a:tr h="216000">
                <a:tc rowSpan="2">
                  <a:txBody>
                    <a:bodyPr/>
                    <a:lstStyle/>
                    <a:p>
                      <a:pPr algn="ctr" fontAlgn="ctr"/>
                      <a:r>
                        <a:rPr lang="en-US" altLang="ja-JP" sz="1200" u="none" strike="noStrike">
                          <a:effectLst/>
                          <a:latin typeface="Arial" pitchFamily="34" charset="0"/>
                          <a:cs typeface="Arial" pitchFamily="34" charset="0"/>
                        </a:rPr>
                        <a:t>Safety</a:t>
                      </a:r>
                    </a:p>
                    <a:p>
                      <a:pPr algn="ctr" fontAlgn="ctr"/>
                      <a:r>
                        <a:rPr lang="en-US" altLang="ja-JP" sz="1200" u="none" strike="noStrike">
                          <a:effectLst/>
                          <a:latin typeface="Arial" pitchFamily="34" charset="0"/>
                          <a:cs typeface="Arial" pitchFamily="34" charset="0"/>
                        </a:rPr>
                        <a:t>Departure</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a:effectLst/>
                          <a:latin typeface="Arial" pitchFamily="34" charset="0"/>
                          <a:cs typeface="Arial" pitchFamily="34" charset="0"/>
                        </a:rPr>
                        <a:t>Road</a:t>
                      </a:r>
                      <a:r>
                        <a:rPr lang="en-US" altLang="ja-JP" sz="1200" u="none" strike="noStrike" baseline="0">
                          <a:effectLst/>
                          <a:latin typeface="Arial" pitchFamily="34" charset="0"/>
                          <a:cs typeface="Arial" pitchFamily="34" charset="0"/>
                        </a:rPr>
                        <a:t> Departure Mitigation</a:t>
                      </a:r>
                      <a:r>
                        <a:rPr lang="en-US" altLang="ja-JP" sz="1200" u="none" strike="noStrike">
                          <a:effectLst/>
                          <a:latin typeface="Arial" pitchFamily="34" charset="0"/>
                          <a:cs typeface="Arial" pitchFamily="34" charset="0"/>
                        </a:rPr>
                        <a:t>(</a:t>
                      </a:r>
                      <a:r>
                        <a:rPr lang="en-US" sz="1200" u="none" strike="noStrike">
                          <a:effectLst/>
                          <a:latin typeface="Arial" pitchFamily="34" charset="0"/>
                          <a:cs typeface="Arial" pitchFamily="34" charset="0"/>
                        </a:rPr>
                        <a:t>RDM)</a:t>
                      </a:r>
                      <a:endParaRPr lang="en-US" sz="1200" b="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pPr algn="ctr" fontAlgn="ctr"/>
                      <a:endParaRPr lang="en-US" sz="1200" b="0" u="none" strike="noStrike">
                        <a:solidFill>
                          <a:schemeClr val="tx1"/>
                        </a:solidFill>
                        <a:effectLst/>
                        <a:latin typeface="Arial" pitchFamily="34" charset="0"/>
                        <a:ea typeface="+mn-ea"/>
                        <a:cs typeface="Arial" pitchFamily="34" charset="0"/>
                      </a:endParaRPr>
                    </a:p>
                  </a:txBody>
                  <a:tcPr marL="35995" marR="35995" marT="0" marB="0" anchor="ctr">
                    <a:lnL w="12700" cap="flat" cmpd="sng" algn="ctr">
                      <a:solidFill>
                        <a:schemeClr val="tx1"/>
                      </a:solidFill>
                      <a:prstDash val="solid"/>
                      <a:round/>
                      <a:headEnd type="none" w="med" len="med"/>
                      <a:tailEnd type="none" w="med" len="med"/>
                    </a:ln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a:effectLst/>
                          <a:latin typeface="Arial" pitchFamily="34" charset="0"/>
                          <a:cs typeface="Arial" pitchFamily="34" charset="0"/>
                        </a:rPr>
                        <a:t>○</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11"/>
                  </a:ext>
                </a:extLst>
              </a:tr>
              <a:tr h="216000">
                <a:tc vMerge="1">
                  <a:txBody>
                    <a:bodyPr/>
                    <a:lstStyle/>
                    <a:p>
                      <a:endParaRPr kumimoji="1" lang="ja-JP" altLang="en-US"/>
                    </a:p>
                  </a:txBody>
                  <a:tcPr/>
                </a:tc>
                <a:tc gridSpan="2">
                  <a:txBody>
                    <a:bodyPr/>
                    <a:lstStyle/>
                    <a:p>
                      <a:pPr algn="ctr" fontAlgn="ctr"/>
                      <a:r>
                        <a:rPr lang="en-US" altLang="ja-JP" sz="1200" u="none" strike="noStrike">
                          <a:effectLst/>
                          <a:latin typeface="Arial" pitchFamily="34" charset="0"/>
                          <a:cs typeface="Arial" pitchFamily="34" charset="0"/>
                        </a:rPr>
                        <a:t>Lane</a:t>
                      </a:r>
                      <a:r>
                        <a:rPr lang="en-US" altLang="ja-JP" sz="1200" u="none" strike="noStrike" baseline="0">
                          <a:effectLst/>
                          <a:latin typeface="Arial" pitchFamily="34" charset="0"/>
                          <a:cs typeface="Arial" pitchFamily="34" charset="0"/>
                        </a:rPr>
                        <a:t> Departure Warning</a:t>
                      </a:r>
                      <a:r>
                        <a:rPr lang="en-US" altLang="ja-JP" sz="1200" u="none" strike="noStrike">
                          <a:effectLst/>
                          <a:latin typeface="Arial" pitchFamily="34" charset="0"/>
                          <a:cs typeface="Arial" pitchFamily="34" charset="0"/>
                        </a:rPr>
                        <a:t>(</a:t>
                      </a:r>
                      <a:r>
                        <a:rPr lang="en-US" sz="1200" u="none" strike="noStrike">
                          <a:effectLst/>
                          <a:latin typeface="Arial" pitchFamily="34" charset="0"/>
                          <a:cs typeface="Arial" pitchFamily="34" charset="0"/>
                        </a:rPr>
                        <a:t>LDW)</a:t>
                      </a:r>
                      <a:endParaRPr lang="en-US" sz="1200" b="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u="none" strike="noStrike">
                          <a:effectLst/>
                          <a:latin typeface="Arial" pitchFamily="34" charset="0"/>
                          <a:cs typeface="Arial" pitchFamily="34" charset="0"/>
                        </a:rPr>
                        <a:t>○</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12"/>
                  </a:ext>
                </a:extLst>
              </a:tr>
              <a:tr h="216000">
                <a:tc>
                  <a:txBody>
                    <a:bodyPr/>
                    <a:lstStyle/>
                    <a:p>
                      <a:pPr algn="ctr" fontAlgn="ctr"/>
                      <a:r>
                        <a:rPr lang="en-US" altLang="ja-JP" sz="1200" u="none" strike="noStrike">
                          <a:effectLst/>
                          <a:latin typeface="Arial" pitchFamily="34" charset="0"/>
                          <a:cs typeface="Arial" pitchFamily="34" charset="0"/>
                        </a:rPr>
                        <a:t>Safety</a:t>
                      </a:r>
                    </a:p>
                    <a:p>
                      <a:pPr algn="ctr" fontAlgn="ctr"/>
                      <a:r>
                        <a:rPr lang="en-US" altLang="ja-JP" sz="1200" u="none" strike="noStrike">
                          <a:effectLst/>
                          <a:latin typeface="Arial" pitchFamily="34" charset="0"/>
                          <a:cs typeface="Arial" pitchFamily="34" charset="0"/>
                        </a:rPr>
                        <a:t>Speed</a:t>
                      </a:r>
                      <a:r>
                        <a:rPr lang="en-US" altLang="ja-JP" sz="1200" u="none" strike="noStrike" baseline="0">
                          <a:effectLst/>
                          <a:latin typeface="Arial" pitchFamily="34" charset="0"/>
                          <a:cs typeface="Arial" pitchFamily="34" charset="0"/>
                        </a:rPr>
                        <a:t> Limit</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a:effectLst/>
                          <a:latin typeface="Arial" pitchFamily="34" charset="0"/>
                          <a:cs typeface="Arial" pitchFamily="34" charset="0"/>
                        </a:rPr>
                        <a:t>Speed</a:t>
                      </a:r>
                      <a:r>
                        <a:rPr lang="en-US" altLang="ja-JP" sz="1200" u="none" strike="noStrike" baseline="0">
                          <a:effectLst/>
                          <a:latin typeface="Arial" pitchFamily="34" charset="0"/>
                          <a:cs typeface="Arial" pitchFamily="34" charset="0"/>
                        </a:rPr>
                        <a:t> Limiter with TSR</a:t>
                      </a:r>
                      <a:r>
                        <a:rPr lang="en-US" altLang="ja-JP" sz="1200" u="none" strike="noStrike">
                          <a:effectLst/>
                          <a:latin typeface="Arial" pitchFamily="34" charset="0"/>
                          <a:cs typeface="Arial" pitchFamily="34" charset="0"/>
                        </a:rPr>
                        <a:t>(ISA)</a:t>
                      </a:r>
                      <a:endParaRPr lang="en-US" altLang="ja-JP" sz="1200" b="1" i="0" u="none" strike="noStrike">
                        <a:solidFill>
                          <a:schemeClr val="accent6"/>
                        </a:solidFill>
                        <a:effectLst/>
                        <a:latin typeface="Arial" pitchFamily="34" charset="0"/>
                        <a:ea typeface="+mn-ea"/>
                        <a:cs typeface="Arial" pitchFamily="34" charset="0"/>
                      </a:endParaRPr>
                    </a:p>
                  </a:txBody>
                  <a:tcPr marL="35995" marR="35995" marT="0" marB="0" anchor="ctr">
                    <a:solidFill>
                      <a:srgbClr val="CC99FF"/>
                    </a:solidFill>
                  </a:tcP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chemeClr val="tx1"/>
                          </a:solidFill>
                          <a:effectLst/>
                          <a:latin typeface="Arial" pitchFamily="34" charset="0"/>
                          <a:ea typeface="+mn-ea"/>
                          <a:cs typeface="Arial" pitchFamily="34" charset="0"/>
                        </a:rPr>
                        <a:t>✕</a:t>
                      </a:r>
                      <a:endParaRPr lang="ja-JP" altLang="en-US" sz="1200" b="1" i="0" u="none" strike="noStrike">
                        <a:solidFill>
                          <a:schemeClr val="accent6"/>
                        </a:solidFill>
                        <a:effectLst/>
                        <a:latin typeface="Arial" pitchFamily="34" charset="0"/>
                        <a:ea typeface="+mn-ea"/>
                        <a:cs typeface="Arial" pitchFamily="34" charset="0"/>
                      </a:endParaRPr>
                    </a:p>
                  </a:txBody>
                  <a:tcPr marL="35995" marR="35995" marT="0" marB="0" anchor="ctr">
                    <a:solidFill>
                      <a:srgbClr val="CC99FF"/>
                    </a:solidFill>
                  </a:tcPr>
                </a:tc>
                <a:extLst>
                  <a:ext uri="{0D108BD9-81ED-4DB2-BD59-A6C34878D82A}">
                    <a16:rowId xmlns:a16="http://schemas.microsoft.com/office/drawing/2014/main" val="10013"/>
                  </a:ext>
                </a:extLst>
              </a:tr>
              <a:tr h="216000">
                <a:tc rowSpan="3">
                  <a:txBody>
                    <a:bodyPr/>
                    <a:lstStyle/>
                    <a:p>
                      <a:pPr algn="ctr" fontAlgn="ctr"/>
                      <a:r>
                        <a:rPr lang="en-US" altLang="ja-JP" sz="1200" u="none" strike="noStrike">
                          <a:effectLst/>
                          <a:latin typeface="Arial" pitchFamily="34" charset="0"/>
                          <a:cs typeface="Arial" pitchFamily="34" charset="0"/>
                        </a:rPr>
                        <a:t>Information</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a:effectLst/>
                          <a:latin typeface="Arial" pitchFamily="34" charset="0"/>
                          <a:cs typeface="Arial" pitchFamily="34" charset="0"/>
                        </a:rPr>
                        <a:t>Traffic Sign</a:t>
                      </a:r>
                      <a:r>
                        <a:rPr lang="en-US" altLang="ja-JP" sz="1200" u="none" strike="noStrike" baseline="0">
                          <a:effectLst/>
                          <a:latin typeface="Arial" pitchFamily="34" charset="0"/>
                          <a:cs typeface="Arial" pitchFamily="34" charset="0"/>
                        </a:rPr>
                        <a:t> Recognition</a:t>
                      </a:r>
                      <a:endParaRPr lang="en-US" sz="1200" b="0" i="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chemeClr val="tx1"/>
                          </a:solidFill>
                          <a:effectLst/>
                          <a:latin typeface="Arial" pitchFamily="34" charset="0"/>
                          <a:ea typeface="+mn-ea"/>
                          <a:cs typeface="Arial" pitchFamily="34" charset="0"/>
                        </a:rPr>
                        <a:t>✕</a:t>
                      </a:r>
                    </a:p>
                  </a:txBody>
                  <a:tcPr marL="35995" marR="35995" marT="0" marB="0" anchor="ctr"/>
                </a:tc>
                <a:extLst>
                  <a:ext uri="{0D108BD9-81ED-4DB2-BD59-A6C34878D82A}">
                    <a16:rowId xmlns:a16="http://schemas.microsoft.com/office/drawing/2014/main" val="10014"/>
                  </a:ext>
                </a:extLst>
              </a:tr>
              <a:tr h="216000">
                <a:tc vMerge="1">
                  <a:txBody>
                    <a:bodyPr/>
                    <a:lstStyle/>
                    <a:p>
                      <a:endParaRPr kumimoji="1" lang="ja-JP" altLang="en-US"/>
                    </a:p>
                  </a:txBody>
                  <a:tcPr/>
                </a:tc>
                <a:tc gridSpan="2">
                  <a:txBody>
                    <a:bodyPr/>
                    <a:lstStyle/>
                    <a:p>
                      <a:pPr algn="ctr" fontAlgn="ctr"/>
                      <a:r>
                        <a:rPr lang="en-US" altLang="ja-JP" sz="1200" u="none" strike="noStrike">
                          <a:effectLst/>
                          <a:latin typeface="Arial" pitchFamily="34" charset="0"/>
                          <a:cs typeface="Arial" pitchFamily="34" charset="0"/>
                        </a:rPr>
                        <a:t>Opposite-Lane Turn Assist</a:t>
                      </a:r>
                      <a:endParaRPr lang="en-US" altLang="ja-JP" sz="1200" b="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chemeClr val="tx1"/>
                          </a:solidFill>
                          <a:effectLst/>
                          <a:latin typeface="Arial" pitchFamily="34" charset="0"/>
                          <a:ea typeface="+mn-ea"/>
                          <a:cs typeface="Arial" pitchFamily="34" charset="0"/>
                        </a:rPr>
                        <a:t>✕</a:t>
                      </a:r>
                    </a:p>
                  </a:txBody>
                  <a:tcPr marL="35995" marR="35995" marT="0" marB="0" anchor="ctr"/>
                </a:tc>
                <a:extLst>
                  <a:ext uri="{0D108BD9-81ED-4DB2-BD59-A6C34878D82A}">
                    <a16:rowId xmlns:a16="http://schemas.microsoft.com/office/drawing/2014/main" val="10015"/>
                  </a:ext>
                </a:extLst>
              </a:tr>
              <a:tr h="216000">
                <a:tc vMerge="1">
                  <a:txBody>
                    <a:bodyPr/>
                    <a:lstStyle/>
                    <a:p>
                      <a:pPr algn="ctr" fontAlgn="ctr"/>
                      <a:endParaRPr lang="ja-JP" altLang="en-US" sz="1000" b="0" i="0" u="none" strike="noStrike">
                        <a:solidFill>
                          <a:schemeClr val="tx1"/>
                        </a:solidFill>
                        <a:effectLst/>
                        <a:latin typeface="HGPｺﾞｼｯｸE" pitchFamily="50" charset="-128"/>
                        <a:ea typeface="HGPｺﾞｼｯｸE" pitchFamily="50" charset="-128"/>
                      </a:endParaRPr>
                    </a:p>
                  </a:txBody>
                  <a:tcPr marL="36000" marR="36000" marT="0" marB="0" anchor="ctr">
                    <a:lnL w="28575" cap="flat" cmpd="sng" algn="ctr">
                      <a:solidFill>
                        <a:schemeClr val="tx1"/>
                      </a:solidFill>
                      <a:prstDash val="solid"/>
                      <a:round/>
                      <a:headEnd type="none" w="med" len="med"/>
                      <a:tailEnd type="none" w="med" len="med"/>
                    </a:lnL>
                    <a:solidFill>
                      <a:schemeClr val="bg1"/>
                    </a:solidFill>
                  </a:tcPr>
                </a:tc>
                <a:tc gridSpan="2">
                  <a:txBody>
                    <a:bodyPr/>
                    <a:lstStyle/>
                    <a:p>
                      <a:pPr algn="ctr" fontAlgn="ctr"/>
                      <a:r>
                        <a:rPr lang="en-US" sz="1200" u="none" strike="noStrike">
                          <a:effectLst/>
                          <a:latin typeface="Arial" pitchFamily="34" charset="0"/>
                          <a:cs typeface="Arial" pitchFamily="34" charset="0"/>
                        </a:rPr>
                        <a:t>Starting</a:t>
                      </a:r>
                      <a:r>
                        <a:rPr lang="en-US" sz="1200" u="none" strike="noStrike" baseline="0">
                          <a:effectLst/>
                          <a:latin typeface="Arial" pitchFamily="34" charset="0"/>
                          <a:cs typeface="Arial" pitchFamily="34" charset="0"/>
                        </a:rPr>
                        <a:t> Information</a:t>
                      </a:r>
                      <a:endParaRPr lang="en-US" sz="1200" b="0" i="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algn="ctr" fontAlgn="ctr"/>
                      <a:r>
                        <a:rPr lang="ja-JP" altLang="en-US" sz="1200" b="0" i="0" u="none" strike="noStrike">
                          <a:solidFill>
                            <a:schemeClr val="tx1"/>
                          </a:solidFill>
                          <a:effectLst/>
                          <a:latin typeface="Arial" pitchFamily="34" charset="0"/>
                          <a:ea typeface="+mn-ea"/>
                          <a:cs typeface="Arial" pitchFamily="34" charset="0"/>
                        </a:rPr>
                        <a:t>✕</a:t>
                      </a:r>
                      <a:endParaRPr lang="en-US" altLang="ja-JP" sz="1200" b="0" i="0" u="none" strike="noStrike">
                        <a:solidFill>
                          <a:schemeClr val="tx1"/>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16"/>
                  </a:ext>
                </a:extLst>
              </a:tr>
              <a:tr h="216000">
                <a:tc>
                  <a:txBody>
                    <a:bodyPr/>
                    <a:lstStyle/>
                    <a:p>
                      <a:pPr algn="ctr" fontAlgn="ctr"/>
                      <a:r>
                        <a:rPr lang="en-US" altLang="ja-JP" sz="1200" u="none" strike="noStrike" baseline="0">
                          <a:effectLst/>
                          <a:latin typeface="Arial" pitchFamily="34" charset="0"/>
                          <a:cs typeface="Arial" pitchFamily="34" charset="0"/>
                        </a:rPr>
                        <a:t>Additional</a:t>
                      </a:r>
                      <a:endParaRPr lang="ja-JP" altLang="en-US" sz="1200" b="0" i="0" u="none" strike="noStrike">
                        <a:solidFill>
                          <a:schemeClr val="tx1"/>
                        </a:solidFill>
                        <a:effectLst/>
                        <a:latin typeface="Arial" pitchFamily="34" charset="0"/>
                        <a:ea typeface="+mn-ea"/>
                        <a:cs typeface="Arial" pitchFamily="34" charset="0"/>
                      </a:endParaRPr>
                    </a:p>
                  </a:txBody>
                  <a:tcPr marL="35995" marR="35995" marT="0" marB="0" anchor="ctr"/>
                </a:tc>
                <a:tc gridSpan="2">
                  <a:txBody>
                    <a:bodyPr/>
                    <a:lstStyle/>
                    <a:p>
                      <a:pPr algn="ctr" fontAlgn="ctr"/>
                      <a:r>
                        <a:rPr lang="en-US" altLang="ja-JP" sz="1200" u="none" strike="noStrike">
                          <a:effectLst/>
                          <a:latin typeface="Arial" pitchFamily="34" charset="0"/>
                          <a:cs typeface="Arial" pitchFamily="34" charset="0"/>
                        </a:rPr>
                        <a:t>High/Low</a:t>
                      </a:r>
                      <a:r>
                        <a:rPr lang="en-US" altLang="ja-JP" sz="1200" u="none" strike="noStrike" baseline="0">
                          <a:effectLst/>
                          <a:latin typeface="Arial" pitchFamily="34" charset="0"/>
                          <a:cs typeface="Arial" pitchFamily="34" charset="0"/>
                        </a:rPr>
                        <a:t> beam support</a:t>
                      </a:r>
                      <a:endParaRPr lang="en-US" altLang="ja-JP" sz="1200" b="0" u="none" strike="noStrike">
                        <a:solidFill>
                          <a:schemeClr val="tx1"/>
                        </a:solidFill>
                        <a:effectLst/>
                        <a:latin typeface="Arial" pitchFamily="34" charset="0"/>
                        <a:ea typeface="+mn-ea"/>
                        <a:cs typeface="Arial" pitchFamily="34" charset="0"/>
                      </a:endParaRPr>
                    </a:p>
                  </a:txBody>
                  <a:tcPr marL="35995" marR="35995" marT="0" marB="0" anchor="ctr"/>
                </a:tc>
                <a:tc hMerge="1">
                  <a:txBody>
                    <a:bodyPr/>
                    <a:lstStyle/>
                    <a:p>
                      <a:endParaRPr kumimoji="1" lang="ja-JP" altLang="en-US"/>
                    </a:p>
                  </a:txBody>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chemeClr val="tx1"/>
                          </a:solidFill>
                          <a:effectLst/>
                          <a:latin typeface="Arial" pitchFamily="34" charset="0"/>
                          <a:ea typeface="+mn-ea"/>
                          <a:cs typeface="Arial" pitchFamily="34" charset="0"/>
                        </a:rPr>
                        <a:t>✕</a:t>
                      </a:r>
                      <a:endParaRPr lang="ja-JP" altLang="en-US" sz="1200" b="1" i="0" u="none" strike="noStrike">
                        <a:solidFill>
                          <a:schemeClr val="accent6"/>
                        </a:solidFill>
                        <a:effectLst/>
                        <a:latin typeface="Arial" pitchFamily="34" charset="0"/>
                        <a:ea typeface="+mn-ea"/>
                        <a:cs typeface="Arial" pitchFamily="34" charset="0"/>
                      </a:endParaRPr>
                    </a:p>
                  </a:txBody>
                  <a:tcPr marL="35995" marR="35995" marT="0" marB="0" anchor="ctr"/>
                </a:tc>
                <a:extLst>
                  <a:ext uri="{0D108BD9-81ED-4DB2-BD59-A6C34878D82A}">
                    <a16:rowId xmlns:a16="http://schemas.microsoft.com/office/drawing/2014/main" val="10017"/>
                  </a:ext>
                </a:extLst>
              </a:tr>
            </a:tbl>
          </a:graphicData>
        </a:graphic>
      </p:graphicFrame>
      <p:sp>
        <p:nvSpPr>
          <p:cNvPr id="37" name="テキスト ボックス 36">
            <a:extLst>
              <a:ext uri="{FF2B5EF4-FFF2-40B4-BE49-F238E27FC236}">
                <a16:creationId xmlns:a16="http://schemas.microsoft.com/office/drawing/2014/main" id="{4F6CD2F4-9D65-5FFB-20F6-C04814E9E6F0}"/>
              </a:ext>
            </a:extLst>
          </p:cNvPr>
          <p:cNvSpPr txBox="1"/>
          <p:nvPr/>
        </p:nvSpPr>
        <p:spPr>
          <a:xfrm>
            <a:off x="1058055" y="6372486"/>
            <a:ext cx="6864894" cy="461665"/>
          </a:xfrm>
          <a:prstGeom prst="rect">
            <a:avLst/>
          </a:prstGeom>
          <a:solidFill>
            <a:srgbClr val="FFFF00"/>
          </a:solidFill>
        </p:spPr>
        <p:txBody>
          <a:bodyPr wrap="square" rtlCol="0">
            <a:spAutoFit/>
          </a:bodyPr>
          <a:lstStyle/>
          <a:p>
            <a:r>
              <a:rPr lang="en-US" altLang="ja-JP"/>
              <a:t>No change From 6SAA.</a:t>
            </a:r>
          </a:p>
        </p:txBody>
      </p:sp>
    </p:spTree>
    <p:extLst>
      <p:ext uri="{BB962C8B-B14F-4D97-AF65-F5344CB8AC3E}">
        <p14:creationId xmlns:p14="http://schemas.microsoft.com/office/powerpoint/2010/main" val="7606247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1" i="0" u="none" strike="dbl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5112319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15. EMS Reliability</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Assurance</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0" name="Text Box 2"/>
          <p:cNvSpPr txBox="1">
            <a:spLocks noChangeArrowheads="1"/>
          </p:cNvSpPr>
          <p:nvPr/>
        </p:nvSpPr>
        <p:spPr bwMode="auto">
          <a:xfrm>
            <a:off x="107504" y="581499"/>
            <a:ext cx="8775239" cy="3682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eaLnBrk="1" hangingPunct="1">
              <a:lnSpc>
                <a:spcPct val="120000"/>
              </a:lnSpc>
            </a:pPr>
            <a:r>
              <a:rPr lang="en-US" altLang="ja-JP" sz="1400" u="sng">
                <a:latin typeface="Meiryo UI" panose="020B0604030504040204" pitchFamily="50" charset="-128"/>
                <a:ea typeface="Meiryo UI" panose="020B0604030504040204" pitchFamily="50" charset="-128"/>
                <a:cs typeface="Arial" pitchFamily="34" charset="0"/>
              </a:rPr>
              <a:t>Basic stance for</a:t>
            </a:r>
            <a:r>
              <a:rPr lang="ja-JP" altLang="en-US" sz="1400" u="sng">
                <a:latin typeface="Meiryo UI" panose="020B0604030504040204" pitchFamily="50" charset="-128"/>
                <a:ea typeface="Meiryo UI" panose="020B0604030504040204" pitchFamily="50" charset="-128"/>
                <a:cs typeface="Arial" pitchFamily="34" charset="0"/>
              </a:rPr>
              <a:t> </a:t>
            </a:r>
            <a:r>
              <a:rPr lang="en-US" altLang="ja-JP" sz="1400" u="sng">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u="sng">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u="sng">
                <a:latin typeface="Meiryo UI" panose="020B0604030504040204" pitchFamily="50" charset="-128"/>
                <a:ea typeface="Meiryo UI" panose="020B0604030504040204" pitchFamily="50" charset="-128"/>
                <a:cs typeface="Arial" pitchFamily="34" charset="0"/>
              </a:rPr>
              <a:t>EMS reliability security as consigned development</a:t>
            </a:r>
            <a:br>
              <a:rPr lang="en-US" altLang="ja-JP" sz="1400" u="sng">
                <a:latin typeface="Meiryo UI" panose="020B0604030504040204" pitchFamily="50" charset="-128"/>
                <a:ea typeface="Meiryo UI" panose="020B0604030504040204" pitchFamily="50" charset="-128"/>
                <a:cs typeface="Arial" pitchFamily="34" charset="0"/>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shall guarantee reliability of</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EMS including</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parts specifications, control algorisms, and data calibration with meeting target performance and durability set by Honda in EMS sheets.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Also, adaptability and marketability to market environments shall be assured by</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 After </a:t>
            </a:r>
            <a:r>
              <a:rPr lang="en-US" altLang="ja-JP" sz="1400" err="1">
                <a:latin typeface="Meiryo UI" panose="020B0604030504040204" pitchFamily="50" charset="-128"/>
                <a:ea typeface="Meiryo UI" panose="020B0604030504040204" pitchFamily="50" charset="-128"/>
                <a:cs typeface="Arial" pitchFamily="34" charset="0"/>
              </a:rPr>
              <a:t>SOP,</a:t>
            </a:r>
            <a:r>
              <a:rPr lang="en-US" altLang="ja-JP" sz="1400" err="1">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correspond to analysis the root cause and make the countermeasure quickly if the market problem occur. </a:t>
            </a:r>
          </a:p>
          <a:p>
            <a:pPr algn="l" eaLnBrk="1" hangingPunct="1">
              <a:lnSpc>
                <a:spcPct val="120000"/>
              </a:lnSpc>
            </a:pPr>
            <a:r>
              <a:rPr lang="en-US" altLang="ja-JP" sz="1400" u="sng">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u="sng">
                <a:latin typeface="Meiryo UI" panose="020B0604030504040204" pitchFamily="50" charset="-128"/>
                <a:ea typeface="Meiryo UI" panose="020B0604030504040204" pitchFamily="50" charset="-128"/>
                <a:cs typeface="Arial" pitchFamily="34" charset="0"/>
              </a:rPr>
              <a:t> </a:t>
            </a:r>
            <a:r>
              <a:rPr lang="en-US" altLang="ja-JP" sz="1400" u="sng">
                <a:latin typeface="Meiryo UI" panose="020B0604030504040204" pitchFamily="50" charset="-128"/>
                <a:ea typeface="Meiryo UI" panose="020B0604030504040204" pitchFamily="50" charset="-128"/>
                <a:cs typeface="Arial" pitchFamily="34" charset="0"/>
              </a:rPr>
              <a:t>parts</a:t>
            </a:r>
            <a:r>
              <a:rPr lang="ja-JP" altLang="en-US" sz="1400" u="sng">
                <a:latin typeface="Meiryo UI" panose="020B0604030504040204" pitchFamily="50" charset="-128"/>
                <a:ea typeface="Meiryo UI" panose="020B0604030504040204" pitchFamily="50" charset="-128"/>
                <a:cs typeface="Arial" pitchFamily="34" charset="0"/>
              </a:rPr>
              <a:t> </a:t>
            </a:r>
            <a:r>
              <a:rPr lang="en-US" altLang="ja-JP" sz="1400" u="sng">
                <a:latin typeface="Meiryo UI" panose="020B0604030504040204" pitchFamily="50" charset="-128"/>
                <a:ea typeface="Meiryo UI" panose="020B0604030504040204" pitchFamily="50" charset="-128"/>
                <a:cs typeface="Arial" pitchFamily="34" charset="0"/>
              </a:rPr>
              <a:t>reliability</a:t>
            </a:r>
            <a:r>
              <a:rPr lang="ja-JP" altLang="en-US" sz="1400" u="sng">
                <a:latin typeface="Meiryo UI" panose="020B0604030504040204" pitchFamily="50" charset="-128"/>
                <a:ea typeface="Meiryo UI" panose="020B0604030504040204" pitchFamily="50" charset="-128"/>
                <a:cs typeface="Arial" pitchFamily="34" charset="0"/>
              </a:rPr>
              <a:t> </a:t>
            </a:r>
            <a:r>
              <a:rPr lang="en-US" altLang="ja-JP" sz="1400" u="sng">
                <a:latin typeface="Meiryo UI" panose="020B0604030504040204" pitchFamily="50" charset="-128"/>
                <a:ea typeface="Meiryo UI" panose="020B0604030504040204" pitchFamily="50" charset="-128"/>
                <a:cs typeface="Arial" pitchFamily="34" charset="0"/>
              </a:rPr>
              <a:t>duration</a:t>
            </a:r>
            <a:endParaRPr lang="ja-JP" altLang="en-US" sz="1400" u="sng">
              <a:latin typeface="Meiryo UI" panose="020B0604030504040204" pitchFamily="50" charset="-128"/>
              <a:ea typeface="Meiryo UI" panose="020B0604030504040204" pitchFamily="50" charset="-128"/>
              <a:cs typeface="Arial" pitchFamily="34" charset="0"/>
            </a:endParaRPr>
          </a:p>
          <a:p>
            <a:pPr marL="360363" lvl="1" indent="14288" algn="l" eaLnBrk="1" hangingPunct="1">
              <a:lnSpc>
                <a:spcPct val="120000"/>
              </a:lnSpc>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standard parts’ reliability duration shall be </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160,000km/10yrs, 200,000km/14yrs for **Fuel parts.</a:t>
            </a:r>
            <a:r>
              <a:rPr lang="ja-JP" altLang="en-US" sz="1400">
                <a:latin typeface="Meiryo UI" panose="020B0604030504040204" pitchFamily="50" charset="-128"/>
                <a:ea typeface="Meiryo UI" panose="020B0604030504040204" pitchFamily="50" charset="-128"/>
                <a:cs typeface="Arial" pitchFamily="34" charset="0"/>
              </a:rPr>
              <a:t> </a:t>
            </a:r>
            <a:endParaRPr lang="en-US" altLang="ja-JP" sz="1400">
              <a:latin typeface="Meiryo UI" panose="020B0604030504040204" pitchFamily="50" charset="-128"/>
              <a:ea typeface="Meiryo UI" panose="020B0604030504040204" pitchFamily="50" charset="-128"/>
              <a:cs typeface="Arial" pitchFamily="34" charset="0"/>
            </a:endParaRPr>
          </a:p>
          <a:p>
            <a:pPr marL="360363" lvl="1" indent="14288" algn="l" eaLnBrk="1" hangingPunct="1">
              <a:lnSpc>
                <a:spcPct val="120000"/>
              </a:lnSpc>
            </a:pPr>
            <a:r>
              <a:rPr lang="en-US" altLang="ja-JP" sz="1400">
                <a:latin typeface="Meiryo UI" panose="020B0604030504040204" pitchFamily="50" charset="-128"/>
                <a:ea typeface="Meiryo UI" panose="020B0604030504040204" pitchFamily="50" charset="-128"/>
                <a:cs typeface="Arial" pitchFamily="34" charset="0"/>
              </a:rPr>
              <a:t>Design and test condition for the durability of respective parts shall be based 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standards.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Honda’s quality improvement measure requirements would be added as additional requirements.</a:t>
            </a:r>
          </a:p>
          <a:p>
            <a:pPr algn="l" eaLnBrk="1" hangingPunct="1">
              <a:lnSpc>
                <a:spcPct val="120000"/>
              </a:lnSpc>
            </a:pPr>
            <a:r>
              <a:rPr lang="en-US" altLang="ja-JP" sz="1400" u="sng">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u="sng">
                <a:latin typeface="Meiryo UI" panose="020B0604030504040204" pitchFamily="50" charset="-128"/>
                <a:ea typeface="Meiryo UI" panose="020B0604030504040204" pitchFamily="50" charset="-128"/>
                <a:cs typeface="Arial" pitchFamily="34" charset="0"/>
              </a:rPr>
              <a:t> components adaptability to the vehicle  </a:t>
            </a:r>
            <a:r>
              <a:rPr lang="en-US" altLang="ja-JP" sz="1400" u="sng">
                <a:latin typeface="Meiryo UI" panose="020B0604030504040204" pitchFamily="50" charset="-128"/>
                <a:ea typeface="Meiryo UI" panose="020B0604030504040204" pitchFamily="50" charset="-128"/>
                <a:cs typeface="Arial" pitchFamily="34" charset="0"/>
                <a:sym typeface="Wingdings" pitchFamily="2" charset="2"/>
              </a:rPr>
              <a:t> To be measured at</a:t>
            </a:r>
            <a:r>
              <a:rPr lang="ja-JP" altLang="en-US" sz="1400" u="sng">
                <a:latin typeface="Meiryo UI" panose="020B0604030504040204" pitchFamily="50" charset="-128"/>
                <a:ea typeface="Meiryo UI" panose="020B0604030504040204" pitchFamily="50" charset="-128"/>
                <a:cs typeface="Arial" pitchFamily="34" charset="0"/>
                <a:sym typeface="Wingdings" pitchFamily="2" charset="2"/>
              </a:rPr>
              <a:t> </a:t>
            </a:r>
            <a:r>
              <a:rPr lang="en-US" altLang="ja-JP" sz="1400" u="sng">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br>
              <a:rPr lang="en-US" altLang="ja-JP" sz="1400">
                <a:solidFill>
                  <a:srgbClr val="0000FF"/>
                </a:solidFill>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See EMS sheet for details.</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15" name="Text Box 2"/>
          <p:cNvSpPr txBox="1">
            <a:spLocks noChangeArrowheads="1"/>
          </p:cNvSpPr>
          <p:nvPr/>
        </p:nvSpPr>
        <p:spPr bwMode="auto">
          <a:xfrm>
            <a:off x="53752" y="4152521"/>
            <a:ext cx="9090248" cy="263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eaLnBrk="1" hangingPunct="1">
              <a:lnSpc>
                <a:spcPct val="120000"/>
              </a:lnSpc>
            </a:pPr>
            <a:r>
              <a:rPr kumimoji="1" lang="ja-JP" altLang="en-US" sz="1400" b="0"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委託開発としての</a:t>
            </a:r>
            <a:r>
              <a:rPr lang="en-US" altLang="ja-JP" sz="1400" u="sng">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の信頼性保証について；</a:t>
            </a:r>
            <a:br>
              <a:rPr kumimoji="1" lang="en-US" altLang="ja-JP" sz="1400" b="0"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は、</a:t>
            </a:r>
            <a:r>
              <a:rPr lang="en-US" altLang="ja-JP" sz="1400">
                <a:latin typeface="Meiryo UI" panose="020B0604030504040204" pitchFamily="50" charset="-128"/>
                <a:ea typeface="Meiryo UI" panose="020B0604030504040204" pitchFamily="50" charset="-128"/>
                <a:cs typeface="Arial" pitchFamily="34" charset="0"/>
              </a:rPr>
              <a:t>EMS</a:t>
            </a:r>
            <a:r>
              <a:rPr lang="ja-JP" altLang="en-US" sz="1400">
                <a:latin typeface="Meiryo UI" panose="020B0604030504040204" pitchFamily="50" charset="-128"/>
                <a:ea typeface="Meiryo UI" panose="020B0604030504040204" pitchFamily="50" charset="-128"/>
                <a:cs typeface="Arial" pitchFamily="34" charset="0"/>
              </a:rPr>
              <a:t>シートで</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が定めた目標性能および耐久信頼性を満足した上で、部品仕様、制御アルゴリズム、データ設定を含む</a:t>
            </a:r>
            <a:r>
              <a:rPr lang="en-US" altLang="ja-JP" sz="1400">
                <a:latin typeface="Meiryo UI" panose="020B0604030504040204" pitchFamily="50" charset="-128"/>
                <a:ea typeface="Meiryo UI" panose="020B0604030504040204" pitchFamily="50" charset="-128"/>
                <a:cs typeface="Arial" pitchFamily="34" charset="0"/>
              </a:rPr>
              <a:t>EMS</a:t>
            </a:r>
            <a:r>
              <a:rPr lang="ja-JP" altLang="en-US" sz="1400">
                <a:latin typeface="Meiryo UI" panose="020B0604030504040204" pitchFamily="50" charset="-128"/>
                <a:ea typeface="Meiryo UI" panose="020B0604030504040204" pitchFamily="50" charset="-128"/>
                <a:cs typeface="Arial" pitchFamily="34" charset="0"/>
              </a:rPr>
              <a:t>の信頼性を保証すること。 市場環境への適合性や商品性についても保証すること。</a:t>
            </a:r>
            <a:endParaRPr lang="en-US" altLang="ja-JP" sz="1400">
              <a:latin typeface="Meiryo UI" panose="020B0604030504040204" pitchFamily="50" charset="-128"/>
              <a:ea typeface="Meiryo UI" panose="020B0604030504040204" pitchFamily="50" charset="-128"/>
              <a:cs typeface="Arial" pitchFamily="34" charset="0"/>
            </a:endParaRPr>
          </a:p>
          <a:p>
            <a:pPr marL="360363" indent="-360363" algn="l" eaLnBrk="1" hangingPunct="1">
              <a:lnSpc>
                <a:spcPct val="120000"/>
              </a:lnSpc>
            </a:pPr>
            <a:r>
              <a:rPr lang="en-US" altLang="ja-JP" sz="1400">
                <a:latin typeface="Meiryo UI" panose="020B0604030504040204" pitchFamily="50" charset="-128"/>
                <a:ea typeface="Meiryo UI" panose="020B0604030504040204" pitchFamily="50" charset="-128"/>
                <a:cs typeface="Arial" pitchFamily="34" charset="0"/>
              </a:rPr>
              <a:t>	SOP</a:t>
            </a:r>
            <a:r>
              <a:rPr lang="ja-JP" altLang="en-US" sz="1400">
                <a:latin typeface="Meiryo UI" panose="020B0604030504040204" pitchFamily="50" charset="-128"/>
                <a:ea typeface="Meiryo UI" panose="020B0604030504040204" pitchFamily="50" charset="-128"/>
                <a:cs typeface="Arial" pitchFamily="34" charset="0"/>
              </a:rPr>
              <a:t>後、市場不具合が発生した際は、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は迅速に解析・対策へ向けた対応を行う事</a:t>
            </a:r>
            <a:endParaRPr lang="en-US" altLang="ja-JP" sz="1400">
              <a:latin typeface="Meiryo UI" panose="020B0604030504040204" pitchFamily="50" charset="-128"/>
              <a:ea typeface="Meiryo UI" panose="020B0604030504040204" pitchFamily="50" charset="-128"/>
              <a:cs typeface="Arial" pitchFamily="34" charset="0"/>
            </a:endParaRPr>
          </a:p>
          <a:p>
            <a:pPr marL="360363" indent="-360363" algn="l" eaLnBrk="1" hangingPunct="1">
              <a:lnSpc>
                <a:spcPct val="120000"/>
              </a:lnSpc>
              <a:defRPr/>
            </a:pPr>
            <a:r>
              <a:rPr lang="en-US" altLang="ja-JP" sz="1400" u="sng">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t>部品の信頼性寿命</a:t>
            </a:r>
            <a:br>
              <a:rPr kumimoji="1" lang="en-US" altLang="ja-JP" sz="1400" b="0"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itchFamily="34" charset="0"/>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部品の信頼性寿命期間は、</a:t>
            </a:r>
            <a:r>
              <a:rPr lang="en-US" altLang="ja-JP" sz="1400">
                <a:solidFill>
                  <a:srgbClr val="FF0000"/>
                </a:solidFill>
                <a:latin typeface="Meiryo UI" panose="020B0604030504040204" pitchFamily="50" charset="-128"/>
                <a:ea typeface="Meiryo UI" panose="020B0604030504040204" pitchFamily="50" charset="-128"/>
              </a:rPr>
              <a:t> 10</a:t>
            </a:r>
            <a:r>
              <a:rPr lang="ja-JP" altLang="en-US" sz="1400">
                <a:solidFill>
                  <a:srgbClr val="FF0000"/>
                </a:solidFill>
                <a:latin typeface="Meiryo UI" panose="020B0604030504040204" pitchFamily="50" charset="-128"/>
                <a:ea typeface="Meiryo UI" panose="020B0604030504040204" pitchFamily="50" charset="-128"/>
              </a:rPr>
              <a:t>年</a:t>
            </a:r>
            <a:r>
              <a:rPr lang="en-US" altLang="ja-JP" sz="1400">
                <a:solidFill>
                  <a:srgbClr val="FF0000"/>
                </a:solidFill>
                <a:latin typeface="Meiryo UI" panose="020B0604030504040204" pitchFamily="50" charset="-128"/>
                <a:ea typeface="Meiryo UI" panose="020B0604030504040204" pitchFamily="50" charset="-128"/>
              </a:rPr>
              <a:t>/16</a:t>
            </a:r>
            <a:r>
              <a:rPr lang="ja-JP" altLang="en-US" sz="1400">
                <a:solidFill>
                  <a:srgbClr val="FF0000"/>
                </a:solidFill>
                <a:latin typeface="Meiryo UI" panose="020B0604030504040204" pitchFamily="50" charset="-128"/>
                <a:ea typeface="Meiryo UI" panose="020B0604030504040204" pitchFamily="50" charset="-128"/>
              </a:rPr>
              <a:t>万ｋｍ、**燃料系部品は</a:t>
            </a:r>
            <a:r>
              <a:rPr lang="en-US" altLang="ja-JP" sz="1400">
                <a:solidFill>
                  <a:srgbClr val="FF0000"/>
                </a:solidFill>
                <a:latin typeface="Meiryo UI" panose="020B0604030504040204" pitchFamily="50" charset="-128"/>
                <a:ea typeface="Meiryo UI" panose="020B0604030504040204" pitchFamily="50" charset="-128"/>
              </a:rPr>
              <a:t>14</a:t>
            </a:r>
            <a:r>
              <a:rPr lang="ja-JP" altLang="en-US" sz="1400">
                <a:solidFill>
                  <a:srgbClr val="FF0000"/>
                </a:solidFill>
                <a:latin typeface="Meiryo UI" panose="020B0604030504040204" pitchFamily="50" charset="-128"/>
                <a:ea typeface="Meiryo UI" panose="020B0604030504040204" pitchFamily="50" charset="-128"/>
              </a:rPr>
              <a:t>年</a:t>
            </a:r>
            <a:r>
              <a:rPr lang="en-US" altLang="ja-JP" sz="1400">
                <a:solidFill>
                  <a:srgbClr val="FF0000"/>
                </a:solidFill>
                <a:latin typeface="Meiryo UI" panose="020B0604030504040204" pitchFamily="50" charset="-128"/>
                <a:ea typeface="Meiryo UI" panose="020B0604030504040204" pitchFamily="50" charset="-128"/>
              </a:rPr>
              <a:t>20</a:t>
            </a:r>
            <a:r>
              <a:rPr lang="ja-JP" altLang="en-US" sz="1400">
                <a:solidFill>
                  <a:srgbClr val="FF0000"/>
                </a:solidFill>
                <a:latin typeface="Meiryo UI" panose="020B0604030504040204" pitchFamily="50" charset="-128"/>
                <a:ea typeface="Meiryo UI" panose="020B0604030504040204" pitchFamily="50" charset="-128"/>
              </a:rPr>
              <a:t>万ｋｍ</a:t>
            </a:r>
            <a:r>
              <a:rPr lang="ja-JP" altLang="en-US" sz="1400">
                <a:latin typeface="Meiryo UI" panose="020B0604030504040204" pitchFamily="50" charset="-128"/>
                <a:ea typeface="Meiryo UI" panose="020B0604030504040204" pitchFamily="50" charset="-128"/>
              </a:rPr>
              <a:t>とすること。</a:t>
            </a:r>
            <a:endParaRPr lang="en-US" altLang="ja-JP" sz="1400">
              <a:latin typeface="Meiryo UI" panose="020B0604030504040204" pitchFamily="50" charset="-128"/>
              <a:ea typeface="Meiryo UI" panose="020B0604030504040204" pitchFamily="50" charset="-128"/>
            </a:endParaRPr>
          </a:p>
          <a:p>
            <a:pPr marL="360363" indent="-360363" algn="l" eaLnBrk="1" hangingPunct="1">
              <a:lnSpc>
                <a:spcPct val="120000"/>
              </a:lnSpc>
              <a:defRPr/>
            </a:pPr>
            <a:r>
              <a:rPr lang="ja-JP" altLang="en-US" sz="1400">
                <a:latin typeface="Meiryo UI" panose="020B0604030504040204" pitchFamily="50" charset="-128"/>
                <a:ea typeface="Meiryo UI" panose="020B0604030504040204" pitchFamily="50" charset="-128"/>
              </a:rPr>
              <a:t>       各部品の信頼性寿命期間に対する設計および耐久試験項目は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基準を基本とし、</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品質向上施策</a:t>
            </a:r>
            <a:endParaRPr lang="en-US" altLang="ja-JP" sz="1400">
              <a:latin typeface="Meiryo UI" panose="020B0604030504040204" pitchFamily="50" charset="-128"/>
              <a:ea typeface="Meiryo UI" panose="020B0604030504040204" pitchFamily="50" charset="-128"/>
            </a:endParaRPr>
          </a:p>
          <a:p>
            <a:pPr marL="360363" indent="-360363" algn="l" eaLnBrk="1" hangingPunct="1">
              <a:lnSpc>
                <a:spcPct val="120000"/>
              </a:lnSpc>
              <a:defRPr/>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については別途追加要求し、これを満足するものとする</a:t>
            </a:r>
            <a:endParaRPr kumimoji="1" lang="en-US" altLang="ja-JP" sz="1400" b="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a:p>
            <a:pPr marL="360363" lvl="1" indent="-360363" algn="l">
              <a:spcBef>
                <a:spcPct val="20000"/>
              </a:spcBef>
              <a:defRPr/>
            </a:pPr>
            <a:r>
              <a:rPr lang="en-US" altLang="ja-JP" sz="1400" u="sng">
                <a:latin typeface="Meiryo UI" panose="020B0604030504040204" pitchFamily="50" charset="-128"/>
                <a:ea typeface="Meiryo UI" panose="020B0604030504040204" pitchFamily="50" charset="-128"/>
                <a:cs typeface="Arial" pitchFamily="34" charset="0"/>
              </a:rPr>
              <a:t>Bosch</a:t>
            </a:r>
            <a:r>
              <a:rPr lang="ja-JP" altLang="en-US" sz="1400" u="sng">
                <a:latin typeface="Meiryo UI" panose="020B0604030504040204" pitchFamily="50" charset="-128"/>
                <a:ea typeface="Meiryo UI" panose="020B0604030504040204" pitchFamily="50" charset="-128"/>
                <a:cs typeface="Arial" pitchFamily="34" charset="0"/>
              </a:rPr>
              <a:t>部品の車両適合性 （Ｇ測、測温）</a:t>
            </a:r>
            <a:r>
              <a:rPr lang="en-US" altLang="ja-JP" sz="1400" u="sng">
                <a:latin typeface="Meiryo UI" panose="020B0604030504040204" pitchFamily="50" charset="-128"/>
                <a:ea typeface="Meiryo UI" panose="020B0604030504040204" pitchFamily="50" charset="-128"/>
                <a:cs typeface="Arial" pitchFamily="34" charset="0"/>
                <a:sym typeface="Wingdings" pitchFamily="2" charset="2"/>
              </a:rPr>
              <a:t></a:t>
            </a:r>
            <a:r>
              <a:rPr lang="ja-JP" altLang="en-US" sz="1400" u="sng">
                <a:latin typeface="Meiryo UI" panose="020B0604030504040204" pitchFamily="50" charset="-128"/>
                <a:ea typeface="Meiryo UI" panose="020B0604030504040204" pitchFamily="50" charset="-128"/>
                <a:cs typeface="Arial" pitchFamily="34" charset="0"/>
                <a:sym typeface="Wingdings" pitchFamily="2" charset="2"/>
              </a:rPr>
              <a:t> </a:t>
            </a:r>
            <a:r>
              <a:rPr lang="en-US" altLang="ja-JP" sz="1400" u="sng">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u="sng">
                <a:latin typeface="Meiryo UI" panose="020B0604030504040204" pitchFamily="50" charset="-128"/>
                <a:ea typeface="Meiryo UI" panose="020B0604030504040204" pitchFamily="50" charset="-128"/>
                <a:cs typeface="Arial" pitchFamily="34" charset="0"/>
                <a:sym typeface="Wingdings" pitchFamily="2" charset="2"/>
              </a:rPr>
              <a:t>評価判断の為、</a:t>
            </a:r>
            <a:r>
              <a:rPr lang="en-US" altLang="ja-JP" sz="1400" u="sng">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u="sng">
                <a:latin typeface="Meiryo UI" panose="020B0604030504040204" pitchFamily="50" charset="-128"/>
                <a:ea typeface="Meiryo UI" panose="020B0604030504040204" pitchFamily="50" charset="-128"/>
                <a:cs typeface="Arial" pitchFamily="34" charset="0"/>
                <a:sym typeface="Wingdings" pitchFamily="2" charset="2"/>
              </a:rPr>
              <a:t>にて測定</a:t>
            </a:r>
            <a:br>
              <a:rPr lang="en-US" altLang="ja-JP" sz="1400">
                <a:latin typeface="Meiryo UI" panose="020B0604030504040204" pitchFamily="50" charset="-128"/>
                <a:ea typeface="Meiryo UI" panose="020B0604030504040204" pitchFamily="50" charset="-128"/>
                <a:cs typeface="Arial" pitchFamily="34" charset="0"/>
                <a:sym typeface="Wingdings" pitchFamily="2" charset="2"/>
              </a:rPr>
            </a:br>
            <a:r>
              <a:rPr lang="ja-JP" altLang="en-US" sz="1400">
                <a:latin typeface="Meiryo UI" panose="020B0604030504040204" pitchFamily="50" charset="-128"/>
                <a:ea typeface="Meiryo UI" panose="020B0604030504040204" pitchFamily="50" charset="-128"/>
                <a:cs typeface="Arial" pitchFamily="34" charset="0"/>
                <a:sym typeface="Wingdings" pitchFamily="2" charset="2"/>
              </a:rPr>
              <a:t>詳細は</a:t>
            </a:r>
            <a:r>
              <a:rPr lang="en-US" altLang="ja-JP" sz="1400">
                <a:latin typeface="Meiryo UI" panose="020B0604030504040204" pitchFamily="50" charset="-128"/>
                <a:ea typeface="Meiryo UI" panose="020B0604030504040204" pitchFamily="50" charset="-128"/>
                <a:cs typeface="Arial" pitchFamily="34" charset="0"/>
                <a:sym typeface="Wingdings" pitchFamily="2" charset="2"/>
              </a:rPr>
              <a:t>EMS</a:t>
            </a:r>
            <a:r>
              <a:rPr lang="ja-JP" altLang="en-US" sz="1400">
                <a:latin typeface="Meiryo UI" panose="020B0604030504040204" pitchFamily="50" charset="-128"/>
                <a:ea typeface="Meiryo UI" panose="020B0604030504040204" pitchFamily="50" charset="-128"/>
                <a:cs typeface="Arial" pitchFamily="34" charset="0"/>
                <a:sym typeface="Wingdings" pitchFamily="2" charset="2"/>
              </a:rPr>
              <a:t>シート参照のこと。</a:t>
            </a:r>
            <a:endParaRPr lang="ja-JP" altLang="en-US" sz="1400">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11120698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Text Box 2"/>
          <p:cNvSpPr txBox="1">
            <a:spLocks noChangeArrowheads="1"/>
          </p:cNvSpPr>
          <p:nvPr/>
        </p:nvSpPr>
        <p:spPr bwMode="auto">
          <a:xfrm>
            <a:off x="182352" y="611168"/>
            <a:ext cx="8922459" cy="561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800" b="1" u="sng">
                <a:latin typeface="Meiryo UI" panose="020B0604030504040204" pitchFamily="50" charset="-128"/>
                <a:ea typeface="Meiryo UI" panose="020B0604030504040204" pitchFamily="50" charset="-128"/>
                <a:cs typeface="Arial" pitchFamily="34" charset="0"/>
              </a:rPr>
              <a:t>EMS Requirement</a:t>
            </a:r>
          </a:p>
          <a:p>
            <a:pPr lvl="1" algn="l" eaLnBrk="1" hangingPunct="1">
              <a:lnSpc>
                <a:spcPct val="110000"/>
              </a:lnSpc>
            </a:pPr>
            <a:r>
              <a:rPr lang="en-US" altLang="ja-JP" sz="1400">
                <a:latin typeface="Meiryo UI" panose="020B0604030504040204" pitchFamily="50" charset="-128"/>
                <a:ea typeface="Meiryo UI" panose="020B0604030504040204" pitchFamily="50" charset="-128"/>
                <a:cs typeface="Arial" pitchFamily="34" charset="0"/>
              </a:rPr>
              <a:t>The requirements of this project are </a:t>
            </a:r>
          </a:p>
          <a:p>
            <a:pPr algn="l" eaLnBrk="1" hangingPunct="1">
              <a:lnSpc>
                <a:spcPct val="110000"/>
              </a:lnSpc>
            </a:pPr>
            <a:r>
              <a:rPr lang="en-US" altLang="ja-JP" sz="1400">
                <a:latin typeface="Meiryo UI" panose="020B0604030504040204" pitchFamily="50" charset="-128"/>
                <a:ea typeface="Meiryo UI" panose="020B0604030504040204" pitchFamily="50" charset="-128"/>
                <a:cs typeface="Arial" pitchFamily="34" charset="0"/>
              </a:rPr>
              <a:t>	- to obey all regulation of the target countries</a:t>
            </a:r>
          </a:p>
          <a:p>
            <a:pPr algn="l" eaLnBrk="1" hangingPunct="1">
              <a:lnSpc>
                <a:spcPct val="110000"/>
              </a:lnSpc>
            </a:pPr>
            <a:r>
              <a:rPr lang="en-US" altLang="ja-JP" sz="1400">
                <a:latin typeface="Meiryo UI" panose="020B0604030504040204" pitchFamily="50" charset="-128"/>
                <a:ea typeface="Meiryo UI" panose="020B0604030504040204" pitchFamily="50" charset="-128"/>
                <a:cs typeface="Arial" pitchFamily="34" charset="0"/>
              </a:rPr>
              <a:t>	- to secure calibration maturity</a:t>
            </a:r>
          </a:p>
          <a:p>
            <a:pPr algn="l" eaLnBrk="1" hangingPunct="1">
              <a:lnSpc>
                <a:spcPct val="110000"/>
              </a:lnSpc>
            </a:pPr>
            <a:r>
              <a:rPr lang="en-US" altLang="ja-JP" sz="1400">
                <a:latin typeface="Meiryo UI" panose="020B0604030504040204" pitchFamily="50" charset="-128"/>
                <a:ea typeface="Meiryo UI" panose="020B0604030504040204" pitchFamily="50" charset="-128"/>
                <a:cs typeface="Arial" pitchFamily="34" charset="0"/>
              </a:rPr>
              <a:t>	- to fulfill EMS target</a:t>
            </a:r>
          </a:p>
          <a:p>
            <a:pPr algn="l" eaLnBrk="1" hangingPunct="1">
              <a:lnSpc>
                <a:spcPct val="110000"/>
              </a:lnSpc>
            </a:pPr>
            <a:endParaRPr lang="en-US" altLang="ja-JP" sz="160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a:latin typeface="Meiryo UI" panose="020B0604030504040204" pitchFamily="50" charset="-128"/>
                <a:ea typeface="Meiryo UI" panose="020B0604030504040204" pitchFamily="50" charset="-128"/>
                <a:cs typeface="Arial" pitchFamily="34" charset="0"/>
              </a:rPr>
              <a:t>本プロジェクトの要求は法規を守ること、キャリブレーションの品質を守ること、</a:t>
            </a:r>
            <a:r>
              <a:rPr lang="en-US" altLang="ja-JP" sz="1400">
                <a:latin typeface="Meiryo UI" panose="020B0604030504040204" pitchFamily="50" charset="-128"/>
                <a:ea typeface="Meiryo UI" panose="020B0604030504040204" pitchFamily="50" charset="-128"/>
                <a:cs typeface="Arial" pitchFamily="34" charset="0"/>
              </a:rPr>
              <a:t>EMS</a:t>
            </a:r>
            <a:r>
              <a:rPr lang="ja-JP" altLang="en-US" sz="1400">
                <a:latin typeface="Meiryo UI" panose="020B0604030504040204" pitchFamily="50" charset="-128"/>
                <a:ea typeface="Meiryo UI" panose="020B0604030504040204" pitchFamily="50" charset="-128"/>
                <a:cs typeface="Arial" pitchFamily="34" charset="0"/>
              </a:rPr>
              <a:t>ターゲットを満足することである。</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endParaRPr lang="en-US" altLang="ja-JP" sz="1800" b="1" u="sng">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r>
              <a:rPr lang="en-US" altLang="ja-JP" sz="1800" b="1" u="sng">
                <a:latin typeface="Meiryo UI" panose="020B0604030504040204" pitchFamily="50" charset="-128"/>
                <a:ea typeface="Meiryo UI" panose="020B0604030504040204" pitchFamily="50" charset="-128"/>
                <a:cs typeface="Arial" pitchFamily="34" charset="0"/>
              </a:rPr>
              <a:t>EMS Index, EMS Sheet</a:t>
            </a:r>
          </a:p>
          <a:p>
            <a:pPr lvl="1" algn="l" eaLnBrk="1" hangingPunct="1">
              <a:lnSpc>
                <a:spcPct val="110000"/>
              </a:lnSpc>
            </a:pPr>
            <a:r>
              <a:rPr lang="en-US" altLang="ja-JP" sz="1400">
                <a:latin typeface="Meiryo UI" panose="020B0604030504040204" pitchFamily="50" charset="-128"/>
                <a:ea typeface="Meiryo UI" panose="020B0604030504040204" pitchFamily="50" charset="-128"/>
                <a:cs typeface="Arial" pitchFamily="34" charset="0"/>
              </a:rPr>
              <a:t>The requirement list shall be handled and organized by Honda, and the document</a:t>
            </a:r>
          </a:p>
          <a:p>
            <a:pPr lvl="1" algn="l" eaLnBrk="1" hangingPunct="1">
              <a:lnSpc>
                <a:spcPct val="110000"/>
              </a:lnSpc>
            </a:pPr>
            <a:r>
              <a:rPr lang="en-US" altLang="ja-JP" sz="1400">
                <a:latin typeface="Meiryo UI" panose="020B0604030504040204" pitchFamily="50" charset="-128"/>
                <a:ea typeface="Meiryo UI" panose="020B0604030504040204" pitchFamily="50" charset="-128"/>
                <a:cs typeface="Arial" pitchFamily="34" charset="0"/>
              </a:rPr>
              <a:t>shows the control number and issue date.  EMS requirement is kind of spot check,</a:t>
            </a:r>
            <a:r>
              <a:rPr lang="ja-JP" altLang="en-US" sz="1400">
                <a:latin typeface="Meiryo UI" panose="020B0604030504040204" pitchFamily="50" charset="-128"/>
                <a:ea typeface="Meiryo UI" panose="020B0604030504040204" pitchFamily="50" charset="-128"/>
                <a:cs typeface="Arial" pitchFamily="34" charset="0"/>
              </a:rPr>
              <a:t> </a:t>
            </a:r>
            <a:endParaRPr lang="en-US" altLang="ja-JP" sz="140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is responsible for securing calibration maturity in all condition defined in coming page.</a:t>
            </a:r>
          </a:p>
          <a:p>
            <a:pPr algn="l" eaLnBrk="1" hangingPunct="1">
              <a:lnSpc>
                <a:spcPct val="110000"/>
              </a:lnSpc>
            </a:pPr>
            <a:endParaRPr lang="en-US" altLang="ja-JP" sz="140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a:latin typeface="Meiryo UI" panose="020B0604030504040204" pitchFamily="50" charset="-128"/>
                <a:ea typeface="Meiryo UI" panose="020B0604030504040204" pitchFamily="50" charset="-128"/>
                <a:cs typeface="Arial" pitchFamily="34" charset="0"/>
              </a:rPr>
              <a:t>要求仕様一覧は、契約書に基づきＮ</a:t>
            </a:r>
            <a:r>
              <a:rPr lang="en-US" altLang="ja-JP" sz="1400">
                <a:latin typeface="Meiryo UI" panose="020B0604030504040204" pitchFamily="50" charset="-128"/>
                <a:ea typeface="Meiryo UI" panose="020B0604030504040204" pitchFamily="50" charset="-128"/>
                <a:cs typeface="Arial" pitchFamily="34" charset="0"/>
              </a:rPr>
              <a:t>o.</a:t>
            </a:r>
            <a:r>
              <a:rPr lang="ja-JP" altLang="en-US" sz="1400">
                <a:latin typeface="Meiryo UI" panose="020B0604030504040204" pitchFamily="50" charset="-128"/>
                <a:ea typeface="Meiryo UI" panose="020B0604030504040204" pitchFamily="50" charset="-128"/>
                <a:cs typeface="Arial" pitchFamily="34" charset="0"/>
              </a:rPr>
              <a:t>の管理、変更時の追番管理、発行日の記述を行い、</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が管理する。</a:t>
            </a:r>
            <a:endParaRPr lang="en-US" altLang="ja-JP" sz="140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a:latin typeface="Meiryo UI" panose="020B0604030504040204" pitchFamily="50" charset="-128"/>
                <a:ea typeface="Meiryo UI" panose="020B0604030504040204" pitchFamily="50" charset="-128"/>
                <a:cs typeface="Arial" pitchFamily="34" charset="0"/>
              </a:rPr>
              <a:t>これらの要求はスポットチェックであり、</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は次ページで定義される条件下で、適切な適合値であることに</a:t>
            </a:r>
            <a:endParaRPr lang="en-US" altLang="ja-JP" sz="140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a:latin typeface="Meiryo UI" panose="020B0604030504040204" pitchFamily="50" charset="-128"/>
                <a:ea typeface="Meiryo UI" panose="020B0604030504040204" pitchFamily="50" charset="-128"/>
                <a:cs typeface="Arial" pitchFamily="34" charset="0"/>
              </a:rPr>
              <a:t>責任を負う。</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pPr>
            <a:r>
              <a:rPr lang="en-US" altLang="ja-JP" sz="1800" b="1" u="sng">
                <a:latin typeface="Meiryo UI" panose="020B0604030504040204" pitchFamily="50" charset="-128"/>
                <a:ea typeface="Meiryo UI" panose="020B0604030504040204" pitchFamily="50" charset="-128"/>
                <a:cs typeface="Arial" pitchFamily="34" charset="0"/>
              </a:rPr>
              <a:t>Change Request</a:t>
            </a:r>
          </a:p>
          <a:p>
            <a:pPr lvl="1" algn="l" eaLnBrk="1" hangingPunct="1">
              <a:lnSpc>
                <a:spcPct val="110000"/>
              </a:lnSpc>
            </a:pPr>
            <a:r>
              <a:rPr lang="en-US" altLang="ja-JP" sz="1400">
                <a:latin typeface="Meiryo UI" panose="020B0604030504040204" pitchFamily="50" charset="-128"/>
                <a:ea typeface="Meiryo UI" panose="020B0604030504040204" pitchFamily="50" charset="-128"/>
                <a:cs typeface="Arial" pitchFamily="34" charset="0"/>
              </a:rPr>
              <a:t>The items which is not described in this kick off meeting material shall be handled by CR (Change Request). Honda will issue CR.</a:t>
            </a:r>
          </a:p>
          <a:p>
            <a:pPr algn="l" eaLnBrk="1" hangingPunct="1">
              <a:lnSpc>
                <a:spcPct val="110000"/>
              </a:lnSpc>
            </a:pPr>
            <a:endParaRPr lang="en-US" altLang="ja-JP" sz="1400">
              <a:latin typeface="Meiryo UI" panose="020B0604030504040204" pitchFamily="50" charset="-128"/>
              <a:ea typeface="Meiryo UI" panose="020B0604030504040204" pitchFamily="50" charset="-128"/>
              <a:cs typeface="Arial" pitchFamily="34" charset="0"/>
            </a:endParaRPr>
          </a:p>
          <a:p>
            <a:pPr lvl="1" algn="l" eaLnBrk="1" hangingPunct="1">
              <a:lnSpc>
                <a:spcPct val="110000"/>
              </a:lnSpc>
            </a:pPr>
            <a:r>
              <a:rPr lang="ja-JP" altLang="en-US" sz="1400">
                <a:latin typeface="Meiryo UI" panose="020B0604030504040204" pitchFamily="50" charset="-128"/>
                <a:ea typeface="Meiryo UI" panose="020B0604030504040204" pitchFamily="50" charset="-128"/>
                <a:cs typeface="Arial" pitchFamily="34" charset="0"/>
              </a:rPr>
              <a:t>本資料に記載されていない要求項目は</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が</a:t>
            </a:r>
            <a:r>
              <a:rPr lang="en-US" altLang="ja-JP" sz="1400">
                <a:latin typeface="Meiryo UI" panose="020B0604030504040204" pitchFamily="50" charset="-128"/>
                <a:ea typeface="Meiryo UI" panose="020B0604030504040204" pitchFamily="50" charset="-128"/>
                <a:cs typeface="Arial" pitchFamily="34" charset="0"/>
              </a:rPr>
              <a:t>CR(Change request)</a:t>
            </a:r>
            <a:r>
              <a:rPr lang="ja-JP" altLang="en-US" sz="1400">
                <a:latin typeface="Meiryo UI" panose="020B0604030504040204" pitchFamily="50" charset="-128"/>
                <a:ea typeface="Meiryo UI" panose="020B0604030504040204" pitchFamily="50" charset="-128"/>
                <a:cs typeface="Arial" pitchFamily="34" charset="0"/>
              </a:rPr>
              <a:t>を発行し管理する。</a:t>
            </a:r>
            <a:endParaRPr lang="en-US" altLang="ja-JP" sz="1400">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24978819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91440" y="613443"/>
            <a:ext cx="8928992" cy="604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800" b="1" u="sng">
                <a:latin typeface="Meiryo UI" panose="020B0604030504040204" pitchFamily="50" charset="-128"/>
                <a:ea typeface="Meiryo UI" panose="020B0604030504040204" pitchFamily="50" charset="-128"/>
                <a:cs typeface="Arial" pitchFamily="34" charset="0"/>
              </a:rPr>
              <a:t>Calibration Boundary Condition</a:t>
            </a:r>
          </a:p>
          <a:p>
            <a:pPr marL="360363"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Honda defines calibration boundary condition requirement of the project.</a:t>
            </a:r>
          </a:p>
          <a:p>
            <a:pPr marL="360363" algn="l" eaLnBrk="1" hangingPunct="1">
              <a:lnSpc>
                <a:spcPct val="110000"/>
              </a:lnSpc>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is responsible to fulfill</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’s </a:t>
            </a:r>
            <a:r>
              <a:rPr lang="en-US" altLang="ja-JP" sz="1400">
                <a:latin typeface="Meiryo UI" panose="020B0604030504040204" pitchFamily="50" charset="-128"/>
                <a:ea typeface="Meiryo UI" panose="020B0604030504040204" pitchFamily="50" charset="-128"/>
                <a:cs typeface="Arial" pitchFamily="34" charset="0"/>
              </a:rPr>
              <a:t>internal verification criteria to secure calibration maturity in the market.</a:t>
            </a:r>
          </a:p>
          <a:p>
            <a:pPr marL="360363" algn="l" eaLnBrk="1" hangingPunct="1">
              <a:lnSpc>
                <a:spcPct val="110000"/>
              </a:lnSpc>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is also required to report which working package will be calibrated / verified.</a:t>
            </a:r>
          </a:p>
          <a:p>
            <a:pPr marL="360363"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This verification result shall be reported in the expert meeting.</a:t>
            </a:r>
          </a:p>
          <a:p>
            <a:pPr marL="360363"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EMS items are Honda requirement to verify calibration maturity, and EMS verification is just Honda minimum requirement and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is responsible for all calibration to secure maturity in the boundary condition which is defined from next page onwards.</a:t>
            </a:r>
          </a:p>
          <a:p>
            <a:pPr marL="360363"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If</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cannot perform several condition, like high altitude and low/high temperature,</a:t>
            </a:r>
          </a:p>
          <a:p>
            <a:pPr marL="360363"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Honda can perform measurement at Honda facility instead of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verification. </a:t>
            </a:r>
          </a:p>
          <a:p>
            <a:pPr marL="360363" algn="l" eaLnBrk="1" hangingPunct="1">
              <a:lnSpc>
                <a:spcPct val="110000"/>
              </a:lnSpc>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assumes responsibility about conformity result in that case. </a:t>
            </a:r>
          </a:p>
          <a:p>
            <a:pPr marL="360363" algn="l" eaLnBrk="1" hangingPunct="1">
              <a:lnSpc>
                <a:spcPct val="110000"/>
              </a:lnSpc>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Honda </a:t>
            </a:r>
            <a:r>
              <a:rPr lang="ja-JP" altLang="en-US" sz="1400">
                <a:latin typeface="Meiryo UI" panose="020B0604030504040204" pitchFamily="50" charset="-128"/>
                <a:ea typeface="Meiryo UI" panose="020B0604030504040204" pitchFamily="50" charset="-128"/>
                <a:cs typeface="Arial" pitchFamily="34" charset="0"/>
              </a:rPr>
              <a:t>がプロジェクトにおけるキャリブレーションの環境条件を定義する。</a:t>
            </a: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は定義された環境条件下で、市場での品質を守るため適合の確認を行う責務を負う。</a:t>
            </a: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は定義された環境下で、どのファンクションのキャリブレーションを行うかを適合を始める前に</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に提示する。</a:t>
            </a: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キャリブレーションの確認結果で</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要求項目については</a:t>
            </a:r>
            <a:r>
              <a:rPr lang="en-US" altLang="ja-JP" sz="1400">
                <a:latin typeface="Meiryo UI" panose="020B0604030504040204" pitchFamily="50" charset="-128"/>
                <a:ea typeface="Meiryo UI" panose="020B0604030504040204" pitchFamily="50" charset="-128"/>
                <a:cs typeface="Arial" pitchFamily="34" charset="0"/>
              </a:rPr>
              <a:t>Expert meeting</a:t>
            </a:r>
            <a:r>
              <a:rPr lang="ja-JP" altLang="en-US" sz="1400">
                <a:latin typeface="Meiryo UI" panose="020B0604030504040204" pitchFamily="50" charset="-128"/>
                <a:ea typeface="Meiryo UI" panose="020B0604030504040204" pitchFamily="50" charset="-128"/>
                <a:cs typeface="Arial" pitchFamily="34" charset="0"/>
              </a:rPr>
              <a:t>にて報告される。</a:t>
            </a: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EMS</a:t>
            </a:r>
            <a:r>
              <a:rPr lang="ja-JP" altLang="en-US" sz="1400">
                <a:latin typeface="Meiryo UI" panose="020B0604030504040204" pitchFamily="50" charset="-128"/>
                <a:ea typeface="Meiryo UI" panose="020B0604030504040204" pitchFamily="50" charset="-128"/>
                <a:cs typeface="Arial" pitchFamily="34" charset="0"/>
              </a:rPr>
              <a:t>項目は</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の要求項目であり、ミニマム確認項目である。</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は次ページ以降で定義される領域において</a:t>
            </a: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市場での品質責任を負う。</a:t>
            </a: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高地、低高温など、</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にてテストできない環境条件に関しては、</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設備にて</a:t>
            </a:r>
            <a:r>
              <a:rPr lang="en-US" altLang="ja-JP" sz="1400">
                <a:latin typeface="Meiryo UI" panose="020B0604030504040204" pitchFamily="50" charset="-128"/>
                <a:ea typeface="Meiryo UI" panose="020B0604030504040204" pitchFamily="50" charset="-128"/>
                <a:cs typeface="Arial" pitchFamily="34" charset="0"/>
              </a:rPr>
              <a:t>Honda</a:t>
            </a:r>
            <a:r>
              <a:rPr lang="ja-JP" altLang="en-US" sz="1400">
                <a:latin typeface="Meiryo UI" panose="020B0604030504040204" pitchFamily="50" charset="-128"/>
                <a:ea typeface="Meiryo UI" panose="020B0604030504040204" pitchFamily="50" charset="-128"/>
                <a:cs typeface="Arial" pitchFamily="34" charset="0"/>
              </a:rPr>
              <a:t>が</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の代わりに</a:t>
            </a: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検証を行うこともできる。</a:t>
            </a: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その際の適合結果については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が責任を負う。</a:t>
            </a:r>
            <a:endParaRPr lang="en-US" altLang="ja-JP" sz="1400">
              <a:latin typeface="Meiryo UI" panose="020B0604030504040204" pitchFamily="50" charset="-128"/>
              <a:ea typeface="Meiryo UI" panose="020B0604030504040204" pitchFamily="50" charset="-128"/>
              <a:cs typeface="Arial" pitchFamily="34" charset="0"/>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(2/21)</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168094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102661" y="631778"/>
            <a:ext cx="8893175" cy="1088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en-US" altLang="ja-JP" sz="1800" b="1" i="0" u="sng"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Calibration Boundary Conditions</a:t>
            </a:r>
            <a:endParaRPr lang="en-US" altLang="ja-JP" sz="1400">
              <a:latin typeface="Arial" panose="020B0604020202020204" pitchFamily="34" charset="0"/>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10000"/>
              </a:lnSpc>
              <a:spcBef>
                <a:spcPct val="0"/>
              </a:spcBef>
              <a:spcAft>
                <a:spcPct val="0"/>
              </a:spcAft>
              <a:buClrTx/>
              <a:buSzTx/>
              <a:buFontTx/>
              <a:buNone/>
              <a:tabLst/>
              <a:defRPr/>
            </a:pPr>
            <a:endPar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lang="en-US" altLang="ja-JP" sz="1400">
                <a:latin typeface="Arial" panose="020B0604020202020204" pitchFamily="34" charset="0"/>
                <a:ea typeface="Meiryo UI" panose="020B0604030504040204" pitchFamily="50" charset="-128"/>
                <a:cs typeface="Arial" panose="020B0604020202020204" pitchFamily="34" charset="0"/>
              </a:rPr>
              <a:t>     Scope of the </a:t>
            </a:r>
            <a:r>
              <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development requirements (EMS) and concept of how to guarantee calibrations outside the </a:t>
            </a:r>
          </a:p>
          <a:p>
            <a:pPr marL="0" marR="0" lvl="0" indent="0" algn="l" defTabSz="914400" rtl="0" eaLnBrk="1" fontAlgn="base" latinLnBrk="0" hangingPunct="1">
              <a:lnSpc>
                <a:spcPct val="110000"/>
              </a:lnSpc>
              <a:spcBef>
                <a:spcPct val="0"/>
              </a:spcBef>
              <a:spcAft>
                <a:spcPct val="0"/>
              </a:spcAft>
              <a:buClrTx/>
              <a:buSzTx/>
              <a:buFontTx/>
              <a:buNone/>
              <a:tabLst/>
              <a:defRPr/>
            </a:pPr>
            <a:r>
              <a:rPr lang="en-US" altLang="ja-JP" sz="1400">
                <a:latin typeface="Arial" panose="020B0604020202020204" pitchFamily="34" charset="0"/>
                <a:ea typeface="Meiryo UI" panose="020B0604030504040204" pitchFamily="50" charset="-128"/>
                <a:cs typeface="Arial" panose="020B0604020202020204" pitchFamily="34" charset="0"/>
              </a:rPr>
              <a:t>     development scope </a:t>
            </a:r>
            <a:r>
              <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are as stated below   </a:t>
            </a:r>
            <a:r>
              <a:rPr kumimoji="1" lang="ja-JP" altLang="en-US"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a:t>
            </a:r>
            <a:r>
              <a:rPr lang="en-US" altLang="ja-JP" sz="1400">
                <a:latin typeface="Arial" panose="020B0604020202020204" pitchFamily="34" charset="0"/>
                <a:ea typeface="Meiryo UI" panose="020B0604030504040204" pitchFamily="50" charset="-128"/>
                <a:cs typeface="Arial" panose="020B0604020202020204" pitchFamily="34" charset="0"/>
              </a:rPr>
              <a:t>exclusive</a:t>
            </a:r>
            <a:r>
              <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 to BOSCH</a:t>
            </a:r>
            <a:r>
              <a:rPr kumimoji="1" lang="ja-JP" altLang="en-US"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a:t>
            </a:r>
            <a:endPar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Arial" panose="020B0604020202020204" pitchFamily="34" charset="0"/>
                <a:ea typeface="Meiryo UI" panose="020B0604030504040204" pitchFamily="50" charset="-128"/>
                <a:cs typeface="Arial" panose="020B0604020202020204" pitchFamily="34" charset="0"/>
              </a:rPr>
              <a:t>16. EMS Requirement and CR (2/14)</a:t>
            </a:r>
            <a:endParaRPr kumimoji="1" lang="en-US" altLang="ja-JP" sz="1100" b="0" i="0" u="none" strike="noStrike" kern="1200" cap="none" spc="0" normalizeH="0" baseline="0" noProof="0">
              <a:ln>
                <a:noFill/>
              </a:ln>
              <a:solidFill>
                <a:srgbClr val="FFFFFF"/>
              </a:solidFill>
              <a:effectLst/>
              <a:uLnTx/>
              <a:uFillTx/>
              <a:latin typeface="Arial" panose="020B0604020202020204" pitchFamily="34" charset="0"/>
              <a:ea typeface="HGPｺﾞｼｯｸE" pitchFamily="50" charset="-128"/>
              <a:cs typeface="Arial" panose="020B0604020202020204" pitchFamily="34" charset="0"/>
            </a:endParaRPr>
          </a:p>
        </p:txBody>
      </p:sp>
      <p:graphicFrame>
        <p:nvGraphicFramePr>
          <p:cNvPr id="10" name="表 5">
            <a:extLst>
              <a:ext uri="{FF2B5EF4-FFF2-40B4-BE49-F238E27FC236}">
                <a16:creationId xmlns:a16="http://schemas.microsoft.com/office/drawing/2014/main" id="{49E278D1-0D1C-4641-EDAB-174A838A56F8}"/>
              </a:ext>
            </a:extLst>
          </p:cNvPr>
          <p:cNvGraphicFramePr>
            <a:graphicFrameLocks noGrp="1"/>
          </p:cNvGraphicFramePr>
          <p:nvPr>
            <p:extLst>
              <p:ext uri="{D42A27DB-BD31-4B8C-83A1-F6EECF244321}">
                <p14:modId xmlns:p14="http://schemas.microsoft.com/office/powerpoint/2010/main" val="1707592663"/>
              </p:ext>
            </p:extLst>
          </p:nvPr>
        </p:nvGraphicFramePr>
        <p:xfrm>
          <a:off x="1351936" y="1718195"/>
          <a:ext cx="6408000" cy="3307080"/>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2989285583"/>
                    </a:ext>
                  </a:extLst>
                </a:gridCol>
                <a:gridCol w="1227731">
                  <a:extLst>
                    <a:ext uri="{9D8B030D-6E8A-4147-A177-3AD203B41FA5}">
                      <a16:colId xmlns:a16="http://schemas.microsoft.com/office/drawing/2014/main" val="1158168181"/>
                    </a:ext>
                  </a:extLst>
                </a:gridCol>
                <a:gridCol w="1976269">
                  <a:extLst>
                    <a:ext uri="{9D8B030D-6E8A-4147-A177-3AD203B41FA5}">
                      <a16:colId xmlns:a16="http://schemas.microsoft.com/office/drawing/2014/main" val="1985270355"/>
                    </a:ext>
                  </a:extLst>
                </a:gridCol>
                <a:gridCol w="2016000">
                  <a:extLst>
                    <a:ext uri="{9D8B030D-6E8A-4147-A177-3AD203B41FA5}">
                      <a16:colId xmlns:a16="http://schemas.microsoft.com/office/drawing/2014/main" val="2960289742"/>
                    </a:ext>
                  </a:extLst>
                </a:gridCol>
              </a:tblGrid>
              <a:tr h="370840">
                <a:tc>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Scope of the Development Requirements</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 (EMS)</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Outside the Scope of the Development Requirement</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(Non-EMS)</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9453756"/>
                  </a:ext>
                </a:extLst>
              </a:tr>
              <a:tr h="370840">
                <a:tc rowSpan="2">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Market Environment Requirements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Altitude</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Defined by HM</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Not Bosch responsibility </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Refer to (</a:t>
                      </a:r>
                      <a:r>
                        <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rPr>
                        <a:t>*</a:t>
                      </a: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1) for exception.</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895142"/>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Ambient temperature</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0522345"/>
                  </a:ext>
                </a:extLst>
              </a:tr>
              <a:tr h="370840">
                <a:tc rowSpan="4">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Market Fuel</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Properties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Ethanol concentration</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Proposed from HM</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Agreed by RB</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Not Bosch Responsibility.</a:t>
                      </a:r>
                    </a:p>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Refer to (</a:t>
                      </a:r>
                      <a:r>
                        <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rPr>
                        <a:t>*</a:t>
                      </a: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2) for the proviso.</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9007432"/>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Heavy fuel</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143814"/>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RON</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182490"/>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200">
                          <a:solidFill>
                            <a:schemeClr val="tx1"/>
                          </a:solidFill>
                          <a:latin typeface="Arial" panose="020B0604020202020204" pitchFamily="34" charset="0"/>
                          <a:ea typeface="Meiryo UI" panose="020B0604030504040204" pitchFamily="50" charset="-128"/>
                          <a:cs typeface="Arial" panose="020B0604020202020204" pitchFamily="34" charset="0"/>
                        </a:rPr>
                        <a:t>Other Ingredients</a:t>
                      </a:r>
                      <a:endParaRPr kumimoji="1" lang="ja-JP" altLang="en-US" sz="12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1596057"/>
                  </a:ext>
                </a:extLst>
              </a:tr>
            </a:tbl>
          </a:graphicData>
        </a:graphic>
      </p:graphicFrame>
      <p:sp>
        <p:nvSpPr>
          <p:cNvPr id="11" name="テキスト ボックス 10">
            <a:extLst>
              <a:ext uri="{FF2B5EF4-FFF2-40B4-BE49-F238E27FC236}">
                <a16:creationId xmlns:a16="http://schemas.microsoft.com/office/drawing/2014/main" id="{C21A7B7D-102B-B130-D501-DD377531203D}"/>
              </a:ext>
            </a:extLst>
          </p:cNvPr>
          <p:cNvSpPr txBox="1"/>
          <p:nvPr/>
        </p:nvSpPr>
        <p:spPr>
          <a:xfrm>
            <a:off x="367965" y="5022625"/>
            <a:ext cx="8674435" cy="138499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400">
                <a:latin typeface="Arial" panose="020B0604020202020204" pitchFamily="34" charset="0"/>
                <a:ea typeface="Meiryo UI" panose="020B0604030504040204" pitchFamily="50" charset="-128"/>
                <a:cs typeface="Arial" panose="020B0604020202020204" pitchFamily="34" charset="0"/>
              </a:rPr>
              <a:t>(</a:t>
            </a:r>
            <a:r>
              <a:rPr kumimoji="1" lang="ja-JP" altLang="en-US"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1)  </a:t>
            </a:r>
            <a:r>
              <a:rPr lang="en-US" altLang="ja-JP" sz="1400">
                <a:latin typeface="Arial" panose="020B0604020202020204" pitchFamily="34" charset="0"/>
                <a:ea typeface="Meiryo UI" panose="020B0604030504040204" pitchFamily="50" charset="-128"/>
                <a:cs typeface="Arial" panose="020B0604020202020204" pitchFamily="34" charset="0"/>
              </a:rPr>
              <a:t>It is outside the range to be guaranteed by </a:t>
            </a:r>
            <a:r>
              <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Bosch when defects are related to Non-EMS. However,</a:t>
            </a:r>
            <a:r>
              <a:rPr lang="en-US" altLang="ja-JP" sz="1400">
                <a:latin typeface="Arial" panose="020B0604020202020204" pitchFamily="34" charset="0"/>
                <a:ea typeface="Meiryo UI" panose="020B0604030504040204" pitchFamily="50" charset="-128"/>
                <a:cs typeface="Arial" panose="020B0604020202020204" pitchFamily="34" charset="0"/>
              </a:rPr>
              <a:t> it will be Bosch responsibility if </a:t>
            </a:r>
            <a:r>
              <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confirmation </a:t>
            </a:r>
            <a:r>
              <a:rPr lang="en-US" altLang="ja-JP" sz="1400">
                <a:latin typeface="Arial" panose="020B0604020202020204" pitchFamily="34" charset="0"/>
                <a:ea typeface="Meiryo UI" panose="020B0604030504040204" pitchFamily="50" charset="-128"/>
                <a:cs typeface="Arial" panose="020B0604020202020204" pitchFamily="34" charset="0"/>
              </a:rPr>
              <a:t>for the outside </a:t>
            </a:r>
            <a:r>
              <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range was not performed to make sure there is no obviously inappropriate calibration. </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400">
                <a:latin typeface="Arial" panose="020B0604020202020204" pitchFamily="34" charset="0"/>
                <a:ea typeface="Meiryo UI" panose="020B0604030504040204" pitchFamily="50" charset="-128"/>
                <a:cs typeface="Arial" panose="020B0604020202020204" pitchFamily="34" charset="0"/>
              </a:rPr>
              <a:t>(</a:t>
            </a:r>
            <a:r>
              <a:rPr kumimoji="1" lang="ja-JP" altLang="en-US"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2)  Regarding additional development cost that incurs due to Non-EMS related defects, Honda will bear 100% of the cost for</a:t>
            </a:r>
            <a:r>
              <a:rPr lang="en-US" altLang="ja-JP" sz="1400">
                <a:latin typeface="Arial" panose="020B0604020202020204" pitchFamily="34" charset="0"/>
                <a:ea typeface="Meiryo UI" panose="020B0604030504040204" pitchFamily="50" charset="-128"/>
                <a:cs typeface="Arial" panose="020B0604020202020204" pitchFamily="34" charset="0"/>
              </a:rPr>
              <a:t> such defect investigations and application of countermeasures</a:t>
            </a:r>
            <a:r>
              <a:rPr kumimoji="1" lang="en-US" altLang="ja-JP"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rPr>
              <a:t>. However, in any cases where multiple factors are involved, consultation shall be held between Honda and RB for cost burden ratio.</a:t>
            </a:r>
            <a:endParaRPr kumimoji="1" lang="ja-JP" altLang="en-US" sz="1400" b="0" i="0" u="none" strike="noStrike" kern="1200" cap="none" spc="0" normalizeH="0" baseline="0" noProof="0">
              <a:ln>
                <a:noFill/>
              </a:ln>
              <a:effectLst/>
              <a:uLnTx/>
              <a:uFillTx/>
              <a:latin typeface="Arial" panose="020B0604020202020204" pitchFamily="34" charset="0"/>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22714149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91440" y="613443"/>
            <a:ext cx="8928992" cy="92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800" b="1" u="sng">
                <a:latin typeface="Meiryo UI" panose="020B0604030504040204" pitchFamily="50" charset="-128"/>
                <a:ea typeface="Meiryo UI" panose="020B0604030504040204" pitchFamily="50" charset="-128"/>
                <a:cs typeface="Arial" pitchFamily="34" charset="0"/>
              </a:rPr>
              <a:t>Calibration Boundary Condition</a:t>
            </a:r>
          </a:p>
          <a:p>
            <a:pPr marL="360363" algn="l" eaLnBrk="1" hangingPunct="1">
              <a:lnSpc>
                <a:spcPct val="110000"/>
              </a:lnSpc>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marL="360363"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市場環境、市場流通燃料について、開発要件、要件外保証の考え方は以下に従う。（</a:t>
            </a:r>
            <a:r>
              <a:rPr lang="en-US" altLang="ja-JP" sz="1400">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固有）</a:t>
            </a:r>
            <a:endParaRPr lang="en-US" altLang="ja-JP" sz="1400">
              <a:latin typeface="Meiryo UI" panose="020B0604030504040204" pitchFamily="50" charset="-128"/>
              <a:ea typeface="Meiryo UI" panose="020B0604030504040204" pitchFamily="50" charset="-128"/>
              <a:cs typeface="Arial" pitchFamily="34" charset="0"/>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(4/21)</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2" name="表 5">
            <a:extLst>
              <a:ext uri="{FF2B5EF4-FFF2-40B4-BE49-F238E27FC236}">
                <a16:creationId xmlns:a16="http://schemas.microsoft.com/office/drawing/2014/main" id="{0723F8E9-A678-0C28-C263-354A9D84E20E}"/>
              </a:ext>
            </a:extLst>
          </p:cNvPr>
          <p:cNvGraphicFramePr>
            <a:graphicFrameLocks noGrp="1"/>
          </p:cNvGraphicFramePr>
          <p:nvPr>
            <p:extLst>
              <p:ext uri="{D42A27DB-BD31-4B8C-83A1-F6EECF244321}">
                <p14:modId xmlns:p14="http://schemas.microsoft.com/office/powerpoint/2010/main" val="1372076090"/>
              </p:ext>
            </p:extLst>
          </p:nvPr>
        </p:nvGraphicFramePr>
        <p:xfrm>
          <a:off x="1103586" y="1854829"/>
          <a:ext cx="6810704" cy="2743200"/>
        </p:xfrm>
        <a:graphic>
          <a:graphicData uri="http://schemas.openxmlformats.org/drawingml/2006/table">
            <a:tbl>
              <a:tblPr firstRow="1" bandRow="1">
                <a:tableStyleId>{5C22544A-7EE6-4342-B048-85BDC9FD1C3A}</a:tableStyleId>
              </a:tblPr>
              <a:tblGrid>
                <a:gridCol w="1262658">
                  <a:extLst>
                    <a:ext uri="{9D8B030D-6E8A-4147-A177-3AD203B41FA5}">
                      <a16:colId xmlns:a16="http://schemas.microsoft.com/office/drawing/2014/main" val="2989285583"/>
                    </a:ext>
                  </a:extLst>
                </a:gridCol>
                <a:gridCol w="1262658">
                  <a:extLst>
                    <a:ext uri="{9D8B030D-6E8A-4147-A177-3AD203B41FA5}">
                      <a16:colId xmlns:a16="http://schemas.microsoft.com/office/drawing/2014/main" val="1158168181"/>
                    </a:ext>
                  </a:extLst>
                </a:gridCol>
                <a:gridCol w="2142694">
                  <a:extLst>
                    <a:ext uri="{9D8B030D-6E8A-4147-A177-3AD203B41FA5}">
                      <a16:colId xmlns:a16="http://schemas.microsoft.com/office/drawing/2014/main" val="1985270355"/>
                    </a:ext>
                  </a:extLst>
                </a:gridCol>
                <a:gridCol w="2142694">
                  <a:extLst>
                    <a:ext uri="{9D8B030D-6E8A-4147-A177-3AD203B41FA5}">
                      <a16:colId xmlns:a16="http://schemas.microsoft.com/office/drawing/2014/main" val="2960289742"/>
                    </a:ext>
                  </a:extLst>
                </a:gridCol>
              </a:tblGrid>
              <a:tr h="370840">
                <a:tc>
                  <a:txBody>
                    <a:bodyP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開発要件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不具合原因が要件外の場合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9453756"/>
                  </a:ext>
                </a:extLst>
              </a:tr>
              <a:tr h="370840">
                <a:tc rowSpan="2">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市場環境要件</a:t>
                      </a:r>
                      <a:endParaRPr kumimoji="1" lang="en-US" altLang="ja-JP" sz="14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標高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rPr>
                        <a:t>HM</a:t>
                      </a:r>
                      <a:r>
                        <a:rPr kumimoji="1" lang="ja-JP" altLang="en-US" sz="1400">
                          <a:solidFill>
                            <a:schemeClr val="tx1"/>
                          </a:solidFill>
                          <a:latin typeface="Meiryo UI" panose="020B0604030504040204" pitchFamily="50" charset="-128"/>
                          <a:ea typeface="Meiryo UI" panose="020B0604030504040204" pitchFamily="50" charset="-128"/>
                        </a:rPr>
                        <a:t>が定義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対象外（*</a:t>
                      </a:r>
                      <a:r>
                        <a:rPr kumimoji="1" lang="en-US" altLang="ja-JP" sz="1400">
                          <a:solidFill>
                            <a:schemeClr val="tx1"/>
                          </a:solidFill>
                          <a:latin typeface="Meiryo UI" panose="020B0604030504040204" pitchFamily="50" charset="-128"/>
                          <a:ea typeface="Meiryo UI" panose="020B0604030504040204" pitchFamily="50" charset="-128"/>
                        </a:rPr>
                        <a:t>1</a:t>
                      </a:r>
                      <a:r>
                        <a:rPr kumimoji="1" lang="ja-JP" altLang="en-US" sz="1400">
                          <a:solidFill>
                            <a:schemeClr val="tx1"/>
                          </a:solidFill>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895142"/>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温度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0522345"/>
                  </a:ext>
                </a:extLst>
              </a:tr>
              <a:tr h="370840">
                <a:tc rowSpan="4">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市場流通燃料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エタノール濃度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rPr>
                        <a:t>HM</a:t>
                      </a:r>
                      <a:r>
                        <a:rPr kumimoji="1" lang="ja-JP" altLang="en-US" sz="1400">
                          <a:solidFill>
                            <a:schemeClr val="tx1"/>
                          </a:solidFill>
                          <a:latin typeface="Meiryo UI" panose="020B0604030504040204" pitchFamily="50" charset="-128"/>
                          <a:ea typeface="Meiryo UI" panose="020B0604030504040204" pitchFamily="50" charset="-128"/>
                        </a:rPr>
                        <a:t>提案、</a:t>
                      </a:r>
                      <a:r>
                        <a:rPr kumimoji="1" lang="en-US" altLang="ja-JP" sz="1400">
                          <a:solidFill>
                            <a:schemeClr val="tx1"/>
                          </a:solidFill>
                          <a:latin typeface="Meiryo UI" panose="020B0604030504040204" pitchFamily="50" charset="-128"/>
                          <a:ea typeface="Meiryo UI" panose="020B0604030504040204" pitchFamily="50" charset="-128"/>
                        </a:rPr>
                        <a:t>RB</a:t>
                      </a:r>
                      <a:r>
                        <a:rPr kumimoji="1" lang="ja-JP" altLang="en-US" sz="1400">
                          <a:solidFill>
                            <a:schemeClr val="tx1"/>
                          </a:solidFill>
                          <a:latin typeface="Meiryo UI" panose="020B0604030504040204" pitchFamily="50" charset="-128"/>
                          <a:ea typeface="Meiryo UI" panose="020B0604030504040204" pitchFamily="50" charset="-128"/>
                        </a:rPr>
                        <a:t>合意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対象外（*</a:t>
                      </a:r>
                      <a:r>
                        <a:rPr kumimoji="1" lang="en-US" altLang="ja-JP" sz="1400">
                          <a:solidFill>
                            <a:schemeClr val="tx1"/>
                          </a:solidFill>
                          <a:latin typeface="Meiryo UI" panose="020B0604030504040204" pitchFamily="50" charset="-128"/>
                          <a:ea typeface="Meiryo UI" panose="020B0604030504040204" pitchFamily="50" charset="-128"/>
                        </a:rPr>
                        <a:t>2</a:t>
                      </a:r>
                      <a:r>
                        <a:rPr kumimoji="1" lang="ja-JP" altLang="en-US" sz="1400">
                          <a:solidFill>
                            <a:schemeClr val="tx1"/>
                          </a:solidFill>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9007432"/>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重質性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143814"/>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rPr>
                        <a:t>RON</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182490"/>
                  </a:ext>
                </a:extLst>
              </a:tr>
              <a:tr h="370840">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400">
                          <a:solidFill>
                            <a:schemeClr val="tx1"/>
                          </a:solidFill>
                          <a:latin typeface="Meiryo UI" panose="020B0604030504040204" pitchFamily="50" charset="-128"/>
                          <a:ea typeface="Meiryo UI" panose="020B0604030504040204" pitchFamily="50" charset="-128"/>
                        </a:rPr>
                        <a:t>その他成分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kumimoji="1" lang="ja-JP" altLang="en-US" sz="120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1596057"/>
                  </a:ext>
                </a:extLst>
              </a:tr>
            </a:tbl>
          </a:graphicData>
        </a:graphic>
      </p:graphicFrame>
      <p:sp>
        <p:nvSpPr>
          <p:cNvPr id="7" name="テキスト ボックス 6">
            <a:extLst>
              <a:ext uri="{FF2B5EF4-FFF2-40B4-BE49-F238E27FC236}">
                <a16:creationId xmlns:a16="http://schemas.microsoft.com/office/drawing/2014/main" id="{A36EC409-E39C-986B-2774-590824994DCF}"/>
              </a:ext>
            </a:extLst>
          </p:cNvPr>
          <p:cNvSpPr txBox="1"/>
          <p:nvPr/>
        </p:nvSpPr>
        <p:spPr>
          <a:xfrm>
            <a:off x="367964" y="5022625"/>
            <a:ext cx="7866256"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1</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）保証対象外だが、環境要件を外れた領域において極端な適合はしない。</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algn="l">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ja-JP" altLang="en-US" sz="1400">
                <a:solidFill>
                  <a:schemeClr val="tx1"/>
                </a:solidFill>
                <a:latin typeface="Meiryo UI" panose="020B0604030504040204" pitchFamily="50" charset="-128"/>
                <a:ea typeface="Meiryo UI" panose="020B0604030504040204" pitchFamily="50" charset="-128"/>
              </a:rPr>
              <a:t>不具合調査や対策にかかる開発費用は</a:t>
            </a:r>
            <a:r>
              <a:rPr kumimoji="1" lang="en-US" altLang="ja-JP" sz="1400">
                <a:solidFill>
                  <a:schemeClr val="tx1"/>
                </a:solidFill>
                <a:latin typeface="Meiryo UI" panose="020B0604030504040204" pitchFamily="50" charset="-128"/>
                <a:ea typeface="Meiryo UI" panose="020B0604030504040204" pitchFamily="50" charset="-128"/>
              </a:rPr>
              <a:t>Honda</a:t>
            </a:r>
            <a:r>
              <a:rPr kumimoji="1" lang="ja-JP" altLang="en-US" sz="140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100%</a:t>
            </a:r>
            <a:r>
              <a:rPr kumimoji="1" lang="ja-JP" altLang="en-US" sz="1400">
                <a:solidFill>
                  <a:schemeClr val="tx1"/>
                </a:solidFill>
                <a:latin typeface="Meiryo UI" panose="020B0604030504040204" pitchFamily="50" charset="-128"/>
                <a:ea typeface="Meiryo UI" panose="020B0604030504040204" pitchFamily="50" charset="-128"/>
              </a:rPr>
              <a:t>負担。</a:t>
            </a:r>
            <a:r>
              <a:rPr lang="ja-JP" altLang="en-US" sz="1400">
                <a:latin typeface="Meiryo UI" panose="020B0604030504040204" pitchFamily="50" charset="-128"/>
                <a:ea typeface="Meiryo UI" panose="020B0604030504040204" pitchFamily="50" charset="-128"/>
              </a:rPr>
              <a:t>ただし、複合要因の場合は要協議。</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31719255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(5/21)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1" name="正方形/長方形 50"/>
          <p:cNvSpPr/>
          <p:nvPr/>
        </p:nvSpPr>
        <p:spPr>
          <a:xfrm>
            <a:off x="250829" y="565056"/>
            <a:ext cx="4892686" cy="667875"/>
          </a:xfrm>
          <a:prstGeom prst="rect">
            <a:avLst/>
          </a:prstGeom>
        </p:spPr>
        <p:txBody>
          <a:bodyPr wrap="none">
            <a:spAutoFit/>
          </a:bodyPr>
          <a:lstStyle/>
          <a:p>
            <a:pPr algn="l" eaLnBrk="1" hangingPunct="1">
              <a:lnSpc>
                <a:spcPct val="110000"/>
              </a:lnSpc>
            </a:pPr>
            <a:r>
              <a:rPr lang="en-US" altLang="ja-JP" sz="2000" b="1" u="sng">
                <a:solidFill>
                  <a:srgbClr val="000000"/>
                </a:solidFill>
                <a:latin typeface="Arial" panose="020B0604020202020204" pitchFamily="34" charset="0"/>
                <a:ea typeface="ＭＳ Ｐゴシック"/>
                <a:cs typeface="Arial" panose="020B0604020202020204" pitchFamily="34" charset="0"/>
              </a:rPr>
              <a:t>Calibration Boundary Condition</a:t>
            </a:r>
          </a:p>
          <a:p>
            <a:pPr algn="l" eaLnBrk="1" hangingPunct="1">
              <a:lnSpc>
                <a:spcPct val="110000"/>
              </a:lnSpc>
            </a:pPr>
            <a:r>
              <a:rPr lang="en-US" altLang="ja-JP" sz="1400">
                <a:solidFill>
                  <a:srgbClr val="000000"/>
                </a:solidFill>
                <a:latin typeface="Arial" panose="020B0604020202020204" pitchFamily="34" charset="0"/>
                <a:ea typeface="ＭＳ Ｐゴシック"/>
                <a:cs typeface="Arial" panose="020B0604020202020204" pitchFamily="34" charset="0"/>
              </a:rPr>
              <a:t>* Details are defined in EMS index and Environment matrix.</a:t>
            </a:r>
          </a:p>
        </p:txBody>
      </p:sp>
      <p:sp>
        <p:nvSpPr>
          <p:cNvPr id="131" name="正方形/長方形 130"/>
          <p:cNvSpPr/>
          <p:nvPr/>
        </p:nvSpPr>
        <p:spPr>
          <a:xfrm>
            <a:off x="5585016" y="479087"/>
            <a:ext cx="3690434" cy="1169551"/>
          </a:xfrm>
          <a:prstGeom prst="rect">
            <a:avLst/>
          </a:prstGeom>
          <a:solidFill>
            <a:srgbClr val="FFFF99"/>
          </a:solidFill>
        </p:spPr>
        <p:txBody>
          <a:bodyPr wrap="none">
            <a:spAutoFit/>
          </a:bodyPr>
          <a:lstStyle/>
          <a:p>
            <a:pPr algn="l"/>
            <a:r>
              <a:rPr lang="en-US" altLang="ja-JP" sz="1400">
                <a:latin typeface="Meiryo UI" panose="020B0604030504040204" pitchFamily="50" charset="-128"/>
                <a:ea typeface="Meiryo UI" panose="020B0604030504040204" pitchFamily="50" charset="-128"/>
              </a:rPr>
              <a:t>If </a:t>
            </a:r>
            <a:r>
              <a:rPr lang="en-US" altLang="ja-JP" sz="1400">
                <a:solidFill>
                  <a:srgbClr val="0000FF"/>
                </a:solidFill>
                <a:latin typeface="Meiryo UI" panose="020B0604030504040204" pitchFamily="50" charset="-128"/>
                <a:ea typeface="Meiryo UI" panose="020B0604030504040204" pitchFamily="50" charset="-128"/>
              </a:rPr>
              <a:t>Bosch</a:t>
            </a:r>
            <a:r>
              <a:rPr lang="en-US" altLang="ja-JP" sz="1400">
                <a:latin typeface="Meiryo UI" panose="020B0604030504040204" pitchFamily="50" charset="-128"/>
                <a:ea typeface="Meiryo UI" panose="020B0604030504040204" pitchFamily="50" charset="-128"/>
              </a:rPr>
              <a:t> had requirement to use</a:t>
            </a:r>
          </a:p>
          <a:p>
            <a:pPr algn="l"/>
            <a:r>
              <a:rPr lang="en-US" altLang="ja-JP" sz="1400">
                <a:latin typeface="Meiryo UI" panose="020B0604030504040204" pitchFamily="50" charset="-128"/>
                <a:ea typeface="Meiryo UI" panose="020B0604030504040204" pitchFamily="50" charset="-128"/>
              </a:rPr>
              <a:t>Honda facility(cold chamber, high</a:t>
            </a:r>
          </a:p>
          <a:p>
            <a:pPr algn="l"/>
            <a:r>
              <a:rPr lang="en-US" altLang="ja-JP" sz="1400">
                <a:latin typeface="Meiryo UI" panose="020B0604030504040204" pitchFamily="50" charset="-128"/>
                <a:ea typeface="Meiryo UI" panose="020B0604030504040204" pitchFamily="50" charset="-128"/>
              </a:rPr>
              <a:t>altitude chamber, etc.), </a:t>
            </a:r>
            <a:r>
              <a:rPr lang="en-US" altLang="ja-JP" sz="1400">
                <a:solidFill>
                  <a:srgbClr val="0000FF"/>
                </a:solidFill>
                <a:latin typeface="Meiryo UI" panose="020B0604030504040204" pitchFamily="50" charset="-128"/>
                <a:ea typeface="Meiryo UI" panose="020B0604030504040204" pitchFamily="50" charset="-128"/>
              </a:rPr>
              <a:t>Bosch</a:t>
            </a:r>
            <a:r>
              <a:rPr lang="en-US" altLang="ja-JP" sz="1400">
                <a:latin typeface="Meiryo UI" panose="020B0604030504040204" pitchFamily="50" charset="-128"/>
                <a:ea typeface="Meiryo UI" panose="020B0604030504040204" pitchFamily="50" charset="-128"/>
              </a:rPr>
              <a:t> </a:t>
            </a:r>
          </a:p>
          <a:p>
            <a:pPr algn="l"/>
            <a:r>
              <a:rPr lang="en-US" altLang="ja-JP" sz="1400">
                <a:latin typeface="Meiryo UI" panose="020B0604030504040204" pitchFamily="50" charset="-128"/>
                <a:ea typeface="Meiryo UI" panose="020B0604030504040204" pitchFamily="50" charset="-128"/>
              </a:rPr>
              <a:t>MUST declare</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which environment</a:t>
            </a:r>
          </a:p>
          <a:p>
            <a:pPr algn="l"/>
            <a:r>
              <a:rPr lang="en-US" altLang="ja-JP" sz="1400">
                <a:latin typeface="Meiryo UI" panose="020B0604030504040204" pitchFamily="50" charset="-128"/>
                <a:ea typeface="Meiryo UI" panose="020B0604030504040204" pitchFamily="50" charset="-128"/>
              </a:rPr>
              <a:t>Condition to use it in</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quotation timing.</a:t>
            </a:r>
            <a:endParaRPr lang="ja-JP" altLang="en-US" sz="1400">
              <a:latin typeface="Meiryo UI" panose="020B0604030504040204" pitchFamily="50" charset="-128"/>
              <a:ea typeface="Meiryo UI" panose="020B0604030504040204" pitchFamily="50" charset="-128"/>
            </a:endParaRPr>
          </a:p>
        </p:txBody>
      </p:sp>
      <p:sp>
        <p:nvSpPr>
          <p:cNvPr id="2" name="テキスト ボックス 14">
            <a:extLst>
              <a:ext uri="{FF2B5EF4-FFF2-40B4-BE49-F238E27FC236}">
                <a16:creationId xmlns:a16="http://schemas.microsoft.com/office/drawing/2014/main" id="{4B4BA88A-42B6-3300-9B7E-E57EA692D7B8}"/>
              </a:ext>
            </a:extLst>
          </p:cNvPr>
          <p:cNvSpPr txBox="1"/>
          <p:nvPr/>
        </p:nvSpPr>
        <p:spPr>
          <a:xfrm>
            <a:off x="1980634" y="6166354"/>
            <a:ext cx="570990" cy="553998"/>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-15</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3" name="テキスト ボックス 14">
            <a:extLst>
              <a:ext uri="{FF2B5EF4-FFF2-40B4-BE49-F238E27FC236}">
                <a16:creationId xmlns:a16="http://schemas.microsoft.com/office/drawing/2014/main" id="{C16A0169-017F-6D22-2D21-E27320809A17}"/>
              </a:ext>
            </a:extLst>
          </p:cNvPr>
          <p:cNvSpPr txBox="1"/>
          <p:nvPr/>
        </p:nvSpPr>
        <p:spPr>
          <a:xfrm>
            <a:off x="2559118" y="6157058"/>
            <a:ext cx="570990" cy="553998"/>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-10</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cxnSp>
        <p:nvCxnSpPr>
          <p:cNvPr id="4" name="直線コネクタ 40">
            <a:extLst>
              <a:ext uri="{FF2B5EF4-FFF2-40B4-BE49-F238E27FC236}">
                <a16:creationId xmlns:a16="http://schemas.microsoft.com/office/drawing/2014/main" id="{CC60E2C9-21FC-2E5C-797F-4C7D18BD6ABD}"/>
              </a:ext>
            </a:extLst>
          </p:cNvPr>
          <p:cNvCxnSpPr/>
          <p:nvPr/>
        </p:nvCxnSpPr>
        <p:spPr bwMode="auto">
          <a:xfrm flipV="1">
            <a:off x="2907347" y="1565048"/>
            <a:ext cx="0" cy="4593027"/>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線コネクタ 27">
            <a:extLst>
              <a:ext uri="{FF2B5EF4-FFF2-40B4-BE49-F238E27FC236}">
                <a16:creationId xmlns:a16="http://schemas.microsoft.com/office/drawing/2014/main" id="{73D4A5CE-0339-0DC5-EFCB-593310BB2E7D}"/>
              </a:ext>
            </a:extLst>
          </p:cNvPr>
          <p:cNvCxnSpPr/>
          <p:nvPr/>
        </p:nvCxnSpPr>
        <p:spPr bwMode="auto">
          <a:xfrm flipH="1">
            <a:off x="1853437" y="4712502"/>
            <a:ext cx="6203286" cy="1268"/>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フリーフォーム 64">
            <a:extLst>
              <a:ext uri="{FF2B5EF4-FFF2-40B4-BE49-F238E27FC236}">
                <a16:creationId xmlns:a16="http://schemas.microsoft.com/office/drawing/2014/main" id="{272D4FD7-5A46-50D7-03B1-5E222609A0F9}"/>
              </a:ext>
            </a:extLst>
          </p:cNvPr>
          <p:cNvSpPr/>
          <p:nvPr/>
        </p:nvSpPr>
        <p:spPr bwMode="auto">
          <a:xfrm>
            <a:off x="1808532" y="1454934"/>
            <a:ext cx="6603947" cy="4697046"/>
          </a:xfrm>
          <a:custGeom>
            <a:avLst/>
            <a:gdLst>
              <a:gd name="connsiteX0" fmla="*/ 0 w 5782962"/>
              <a:gd name="connsiteY0" fmla="*/ 0 h 3954162"/>
              <a:gd name="connsiteX1" fmla="*/ 0 w 5782962"/>
              <a:gd name="connsiteY1" fmla="*/ 3954162 h 3954162"/>
              <a:gd name="connsiteX2" fmla="*/ 5782962 w 5782962"/>
              <a:gd name="connsiteY2" fmla="*/ 3954162 h 3954162"/>
            </a:gdLst>
            <a:ahLst/>
            <a:cxnLst>
              <a:cxn ang="0">
                <a:pos x="connsiteX0" y="connsiteY0"/>
              </a:cxn>
              <a:cxn ang="0">
                <a:pos x="connsiteX1" y="connsiteY1"/>
              </a:cxn>
              <a:cxn ang="0">
                <a:pos x="connsiteX2" y="connsiteY2"/>
              </a:cxn>
            </a:cxnLst>
            <a:rect l="l" t="t" r="r" b="b"/>
            <a:pathLst>
              <a:path w="5782962" h="3954162">
                <a:moveTo>
                  <a:pt x="0" y="0"/>
                </a:moveTo>
                <a:lnTo>
                  <a:pt x="0" y="3954162"/>
                </a:lnTo>
                <a:lnTo>
                  <a:pt x="5782962" y="3954162"/>
                </a:ln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7" name="テキスト ボックス 6">
            <a:extLst>
              <a:ext uri="{FF2B5EF4-FFF2-40B4-BE49-F238E27FC236}">
                <a16:creationId xmlns:a16="http://schemas.microsoft.com/office/drawing/2014/main" id="{807BE0E3-BDF8-44AC-B26C-41DBDA253929}"/>
              </a:ext>
            </a:extLst>
          </p:cNvPr>
          <p:cNvSpPr txBox="1"/>
          <p:nvPr/>
        </p:nvSpPr>
        <p:spPr>
          <a:xfrm>
            <a:off x="1532008" y="6157058"/>
            <a:ext cx="570990" cy="553998"/>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-20</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8" name="テキスト ボックス 7">
            <a:extLst>
              <a:ext uri="{FF2B5EF4-FFF2-40B4-BE49-F238E27FC236}">
                <a16:creationId xmlns:a16="http://schemas.microsoft.com/office/drawing/2014/main" id="{72005A37-1F40-52FB-4FA3-DBE5C55C8E05}"/>
              </a:ext>
            </a:extLst>
          </p:cNvPr>
          <p:cNvSpPr txBox="1"/>
          <p:nvPr/>
        </p:nvSpPr>
        <p:spPr>
          <a:xfrm>
            <a:off x="2207424" y="6157058"/>
            <a:ext cx="184731" cy="64633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9" name="テキスト ボックス 8">
            <a:extLst>
              <a:ext uri="{FF2B5EF4-FFF2-40B4-BE49-F238E27FC236}">
                <a16:creationId xmlns:a16="http://schemas.microsoft.com/office/drawing/2014/main" id="{42DD6FA6-D19E-6BAF-3F1C-7CC47614E02A}"/>
              </a:ext>
            </a:extLst>
          </p:cNvPr>
          <p:cNvSpPr txBox="1"/>
          <p:nvPr/>
        </p:nvSpPr>
        <p:spPr>
          <a:xfrm>
            <a:off x="7089885" y="6157058"/>
            <a:ext cx="470000"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45</a:t>
            </a:r>
          </a:p>
        </p:txBody>
      </p:sp>
      <p:sp>
        <p:nvSpPr>
          <p:cNvPr id="10" name="テキスト ボックス 9">
            <a:extLst>
              <a:ext uri="{FF2B5EF4-FFF2-40B4-BE49-F238E27FC236}">
                <a16:creationId xmlns:a16="http://schemas.microsoft.com/office/drawing/2014/main" id="{3B25614E-55C1-040A-EB4E-F9D003EB6916}"/>
              </a:ext>
            </a:extLst>
          </p:cNvPr>
          <p:cNvSpPr txBox="1"/>
          <p:nvPr/>
        </p:nvSpPr>
        <p:spPr>
          <a:xfrm rot="16200000">
            <a:off x="41269" y="4257737"/>
            <a:ext cx="1683703"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Altitude[m]</a:t>
            </a:r>
            <a:endParaRPr kumimoji="1" lang="ja-JP" altLang="en-US"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1" name="テキスト ボックス 10">
            <a:extLst>
              <a:ext uri="{FF2B5EF4-FFF2-40B4-BE49-F238E27FC236}">
                <a16:creationId xmlns:a16="http://schemas.microsoft.com/office/drawing/2014/main" id="{59E0CC9C-5609-6015-5CFE-6D81643CB5C0}"/>
              </a:ext>
            </a:extLst>
          </p:cNvPr>
          <p:cNvSpPr txBox="1"/>
          <p:nvPr/>
        </p:nvSpPr>
        <p:spPr>
          <a:xfrm>
            <a:off x="3185412" y="6492959"/>
            <a:ext cx="3490956"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Ambient</a:t>
            </a:r>
            <a:r>
              <a:rPr kumimoji="1" lang="ja-JP" altLang="en-US"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 </a:t>
            </a: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Temperature [degC]</a:t>
            </a:r>
            <a:endParaRPr kumimoji="1" lang="ja-JP" altLang="en-US"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2" name="テキスト ボックス 11">
            <a:extLst>
              <a:ext uri="{FF2B5EF4-FFF2-40B4-BE49-F238E27FC236}">
                <a16:creationId xmlns:a16="http://schemas.microsoft.com/office/drawing/2014/main" id="{F2B4F1EE-0898-03E3-7306-7D1765473E3C}"/>
              </a:ext>
            </a:extLst>
          </p:cNvPr>
          <p:cNvSpPr txBox="1"/>
          <p:nvPr/>
        </p:nvSpPr>
        <p:spPr>
          <a:xfrm>
            <a:off x="7623273" y="6157058"/>
            <a:ext cx="470000"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50</a:t>
            </a:r>
          </a:p>
        </p:txBody>
      </p:sp>
      <p:sp>
        <p:nvSpPr>
          <p:cNvPr id="13" name="テキスト ボックス 12">
            <a:extLst>
              <a:ext uri="{FF2B5EF4-FFF2-40B4-BE49-F238E27FC236}">
                <a16:creationId xmlns:a16="http://schemas.microsoft.com/office/drawing/2014/main" id="{D442C4E0-977F-B487-77FD-9BFDE984C1A4}"/>
              </a:ext>
            </a:extLst>
          </p:cNvPr>
          <p:cNvSpPr txBox="1"/>
          <p:nvPr/>
        </p:nvSpPr>
        <p:spPr>
          <a:xfrm>
            <a:off x="569659" y="5899635"/>
            <a:ext cx="1189557"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Sea level</a:t>
            </a:r>
            <a:endParaRPr kumimoji="1" lang="ja-JP" altLang="en-US"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4" name="テキスト ボックス 13">
            <a:extLst>
              <a:ext uri="{FF2B5EF4-FFF2-40B4-BE49-F238E27FC236}">
                <a16:creationId xmlns:a16="http://schemas.microsoft.com/office/drawing/2014/main" id="{D2C90870-0B17-24FF-491B-C8A7D1E4DB14}"/>
              </a:ext>
            </a:extLst>
          </p:cNvPr>
          <p:cNvSpPr txBox="1"/>
          <p:nvPr/>
        </p:nvSpPr>
        <p:spPr>
          <a:xfrm>
            <a:off x="1117102" y="3367857"/>
            <a:ext cx="755335" cy="369332"/>
          </a:xfrm>
          <a:prstGeom prst="rect">
            <a:avLst/>
          </a:prstGeom>
          <a:noFill/>
        </p:spPr>
        <p:txBody>
          <a:bodyPr wrap="none" rtlCol="0"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2800</a:t>
            </a:r>
            <a:endParaRPr kumimoji="1" lang="ja-JP" altLang="en-US"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5" name="テキスト ボックス 14">
            <a:extLst>
              <a:ext uri="{FF2B5EF4-FFF2-40B4-BE49-F238E27FC236}">
                <a16:creationId xmlns:a16="http://schemas.microsoft.com/office/drawing/2014/main" id="{4651EB4B-9E59-DC63-9F0B-20548ADAA457}"/>
              </a:ext>
            </a:extLst>
          </p:cNvPr>
          <p:cNvSpPr txBox="1"/>
          <p:nvPr/>
        </p:nvSpPr>
        <p:spPr>
          <a:xfrm>
            <a:off x="3331029" y="6157058"/>
            <a:ext cx="286394"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0</a:t>
            </a:r>
          </a:p>
        </p:txBody>
      </p:sp>
      <p:cxnSp>
        <p:nvCxnSpPr>
          <p:cNvPr id="16" name="直線コネクタ 40">
            <a:extLst>
              <a:ext uri="{FF2B5EF4-FFF2-40B4-BE49-F238E27FC236}">
                <a16:creationId xmlns:a16="http://schemas.microsoft.com/office/drawing/2014/main" id="{CA8091D5-93A2-0208-0767-FD01B3B230E3}"/>
              </a:ext>
            </a:extLst>
          </p:cNvPr>
          <p:cNvCxnSpPr/>
          <p:nvPr/>
        </p:nvCxnSpPr>
        <p:spPr bwMode="auto">
          <a:xfrm flipV="1">
            <a:off x="3468643" y="1555894"/>
            <a:ext cx="0" cy="4593027"/>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テキスト ボックス 29">
            <a:extLst>
              <a:ext uri="{FF2B5EF4-FFF2-40B4-BE49-F238E27FC236}">
                <a16:creationId xmlns:a16="http://schemas.microsoft.com/office/drawing/2014/main" id="{CB8B42BD-16D3-AF99-AF5B-D63CA00D8562}"/>
              </a:ext>
            </a:extLst>
          </p:cNvPr>
          <p:cNvSpPr txBox="1"/>
          <p:nvPr/>
        </p:nvSpPr>
        <p:spPr>
          <a:xfrm>
            <a:off x="6582623" y="6157058"/>
            <a:ext cx="470000"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40</a:t>
            </a:r>
            <a:endParaRPr kumimoji="1" lang="ja-JP" altLang="en-US"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8" name="ドーナツ 62">
            <a:extLst>
              <a:ext uri="{FF2B5EF4-FFF2-40B4-BE49-F238E27FC236}">
                <a16:creationId xmlns:a16="http://schemas.microsoft.com/office/drawing/2014/main" id="{90D9F213-F0A5-97AD-B631-716699A5B19B}"/>
              </a:ext>
            </a:extLst>
          </p:cNvPr>
          <p:cNvSpPr/>
          <p:nvPr/>
        </p:nvSpPr>
        <p:spPr bwMode="auto">
          <a:xfrm>
            <a:off x="3371378" y="3823132"/>
            <a:ext cx="252000" cy="252000"/>
          </a:xfrm>
          <a:prstGeom prst="donu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9" name="ドーナツ 62">
            <a:extLst>
              <a:ext uri="{FF2B5EF4-FFF2-40B4-BE49-F238E27FC236}">
                <a16:creationId xmlns:a16="http://schemas.microsoft.com/office/drawing/2014/main" id="{FDB14DFB-F572-F167-3D3D-003910A7F032}"/>
              </a:ext>
            </a:extLst>
          </p:cNvPr>
          <p:cNvSpPr/>
          <p:nvPr/>
        </p:nvSpPr>
        <p:spPr bwMode="auto">
          <a:xfrm>
            <a:off x="3348803" y="5974778"/>
            <a:ext cx="252000" cy="252000"/>
          </a:xfrm>
          <a:prstGeom prst="donu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20" name="ドーナツ 62">
            <a:extLst>
              <a:ext uri="{FF2B5EF4-FFF2-40B4-BE49-F238E27FC236}">
                <a16:creationId xmlns:a16="http://schemas.microsoft.com/office/drawing/2014/main" id="{C45C4CF9-FB2F-D955-D42D-094920C97410}"/>
              </a:ext>
            </a:extLst>
          </p:cNvPr>
          <p:cNvSpPr/>
          <p:nvPr/>
        </p:nvSpPr>
        <p:spPr bwMode="auto">
          <a:xfrm>
            <a:off x="7200872" y="5961580"/>
            <a:ext cx="252000" cy="252000"/>
          </a:xfrm>
          <a:prstGeom prst="donu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21" name="Straight Connector 18">
            <a:extLst>
              <a:ext uri="{FF2B5EF4-FFF2-40B4-BE49-F238E27FC236}">
                <a16:creationId xmlns:a16="http://schemas.microsoft.com/office/drawing/2014/main" id="{199D0FA9-7D50-54C6-73A4-997064D0C5E5}"/>
              </a:ext>
            </a:extLst>
          </p:cNvPr>
          <p:cNvCxnSpPr>
            <a:stCxn id="18" idx="6"/>
            <a:endCxn id="26" idx="2"/>
          </p:cNvCxnSpPr>
          <p:nvPr/>
        </p:nvCxnSpPr>
        <p:spPr bwMode="auto">
          <a:xfrm flipV="1">
            <a:off x="3623378" y="3531313"/>
            <a:ext cx="1865848" cy="417819"/>
          </a:xfrm>
          <a:prstGeom prst="line">
            <a:avLst/>
          </a:prstGeom>
          <a:solidFill>
            <a:schemeClr val="accent1"/>
          </a:solidFill>
          <a:ln w="25400" cap="flat" cmpd="sng" algn="ctr">
            <a:solidFill>
              <a:srgbClr val="FF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71">
            <a:extLst>
              <a:ext uri="{FF2B5EF4-FFF2-40B4-BE49-F238E27FC236}">
                <a16:creationId xmlns:a16="http://schemas.microsoft.com/office/drawing/2014/main" id="{5AFEDB35-8921-49E8-4C96-B9C5E07C7F64}"/>
              </a:ext>
            </a:extLst>
          </p:cNvPr>
          <p:cNvCxnSpPr/>
          <p:nvPr/>
        </p:nvCxnSpPr>
        <p:spPr bwMode="auto">
          <a:xfrm flipV="1">
            <a:off x="3574677" y="6157058"/>
            <a:ext cx="3678447" cy="0"/>
          </a:xfrm>
          <a:prstGeom prst="line">
            <a:avLst/>
          </a:prstGeom>
          <a:solidFill>
            <a:schemeClr val="accent1"/>
          </a:solidFill>
          <a:ln w="25400" cap="flat" cmpd="sng" algn="ctr">
            <a:solidFill>
              <a:srgbClr val="FF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72">
            <a:extLst>
              <a:ext uri="{FF2B5EF4-FFF2-40B4-BE49-F238E27FC236}">
                <a16:creationId xmlns:a16="http://schemas.microsoft.com/office/drawing/2014/main" id="{5C6B537B-4EBA-CD86-C179-9E721EC364B2}"/>
              </a:ext>
            </a:extLst>
          </p:cNvPr>
          <p:cNvCxnSpPr>
            <a:endCxn id="20" idx="0"/>
          </p:cNvCxnSpPr>
          <p:nvPr/>
        </p:nvCxnSpPr>
        <p:spPr bwMode="auto">
          <a:xfrm>
            <a:off x="5790542" y="3607395"/>
            <a:ext cx="1536330" cy="2354185"/>
          </a:xfrm>
          <a:prstGeom prst="line">
            <a:avLst/>
          </a:prstGeom>
          <a:solidFill>
            <a:schemeClr val="accent1"/>
          </a:solidFill>
          <a:ln w="25400" cap="flat" cmpd="sng" algn="ctr">
            <a:solidFill>
              <a:srgbClr val="FF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74">
            <a:extLst>
              <a:ext uri="{FF2B5EF4-FFF2-40B4-BE49-F238E27FC236}">
                <a16:creationId xmlns:a16="http://schemas.microsoft.com/office/drawing/2014/main" id="{458F3571-E8F9-017A-D6B2-9B6A0B5F823E}"/>
              </a:ext>
            </a:extLst>
          </p:cNvPr>
          <p:cNvCxnSpPr>
            <a:stCxn id="18" idx="4"/>
            <a:endCxn id="19" idx="0"/>
          </p:cNvCxnSpPr>
          <p:nvPr/>
        </p:nvCxnSpPr>
        <p:spPr bwMode="auto">
          <a:xfrm flipH="1">
            <a:off x="3474803" y="4075132"/>
            <a:ext cx="22575" cy="1899646"/>
          </a:xfrm>
          <a:prstGeom prst="line">
            <a:avLst/>
          </a:prstGeom>
          <a:solidFill>
            <a:schemeClr val="accent1"/>
          </a:solidFill>
          <a:ln w="25400" cap="flat" cmpd="sng" algn="ctr">
            <a:solidFill>
              <a:srgbClr val="FF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テキスト ボックス 21">
            <a:extLst>
              <a:ext uri="{FF2B5EF4-FFF2-40B4-BE49-F238E27FC236}">
                <a16:creationId xmlns:a16="http://schemas.microsoft.com/office/drawing/2014/main" id="{D2F50914-075E-7327-48DD-03913A168F94}"/>
              </a:ext>
            </a:extLst>
          </p:cNvPr>
          <p:cNvSpPr txBox="1"/>
          <p:nvPr/>
        </p:nvSpPr>
        <p:spPr>
          <a:xfrm>
            <a:off x="5426502" y="6157058"/>
            <a:ext cx="470000"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25</a:t>
            </a:r>
          </a:p>
        </p:txBody>
      </p:sp>
      <p:sp>
        <p:nvSpPr>
          <p:cNvPr id="26" name="ドーナツ 61">
            <a:extLst>
              <a:ext uri="{FF2B5EF4-FFF2-40B4-BE49-F238E27FC236}">
                <a16:creationId xmlns:a16="http://schemas.microsoft.com/office/drawing/2014/main" id="{E1284CBE-5740-6F24-245F-C680915F4B5F}"/>
              </a:ext>
            </a:extLst>
          </p:cNvPr>
          <p:cNvSpPr/>
          <p:nvPr/>
        </p:nvSpPr>
        <p:spPr bwMode="auto">
          <a:xfrm>
            <a:off x="5489226" y="3405313"/>
            <a:ext cx="252000" cy="252000"/>
          </a:xfrm>
          <a:prstGeom prst="donu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cxnSp>
        <p:nvCxnSpPr>
          <p:cNvPr id="27" name="直線コネクタ 40">
            <a:extLst>
              <a:ext uri="{FF2B5EF4-FFF2-40B4-BE49-F238E27FC236}">
                <a16:creationId xmlns:a16="http://schemas.microsoft.com/office/drawing/2014/main" id="{8B8D8E85-CD58-F261-4C77-439ACD6CA6F9}"/>
              </a:ext>
            </a:extLst>
          </p:cNvPr>
          <p:cNvCxnSpPr/>
          <p:nvPr/>
        </p:nvCxnSpPr>
        <p:spPr bwMode="auto">
          <a:xfrm flipV="1">
            <a:off x="5605513" y="1468385"/>
            <a:ext cx="0" cy="4593027"/>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コネクタ 27">
            <a:extLst>
              <a:ext uri="{FF2B5EF4-FFF2-40B4-BE49-F238E27FC236}">
                <a16:creationId xmlns:a16="http://schemas.microsoft.com/office/drawing/2014/main" id="{8542C736-C8D8-3C9F-7620-8B0B2EF6D4ED}"/>
              </a:ext>
            </a:extLst>
          </p:cNvPr>
          <p:cNvCxnSpPr/>
          <p:nvPr/>
        </p:nvCxnSpPr>
        <p:spPr bwMode="auto">
          <a:xfrm flipH="1">
            <a:off x="1759216" y="3533003"/>
            <a:ext cx="6203286" cy="1268"/>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9" name="Table 4">
            <a:extLst>
              <a:ext uri="{FF2B5EF4-FFF2-40B4-BE49-F238E27FC236}">
                <a16:creationId xmlns:a16="http://schemas.microsoft.com/office/drawing/2014/main" id="{4A7510EF-0B27-3FE7-EBC2-F8CBB764B576}"/>
              </a:ext>
            </a:extLst>
          </p:cNvPr>
          <p:cNvGraphicFramePr>
            <a:graphicFrameLocks noGrp="1"/>
          </p:cNvGraphicFramePr>
          <p:nvPr>
            <p:extLst>
              <p:ext uri="{D42A27DB-BD31-4B8C-83A1-F6EECF244321}">
                <p14:modId xmlns:p14="http://schemas.microsoft.com/office/powerpoint/2010/main" val="152721863"/>
              </p:ext>
            </p:extLst>
          </p:nvPr>
        </p:nvGraphicFramePr>
        <p:xfrm>
          <a:off x="655113" y="1168625"/>
          <a:ext cx="4834114" cy="1442496"/>
        </p:xfrm>
        <a:graphic>
          <a:graphicData uri="http://schemas.openxmlformats.org/drawingml/2006/table">
            <a:tbl>
              <a:tblPr firstRow="1" bandRow="1">
                <a:tableStyleId>{5C22544A-7EE6-4342-B048-85BDC9FD1C3A}</a:tableStyleId>
              </a:tblPr>
              <a:tblGrid>
                <a:gridCol w="2154178">
                  <a:extLst>
                    <a:ext uri="{9D8B030D-6E8A-4147-A177-3AD203B41FA5}">
                      <a16:colId xmlns:a16="http://schemas.microsoft.com/office/drawing/2014/main" val="2370664334"/>
                    </a:ext>
                  </a:extLst>
                </a:gridCol>
                <a:gridCol w="2679936">
                  <a:extLst>
                    <a:ext uri="{9D8B030D-6E8A-4147-A177-3AD203B41FA5}">
                      <a16:colId xmlns:a16="http://schemas.microsoft.com/office/drawing/2014/main" val="1544819339"/>
                    </a:ext>
                  </a:extLst>
                </a:gridCol>
              </a:tblGrid>
              <a:tr h="386000">
                <a:tc gridSpan="2">
                  <a:txBody>
                    <a:bodyPr/>
                    <a:lstStyle/>
                    <a:p>
                      <a:r>
                        <a:rPr lang="en-US" sz="1600">
                          <a:solidFill>
                            <a:schemeClr val="tx1"/>
                          </a:solidFill>
                          <a:latin typeface="Meiryo UI" panose="020B0604030504040204" pitchFamily="50" charset="-128"/>
                          <a:ea typeface="Meiryo UI" panose="020B0604030504040204" pitchFamily="50" charset="-128"/>
                        </a:rPr>
                        <a:t>High Altitude</a:t>
                      </a:r>
                      <a:r>
                        <a:rPr lang="en-US" sz="1600" baseline="0">
                          <a:solidFill>
                            <a:schemeClr val="tx1"/>
                          </a:solidFill>
                          <a:latin typeface="Meiryo UI" panose="020B0604030504040204" pitchFamily="50" charset="-128"/>
                          <a:ea typeface="Meiryo UI" panose="020B0604030504040204" pitchFamily="50" charset="-128"/>
                        </a:rPr>
                        <a:t> </a:t>
                      </a:r>
                      <a:r>
                        <a:rPr lang="en-US" sz="1600">
                          <a:solidFill>
                            <a:schemeClr val="tx1"/>
                          </a:solidFill>
                          <a:latin typeface="Meiryo UI" panose="020B0604030504040204" pitchFamily="50" charset="-128"/>
                          <a:ea typeface="Meiryo UI" panose="020B0604030504040204" pitchFamily="50" charset="-128"/>
                        </a:rPr>
                        <a:t>Test Condition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323009431"/>
                  </a:ext>
                </a:extLst>
              </a:tr>
              <a:tr h="247175">
                <a:tc>
                  <a:txBody>
                    <a:bodyPr/>
                    <a:lstStyle/>
                    <a:p>
                      <a:endParaRPr lang="en-US" sz="1600">
                        <a:solidFill>
                          <a:schemeClr val="tx1"/>
                        </a:solidFill>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r>
                        <a:rPr kumimoji="1" lang="en-US" altLang="ja-JP">
                          <a:latin typeface="Meiryo UI" panose="020B0604030504040204" pitchFamily="50" charset="-128"/>
                          <a:ea typeface="Meiryo UI" panose="020B0604030504040204" pitchFamily="50" charset="-128"/>
                        </a:rPr>
                        <a:t>India &amp; South Africa</a:t>
                      </a:r>
                      <a:endParaRPr kumimoji="1" lang="ja-JP" altLang="en-US">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1151909"/>
                  </a:ext>
                </a:extLst>
              </a:tr>
              <a:tr h="345368">
                <a:tc>
                  <a:txBody>
                    <a:bodyPr/>
                    <a:lstStyle/>
                    <a:p>
                      <a:r>
                        <a:rPr lang="en-US" sz="1400">
                          <a:latin typeface="Meiryo UI" panose="020B0604030504040204" pitchFamily="50" charset="-128"/>
                          <a:ea typeface="Meiryo UI" panose="020B0604030504040204" pitchFamily="50" charset="-128"/>
                          <a:cs typeface="Calibri" panose="020F0502020204030204" pitchFamily="34" charset="0"/>
                        </a:rPr>
                        <a:t>Cold Condition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a:latin typeface="Meiryo UI" panose="020B0604030504040204" pitchFamily="50" charset="-128"/>
                          <a:ea typeface="Meiryo UI" panose="020B0604030504040204" pitchFamily="50" charset="-128"/>
                          <a:cs typeface="Calibri" panose="020F0502020204030204" pitchFamily="34" charset="0"/>
                        </a:rPr>
                        <a:t>0 ℃ @ 2500m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49542715"/>
                  </a:ext>
                </a:extLst>
              </a:tr>
              <a:tr h="34536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latin typeface="Meiryo UI" panose="020B0604030504040204" pitchFamily="50" charset="-128"/>
                          <a:ea typeface="Meiryo UI" panose="020B0604030504040204" pitchFamily="50" charset="-128"/>
                          <a:cs typeface="Calibri" panose="020F0502020204030204" pitchFamily="34" charset="0"/>
                        </a:rPr>
                        <a:t>Standard Condition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latin typeface="Meiryo UI" panose="020B0604030504040204" pitchFamily="50" charset="-128"/>
                          <a:ea typeface="Meiryo UI" panose="020B0604030504040204" pitchFamily="50" charset="-128"/>
                          <a:cs typeface="Calibri" panose="020F0502020204030204" pitchFamily="34" charset="0"/>
                        </a:rPr>
                        <a:t>25 ℃ @ 2800m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34960486"/>
                  </a:ext>
                </a:extLst>
              </a:tr>
            </a:tbl>
          </a:graphicData>
        </a:graphic>
      </p:graphicFrame>
      <p:sp>
        <p:nvSpPr>
          <p:cNvPr id="30" name="テキスト ボックス 13">
            <a:extLst>
              <a:ext uri="{FF2B5EF4-FFF2-40B4-BE49-F238E27FC236}">
                <a16:creationId xmlns:a16="http://schemas.microsoft.com/office/drawing/2014/main" id="{BE836A99-07AF-EF4C-44D6-54CCF453231E}"/>
              </a:ext>
            </a:extLst>
          </p:cNvPr>
          <p:cNvSpPr txBox="1"/>
          <p:nvPr/>
        </p:nvSpPr>
        <p:spPr>
          <a:xfrm>
            <a:off x="1117102" y="4526348"/>
            <a:ext cx="755336" cy="369332"/>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1600</a:t>
            </a:r>
            <a:endParaRPr kumimoji="1" lang="ja-JP" altLang="en-US"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31" name="テキスト ボックス 30">
            <a:extLst>
              <a:ext uri="{FF2B5EF4-FFF2-40B4-BE49-F238E27FC236}">
                <a16:creationId xmlns:a16="http://schemas.microsoft.com/office/drawing/2014/main" id="{194C6954-7EC3-6BDF-33D1-BA0EE4F5CEDD}"/>
              </a:ext>
            </a:extLst>
          </p:cNvPr>
          <p:cNvSpPr txBox="1"/>
          <p:nvPr/>
        </p:nvSpPr>
        <p:spPr>
          <a:xfrm>
            <a:off x="6421338" y="3951771"/>
            <a:ext cx="968534" cy="338554"/>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a:ln>
                  <a:noFill/>
                </a:ln>
                <a:solidFill>
                  <a:srgbClr val="FF0000"/>
                </a:solidFill>
                <a:effectLst>
                  <a:outerShdw blurRad="38100" dist="38100" dir="2700000" algn="tl">
                    <a:srgbClr val="000000">
                      <a:alpha val="43137"/>
                    </a:srgbClr>
                  </a:outerShdw>
                </a:effectLst>
                <a:uLnTx/>
                <a:uFillTx/>
                <a:latin typeface="Meiryo UI" panose="020B0604030504040204" pitchFamily="50" charset="-128"/>
                <a:ea typeface="Meiryo UI" panose="020B0604030504040204" pitchFamily="50" charset="-128"/>
                <a:cs typeface="Arial" panose="020B0604020202020204" pitchFamily="34" charset="0"/>
              </a:rPr>
              <a:t>E0-E20</a:t>
            </a:r>
          </a:p>
        </p:txBody>
      </p:sp>
      <p:cxnSp>
        <p:nvCxnSpPr>
          <p:cNvPr id="32" name="直線コネクタ 27">
            <a:extLst>
              <a:ext uri="{FF2B5EF4-FFF2-40B4-BE49-F238E27FC236}">
                <a16:creationId xmlns:a16="http://schemas.microsoft.com/office/drawing/2014/main" id="{477FD535-D2A5-60A4-528B-FFB9DA0FBEA1}"/>
              </a:ext>
            </a:extLst>
          </p:cNvPr>
          <p:cNvCxnSpPr/>
          <p:nvPr/>
        </p:nvCxnSpPr>
        <p:spPr bwMode="auto">
          <a:xfrm flipH="1">
            <a:off x="1808532" y="3923343"/>
            <a:ext cx="6203286" cy="1268"/>
          </a:xfrm>
          <a:prstGeom prst="line">
            <a:avLst/>
          </a:prstGeom>
          <a:solidFill>
            <a:schemeClr val="accent1"/>
          </a:solidFill>
          <a:ln w="6350" cap="flat" cmpd="sng" algn="ctr">
            <a:solidFill>
              <a:schemeClr val="bg1">
                <a:lumMod val="6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テキスト ボックス 32">
            <a:extLst>
              <a:ext uri="{FF2B5EF4-FFF2-40B4-BE49-F238E27FC236}">
                <a16:creationId xmlns:a16="http://schemas.microsoft.com/office/drawing/2014/main" id="{31AA64D6-3F9F-610D-90D5-77E69B4124DA}"/>
              </a:ext>
            </a:extLst>
          </p:cNvPr>
          <p:cNvSpPr txBox="1"/>
          <p:nvPr/>
        </p:nvSpPr>
        <p:spPr>
          <a:xfrm>
            <a:off x="1117102" y="3726906"/>
            <a:ext cx="755336" cy="369332"/>
          </a:xfrm>
          <a:prstGeom prst="rect">
            <a:avLst/>
          </a:prstGeom>
          <a:noFill/>
        </p:spPr>
        <p:txBody>
          <a:bodyPr wrap="none" rtlCol="0"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2500</a:t>
            </a:r>
            <a:endParaRPr kumimoji="1" lang="ja-JP" altLang="en-US"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34" name="テキスト ボックス 33">
            <a:extLst>
              <a:ext uri="{FF2B5EF4-FFF2-40B4-BE49-F238E27FC236}">
                <a16:creationId xmlns:a16="http://schemas.microsoft.com/office/drawing/2014/main" id="{9ADBDBCF-23AA-543B-5112-7C82D45C7734}"/>
              </a:ext>
            </a:extLst>
          </p:cNvPr>
          <p:cNvSpPr txBox="1"/>
          <p:nvPr/>
        </p:nvSpPr>
        <p:spPr>
          <a:xfrm>
            <a:off x="1288837" y="4342877"/>
            <a:ext cx="535723" cy="276999"/>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0" i="0" u="none" strike="noStrike" kern="1200" cap="none" spc="0" normalizeH="0" baseline="0" noProof="0">
                <a:ln>
                  <a:noFill/>
                </a:ln>
                <a:solidFill>
                  <a:srgbClr val="FF0000"/>
                </a:solidFill>
                <a:effectLst/>
                <a:uLnTx/>
                <a:uFillTx/>
                <a:latin typeface="Times New Roman" pitchFamily="18" charset="0"/>
                <a:ea typeface="ＭＳ Ｐゴシック" charset="-128"/>
                <a:cs typeface="+mn-cs"/>
              </a:rPr>
              <a:t>rev01</a:t>
            </a:r>
            <a:endParaRPr kumimoji="1" lang="ja-JP" altLang="en-US" sz="1200" b="0" i="0" u="none" strike="noStrike" kern="1200" cap="none" spc="0" normalizeH="0" baseline="0" noProof="0">
              <a:ln>
                <a:noFill/>
              </a:ln>
              <a:solidFill>
                <a:srgbClr val="FF0000"/>
              </a:solidFill>
              <a:effectLst/>
              <a:uLnTx/>
              <a:uFillTx/>
              <a:latin typeface="Times New Roman" pitchFamily="18" charset="0"/>
              <a:ea typeface="ＭＳ Ｐゴシック" charset="-128"/>
              <a:cs typeface="+mn-cs"/>
            </a:endParaRPr>
          </a:p>
        </p:txBody>
      </p:sp>
      <p:sp>
        <p:nvSpPr>
          <p:cNvPr id="35" name="ドーナツ 62">
            <a:extLst>
              <a:ext uri="{FF2B5EF4-FFF2-40B4-BE49-F238E27FC236}">
                <a16:creationId xmlns:a16="http://schemas.microsoft.com/office/drawing/2014/main" id="{5FBAC010-3F6D-9AE5-A869-A7F6BF0BBC4D}"/>
              </a:ext>
            </a:extLst>
          </p:cNvPr>
          <p:cNvSpPr/>
          <p:nvPr/>
        </p:nvSpPr>
        <p:spPr bwMode="auto">
          <a:xfrm>
            <a:off x="2204029" y="5978322"/>
            <a:ext cx="252000" cy="252000"/>
          </a:xfrm>
          <a:prstGeom prst="donu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37" name="テキスト ボックス 36">
            <a:extLst>
              <a:ext uri="{FF2B5EF4-FFF2-40B4-BE49-F238E27FC236}">
                <a16:creationId xmlns:a16="http://schemas.microsoft.com/office/drawing/2014/main" id="{F04C908E-EF70-40B1-34D6-6695D2D5FFD1}"/>
              </a:ext>
            </a:extLst>
          </p:cNvPr>
          <p:cNvSpPr txBox="1"/>
          <p:nvPr/>
        </p:nvSpPr>
        <p:spPr>
          <a:xfrm>
            <a:off x="1597248" y="5529075"/>
            <a:ext cx="598241" cy="338554"/>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a:ln>
                  <a:noFill/>
                </a:ln>
                <a:solidFill>
                  <a:srgbClr val="FF0000"/>
                </a:solidFill>
                <a:effectLst>
                  <a:outerShdw blurRad="38100" dist="38100" dir="2700000" algn="tl">
                    <a:srgbClr val="000000">
                      <a:alpha val="43137"/>
                    </a:srgbClr>
                  </a:outerShdw>
                </a:effectLst>
                <a:uLnTx/>
                <a:uFillTx/>
                <a:latin typeface="Meiryo UI" panose="020B0604030504040204" pitchFamily="50" charset="-128"/>
                <a:ea typeface="Meiryo UI" panose="020B0604030504040204" pitchFamily="50" charset="-128"/>
                <a:cs typeface="Arial" panose="020B0604020202020204" pitchFamily="34" charset="0"/>
              </a:rPr>
              <a:t>E20</a:t>
            </a:r>
          </a:p>
        </p:txBody>
      </p:sp>
      <p:sp>
        <p:nvSpPr>
          <p:cNvPr id="38" name="テキスト ボックス 37">
            <a:extLst>
              <a:ext uri="{FF2B5EF4-FFF2-40B4-BE49-F238E27FC236}">
                <a16:creationId xmlns:a16="http://schemas.microsoft.com/office/drawing/2014/main" id="{1DA5DE9C-A18B-499A-59CD-7E77F491AE0A}"/>
              </a:ext>
            </a:extLst>
          </p:cNvPr>
          <p:cNvSpPr txBox="1"/>
          <p:nvPr/>
        </p:nvSpPr>
        <p:spPr>
          <a:xfrm>
            <a:off x="3914556" y="2675533"/>
            <a:ext cx="4575290" cy="646331"/>
          </a:xfrm>
          <a:prstGeom prst="rect">
            <a:avLst/>
          </a:prstGeom>
          <a:solidFill>
            <a:srgbClr val="FFFF00"/>
          </a:solidFill>
        </p:spPr>
        <p:txBody>
          <a:bodyPr wrap="none" rtlCol="0">
            <a:spAutoFit/>
          </a:bodyPr>
          <a:lstStyle/>
          <a:p>
            <a:pPr algn="l"/>
            <a:r>
              <a:rPr kumimoji="1" lang="en-US" altLang="ja-JP" sz="1800">
                <a:latin typeface="Meiryo UI" panose="020B0604030504040204" pitchFamily="50" charset="-128"/>
                <a:ea typeface="Meiryo UI" panose="020B0604030504040204" pitchFamily="50" charset="-128"/>
              </a:rPr>
              <a:t>※</a:t>
            </a:r>
            <a:r>
              <a:rPr kumimoji="1" lang="ja-JP" altLang="en-US" sz="1800">
                <a:latin typeface="Meiryo UI" panose="020B0604030504040204" pitchFamily="50" charset="-128"/>
                <a:ea typeface="Meiryo UI" panose="020B0604030504040204" pitchFamily="50" charset="-128"/>
              </a:rPr>
              <a:t>　</a:t>
            </a:r>
            <a:r>
              <a:rPr kumimoji="1" lang="en-US" altLang="ja-JP" sz="1800">
                <a:latin typeface="Meiryo UI" panose="020B0604030504040204" pitchFamily="50" charset="-128"/>
                <a:ea typeface="Meiryo UI" panose="020B0604030504040204" pitchFamily="50" charset="-128"/>
              </a:rPr>
              <a:t>India </a:t>
            </a:r>
            <a:r>
              <a:rPr kumimoji="1" lang="ja-JP" altLang="en-US" sz="1800">
                <a:latin typeface="Meiryo UI" panose="020B0604030504040204" pitchFamily="50" charset="-128"/>
                <a:ea typeface="Meiryo UI" panose="020B0604030504040204" pitchFamily="50" charset="-128"/>
              </a:rPr>
              <a:t>＆　</a:t>
            </a:r>
            <a:r>
              <a:rPr kumimoji="1" lang="en-US" altLang="ja-JP" sz="1800">
                <a:latin typeface="Meiryo UI" panose="020B0604030504040204" pitchFamily="50" charset="-128"/>
                <a:ea typeface="Meiryo UI" panose="020B0604030504040204" pitchFamily="50" charset="-128"/>
              </a:rPr>
              <a:t>South Africa</a:t>
            </a:r>
          </a:p>
          <a:p>
            <a:pPr algn="l"/>
            <a:r>
              <a:rPr lang="en-US" altLang="ja-JP" sz="1800">
                <a:latin typeface="Meiryo UI" panose="020B0604030504040204" pitchFamily="50" charset="-128"/>
                <a:ea typeface="Meiryo UI" panose="020B0604030504040204" pitchFamily="50" charset="-128"/>
              </a:rPr>
              <a:t>Data set</a:t>
            </a:r>
            <a:r>
              <a:rPr lang="ja-JP" altLang="en-US" sz="1800">
                <a:latin typeface="Meiryo UI" panose="020B0604030504040204" pitchFamily="50" charset="-128"/>
                <a:ea typeface="Meiryo UI" panose="020B0604030504040204" pitchFamily="50" charset="-128"/>
              </a:rPr>
              <a:t> </a:t>
            </a:r>
            <a:r>
              <a:rPr lang="en-US" altLang="ja-JP" sz="1800">
                <a:latin typeface="Meiryo UI" panose="020B0604030504040204" pitchFamily="50" charset="-128"/>
                <a:ea typeface="Meiryo UI" panose="020B0604030504040204" pitchFamily="50" charset="-128"/>
              </a:rPr>
              <a:t>should be same without OBD </a:t>
            </a:r>
            <a:endParaRPr kumimoji="1" lang="ja-JP" altLang="en-US" sz="18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213739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35496" y="3864760"/>
            <a:ext cx="9108504" cy="245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ja-JP" altLang="en-US" sz="1600" b="1" u="sng">
                <a:latin typeface="Meiryo UI" panose="020B0604030504040204" pitchFamily="50" charset="-128"/>
                <a:ea typeface="Meiryo UI" panose="020B0604030504040204" pitchFamily="50" charset="-128"/>
              </a:rPr>
              <a:t>変更要求の定義</a:t>
            </a:r>
          </a:p>
          <a:p>
            <a:pPr marL="442912" indent="0" algn="l" eaLnBrk="1" hangingPunct="1">
              <a:lnSpc>
                <a:spcPct val="120000"/>
              </a:lnSpc>
            </a:pPr>
            <a:r>
              <a:rPr lang="ja-JP" altLang="en-US" sz="1400">
                <a:latin typeface="Meiryo UI" panose="020B0604030504040204" pitchFamily="50" charset="-128"/>
                <a:ea typeface="Meiryo UI" panose="020B0604030504040204" pitchFamily="50" charset="-128"/>
              </a:rPr>
              <a:t>契約に対する変更要求（要求仕様、日程、契約条件の改訂、新規追加）は、</a:t>
            </a:r>
            <a:r>
              <a:rPr lang="en-US" altLang="ja-JP" sz="1400">
                <a:latin typeface="Meiryo UI" panose="020B0604030504040204" pitchFamily="50" charset="-128"/>
                <a:ea typeface="Meiryo UI" panose="020B0604030504040204" pitchFamily="50" charset="-128"/>
              </a:rPr>
              <a:t>CR</a:t>
            </a:r>
            <a:r>
              <a:rPr lang="ja-JP" altLang="en-US" sz="1400">
                <a:latin typeface="Meiryo UI" panose="020B0604030504040204" pitchFamily="50" charset="-128"/>
                <a:ea typeface="Meiryo UI" panose="020B0604030504040204" pitchFamily="50" charset="-128"/>
              </a:rPr>
              <a:t>要求書</a:t>
            </a:r>
            <a:r>
              <a:rPr lang="en-US" altLang="ja-JP" sz="1400">
                <a:latin typeface="Meiryo UI" panose="020B0604030504040204" pitchFamily="50" charset="-128"/>
                <a:ea typeface="Meiryo UI" panose="020B0604030504040204" pitchFamily="50" charset="-128"/>
              </a:rPr>
              <a:t>(Change requirements sheet)</a:t>
            </a:r>
            <a:r>
              <a:rPr lang="ja-JP" altLang="en-US" sz="1400">
                <a:latin typeface="Meiryo UI" panose="020B0604030504040204" pitchFamily="50" charset="-128"/>
                <a:ea typeface="Meiryo UI" panose="020B0604030504040204" pitchFamily="50" charset="-128"/>
              </a:rPr>
              <a:t> として、</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が発行する</a:t>
            </a:r>
            <a:r>
              <a:rPr lang="en-US" altLang="ja-JP" sz="1400">
                <a:latin typeface="Meiryo UI" panose="020B0604030504040204" pitchFamily="50" charset="-128"/>
                <a:ea typeface="Meiryo UI" panose="020B0604030504040204" pitchFamily="50" charset="-128"/>
              </a:rPr>
              <a:t>.</a:t>
            </a:r>
          </a:p>
          <a:p>
            <a:pPr marL="442912" indent="0" algn="l" eaLnBrk="1" hangingPunct="1">
              <a:lnSpc>
                <a:spcPct val="120000"/>
              </a:lnSpc>
            </a:pPr>
            <a:r>
              <a:rPr lang="en-US" altLang="ja-JP" sz="1400">
                <a:latin typeface="Meiryo UI" panose="020B0604030504040204" pitchFamily="50" charset="-128"/>
                <a:ea typeface="Meiryo UI" panose="020B0604030504040204" pitchFamily="50" charset="-128"/>
              </a:rPr>
              <a:t>CR</a:t>
            </a:r>
            <a:r>
              <a:rPr lang="ja-JP" altLang="en-US" sz="1400">
                <a:latin typeface="Meiryo UI" panose="020B0604030504040204" pitchFamily="50" charset="-128"/>
                <a:ea typeface="Meiryo UI" panose="020B0604030504040204" pitchFamily="50" charset="-128"/>
              </a:rPr>
              <a:t>は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に連絡され、正規の手続きを経て</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によって実行される．</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次頁を参照</a:t>
            </a:r>
            <a:r>
              <a:rPr lang="en-US" altLang="ja-JP" sz="1400">
                <a:latin typeface="Meiryo UI" panose="020B0604030504040204" pitchFamily="50" charset="-128"/>
                <a:ea typeface="Meiryo UI" panose="020B0604030504040204" pitchFamily="50" charset="-128"/>
              </a:rPr>
              <a:t>)</a:t>
            </a:r>
          </a:p>
          <a:p>
            <a:pPr marL="442912" indent="0" algn="l" eaLnBrk="1" hangingPunct="1">
              <a:lnSpc>
                <a:spcPct val="120000"/>
              </a:lnSpc>
            </a:pPr>
            <a:r>
              <a:rPr lang="en-US" altLang="ja-JP" sz="1400">
                <a:latin typeface="Meiryo UI" panose="020B0604030504040204" pitchFamily="50" charset="-128"/>
                <a:ea typeface="Meiryo UI" panose="020B0604030504040204" pitchFamily="50" charset="-128"/>
              </a:rPr>
              <a:t>CR</a:t>
            </a:r>
            <a:r>
              <a:rPr lang="ja-JP" altLang="en-US" sz="1400">
                <a:latin typeface="Meiryo UI" panose="020B0604030504040204" pitchFamily="50" charset="-128"/>
                <a:ea typeface="Meiryo UI" panose="020B0604030504040204" pitchFamily="50" charset="-128"/>
              </a:rPr>
              <a:t>要求書は，以下を対象とする．</a:t>
            </a:r>
            <a:endParaRPr lang="en-US" altLang="ja-JP" sz="1400">
              <a:latin typeface="Meiryo UI" panose="020B0604030504040204" pitchFamily="50" charset="-128"/>
              <a:ea typeface="Meiryo UI" panose="020B0604030504040204" pitchFamily="50" charset="-128"/>
            </a:endParaRPr>
          </a:p>
          <a:p>
            <a:pPr marL="803275" indent="-360363" algn="l" eaLnBrk="1" hangingPunct="1">
              <a:lnSpc>
                <a:spcPct val="120000"/>
              </a:lnSpc>
              <a:buFont typeface="Arial" panose="020B0604020202020204" pitchFamily="34" charset="0"/>
              <a:buChar char="•"/>
            </a:pPr>
            <a:r>
              <a:rPr lang="en-US" altLang="ja-JP" sz="1400">
                <a:latin typeface="Meiryo UI" panose="020B0604030504040204" pitchFamily="50" charset="-128"/>
                <a:ea typeface="Meiryo UI" panose="020B0604030504040204" pitchFamily="50" charset="-128"/>
              </a:rPr>
              <a:t>Hardware</a:t>
            </a:r>
          </a:p>
          <a:p>
            <a:pPr marL="803275" indent="-360363" algn="l" eaLnBrk="1" hangingPunct="1">
              <a:lnSpc>
                <a:spcPct val="120000"/>
              </a:lnSpc>
              <a:buFont typeface="Arial" panose="020B0604020202020204" pitchFamily="34" charset="0"/>
              <a:buChar char="•"/>
            </a:pPr>
            <a:r>
              <a:rPr lang="en-US" altLang="ja-JP" sz="1400">
                <a:latin typeface="Meiryo UI" panose="020B0604030504040204" pitchFamily="50" charset="-128"/>
                <a:ea typeface="Meiryo UI" panose="020B0604030504040204" pitchFamily="50" charset="-128"/>
              </a:rPr>
              <a:t>Software</a:t>
            </a:r>
          </a:p>
          <a:p>
            <a:pPr marL="803275" indent="-360363" algn="l" eaLnBrk="1" hangingPunct="1">
              <a:lnSpc>
                <a:spcPct val="120000"/>
              </a:lnSpc>
              <a:buFont typeface="Arial" panose="020B0604020202020204" pitchFamily="34" charset="0"/>
              <a:buChar char="•"/>
            </a:pPr>
            <a:r>
              <a:rPr lang="en-US" altLang="ja-JP" sz="1400">
                <a:latin typeface="Meiryo UI" panose="020B0604030504040204" pitchFamily="50" charset="-128"/>
                <a:ea typeface="Meiryo UI" panose="020B0604030504040204" pitchFamily="50" charset="-128"/>
              </a:rPr>
              <a:t>Calibration</a:t>
            </a:r>
          </a:p>
          <a:p>
            <a:pPr marL="803275" indent="-360363" algn="l" eaLnBrk="1" hangingPunct="1">
              <a:lnSpc>
                <a:spcPct val="120000"/>
              </a:lnSpc>
              <a:buFont typeface="Arial" panose="020B0604020202020204" pitchFamily="34" charset="0"/>
              <a:buChar char="•"/>
            </a:pPr>
            <a:r>
              <a:rPr lang="en-US" altLang="ja-JP" sz="1400">
                <a:latin typeface="Meiryo UI" panose="020B0604030504040204" pitchFamily="50" charset="-128"/>
                <a:ea typeface="Meiryo UI" panose="020B0604030504040204" pitchFamily="50" charset="-128"/>
              </a:rPr>
              <a:t>EMS</a:t>
            </a:r>
          </a:p>
        </p:txBody>
      </p:sp>
      <p:sp>
        <p:nvSpPr>
          <p:cNvPr id="10" name="Text Box 7"/>
          <p:cNvSpPr txBox="1">
            <a:spLocks noChangeArrowheads="1"/>
          </p:cNvSpPr>
          <p:nvPr/>
        </p:nvSpPr>
        <p:spPr bwMode="auto">
          <a:xfrm>
            <a:off x="35496" y="679310"/>
            <a:ext cx="9108504" cy="245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914400" indent="-45720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a:latin typeface="Meiryo UI" panose="020B0604030504040204" pitchFamily="50" charset="-128"/>
                <a:ea typeface="Meiryo UI" panose="020B0604030504040204" pitchFamily="50" charset="-128"/>
                <a:cs typeface="Arial" pitchFamily="34" charset="0"/>
              </a:rPr>
              <a:t>Definition</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of</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Change</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Request</a:t>
            </a:r>
            <a:endParaRPr lang="ja-JP" altLang="en-US" sz="1600" b="1" u="sng">
              <a:latin typeface="Meiryo UI" panose="020B0604030504040204" pitchFamily="50" charset="-128"/>
              <a:ea typeface="Meiryo UI" panose="020B0604030504040204" pitchFamily="50" charset="-128"/>
              <a:cs typeface="Arial" pitchFamily="34" charset="0"/>
            </a:endParaRPr>
          </a:p>
          <a:p>
            <a:pPr marL="457200" lvl="1" indent="0" algn="l" eaLnBrk="1" hangingPunct="1">
              <a:lnSpc>
                <a:spcPct val="120000"/>
              </a:lnSpc>
            </a:pPr>
            <a:r>
              <a:rPr lang="en-US" altLang="ja-JP" sz="1400">
                <a:latin typeface="Meiryo UI" panose="020B0604030504040204" pitchFamily="50" charset="-128"/>
                <a:ea typeface="Meiryo UI" panose="020B0604030504040204" pitchFamily="50" charset="-128"/>
                <a:cs typeface="Arial" pitchFamily="34" charset="0"/>
              </a:rPr>
              <a:t>Change request (required specifications, schedule, boundary condition, additional items) for contract must be issued as Change requirements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sheet(CR) by Honda.</a:t>
            </a:r>
          </a:p>
          <a:p>
            <a:pPr marL="457200" lvl="1" indent="0" algn="l" eaLnBrk="1" hangingPunct="1">
              <a:lnSpc>
                <a:spcPct val="120000"/>
              </a:lnSpc>
            </a:pPr>
            <a:r>
              <a:rPr lang="en-US" altLang="ja-JP" sz="1400">
                <a:latin typeface="Meiryo UI" panose="020B0604030504040204" pitchFamily="50" charset="-128"/>
                <a:ea typeface="Meiryo UI" panose="020B0604030504040204" pitchFamily="50" charset="-128"/>
                <a:cs typeface="Arial" pitchFamily="34" charset="0"/>
              </a:rPr>
              <a:t>CR will be done by</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after formal procedures (refer to next page).</a:t>
            </a:r>
          </a:p>
          <a:p>
            <a:pPr marL="457200" lvl="1" indent="0" algn="l" eaLnBrk="1" hangingPunct="1">
              <a:lnSpc>
                <a:spcPct val="120000"/>
              </a:lnSpc>
            </a:pPr>
            <a:r>
              <a:rPr lang="en-US" altLang="ja-JP" sz="1400">
                <a:latin typeface="Meiryo UI" panose="020B0604030504040204" pitchFamily="50" charset="-128"/>
                <a:ea typeface="Meiryo UI" panose="020B0604030504040204" pitchFamily="50" charset="-128"/>
                <a:cs typeface="Arial" pitchFamily="34" charset="0"/>
              </a:rPr>
              <a:t>CR covers; </a:t>
            </a:r>
          </a:p>
          <a:p>
            <a:pPr marL="800100" lvl="1" indent="-342900" algn="l" eaLnBrk="1" hangingPunct="1">
              <a:lnSpc>
                <a:spcPct val="120000"/>
              </a:lnSpc>
              <a:buFont typeface="Arial" panose="020B0604020202020204" pitchFamily="34" charset="0"/>
              <a:buChar char="•"/>
            </a:pPr>
            <a:r>
              <a:rPr lang="en-US" altLang="ja-JP" sz="1400">
                <a:latin typeface="Meiryo UI" panose="020B0604030504040204" pitchFamily="50" charset="-128"/>
                <a:ea typeface="Meiryo UI" panose="020B0604030504040204" pitchFamily="50" charset="-128"/>
                <a:cs typeface="Arial" pitchFamily="34" charset="0"/>
              </a:rPr>
              <a:t>Hardware</a:t>
            </a:r>
          </a:p>
          <a:p>
            <a:pPr marL="800100" lvl="1" indent="-342900" algn="l" eaLnBrk="1" hangingPunct="1">
              <a:lnSpc>
                <a:spcPct val="120000"/>
              </a:lnSpc>
              <a:buFont typeface="Arial" panose="020B0604020202020204" pitchFamily="34" charset="0"/>
              <a:buChar char="•"/>
            </a:pPr>
            <a:r>
              <a:rPr lang="en-US" altLang="ja-JP" sz="1400">
                <a:latin typeface="Meiryo UI" panose="020B0604030504040204" pitchFamily="50" charset="-128"/>
                <a:ea typeface="Meiryo UI" panose="020B0604030504040204" pitchFamily="50" charset="-128"/>
                <a:cs typeface="Arial" pitchFamily="34" charset="0"/>
              </a:rPr>
              <a:t>Software</a:t>
            </a:r>
          </a:p>
          <a:p>
            <a:pPr marL="800100" lvl="1" indent="-342900" algn="l" eaLnBrk="1" hangingPunct="1">
              <a:lnSpc>
                <a:spcPct val="120000"/>
              </a:lnSpc>
              <a:buFont typeface="Arial" panose="020B0604020202020204" pitchFamily="34" charset="0"/>
              <a:buChar char="•"/>
            </a:pPr>
            <a:r>
              <a:rPr lang="en-US" altLang="ja-JP" sz="1400">
                <a:latin typeface="Meiryo UI" panose="020B0604030504040204" pitchFamily="50" charset="-128"/>
                <a:ea typeface="Meiryo UI" panose="020B0604030504040204" pitchFamily="50" charset="-128"/>
                <a:cs typeface="Arial" pitchFamily="34" charset="0"/>
              </a:rPr>
              <a:t>Calibration</a:t>
            </a:r>
          </a:p>
          <a:p>
            <a:pPr marL="800100" lvl="1" indent="-342900" algn="l" eaLnBrk="1" hangingPunct="1">
              <a:lnSpc>
                <a:spcPct val="120000"/>
              </a:lnSpc>
              <a:buFont typeface="Arial" panose="020B0604020202020204" pitchFamily="34" charset="0"/>
              <a:buChar char="•"/>
            </a:pPr>
            <a:r>
              <a:rPr lang="en-US" altLang="ja-JP" sz="1400">
                <a:latin typeface="Meiryo UI" panose="020B0604030504040204" pitchFamily="50" charset="-128"/>
                <a:ea typeface="Meiryo UI" panose="020B0604030504040204" pitchFamily="50" charset="-128"/>
                <a:cs typeface="Arial" pitchFamily="34" charset="0"/>
              </a:rPr>
              <a:t>EMS</a:t>
            </a:r>
          </a:p>
        </p:txBody>
      </p:sp>
      <p:sp>
        <p:nvSpPr>
          <p:cNvPr id="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(11/21)</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0310463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Box 7"/>
          <p:cNvSpPr txBox="1">
            <a:spLocks noChangeArrowheads="1"/>
          </p:cNvSpPr>
          <p:nvPr/>
        </p:nvSpPr>
        <p:spPr bwMode="auto">
          <a:xfrm>
            <a:off x="35496" y="4086440"/>
            <a:ext cx="9108504" cy="2714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ja-JP" altLang="en-US" sz="1600" b="1" u="sng">
                <a:latin typeface="Meiryo UI" panose="020B0604030504040204" pitchFamily="50" charset="-128"/>
                <a:ea typeface="Meiryo UI" panose="020B0604030504040204" pitchFamily="50" charset="-128"/>
              </a:rPr>
              <a:t>変更要求に関するガイドライン</a:t>
            </a:r>
          </a:p>
          <a:p>
            <a:pPr marL="442912" indent="0" algn="l" eaLnBrk="1" hangingPunct="1">
              <a:lnSpc>
                <a:spcPct val="120000"/>
              </a:lnSpc>
            </a:pPr>
            <a:r>
              <a:rPr lang="ja-JP" altLang="en-US" sz="1400">
                <a:latin typeface="Meiryo UI" panose="020B0604030504040204" pitchFamily="50" charset="-128"/>
                <a:ea typeface="Meiryo UI" panose="020B0604030504040204" pitchFamily="50" charset="-128"/>
              </a:rPr>
              <a:t>変更要求は，</a:t>
            </a:r>
            <a:r>
              <a:rPr lang="en-US" altLang="ja-JP" sz="1400">
                <a:latin typeface="Meiryo UI" panose="020B0604030504040204" pitchFamily="50" charset="-128"/>
                <a:ea typeface="Meiryo UI" panose="020B0604030504040204" pitchFamily="50" charset="-128"/>
              </a:rPr>
              <a:t>CR</a:t>
            </a:r>
            <a:r>
              <a:rPr lang="ja-JP" altLang="en-US" sz="1400">
                <a:latin typeface="Meiryo UI" panose="020B0604030504040204" pitchFamily="50" charset="-128"/>
                <a:ea typeface="Meiryo UI" panose="020B0604030504040204" pitchFamily="50" charset="-128"/>
              </a:rPr>
              <a:t>検討依頼</a:t>
            </a:r>
            <a:r>
              <a:rPr lang="en-US" altLang="ja-JP" sz="1400">
                <a:latin typeface="Meiryo UI" panose="020B0604030504040204" pitchFamily="50" charset="-128"/>
                <a:ea typeface="Meiryo UI" panose="020B0604030504040204" pitchFamily="50" charset="-128"/>
              </a:rPr>
              <a:t>(H)</a:t>
            </a:r>
            <a:r>
              <a:rPr lang="ja-JP" altLang="en-US" sz="1400">
                <a:latin typeface="Meiryo UI" panose="020B0604030504040204" pitchFamily="50" charset="-128"/>
                <a:ea typeface="Meiryo UI" panose="020B0604030504040204" pitchFamily="50" charset="-128"/>
              </a:rPr>
              <a:t>⇒見積依頼</a:t>
            </a:r>
            <a:r>
              <a:rPr lang="en-US" altLang="ja-JP" sz="1400">
                <a:latin typeface="Meiryo UI" panose="020B0604030504040204" pitchFamily="50" charset="-128"/>
                <a:ea typeface="Meiryo UI" panose="020B0604030504040204" pitchFamily="50" charset="-128"/>
              </a:rPr>
              <a:t>RFQ(H)</a:t>
            </a:r>
            <a:r>
              <a:rPr lang="ja-JP" altLang="en-US" sz="1400">
                <a:latin typeface="Meiryo UI" panose="020B0604030504040204" pitchFamily="50" charset="-128"/>
                <a:ea typeface="Meiryo UI" panose="020B0604030504040204" pitchFamily="50" charset="-128"/>
              </a:rPr>
              <a:t>⇒見積</a:t>
            </a:r>
            <a:r>
              <a:rPr lang="en-US" altLang="ja-JP" sz="1400">
                <a:latin typeface="Meiryo UI" panose="020B0604030504040204" pitchFamily="50" charset="-128"/>
                <a:ea typeface="Meiryo UI" panose="020B0604030504040204" pitchFamily="50" charset="-128"/>
              </a:rPr>
              <a:t>(A)</a:t>
            </a:r>
            <a:r>
              <a:rPr lang="ja-JP" altLang="en-US" sz="1400">
                <a:latin typeface="Meiryo UI" panose="020B0604030504040204" pitchFamily="50" charset="-128"/>
                <a:ea typeface="Meiryo UI" panose="020B0604030504040204" pitchFamily="50" charset="-128"/>
              </a:rPr>
              <a:t>⇒発注書</a:t>
            </a:r>
            <a:r>
              <a:rPr lang="en-US" altLang="ja-JP" sz="1400">
                <a:latin typeface="Meiryo UI" panose="020B0604030504040204" pitchFamily="50" charset="-128"/>
                <a:ea typeface="Meiryo UI" panose="020B0604030504040204" pitchFamily="50" charset="-128"/>
              </a:rPr>
              <a:t>PO(H)</a:t>
            </a:r>
            <a:r>
              <a:rPr lang="ja-JP" altLang="en-US" sz="1400">
                <a:latin typeface="Meiryo UI" panose="020B0604030504040204" pitchFamily="50" charset="-128"/>
                <a:ea typeface="Meiryo UI" panose="020B0604030504040204" pitchFamily="50" charset="-128"/>
              </a:rPr>
              <a:t>⇒開発作業着手</a:t>
            </a:r>
            <a:r>
              <a:rPr lang="en-US" altLang="ja-JP" sz="1400">
                <a:latin typeface="Meiryo UI" panose="020B0604030504040204" pitchFamily="50" charset="-128"/>
                <a:ea typeface="Meiryo UI" panose="020B0604030504040204" pitchFamily="50" charset="-128"/>
              </a:rPr>
              <a:t>(A)</a:t>
            </a:r>
            <a:r>
              <a:rPr lang="ja-JP" altLang="en-US" sz="1400">
                <a:latin typeface="Meiryo UI" panose="020B0604030504040204" pitchFamily="50" charset="-128"/>
                <a:ea typeface="Meiryo UI" panose="020B0604030504040204" pitchFamily="50" charset="-128"/>
              </a:rPr>
              <a:t> を正式な手順とする（</a:t>
            </a:r>
            <a:r>
              <a:rPr lang="en-US" altLang="ja-JP" sz="1400">
                <a:latin typeface="Meiryo UI" panose="020B0604030504040204" pitchFamily="50" charset="-128"/>
                <a:ea typeface="Meiryo UI" panose="020B0604030504040204" pitchFamily="50" charset="-128"/>
              </a:rPr>
              <a:t>H</a:t>
            </a: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A</a:t>
            </a:r>
            <a:r>
              <a:rPr lang="ja-JP" altLang="en-US" sz="1400">
                <a:latin typeface="Meiryo UI" panose="020B0604030504040204" pitchFamily="50" charset="-128"/>
                <a:ea typeface="Meiryo UI" panose="020B0604030504040204" pitchFamily="50" charset="-128"/>
              </a:rPr>
              <a:t>：</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rPr>
              <a:t>）</a:t>
            </a:r>
            <a:endParaRPr lang="en-US" altLang="ja-JP" sz="140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開発部門から</a:t>
            </a:r>
            <a:r>
              <a:rPr lang="en-US" altLang="ja-JP" sz="1400">
                <a:latin typeface="Meiryo UI" panose="020B0604030504040204" pitchFamily="50" charset="-128"/>
                <a:ea typeface="Meiryo UI" panose="020B0604030504040204" pitchFamily="50" charset="-128"/>
              </a:rPr>
              <a:t>CR</a:t>
            </a:r>
            <a:r>
              <a:rPr lang="ja-JP" altLang="en-US" sz="1400">
                <a:latin typeface="Meiryo UI" panose="020B0604030504040204" pitchFamily="50" charset="-128"/>
                <a:ea typeface="Meiryo UI" panose="020B0604030504040204" pitchFamily="50" charset="-128"/>
              </a:rPr>
              <a:t>検討依頼を行う場合は，</a:t>
            </a:r>
            <a:r>
              <a:rPr lang="en-US" altLang="ja-JP" sz="1400">
                <a:latin typeface="Meiryo UI" panose="020B0604030504040204" pitchFamily="50" charset="-128"/>
                <a:ea typeface="Meiryo UI" panose="020B0604030504040204" pitchFamily="50" charset="-128"/>
              </a:rPr>
              <a:t>CR</a:t>
            </a:r>
            <a:r>
              <a:rPr lang="ja-JP" altLang="en-US" sz="1400">
                <a:latin typeface="Meiryo UI" panose="020B0604030504040204" pitchFamily="50" charset="-128"/>
                <a:ea typeface="Meiryo UI" panose="020B0604030504040204" pitchFamily="50" charset="-128"/>
              </a:rPr>
              <a:t>要求仕様書を発行する．</a:t>
            </a:r>
            <a:endParaRPr lang="en-US" altLang="ja-JP" sz="140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ja-JP" altLang="en-US" sz="1400">
                <a:latin typeface="Meiryo UI" panose="020B0604030504040204" pitchFamily="50" charset="-128"/>
                <a:ea typeface="Meiryo UI" panose="020B0604030504040204" pitchFamily="50" charset="-128"/>
              </a:rPr>
              <a:t>同時に</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購買へ情報展開し，</a:t>
            </a:r>
            <a:r>
              <a:rPr lang="en-US" altLang="ja-JP" sz="1400">
                <a:latin typeface="Meiryo UI" panose="020B0604030504040204" pitchFamily="50" charset="-128"/>
                <a:ea typeface="Meiryo UI" panose="020B0604030504040204" pitchFamily="50" charset="-128"/>
              </a:rPr>
              <a:t>RFQ</a:t>
            </a:r>
            <a:r>
              <a:rPr lang="ja-JP" altLang="en-US" sz="1400">
                <a:latin typeface="Meiryo UI" panose="020B0604030504040204" pitchFamily="50" charset="-128"/>
                <a:ea typeface="Meiryo UI" panose="020B0604030504040204" pitchFamily="50" charset="-128"/>
              </a:rPr>
              <a:t>発行以降の手順を，</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購買</a:t>
            </a:r>
            <a:r>
              <a:rPr lang="en-US" altLang="ja-JP" sz="1400">
                <a:latin typeface="Meiryo UI" panose="020B0604030504040204" pitchFamily="50" charset="-128"/>
                <a:ea typeface="Meiryo UI" panose="020B0604030504040204" pitchFamily="50" charset="-128"/>
              </a:rPr>
              <a:t>/</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営業が主体となり推進する．</a:t>
            </a:r>
            <a:endParaRPr lang="en-US" altLang="ja-JP" sz="140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営業は見積書を</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購買へ提出し，</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購買と価格整合を行う．</a:t>
            </a:r>
            <a:endParaRPr lang="en-US" altLang="ja-JP" sz="140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は，追加業務の実施要否を内部で協議し，決定内容を</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に伝える．</a:t>
            </a:r>
            <a:endParaRPr lang="en-US" altLang="ja-JP" sz="140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からの発注書の発行をもって，</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は作業に着手する．</a:t>
            </a:r>
            <a:endParaRPr lang="en-US" altLang="ja-JP" sz="1400">
              <a:latin typeface="Meiryo UI" panose="020B0604030504040204" pitchFamily="50" charset="-128"/>
              <a:ea typeface="Meiryo UI" panose="020B0604030504040204" pitchFamily="50" charset="-128"/>
            </a:endParaRPr>
          </a:p>
          <a:p>
            <a:pPr marL="803275" indent="-360363" algn="l" eaLnBrk="1" hangingPunct="1">
              <a:lnSpc>
                <a:spcPct val="120000"/>
              </a:lnSpc>
              <a:buFont typeface="+mj-lt"/>
              <a:buAutoNum type="arabicPeriod"/>
            </a:pPr>
            <a:r>
              <a:rPr lang="ja-JP" altLang="en-US" sz="1400">
                <a:latin typeface="Meiryo UI" panose="020B0604030504040204" pitchFamily="50" charset="-128"/>
                <a:ea typeface="Meiryo UI" panose="020B0604030504040204" pitchFamily="50" charset="-128"/>
              </a:rPr>
              <a:t>支払い時期は，</a:t>
            </a:r>
            <a:r>
              <a:rPr lang="en-US" altLang="ja-JP" sz="1400">
                <a:latin typeface="Meiryo UI" panose="020B0604030504040204" pitchFamily="50" charset="-128"/>
                <a:ea typeface="Meiryo UI" panose="020B0604030504040204" pitchFamily="50" charset="-128"/>
              </a:rPr>
              <a:t>Honda/</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間で合意した内容に従う．</a:t>
            </a:r>
            <a:endParaRPr lang="en-US" altLang="ja-JP" sz="1400">
              <a:latin typeface="Meiryo UI" panose="020B0604030504040204" pitchFamily="50" charset="-128"/>
              <a:ea typeface="Meiryo UI" panose="020B0604030504040204" pitchFamily="50" charset="-128"/>
            </a:endParaRPr>
          </a:p>
          <a:p>
            <a:pPr marL="442912" indent="0" algn="l" eaLnBrk="1" hangingPunct="1">
              <a:lnSpc>
                <a:spcPct val="120000"/>
              </a:lnSpc>
            </a:pPr>
            <a:r>
              <a:rPr lang="en-US" altLang="ja-JP" sz="1400">
                <a:latin typeface="Meiryo UI" panose="020B0604030504040204" pitchFamily="50" charset="-128"/>
                <a:ea typeface="Meiryo UI" panose="020B0604030504040204" pitchFamily="50" charset="-128"/>
              </a:rPr>
              <a:t>※</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が追加業務が必要と判断したときは，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にこれを告げ，対応方法を協議する．</a:t>
            </a:r>
          </a:p>
        </p:txBody>
      </p:sp>
      <p:sp>
        <p:nvSpPr>
          <p:cNvPr id="10" name="Text Box 7"/>
          <p:cNvSpPr txBox="1">
            <a:spLocks noChangeArrowheads="1"/>
          </p:cNvSpPr>
          <p:nvPr/>
        </p:nvSpPr>
        <p:spPr bwMode="auto">
          <a:xfrm>
            <a:off x="35496" y="548680"/>
            <a:ext cx="9108504" cy="349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914400" indent="-45720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600" b="1" u="sng">
                <a:latin typeface="Meiryo UI" panose="020B0604030504040204" pitchFamily="50" charset="-128"/>
                <a:ea typeface="Meiryo UI" panose="020B0604030504040204" pitchFamily="50" charset="-128"/>
                <a:cs typeface="Arial" pitchFamily="34" charset="0"/>
              </a:rPr>
              <a:t>Guideline</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of</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Change</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Request</a:t>
            </a:r>
            <a:endParaRPr lang="ja-JP" altLang="en-US" sz="1600" b="1" u="sng">
              <a:latin typeface="Meiryo UI" panose="020B0604030504040204" pitchFamily="50" charset="-128"/>
              <a:ea typeface="Meiryo UI" panose="020B0604030504040204" pitchFamily="50" charset="-128"/>
              <a:cs typeface="Arial" pitchFamily="34" charset="0"/>
            </a:endParaRPr>
          </a:p>
          <a:p>
            <a:pPr marL="457200" lvl="1" indent="0" algn="l" eaLnBrk="1" hangingPunct="1">
              <a:lnSpc>
                <a:spcPct val="120000"/>
              </a:lnSpc>
            </a:pPr>
            <a:r>
              <a:rPr lang="en-US" altLang="ja-JP" sz="1400">
                <a:latin typeface="Meiryo UI" panose="020B0604030504040204" pitchFamily="50" charset="-128"/>
                <a:ea typeface="Meiryo UI" panose="020B0604030504040204" pitchFamily="50" charset="-128"/>
                <a:cs typeface="Arial" pitchFamily="34" charset="0"/>
              </a:rPr>
              <a:t>Change request(CR) must be according to formal procedures as follows; CR(H)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RFQ(H)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Quote(A)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Purchasing</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Order(H)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Start of additional work(A).(</a:t>
            </a:r>
            <a:r>
              <a:rPr lang="en-US" altLang="ja-JP" sz="1400" err="1">
                <a:latin typeface="Meiryo UI" panose="020B0604030504040204" pitchFamily="50" charset="-128"/>
                <a:ea typeface="Meiryo UI" panose="020B0604030504040204" pitchFamily="50" charset="-128"/>
                <a:cs typeface="Arial" pitchFamily="34" charset="0"/>
              </a:rPr>
              <a:t>H:Honda</a:t>
            </a:r>
            <a:r>
              <a:rPr lang="en-US" altLang="ja-JP" sz="1400">
                <a:latin typeface="Meiryo UI" panose="020B0604030504040204" pitchFamily="50" charset="-128"/>
                <a:ea typeface="Meiryo UI" panose="020B0604030504040204" pitchFamily="50" charset="-128"/>
                <a:cs typeface="Arial" pitchFamily="34" charset="0"/>
              </a:rPr>
              <a:t>, A:</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t>
            </a: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Honda development team will issue CR to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as needed.</a:t>
            </a: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Honda development team will share CR to Honda purchasing department for RFQ and Honda purchasing department and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sales will proceed the procedure after RFQ issued.</a:t>
            </a:r>
          </a:p>
          <a:p>
            <a:pPr marL="800100" lvl="1" indent="-342900" algn="l" eaLnBrk="1" hangingPunct="1">
              <a:lnSpc>
                <a:spcPct val="120000"/>
              </a:lnSpc>
              <a:buFont typeface="+mj-lt"/>
              <a:buAutoNum type="arabicPeriod"/>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sales will issue the quote and align the cost to Honda purchasing department.</a:t>
            </a: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Honda will decide GO/NOT GO due to additional work</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with internal discussion, and inform the decision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t>
            </a:r>
          </a:p>
          <a:p>
            <a:pPr marL="800100" lvl="1" indent="-342900" algn="l" eaLnBrk="1" hangingPunct="1">
              <a:lnSpc>
                <a:spcPct val="120000"/>
              </a:lnSpc>
              <a:buFont typeface="+mj-lt"/>
              <a:buAutoNum type="arabicPeriod"/>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will start the additional work after purchasing order received from Honda.</a:t>
            </a: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Payment time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of CR is subject to  the agreement between Honda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a:t>
            </a:r>
          </a:p>
          <a:p>
            <a:pPr marL="457200" lvl="1" indent="0" algn="l" eaLnBrk="1" hangingPunct="1">
              <a:lnSpc>
                <a:spcPct val="120000"/>
              </a:lnSpc>
            </a:pPr>
            <a:r>
              <a:rPr lang="en-US" altLang="ja-JP" sz="1400">
                <a:latin typeface="Meiryo UI" panose="020B0604030504040204" pitchFamily="50" charset="-128"/>
                <a:ea typeface="Meiryo UI" panose="020B0604030504040204" pitchFamily="50" charset="-128"/>
                <a:cs typeface="Arial" pitchFamily="34" charset="0"/>
              </a:rPr>
              <a:t>※When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decides that the additional work must be needed ,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will inform this and align how to proceed with Honda.</a:t>
            </a:r>
          </a:p>
        </p:txBody>
      </p:sp>
      <p:sp>
        <p:nvSpPr>
          <p:cNvPr id="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(12/21)</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940166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(13/21)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0" name="Text Box 2"/>
          <p:cNvSpPr txBox="1">
            <a:spLocks noChangeArrowheads="1"/>
          </p:cNvSpPr>
          <p:nvPr/>
        </p:nvSpPr>
        <p:spPr bwMode="auto">
          <a:xfrm>
            <a:off x="143691" y="689421"/>
            <a:ext cx="8828379" cy="634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Change Management</a:t>
            </a:r>
            <a:endParaRPr lang="en-US" altLang="ja-JP" sz="1400" b="1">
              <a:solidFill>
                <a:srgbClr val="000000"/>
              </a:solidFill>
              <a:latin typeface="Meiryo UI" panose="020B0604030504040204" pitchFamily="50" charset="-128"/>
              <a:ea typeface="Meiryo UI" panose="020B0604030504040204" pitchFamily="50" charset="-128"/>
              <a:cs typeface="Arial" pitchFamily="34" charset="0"/>
            </a:endParaRPr>
          </a:p>
          <a:p>
            <a:pPr marL="360363" indent="-360363" algn="l" eaLnBrk="1" hangingPunct="1">
              <a:lnSpc>
                <a:spcPct val="11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契約内容に対して、要求の改定・新規追加を行う際、依頼者が</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CR</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を発行し</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Honda</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でリストにて管理・推進を行う。</a:t>
            </a:r>
            <a:endParaRPr lang="en-US" altLang="ja-JP" sz="140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1" name="Text Box 2"/>
          <p:cNvSpPr txBox="1">
            <a:spLocks noChangeArrowheads="1"/>
          </p:cNvSpPr>
          <p:nvPr/>
        </p:nvSpPr>
        <p:spPr bwMode="auto">
          <a:xfrm>
            <a:off x="143691" y="1642819"/>
            <a:ext cx="8670448" cy="80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algn="l" eaLnBrk="1" hangingPunct="1">
              <a:lnSpc>
                <a:spcPct val="110000"/>
              </a:lnSpc>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If the requirement needs to be updated or new requirement needs to be added, CR</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document shall be issued by requester, and such change items shall be administered with CR list by both party.</a:t>
            </a:r>
          </a:p>
        </p:txBody>
      </p:sp>
      <p:sp>
        <p:nvSpPr>
          <p:cNvPr id="9" name="コンテンツ プレースホルダー 2"/>
          <p:cNvSpPr txBox="1">
            <a:spLocks/>
          </p:cNvSpPr>
          <p:nvPr>
            <p:custDataLst>
              <p:tags r:id="rId1"/>
            </p:custDataLst>
          </p:nvPr>
        </p:nvSpPr>
        <p:spPr bwMode="auto">
          <a:xfrm>
            <a:off x="5202573" y="4815168"/>
            <a:ext cx="3611566"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“Change Request List”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16</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Requirement</a:t>
            </a:r>
            <a:r>
              <a:rPr lang="en-US" sz="1400" b="1" kern="0">
                <a:latin typeface="Meiryo UI" panose="020B0604030504040204" pitchFamily="50" charset="-128"/>
              </a:rPr>
              <a:t>”</a:t>
            </a:r>
          </a:p>
        </p:txBody>
      </p:sp>
    </p:spTree>
    <p:extLst>
      <p:ext uri="{BB962C8B-B14F-4D97-AF65-F5344CB8AC3E}">
        <p14:creationId xmlns:p14="http://schemas.microsoft.com/office/powerpoint/2010/main" val="15609193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250829" y="630371"/>
            <a:ext cx="6469271" cy="458074"/>
          </a:xfrm>
          <a:prstGeom prst="rect">
            <a:avLst/>
          </a:prstGeom>
        </p:spPr>
        <p:txBody>
          <a:bodyPr wrap="none">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en-US" altLang="ja-JP"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Standard SW and Calibration Maturity </a:t>
            </a:r>
          </a:p>
        </p:txBody>
      </p:sp>
      <p:sp>
        <p:nvSpPr>
          <p:cNvPr id="8"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16. EMS Requirement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and</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CR (14/21)</a:t>
            </a:r>
          </a:p>
        </p:txBody>
      </p:sp>
      <p:graphicFrame>
        <p:nvGraphicFramePr>
          <p:cNvPr id="3" name="表 2">
            <a:extLst>
              <a:ext uri="{FF2B5EF4-FFF2-40B4-BE49-F238E27FC236}">
                <a16:creationId xmlns:a16="http://schemas.microsoft.com/office/drawing/2014/main" id="{CE28FB4F-A590-6E6E-9CBD-48A973513B93}"/>
              </a:ext>
            </a:extLst>
          </p:cNvPr>
          <p:cNvGraphicFramePr>
            <a:graphicFrameLocks noGrp="1"/>
          </p:cNvGraphicFramePr>
          <p:nvPr>
            <p:extLst>
              <p:ext uri="{D42A27DB-BD31-4B8C-83A1-F6EECF244321}">
                <p14:modId xmlns:p14="http://schemas.microsoft.com/office/powerpoint/2010/main" val="2692868012"/>
              </p:ext>
            </p:extLst>
          </p:nvPr>
        </p:nvGraphicFramePr>
        <p:xfrm>
          <a:off x="137162" y="1145537"/>
          <a:ext cx="8746776" cy="5295900"/>
        </p:xfrm>
        <a:graphic>
          <a:graphicData uri="http://schemas.openxmlformats.org/drawingml/2006/table">
            <a:tbl>
              <a:tblPr firstRow="1" bandRow="1">
                <a:tableStyleId>{5C22544A-7EE6-4342-B048-85BDC9FD1C3A}</a:tableStyleId>
              </a:tblPr>
              <a:tblGrid>
                <a:gridCol w="971864">
                  <a:extLst>
                    <a:ext uri="{9D8B030D-6E8A-4147-A177-3AD203B41FA5}">
                      <a16:colId xmlns:a16="http://schemas.microsoft.com/office/drawing/2014/main" val="1030641763"/>
                    </a:ext>
                  </a:extLst>
                </a:gridCol>
                <a:gridCol w="971864">
                  <a:extLst>
                    <a:ext uri="{9D8B030D-6E8A-4147-A177-3AD203B41FA5}">
                      <a16:colId xmlns:a16="http://schemas.microsoft.com/office/drawing/2014/main" val="483999296"/>
                    </a:ext>
                  </a:extLst>
                </a:gridCol>
                <a:gridCol w="971864">
                  <a:extLst>
                    <a:ext uri="{9D8B030D-6E8A-4147-A177-3AD203B41FA5}">
                      <a16:colId xmlns:a16="http://schemas.microsoft.com/office/drawing/2014/main" val="1815889758"/>
                    </a:ext>
                  </a:extLst>
                </a:gridCol>
                <a:gridCol w="971864">
                  <a:extLst>
                    <a:ext uri="{9D8B030D-6E8A-4147-A177-3AD203B41FA5}">
                      <a16:colId xmlns:a16="http://schemas.microsoft.com/office/drawing/2014/main" val="1129391594"/>
                    </a:ext>
                  </a:extLst>
                </a:gridCol>
                <a:gridCol w="971864">
                  <a:extLst>
                    <a:ext uri="{9D8B030D-6E8A-4147-A177-3AD203B41FA5}">
                      <a16:colId xmlns:a16="http://schemas.microsoft.com/office/drawing/2014/main" val="1752205546"/>
                    </a:ext>
                  </a:extLst>
                </a:gridCol>
                <a:gridCol w="971864">
                  <a:extLst>
                    <a:ext uri="{9D8B030D-6E8A-4147-A177-3AD203B41FA5}">
                      <a16:colId xmlns:a16="http://schemas.microsoft.com/office/drawing/2014/main" val="4288285946"/>
                    </a:ext>
                  </a:extLst>
                </a:gridCol>
                <a:gridCol w="971864">
                  <a:extLst>
                    <a:ext uri="{9D8B030D-6E8A-4147-A177-3AD203B41FA5}">
                      <a16:colId xmlns:a16="http://schemas.microsoft.com/office/drawing/2014/main" val="3269062239"/>
                    </a:ext>
                  </a:extLst>
                </a:gridCol>
                <a:gridCol w="971864">
                  <a:extLst>
                    <a:ext uri="{9D8B030D-6E8A-4147-A177-3AD203B41FA5}">
                      <a16:colId xmlns:a16="http://schemas.microsoft.com/office/drawing/2014/main" val="1144184363"/>
                    </a:ext>
                  </a:extLst>
                </a:gridCol>
                <a:gridCol w="971864">
                  <a:extLst>
                    <a:ext uri="{9D8B030D-6E8A-4147-A177-3AD203B41FA5}">
                      <a16:colId xmlns:a16="http://schemas.microsoft.com/office/drawing/2014/main" val="2301566265"/>
                    </a:ext>
                  </a:extLst>
                </a:gridCol>
              </a:tblGrid>
              <a:tr h="214631">
                <a:tc>
                  <a:txBody>
                    <a:bodyPr/>
                    <a:lstStyle/>
                    <a:p>
                      <a:pPr algn="ctr"/>
                      <a:r>
                        <a:rPr kumimoji="1" lang="en-US" altLang="ja-JP" sz="1000">
                          <a:solidFill>
                            <a:schemeClr val="tx1"/>
                          </a:solidFill>
                          <a:latin typeface="Meiryo UI"/>
                          <a:ea typeface="Meiryo UI"/>
                        </a:rPr>
                        <a:t>Event</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F1</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A00-1(F2)</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A00-2(V1)</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000">
                          <a:solidFill>
                            <a:schemeClr val="tx1"/>
                          </a:solidFill>
                          <a:latin typeface="Meiryo UI"/>
                          <a:ea typeface="Meiryo UI"/>
                        </a:rPr>
                        <a:t>設型</a:t>
                      </a:r>
                      <a:r>
                        <a:rPr kumimoji="1" lang="en-US" altLang="ja-JP" sz="1000">
                          <a:solidFill>
                            <a:schemeClr val="tx1"/>
                          </a:solidFill>
                          <a:latin typeface="Meiryo UI"/>
                          <a:ea typeface="Meiryo UI"/>
                        </a:rPr>
                        <a:t>GO(V2)</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MP0  DAN0</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chemeClr val="tx1"/>
                          </a:solidFill>
                          <a:latin typeface="Meiryo UI"/>
                          <a:ea typeface="Meiryo UI"/>
                          <a:cs typeface="Meiryo UI" pitchFamily="50" charset="-128"/>
                        </a:rPr>
                        <a:t>DAN</a:t>
                      </a:r>
                      <a:r>
                        <a:rPr kumimoji="1" lang="en-US" altLang="ja-JP" sz="1000">
                          <a:solidFill>
                            <a:schemeClr val="tx1"/>
                          </a:solidFill>
                          <a:latin typeface="Meiryo UI"/>
                          <a:ea typeface="Meiryo UI"/>
                        </a:rPr>
                        <a:t>(V3)</a:t>
                      </a:r>
                      <a:endParaRPr lang="ja-JP" altLang="en-US" sz="1000">
                        <a:solidFill>
                          <a:schemeClr val="tx1"/>
                        </a:solidFill>
                        <a:latin typeface="Meiryo UI"/>
                        <a:ea typeface="Meiryo UI"/>
                        <a:cs typeface="Meiryo UI"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a:solidFill>
                            <a:schemeClr val="tx1"/>
                          </a:solidFill>
                          <a:latin typeface="Meiryo UI"/>
                          <a:ea typeface="Meiryo UI"/>
                        </a:rPr>
                        <a:t>MP1</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chemeClr val="tx1"/>
                          </a:solidFill>
                          <a:latin typeface="Meiryo UI"/>
                          <a:ea typeface="Meiryo UI"/>
                          <a:cs typeface="Meiryo UI" pitchFamily="50" charset="-128"/>
                        </a:rPr>
                        <a:t>HIN</a:t>
                      </a:r>
                      <a:endParaRPr lang="ja-JP" altLang="en-US" sz="1000">
                        <a:solidFill>
                          <a:schemeClr val="tx1"/>
                        </a:solidFill>
                        <a:latin typeface="Meiryo UI"/>
                        <a:ea typeface="Meiryo UI"/>
                        <a:cs typeface="Meiryo UI"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7139695"/>
                  </a:ext>
                </a:extLst>
              </a:tr>
              <a:tr h="754380">
                <a:tc>
                  <a:txBody>
                    <a:bodyPr/>
                    <a:lstStyle/>
                    <a:p>
                      <a:pPr algn="l"/>
                      <a:r>
                        <a:rPr kumimoji="1" lang="en-US" altLang="ja-JP" sz="900" b="0">
                          <a:solidFill>
                            <a:schemeClr val="tx1"/>
                          </a:solidFill>
                          <a:latin typeface="Meiryo UI"/>
                          <a:ea typeface="Meiryo UI"/>
                        </a:rPr>
                        <a:t>Required</a:t>
                      </a:r>
                      <a:r>
                        <a:rPr lang="en-US" altLang="ja-JP" sz="900" b="0">
                          <a:solidFill>
                            <a:schemeClr val="tx1"/>
                          </a:solidFill>
                          <a:latin typeface="Meiryo UI"/>
                          <a:ea typeface="Meiryo UI"/>
                        </a:rPr>
                        <a:t>  </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en-US" altLang="ja-JP" sz="900" b="0">
                          <a:solidFill>
                            <a:schemeClr val="tx1"/>
                          </a:solidFill>
                          <a:latin typeface="Meiryo UI"/>
                          <a:ea typeface="Meiryo UI"/>
                        </a:rPr>
                        <a:t>Total System</a:t>
                      </a:r>
                      <a:r>
                        <a:rPr lang="en-US" altLang="ja-JP" sz="900" b="0">
                          <a:solidFill>
                            <a:schemeClr val="tx1"/>
                          </a:solidFill>
                          <a:latin typeface="Meiryo UI"/>
                          <a:ea typeface="Meiryo UI"/>
                        </a:rPr>
                        <a:t> </a:t>
                      </a:r>
                      <a:endParaRPr kumimoji="1" lang="en-US" altLang="ja-JP" sz="900" b="0">
                        <a:solidFill>
                          <a:schemeClr val="tx1"/>
                        </a:solidFill>
                        <a:latin typeface="Meiryo UI"/>
                        <a:ea typeface="Meiryo UI"/>
                      </a:endParaRPr>
                    </a:p>
                    <a:p>
                      <a:pPr algn="l"/>
                      <a:r>
                        <a:rPr kumimoji="1" lang="en-US" altLang="ja-JP" sz="900" b="0">
                          <a:solidFill>
                            <a:schemeClr val="tx1"/>
                          </a:solidFill>
                          <a:latin typeface="Meiryo UI"/>
                          <a:ea typeface="Meiryo UI"/>
                        </a:rPr>
                        <a:t>Maturity</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All requirement to be identified from Vehicle team request and HW (</a:t>
                      </a:r>
                      <a:r>
                        <a:rPr lang="en-US" altLang="ja-JP" sz="900">
                          <a:solidFill>
                            <a:schemeClr val="tx1"/>
                          </a:solidFill>
                          <a:latin typeface="Meiryo UI"/>
                          <a:ea typeface="Meiryo UI"/>
                          <a:cs typeface="Arial"/>
                        </a:rPr>
                        <a:t>BOSCH</a:t>
                      </a:r>
                      <a:r>
                        <a:rPr lang="ja-JP" altLang="en-US" sz="900">
                          <a:solidFill>
                            <a:schemeClr val="tx1"/>
                          </a:solidFill>
                          <a:latin typeface="Meiryo UI"/>
                          <a:ea typeface="Meiryo UI"/>
                          <a:cs typeface="Arial"/>
                        </a:rPr>
                        <a:t> </a:t>
                      </a:r>
                      <a:r>
                        <a:rPr kumimoji="1" lang="en-US" altLang="ja-JP" sz="900" b="0" baseline="0">
                          <a:solidFill>
                            <a:schemeClr val="tx1"/>
                          </a:solidFill>
                          <a:latin typeface="Meiryo UI"/>
                          <a:ea typeface="Meiryo UI"/>
                        </a:rPr>
                        <a:t> and Honda.</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900" b="0">
                          <a:solidFill>
                            <a:schemeClr val="tx1"/>
                          </a:solidFill>
                          <a:latin typeface="Meiryo UI"/>
                          <a:ea typeface="Meiryo UI"/>
                          <a:cs typeface="Meiryo UI" pitchFamily="50" charset="-128"/>
                        </a:rPr>
                        <a:t>All developing SW item is identified.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SW reliability and validity</a:t>
                      </a:r>
                      <a:r>
                        <a:rPr kumimoji="1" lang="en-US" altLang="ja-JP" sz="900" b="0" baseline="0">
                          <a:solidFill>
                            <a:schemeClr val="tx1"/>
                          </a:solidFill>
                          <a:latin typeface="Meiryo UI"/>
                          <a:ea typeface="Meiryo UI"/>
                        </a:rPr>
                        <a:t> is completed</a:t>
                      </a:r>
                      <a:endParaRPr kumimoji="1" lang="en-US" altLang="ja-JP" sz="900" b="0">
                        <a:solidFill>
                          <a:schemeClr val="tx1"/>
                        </a:solidFill>
                        <a:latin typeface="Meiryo UI"/>
                        <a:ea typeface="Meiryo UI"/>
                      </a:endParaRPr>
                    </a:p>
                    <a:p>
                      <a:pPr algn="l"/>
                      <a:endParaRPr kumimoji="1" lang="en-US" altLang="ja-JP" sz="900" b="0">
                        <a:solidFill>
                          <a:schemeClr val="tx1"/>
                        </a:solidFill>
                        <a:latin typeface="Meiryo UI" panose="020B0604030504040204" pitchFamily="50" charset="-128"/>
                        <a:ea typeface="Meiryo UI" panose="020B0604030504040204"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SW freeze</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Ready</a:t>
                      </a:r>
                      <a:r>
                        <a:rPr kumimoji="1" lang="en-US" altLang="ja-JP" sz="900" b="0" baseline="0">
                          <a:solidFill>
                            <a:schemeClr val="tx1"/>
                          </a:solidFill>
                          <a:latin typeface="Meiryo UI"/>
                          <a:ea typeface="Meiryo UI"/>
                        </a:rPr>
                        <a:t> for certification, durability test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Assembly</a:t>
                      </a:r>
                      <a:r>
                        <a:rPr kumimoji="1" lang="en-US" altLang="ja-JP" sz="900" b="0" baseline="0">
                          <a:solidFill>
                            <a:schemeClr val="tx1"/>
                          </a:solidFill>
                          <a:latin typeface="Meiryo UI"/>
                          <a:ea typeface="Meiryo UI"/>
                        </a:rPr>
                        <a:t> confirmation in factory</a:t>
                      </a:r>
                      <a:endParaRPr kumimoji="1" lang="en-US" altLang="ja-JP"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CAL</a:t>
                      </a:r>
                    </a:p>
                    <a:p>
                      <a:pPr algn="l"/>
                      <a:r>
                        <a:rPr kumimoji="1" lang="en-US" altLang="ja-JP" sz="900" b="0" baseline="0">
                          <a:solidFill>
                            <a:schemeClr val="tx1"/>
                          </a:solidFill>
                          <a:latin typeface="Meiryo UI"/>
                          <a:ea typeface="Meiryo UI"/>
                        </a:rPr>
                        <a:t>Finished</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MP1 release</a:t>
                      </a:r>
                    </a:p>
                    <a:p>
                      <a:pPr algn="l"/>
                      <a:endParaRPr kumimoji="1" lang="en-US" altLang="ja-JP" sz="900" b="0">
                        <a:solidFill>
                          <a:schemeClr val="tx1"/>
                        </a:solidFill>
                        <a:latin typeface="Meiryo UI"/>
                        <a:ea typeface="Meiryo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a:solidFill>
                            <a:schemeClr val="tx1"/>
                          </a:solidFill>
                          <a:latin typeface="Meiryo UI"/>
                          <a:ea typeface="Meiryo UI"/>
                        </a:rPr>
                        <a:t>Quality check in factory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560282"/>
                  </a:ext>
                </a:extLst>
              </a:tr>
              <a:tr h="676003">
                <a:tc>
                  <a:txBody>
                    <a:bodyPr/>
                    <a:lstStyle/>
                    <a:p>
                      <a:pPr algn="l"/>
                      <a:r>
                        <a:rPr kumimoji="1" lang="en-US" altLang="ja-JP" sz="900">
                          <a:solidFill>
                            <a:schemeClr val="tx1"/>
                          </a:solidFill>
                          <a:latin typeface="Meiryo UI"/>
                          <a:ea typeface="Meiryo UI"/>
                        </a:rPr>
                        <a:t>Change</a:t>
                      </a:r>
                      <a:r>
                        <a:rPr lang="en-US" altLang="ja-JP" sz="900">
                          <a:solidFill>
                            <a:schemeClr val="tx1"/>
                          </a:solidFill>
                          <a:latin typeface="Meiryo UI"/>
                          <a:ea typeface="Meiryo UI"/>
                        </a:rPr>
                        <a:t>   </a:t>
                      </a:r>
                      <a:endParaRPr kumimoji="1" lang="en-US" altLang="ja-JP" sz="900">
                        <a:solidFill>
                          <a:schemeClr val="tx1"/>
                        </a:solidFill>
                        <a:latin typeface="Meiryo UI" panose="020B0604030504040204" pitchFamily="50" charset="-128"/>
                        <a:ea typeface="Meiryo UI" panose="020B0604030504040204" pitchFamily="50" charset="-128"/>
                      </a:endParaRPr>
                    </a:p>
                    <a:p>
                      <a:pPr algn="l"/>
                      <a:r>
                        <a:rPr lang="en-US" altLang="ja-JP" sz="900">
                          <a:solidFill>
                            <a:schemeClr val="tx1"/>
                          </a:solidFill>
                          <a:latin typeface="Meiryo UI"/>
                          <a:ea typeface="Meiryo UI"/>
                        </a:rPr>
                        <a:t> </a:t>
                      </a:r>
                      <a:r>
                        <a:rPr kumimoji="1" lang="en-US" altLang="ja-JP" sz="900">
                          <a:solidFill>
                            <a:schemeClr val="tx1"/>
                          </a:solidFill>
                          <a:latin typeface="Meiryo UI"/>
                          <a:ea typeface="Meiryo UI"/>
                        </a:rPr>
                        <a:t> Requirement</a:t>
                      </a:r>
                    </a:p>
                    <a:p>
                      <a:pPr algn="l"/>
                      <a:r>
                        <a:rPr kumimoji="1" lang="en-US" altLang="ja-JP" sz="700">
                          <a:solidFill>
                            <a:schemeClr val="tx1"/>
                          </a:solidFill>
                          <a:latin typeface="Meiryo UI"/>
                          <a:ea typeface="Meiryo UI"/>
                        </a:rPr>
                        <a:t>(SW </a:t>
                      </a:r>
                      <a:r>
                        <a:rPr kumimoji="1" lang="en-US" altLang="ja-JP" sz="700" baseline="0">
                          <a:solidFill>
                            <a:schemeClr val="tx1"/>
                          </a:solidFill>
                          <a:latin typeface="Meiryo UI"/>
                          <a:ea typeface="Meiryo UI"/>
                        </a:rPr>
                        <a:t>specification)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base">
                        <a:spcBef>
                          <a:spcPct val="0"/>
                        </a:spcBef>
                        <a:spcAft>
                          <a:spcPct val="0"/>
                        </a:spcAft>
                      </a:pPr>
                      <a:r>
                        <a:rPr lang="en-US" altLang="ja-JP" sz="900">
                          <a:solidFill>
                            <a:schemeClr val="tx1"/>
                          </a:solidFill>
                          <a:latin typeface="Meiryo UI"/>
                          <a:ea typeface="Meiryo UI"/>
                        </a:rPr>
                        <a:t>Basic function for test vehicle which</a:t>
                      </a:r>
                      <a:r>
                        <a:rPr lang="en-US" altLang="ja-JP" sz="900" baseline="0">
                          <a:solidFill>
                            <a:schemeClr val="tx1"/>
                          </a:solidFill>
                          <a:latin typeface="Meiryo UI"/>
                          <a:ea typeface="Meiryo UI"/>
                        </a:rPr>
                        <a:t> will be assembled after</a:t>
                      </a:r>
                      <a:r>
                        <a:rPr lang="en-US" altLang="ja-JP" sz="900">
                          <a:solidFill>
                            <a:schemeClr val="tx1"/>
                          </a:solidFill>
                          <a:latin typeface="Meiryo UI"/>
                          <a:ea typeface="Meiryo UI"/>
                        </a:rPr>
                        <a:t> F1 is released.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CR of communication with other unit released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All</a:t>
                      </a:r>
                      <a:r>
                        <a:rPr kumimoji="1" lang="en-US" altLang="ja-JP" sz="900" baseline="0">
                          <a:solidFill>
                            <a:schemeClr val="tx1"/>
                          </a:solidFill>
                          <a:latin typeface="Meiryo UI"/>
                          <a:ea typeface="Meiryo UI"/>
                        </a:rPr>
                        <a:t> CR released</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NA</a:t>
                      </a:r>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94406065"/>
                  </a:ext>
                </a:extLst>
              </a:tr>
              <a:tr h="754380">
                <a:tc>
                  <a:txBody>
                    <a:bodyPr/>
                    <a:lstStyle/>
                    <a:p>
                      <a:pPr algn="l"/>
                      <a:r>
                        <a:rPr kumimoji="1" lang="ja-JP" altLang="en-US" sz="900">
                          <a:solidFill>
                            <a:schemeClr val="tx1"/>
                          </a:solidFill>
                          <a:latin typeface="Meiryo UI"/>
                          <a:ea typeface="Meiryo UI"/>
                        </a:rPr>
                        <a:t>　</a:t>
                      </a:r>
                      <a:r>
                        <a:rPr kumimoji="1" lang="en-US" altLang="ja-JP" sz="900">
                          <a:solidFill>
                            <a:schemeClr val="tx1"/>
                          </a:solidFill>
                          <a:latin typeface="Meiryo UI"/>
                          <a:ea typeface="Meiryo UI"/>
                        </a:rPr>
                        <a:t>SW</a:t>
                      </a:r>
                      <a:r>
                        <a:rPr lang="ja-JP" altLang="en-US" sz="900">
                          <a:solidFill>
                            <a:schemeClr val="tx1"/>
                          </a:solidFill>
                          <a:latin typeface="Meiryo UI"/>
                          <a:ea typeface="Meiryo UI"/>
                        </a:rPr>
                        <a:t> </a:t>
                      </a:r>
                      <a:r>
                        <a:rPr kumimoji="1" lang="ja-JP" altLang="en-US" sz="900">
                          <a:solidFill>
                            <a:schemeClr val="tx1"/>
                          </a:solidFill>
                          <a:latin typeface="Meiryo UI"/>
                          <a:ea typeface="Meiryo UI"/>
                        </a:rPr>
                        <a:t> </a:t>
                      </a:r>
                      <a:r>
                        <a:rPr kumimoji="1" lang="en-US" altLang="ja-JP" sz="900">
                          <a:solidFill>
                            <a:schemeClr val="tx1"/>
                          </a:solidFill>
                          <a:latin typeface="Meiryo UI"/>
                          <a:ea typeface="Meiryo UI"/>
                        </a:rPr>
                        <a:t>release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0x</a:t>
                      </a:r>
                      <a:r>
                        <a:rPr kumimoji="1" lang="en-US" altLang="ja-JP" sz="900" baseline="0">
                          <a:solidFill>
                            <a:schemeClr val="tx1"/>
                          </a:solidFill>
                          <a:latin typeface="Meiryo UI"/>
                          <a:ea typeface="Meiryo UI"/>
                        </a:rPr>
                        <a:t> SW can be released for 0x vehicle</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NA</a:t>
                      </a:r>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en-US" altLang="ja-JP" sz="900">
                          <a:solidFill>
                            <a:schemeClr val="tx1"/>
                          </a:solidFill>
                          <a:latin typeface="Meiryo UI"/>
                          <a:ea typeface="Meiryo UI"/>
                        </a:rPr>
                        <a:t>Implementation of communication with other unit finished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All functionalities</a:t>
                      </a:r>
                      <a:r>
                        <a:rPr kumimoji="1" lang="en-US" altLang="ja-JP" sz="900" baseline="0">
                          <a:solidFill>
                            <a:schemeClr val="tx1"/>
                          </a:solidFill>
                          <a:latin typeface="Meiryo UI"/>
                          <a:ea typeface="Meiryo UI"/>
                        </a:rPr>
                        <a:t> is implemented and bug fix finished,</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a:solidFill>
                            <a:schemeClr val="tx1"/>
                          </a:solidFill>
                          <a:latin typeface="Meiryo UI"/>
                          <a:ea typeface="Meiryo UI"/>
                        </a:rPr>
                        <a:t>MP1</a:t>
                      </a:r>
                      <a:r>
                        <a:rPr kumimoji="1" lang="en-US" altLang="ja-JP" sz="900" baseline="0">
                          <a:solidFill>
                            <a:schemeClr val="tx1"/>
                          </a:solidFill>
                          <a:latin typeface="Meiryo UI"/>
                          <a:ea typeface="Meiryo UI"/>
                        </a:rPr>
                        <a:t> SW prepared</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32979196"/>
                  </a:ext>
                </a:extLst>
              </a:tr>
              <a:tr h="1028700">
                <a:tc>
                  <a:txBody>
                    <a:bodyPr/>
                    <a:lstStyle/>
                    <a:p>
                      <a:pPr algn="l"/>
                      <a:r>
                        <a:rPr kumimoji="1" lang="en-US" altLang="ja-JP" sz="900">
                          <a:solidFill>
                            <a:schemeClr val="tx1"/>
                          </a:solidFill>
                          <a:latin typeface="Meiryo UI"/>
                          <a:ea typeface="Meiryo UI"/>
                        </a:rPr>
                        <a:t>Calibration Release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Basis to be defined.</a:t>
                      </a:r>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High</a:t>
                      </a:r>
                      <a:r>
                        <a:rPr kumimoji="1" lang="en-US" altLang="ja-JP" sz="900" baseline="0">
                          <a:solidFill>
                            <a:schemeClr val="tx1"/>
                          </a:solidFill>
                          <a:latin typeface="Meiryo UI"/>
                          <a:ea typeface="Meiryo UI"/>
                        </a:rPr>
                        <a:t> speed can be performed without any damage.</a:t>
                      </a:r>
                    </a:p>
                    <a:p>
                      <a:pPr algn="l"/>
                      <a:r>
                        <a:rPr kumimoji="1" lang="en-US" altLang="ja-JP" sz="900" baseline="0">
                          <a:solidFill>
                            <a:schemeClr val="tx1"/>
                          </a:solidFill>
                          <a:latin typeface="Meiryo UI"/>
                          <a:ea typeface="Meiryo UI"/>
                        </a:rPr>
                        <a:t>ETB cal finished.</a:t>
                      </a:r>
                    </a:p>
                    <a:p>
                      <a:pPr marL="0" marR="0" indent="0" algn="l" rtl="0" eaLnBrk="1" fontAlgn="auto" latinLnBrk="0" hangingPunct="1">
                        <a:lnSpc>
                          <a:spcPct val="100000"/>
                        </a:lnSpc>
                        <a:spcBef>
                          <a:spcPts val="0"/>
                        </a:spcBef>
                        <a:spcAft>
                          <a:spcPts val="0"/>
                        </a:spcAft>
                        <a:buClrTx/>
                        <a:buSzTx/>
                        <a:buFontTx/>
                        <a:buNone/>
                      </a:pPr>
                      <a:r>
                        <a:rPr kumimoji="1" lang="en-US" altLang="ja-JP" sz="900" baseline="0">
                          <a:solidFill>
                            <a:schemeClr val="tx1"/>
                          </a:solidFill>
                          <a:latin typeface="Meiryo UI"/>
                          <a:ea typeface="Meiryo UI"/>
                        </a:rPr>
                        <a:t>Full load performance,</a:t>
                      </a:r>
                      <a:r>
                        <a:rPr lang="en-US" altLang="ja-JP" sz="900" baseline="0">
                          <a:solidFill>
                            <a:schemeClr val="tx1"/>
                          </a:solidFill>
                          <a:latin typeface="Meiryo UI"/>
                          <a:ea typeface="Meiryo UI"/>
                        </a:rPr>
                        <a:t> </a:t>
                      </a:r>
                      <a:endParaRPr kumimoji="1" lang="en-US" altLang="ja-JP" sz="900" baseline="0">
                        <a:solidFill>
                          <a:schemeClr val="tx1"/>
                        </a:solidFill>
                        <a:latin typeface="Meiryo UI"/>
                        <a:ea typeface="Meiryo UI"/>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aseline="0">
                          <a:solidFill>
                            <a:schemeClr val="tx1"/>
                          </a:solidFill>
                          <a:latin typeface="Meiryo UI"/>
                          <a:ea typeface="Meiryo UI"/>
                        </a:rPr>
                        <a:t>component protection</a:t>
                      </a:r>
                      <a:endParaRPr kumimoji="1" lang="ja-JP" altLang="en-US" sz="900">
                        <a:solidFill>
                          <a:schemeClr val="tx1"/>
                        </a:solidFill>
                        <a:latin typeface="Meiryo UI"/>
                        <a:ea typeface="Meiryo UI"/>
                      </a:endParaRPr>
                    </a:p>
                    <a:p>
                      <a:pPr algn="l"/>
                      <a:r>
                        <a:rPr kumimoji="1" lang="en-US" altLang="ja-JP" sz="900" baseline="0">
                          <a:solidFill>
                            <a:schemeClr val="tx1"/>
                          </a:solidFill>
                          <a:latin typeface="Meiryo UI"/>
                          <a:ea typeface="Meiryo UI"/>
                        </a:rPr>
                        <a:t>Warmed up DRB finished</a:t>
                      </a:r>
                    </a:p>
                    <a:p>
                      <a:pPr algn="l"/>
                      <a:endParaRPr kumimoji="1" lang="en-US" altLang="ja-JP" sz="900" baseline="0">
                        <a:solidFill>
                          <a:schemeClr val="tx1"/>
                        </a:solidFill>
                        <a:latin typeface="Meiryo UI" panose="020B0604030504040204" pitchFamily="50" charset="-128"/>
                        <a:ea typeface="Meiryo UI" panose="020B0604030504040204"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High/low</a:t>
                      </a:r>
                      <a:r>
                        <a:rPr kumimoji="1" lang="en-US" altLang="ja-JP" sz="900" baseline="0">
                          <a:solidFill>
                            <a:schemeClr val="tx1"/>
                          </a:solidFill>
                          <a:latin typeface="Meiryo UI"/>
                          <a:ea typeface="Meiryo UI"/>
                        </a:rPr>
                        <a:t> temp, high altitude cal DRB finished.</a:t>
                      </a:r>
                    </a:p>
                    <a:p>
                      <a:pPr algn="l"/>
                      <a:r>
                        <a:rPr kumimoji="1" lang="en-US" altLang="ja-JP" sz="900" baseline="0">
                          <a:solidFill>
                            <a:schemeClr val="tx1"/>
                          </a:solidFill>
                          <a:latin typeface="Meiryo UI"/>
                          <a:ea typeface="Meiryo UI"/>
                        </a:rPr>
                        <a:t>Nominal EM cal finished.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Toughness</a:t>
                      </a:r>
                      <a:r>
                        <a:rPr kumimoji="1" lang="en-US" altLang="ja-JP" sz="900" baseline="0">
                          <a:solidFill>
                            <a:schemeClr val="tx1"/>
                          </a:solidFill>
                          <a:latin typeface="Meiryo UI"/>
                          <a:ea typeface="Meiryo UI"/>
                        </a:rPr>
                        <a:t> condition cal of DRB</a:t>
                      </a:r>
                    </a:p>
                    <a:p>
                      <a:pPr algn="l"/>
                      <a:r>
                        <a:rPr kumimoji="1" lang="en-US" altLang="ja-JP" sz="900" baseline="0">
                          <a:solidFill>
                            <a:schemeClr val="tx1"/>
                          </a:solidFill>
                          <a:latin typeface="Meiryo UI"/>
                          <a:ea typeface="Meiryo UI"/>
                        </a:rPr>
                        <a:t>Toughness EM</a:t>
                      </a:r>
                    </a:p>
                    <a:p>
                      <a:pPr algn="l"/>
                      <a:r>
                        <a:rPr kumimoji="1" lang="en-US" altLang="ja-JP" sz="900" baseline="0">
                          <a:solidFill>
                            <a:schemeClr val="tx1"/>
                          </a:solidFill>
                          <a:latin typeface="Meiryo UI"/>
                          <a:ea typeface="Meiryo UI"/>
                        </a:rPr>
                        <a:t>Communication with other unit</a:t>
                      </a:r>
                      <a:endParaRPr kumimoji="1" lang="en-US" altLang="ja-JP" sz="900">
                        <a:solidFill>
                          <a:schemeClr val="tx1"/>
                        </a:solidFill>
                        <a:latin typeface="Meiryo UI"/>
                        <a:ea typeface="Meiryo UI"/>
                      </a:endParaRPr>
                    </a:p>
                    <a:p>
                      <a:pPr algn="l"/>
                      <a:r>
                        <a:rPr kumimoji="1" lang="en-US" altLang="ja-JP" sz="900">
                          <a:solidFill>
                            <a:schemeClr val="tx1"/>
                          </a:solidFill>
                          <a:latin typeface="Meiryo UI"/>
                          <a:ea typeface="Meiryo UI"/>
                        </a:rPr>
                        <a:t>OBD</a:t>
                      </a:r>
                      <a:r>
                        <a:rPr kumimoji="1" lang="en-US" altLang="ja-JP" sz="900" baseline="0">
                          <a:solidFill>
                            <a:schemeClr val="tx1"/>
                          </a:solidFill>
                          <a:latin typeface="Meiryo UI"/>
                          <a:ea typeface="Meiryo UI"/>
                        </a:rPr>
                        <a:t> Detectability</a:t>
                      </a:r>
                      <a:endParaRPr kumimoji="1" lang="en-US" altLang="ja-JP"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LET</a:t>
                      </a:r>
                    </a:p>
                    <a:p>
                      <a:pPr algn="l"/>
                      <a:r>
                        <a:rPr kumimoji="1" lang="en-US" altLang="ja-JP" sz="900">
                          <a:solidFill>
                            <a:schemeClr val="tx1"/>
                          </a:solidFill>
                          <a:latin typeface="Meiryo UI"/>
                          <a:ea typeface="Meiryo UI"/>
                        </a:rPr>
                        <a:t>OBD</a:t>
                      </a:r>
                      <a:r>
                        <a:rPr kumimoji="1" lang="ja-JP" altLang="en-US" sz="900" baseline="0">
                          <a:solidFill>
                            <a:schemeClr val="tx1"/>
                          </a:solidFill>
                          <a:latin typeface="Meiryo UI"/>
                          <a:ea typeface="Meiryo UI"/>
                        </a:rPr>
                        <a:t> </a:t>
                      </a:r>
                      <a:r>
                        <a:rPr kumimoji="1" lang="en-US" altLang="ja-JP" sz="900" baseline="0">
                          <a:solidFill>
                            <a:schemeClr val="tx1"/>
                          </a:solidFill>
                          <a:latin typeface="Meiryo UI"/>
                          <a:ea typeface="Meiryo UI"/>
                        </a:rPr>
                        <a:t>demo test and </a:t>
                      </a:r>
                      <a:r>
                        <a:rPr kumimoji="1" lang="en-US" altLang="ja-JP" sz="900">
                          <a:solidFill>
                            <a:schemeClr val="tx1"/>
                          </a:solidFill>
                          <a:latin typeface="Meiryo UI"/>
                          <a:ea typeface="Meiryo UI"/>
                        </a:rPr>
                        <a:t>IUMPR</a:t>
                      </a:r>
                    </a:p>
                    <a:p>
                      <a:pPr algn="l"/>
                      <a:endParaRPr kumimoji="1" lang="en-US" altLang="ja-JP" sz="900">
                        <a:solidFill>
                          <a:schemeClr val="tx1"/>
                        </a:solidFill>
                        <a:latin typeface="Meiryo UI"/>
                        <a:ea typeface="Meiryo UI"/>
                      </a:endParaRPr>
                    </a:p>
                    <a:p>
                      <a:pPr lvl="0" algn="l">
                        <a:lnSpc>
                          <a:spcPct val="100000"/>
                        </a:lnSpc>
                        <a:spcBef>
                          <a:spcPts val="0"/>
                        </a:spcBef>
                        <a:spcAft>
                          <a:spcPts val="0"/>
                        </a:spcAft>
                        <a:buNone/>
                      </a:pPr>
                      <a:r>
                        <a:rPr kumimoji="1" lang="en-US" altLang="ja-JP" sz="900" b="0" i="0" u="none" strike="noStrike" noProof="0">
                          <a:solidFill>
                            <a:schemeClr val="tx1"/>
                          </a:solidFill>
                          <a:latin typeface="Roboto"/>
                        </a:rPr>
                        <a:t>Expert verification for MP0 has been completed,</a:t>
                      </a:r>
                    </a:p>
                    <a:p>
                      <a:pPr lvl="0" algn="l">
                        <a:lnSpc>
                          <a:spcPct val="100000"/>
                        </a:lnSpc>
                        <a:spcBef>
                          <a:spcPts val="0"/>
                        </a:spcBef>
                        <a:spcAft>
                          <a:spcPts val="0"/>
                        </a:spcAft>
                        <a:buNone/>
                      </a:pPr>
                      <a:r>
                        <a:rPr kumimoji="1" lang="en-US" altLang="ja-JP" sz="900" b="0" i="0" u="none" strike="noStrike" noProof="0">
                          <a:solidFill>
                            <a:schemeClr val="tx1"/>
                          </a:solidFill>
                          <a:latin typeface="Roboto"/>
                        </a:rPr>
                        <a:t>Changing point calibration FIX.</a:t>
                      </a:r>
                    </a:p>
                    <a:p>
                      <a:pPr algn="l"/>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kumimoji="1" lang="en-US" altLang="ja-JP" sz="900" b="0" i="0" u="none" strike="noStrike" noProof="0">
                          <a:solidFill>
                            <a:schemeClr val="tx1"/>
                          </a:solidFill>
                          <a:latin typeface="Roboto"/>
                        </a:rPr>
                        <a:t>It can be provided as a mass-produced HEX for certification and commercial inspection verification.</a:t>
                      </a:r>
                    </a:p>
                    <a:p>
                      <a:pPr lvl="0" algn="l">
                        <a:lnSpc>
                          <a:spcPct val="100000"/>
                        </a:lnSpc>
                        <a:spcBef>
                          <a:spcPts val="0"/>
                        </a:spcBef>
                        <a:spcAft>
                          <a:spcPts val="0"/>
                        </a:spcAft>
                        <a:buNone/>
                      </a:pPr>
                      <a:r>
                        <a:rPr kumimoji="1" lang="en-US" altLang="ja-JP" sz="900" b="0" i="0" u="none" strike="noStrike" noProof="0">
                          <a:solidFill>
                            <a:schemeClr val="tx1"/>
                          </a:solidFill>
                          <a:latin typeface="Roboto"/>
                        </a:rPr>
                        <a:t>Torque monitor</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kumimoji="1" lang="en-US" sz="900" b="0" i="0" u="none" strike="noStrike" noProof="0">
                          <a:solidFill>
                            <a:schemeClr val="tx1"/>
                          </a:solidFill>
                          <a:latin typeface="Roboto"/>
                        </a:rPr>
                        <a:t>Expert verification for MP1 has been completed,</a:t>
                      </a:r>
                    </a:p>
                    <a:p>
                      <a:pPr lvl="0" algn="l">
                        <a:lnSpc>
                          <a:spcPct val="100000"/>
                        </a:lnSpc>
                        <a:spcBef>
                          <a:spcPts val="0"/>
                        </a:spcBef>
                        <a:spcAft>
                          <a:spcPts val="0"/>
                        </a:spcAft>
                        <a:buNone/>
                      </a:pPr>
                      <a:r>
                        <a:rPr kumimoji="1" lang="en-US" sz="900" b="0" i="0" u="none" strike="noStrike" noProof="0">
                          <a:solidFill>
                            <a:schemeClr val="tx1"/>
                          </a:solidFill>
                          <a:latin typeface="Roboto"/>
                        </a:rPr>
                        <a:t>Final fit data FIX.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a:solidFill>
                            <a:schemeClr val="tx1"/>
                          </a:solidFill>
                          <a:latin typeface="Meiryo UI"/>
                          <a:ea typeface="Meiryo UI"/>
                        </a:rPr>
                        <a:t>NA</a:t>
                      </a:r>
                      <a:endParaRPr kumimoji="1" lang="ja-JP" altLang="en-US" sz="9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25807535"/>
                  </a:ext>
                </a:extLst>
              </a:tr>
            </a:tbl>
          </a:graphicData>
        </a:graphic>
      </p:graphicFrame>
    </p:spTree>
    <p:extLst>
      <p:ext uri="{BB962C8B-B14F-4D97-AF65-F5344CB8AC3E}">
        <p14:creationId xmlns:p14="http://schemas.microsoft.com/office/powerpoint/2010/main" val="3136573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250829" y="630371"/>
            <a:ext cx="4238661" cy="458074"/>
          </a:xfrm>
          <a:prstGeom prst="rect">
            <a:avLst/>
          </a:prstGeom>
        </p:spPr>
        <p:txBody>
          <a:bodyPr wrap="none">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ja-JP" altLang="en-US"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標準的な</a:t>
            </a:r>
            <a:r>
              <a:rPr kumimoji="1" lang="en-US" altLang="ja-JP"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SW and cal </a:t>
            </a:r>
            <a:r>
              <a:rPr kumimoji="1" lang="ja-JP" altLang="en-US"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レベル</a:t>
            </a:r>
            <a:r>
              <a:rPr kumimoji="1" lang="en-US" altLang="ja-JP" sz="24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p>
        </p:txBody>
      </p:sp>
      <p:sp>
        <p:nvSpPr>
          <p:cNvPr id="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16. EMS Requirement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and</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CR (15/21)</a:t>
            </a:r>
          </a:p>
        </p:txBody>
      </p:sp>
      <p:graphicFrame>
        <p:nvGraphicFramePr>
          <p:cNvPr id="3" name="表 2">
            <a:extLst>
              <a:ext uri="{FF2B5EF4-FFF2-40B4-BE49-F238E27FC236}">
                <a16:creationId xmlns:a16="http://schemas.microsoft.com/office/drawing/2014/main" id="{3246D8E3-F3D8-EE66-FCC3-1BFD40E245E8}"/>
              </a:ext>
            </a:extLst>
          </p:cNvPr>
          <p:cNvGraphicFramePr>
            <a:graphicFrameLocks noGrp="1"/>
          </p:cNvGraphicFramePr>
          <p:nvPr>
            <p:extLst>
              <p:ext uri="{D42A27DB-BD31-4B8C-83A1-F6EECF244321}">
                <p14:modId xmlns:p14="http://schemas.microsoft.com/office/powerpoint/2010/main" val="2539005658"/>
              </p:ext>
            </p:extLst>
          </p:nvPr>
        </p:nvGraphicFramePr>
        <p:xfrm>
          <a:off x="137166" y="1367605"/>
          <a:ext cx="8893179" cy="3708763"/>
        </p:xfrm>
        <a:graphic>
          <a:graphicData uri="http://schemas.openxmlformats.org/drawingml/2006/table">
            <a:tbl>
              <a:tblPr firstRow="1" bandRow="1">
                <a:tableStyleId>{5C22544A-7EE6-4342-B048-85BDC9FD1C3A}</a:tableStyleId>
              </a:tblPr>
              <a:tblGrid>
                <a:gridCol w="988131">
                  <a:extLst>
                    <a:ext uri="{9D8B030D-6E8A-4147-A177-3AD203B41FA5}">
                      <a16:colId xmlns:a16="http://schemas.microsoft.com/office/drawing/2014/main" val="1030641763"/>
                    </a:ext>
                  </a:extLst>
                </a:gridCol>
                <a:gridCol w="988131">
                  <a:extLst>
                    <a:ext uri="{9D8B030D-6E8A-4147-A177-3AD203B41FA5}">
                      <a16:colId xmlns:a16="http://schemas.microsoft.com/office/drawing/2014/main" val="483999296"/>
                    </a:ext>
                  </a:extLst>
                </a:gridCol>
                <a:gridCol w="988131">
                  <a:extLst>
                    <a:ext uri="{9D8B030D-6E8A-4147-A177-3AD203B41FA5}">
                      <a16:colId xmlns:a16="http://schemas.microsoft.com/office/drawing/2014/main" val="1815889758"/>
                    </a:ext>
                  </a:extLst>
                </a:gridCol>
                <a:gridCol w="988131">
                  <a:extLst>
                    <a:ext uri="{9D8B030D-6E8A-4147-A177-3AD203B41FA5}">
                      <a16:colId xmlns:a16="http://schemas.microsoft.com/office/drawing/2014/main" val="1129391594"/>
                    </a:ext>
                  </a:extLst>
                </a:gridCol>
                <a:gridCol w="988131">
                  <a:extLst>
                    <a:ext uri="{9D8B030D-6E8A-4147-A177-3AD203B41FA5}">
                      <a16:colId xmlns:a16="http://schemas.microsoft.com/office/drawing/2014/main" val="1752205546"/>
                    </a:ext>
                  </a:extLst>
                </a:gridCol>
                <a:gridCol w="988131">
                  <a:extLst>
                    <a:ext uri="{9D8B030D-6E8A-4147-A177-3AD203B41FA5}">
                      <a16:colId xmlns:a16="http://schemas.microsoft.com/office/drawing/2014/main" val="4288285946"/>
                    </a:ext>
                  </a:extLst>
                </a:gridCol>
                <a:gridCol w="988131">
                  <a:extLst>
                    <a:ext uri="{9D8B030D-6E8A-4147-A177-3AD203B41FA5}">
                      <a16:colId xmlns:a16="http://schemas.microsoft.com/office/drawing/2014/main" val="1359889549"/>
                    </a:ext>
                  </a:extLst>
                </a:gridCol>
                <a:gridCol w="988131">
                  <a:extLst>
                    <a:ext uri="{9D8B030D-6E8A-4147-A177-3AD203B41FA5}">
                      <a16:colId xmlns:a16="http://schemas.microsoft.com/office/drawing/2014/main" val="1144184363"/>
                    </a:ext>
                  </a:extLst>
                </a:gridCol>
                <a:gridCol w="988131">
                  <a:extLst>
                    <a:ext uri="{9D8B030D-6E8A-4147-A177-3AD203B41FA5}">
                      <a16:colId xmlns:a16="http://schemas.microsoft.com/office/drawing/2014/main" val="2301566265"/>
                    </a:ext>
                  </a:extLst>
                </a:gridCol>
              </a:tblGrid>
              <a:tr h="214631">
                <a:tc>
                  <a:txBody>
                    <a:bodyPr/>
                    <a:lstStyle/>
                    <a:p>
                      <a:pPr algn="ctr"/>
                      <a:r>
                        <a:rPr kumimoji="1" lang="en-US" altLang="ja-JP" sz="1000">
                          <a:solidFill>
                            <a:schemeClr val="tx1"/>
                          </a:solidFill>
                          <a:latin typeface="Meiryo UI"/>
                          <a:ea typeface="Meiryo UI"/>
                        </a:rPr>
                        <a:t>Event</a:t>
                      </a:r>
                      <a:r>
                        <a:rPr kumimoji="1" lang="ja-JP" altLang="en-US" sz="1000">
                          <a:solidFill>
                            <a:schemeClr val="tx1"/>
                          </a:solidFill>
                          <a:latin typeface="Meiryo UI"/>
                          <a:ea typeface="Meiryo UI"/>
                        </a:rPr>
                        <a:t>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F1</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A00-1(F2)</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A00-2(V1)</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ja-JP" altLang="en-US" sz="1000">
                          <a:solidFill>
                            <a:schemeClr val="tx1"/>
                          </a:solidFill>
                          <a:latin typeface="Meiryo UI"/>
                          <a:ea typeface="Meiryo UI"/>
                        </a:rPr>
                        <a:t>設型</a:t>
                      </a:r>
                      <a:r>
                        <a:rPr kumimoji="1" lang="en-US" altLang="ja-JP" sz="1000">
                          <a:solidFill>
                            <a:schemeClr val="tx1"/>
                          </a:solidFill>
                          <a:latin typeface="Meiryo UI"/>
                          <a:ea typeface="Meiryo UI"/>
                        </a:rPr>
                        <a:t>GO(V2)</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1000">
                          <a:solidFill>
                            <a:schemeClr val="tx1"/>
                          </a:solidFill>
                          <a:latin typeface="Meiryo UI"/>
                          <a:ea typeface="Meiryo UI"/>
                        </a:rPr>
                        <a:t>MP0 DAN0</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chemeClr val="tx1"/>
                          </a:solidFill>
                          <a:latin typeface="Meiryo UI"/>
                          <a:ea typeface="Meiryo UI"/>
                          <a:cs typeface="Meiryo UI" pitchFamily="50" charset="-128"/>
                        </a:rPr>
                        <a:t>DAN</a:t>
                      </a:r>
                      <a:r>
                        <a:rPr kumimoji="1" lang="en-US" altLang="ja-JP" sz="1000">
                          <a:solidFill>
                            <a:schemeClr val="tx1"/>
                          </a:solidFill>
                          <a:latin typeface="Meiryo UI"/>
                          <a:ea typeface="Meiryo UI"/>
                        </a:rPr>
                        <a:t>(V3)</a:t>
                      </a:r>
                      <a:endParaRPr lang="ja-JP" altLang="en-US" sz="1000">
                        <a:solidFill>
                          <a:schemeClr val="tx1"/>
                        </a:solidFill>
                        <a:latin typeface="Meiryo UI"/>
                        <a:ea typeface="Meiryo UI"/>
                        <a:cs typeface="Meiryo UI"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000">
                          <a:solidFill>
                            <a:schemeClr val="tx1"/>
                          </a:solidFill>
                          <a:latin typeface="Meiryo UI"/>
                          <a:ea typeface="Meiryo UI"/>
                        </a:rPr>
                        <a:t>MP1</a:t>
                      </a:r>
                      <a:endParaRPr kumimoji="1" lang="ja-JP" altLang="en-US" sz="100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chemeClr val="tx1"/>
                          </a:solidFill>
                          <a:latin typeface="Meiryo UI"/>
                          <a:ea typeface="Meiryo UI"/>
                          <a:cs typeface="Meiryo UI" pitchFamily="50" charset="-128"/>
                        </a:rPr>
                        <a:t>HIN</a:t>
                      </a:r>
                      <a:endParaRPr lang="ja-JP" altLang="en-US" sz="1000">
                        <a:solidFill>
                          <a:schemeClr val="tx1"/>
                        </a:solidFill>
                        <a:latin typeface="Meiryo UI"/>
                        <a:ea typeface="Meiryo UI"/>
                        <a:cs typeface="Meiryo UI"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7139695"/>
                  </a:ext>
                </a:extLst>
              </a:tr>
              <a:tr h="754380">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要求ｼｽﾃﾑﾚﾍﾞﾙ</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en-US" altLang="ja-JP" sz="900" b="0">
                          <a:solidFill>
                            <a:schemeClr val="tx1"/>
                          </a:solidFill>
                          <a:latin typeface="Meiryo UI"/>
                          <a:ea typeface="Meiryo UI"/>
                        </a:rPr>
                        <a:t>Required</a:t>
                      </a:r>
                      <a:r>
                        <a:rPr lang="en-US" altLang="ja-JP" sz="900" b="0">
                          <a:solidFill>
                            <a:schemeClr val="tx1"/>
                          </a:solidFill>
                          <a:latin typeface="Meiryo UI"/>
                          <a:ea typeface="Meiryo UI"/>
                        </a:rPr>
                        <a:t>  </a:t>
                      </a:r>
                      <a:endParaRPr kumimoji="1" lang="en-US" altLang="ja-JP" sz="900" b="0">
                        <a:solidFill>
                          <a:schemeClr val="tx1"/>
                        </a:solidFill>
                        <a:latin typeface="Meiryo UI"/>
                        <a:ea typeface="Meiryo UI"/>
                      </a:endParaRPr>
                    </a:p>
                    <a:p>
                      <a:pPr algn="l"/>
                      <a:r>
                        <a:rPr kumimoji="1" lang="en-US" altLang="ja-JP" sz="900" b="0">
                          <a:solidFill>
                            <a:schemeClr val="tx1"/>
                          </a:solidFill>
                          <a:latin typeface="Meiryo UI"/>
                          <a:ea typeface="Meiryo UI"/>
                        </a:rPr>
                        <a:t>Total System</a:t>
                      </a:r>
                      <a:r>
                        <a:rPr lang="en-US" altLang="ja-JP" sz="900" b="0">
                          <a:solidFill>
                            <a:schemeClr val="tx1"/>
                          </a:solidFill>
                          <a:latin typeface="Meiryo UI"/>
                          <a:ea typeface="Meiryo UI"/>
                        </a:rPr>
                        <a:t> </a:t>
                      </a:r>
                      <a:endParaRPr kumimoji="1" lang="en-US" altLang="ja-JP" sz="900" b="0">
                        <a:solidFill>
                          <a:schemeClr val="tx1"/>
                        </a:solidFill>
                        <a:latin typeface="Meiryo UI"/>
                        <a:ea typeface="Meiryo UI"/>
                      </a:endParaRPr>
                    </a:p>
                    <a:p>
                      <a:pPr algn="l"/>
                      <a:r>
                        <a:rPr kumimoji="1" lang="en-US" altLang="ja-JP" sz="900" b="0">
                          <a:solidFill>
                            <a:schemeClr val="tx1"/>
                          </a:solidFill>
                          <a:latin typeface="Meiryo UI"/>
                          <a:ea typeface="Meiryo UI"/>
                        </a:rPr>
                        <a:t>Level</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u="none">
                          <a:solidFill>
                            <a:schemeClr val="tx1"/>
                          </a:solidFill>
                          <a:latin typeface="Meiryo UI"/>
                          <a:ea typeface="Meiryo UI"/>
                        </a:rPr>
                        <a:t>機種</a:t>
                      </a:r>
                      <a:r>
                        <a:rPr kumimoji="1" lang="en-US" altLang="ja-JP" sz="900" b="0" u="none">
                          <a:solidFill>
                            <a:schemeClr val="tx1"/>
                          </a:solidFill>
                          <a:latin typeface="Meiryo UI"/>
                          <a:ea typeface="Meiryo UI"/>
                        </a:rPr>
                        <a:t>,HW</a:t>
                      </a:r>
                      <a:r>
                        <a:rPr kumimoji="1" lang="ja-JP" altLang="en-US" sz="900" b="0" u="none">
                          <a:solidFill>
                            <a:schemeClr val="tx1"/>
                          </a:solidFill>
                          <a:latin typeface="Meiryo UI"/>
                          <a:ea typeface="Meiryo UI"/>
                        </a:rPr>
                        <a:t>からの要求から必要</a:t>
                      </a:r>
                      <a:endParaRPr kumimoji="1" lang="en-US" altLang="ja-JP" sz="900" b="0" u="none">
                        <a:solidFill>
                          <a:schemeClr val="tx1"/>
                        </a:solidFill>
                        <a:latin typeface="Meiryo UI"/>
                        <a:ea typeface="Meiryo UI"/>
                      </a:endParaRPr>
                    </a:p>
                    <a:p>
                      <a:pPr algn="l"/>
                      <a:r>
                        <a:rPr kumimoji="1" lang="ja-JP" altLang="en-US" sz="900" b="0" u="none">
                          <a:solidFill>
                            <a:schemeClr val="tx1"/>
                          </a:solidFill>
                          <a:latin typeface="Meiryo UI" panose="020B0604030504040204" pitchFamily="50" charset="-128"/>
                          <a:ea typeface="Meiryo UI" panose="020B0604030504040204" pitchFamily="50" charset="-128"/>
                        </a:rPr>
                        <a:t>制御仕様抽出</a:t>
                      </a:r>
                      <a:endParaRPr kumimoji="1" lang="en-US" altLang="ja-JP" sz="900" b="0" u="none">
                        <a:solidFill>
                          <a:schemeClr val="tx1"/>
                        </a:solidFill>
                        <a:latin typeface="Meiryo UI" panose="020B0604030504040204" pitchFamily="50" charset="-128"/>
                        <a:ea typeface="Meiryo UI" panose="020B0604030504040204" pitchFamily="50" charset="-128"/>
                      </a:endParaRPr>
                    </a:p>
                    <a:p>
                      <a:pPr algn="l"/>
                      <a:r>
                        <a:rPr kumimoji="1" lang="ja-JP" altLang="en-US" sz="900" b="0" u="none">
                          <a:solidFill>
                            <a:schemeClr val="tx1"/>
                          </a:solidFill>
                          <a:latin typeface="Meiryo UI"/>
                          <a:ea typeface="Meiryo UI"/>
                        </a:rPr>
                        <a:t>（</a:t>
                      </a:r>
                      <a:r>
                        <a:rPr kumimoji="1" lang="en-US" altLang="ja-JP" sz="900" b="0" u="none">
                          <a:solidFill>
                            <a:schemeClr val="tx1"/>
                          </a:solidFill>
                          <a:latin typeface="Meiryo UI"/>
                          <a:ea typeface="Meiryo UI"/>
                        </a:rPr>
                        <a:t>Honda</a:t>
                      </a:r>
                      <a:r>
                        <a:rPr kumimoji="1" lang="ja-JP" altLang="en-US" sz="900" b="0" u="none">
                          <a:solidFill>
                            <a:schemeClr val="tx1"/>
                          </a:solidFill>
                          <a:latin typeface="Meiryo UI"/>
                          <a:ea typeface="Meiryo UI"/>
                        </a:rPr>
                        <a:t>、</a:t>
                      </a:r>
                      <a:r>
                        <a:rPr lang="en-US" altLang="ja-JP" sz="900">
                          <a:solidFill>
                            <a:schemeClr val="tx1"/>
                          </a:solidFill>
                          <a:latin typeface="Meiryo UI"/>
                          <a:ea typeface="Meiryo UI"/>
                          <a:cs typeface="Arial"/>
                        </a:rPr>
                        <a:t>BOSCH</a:t>
                      </a:r>
                      <a:r>
                        <a:rPr lang="ja-JP" altLang="en-US" sz="900">
                          <a:solidFill>
                            <a:schemeClr val="tx1"/>
                          </a:solidFill>
                          <a:latin typeface="Meiryo UI"/>
                          <a:ea typeface="Meiryo UI"/>
                          <a:cs typeface="Arial"/>
                        </a:rPr>
                        <a:t> </a:t>
                      </a:r>
                      <a:r>
                        <a:rPr kumimoji="1" lang="ja-JP" altLang="en-US" sz="900" b="0" u="none">
                          <a:solidFill>
                            <a:schemeClr val="tx1"/>
                          </a:solidFill>
                          <a:latin typeface="Meiryo UI"/>
                          <a:ea typeface="Meiryo UI"/>
                        </a:rPr>
                        <a:t>）</a:t>
                      </a:r>
                      <a:endParaRPr kumimoji="1" lang="en-US" altLang="ja-JP" sz="900" b="0" u="none">
                        <a:solidFill>
                          <a:schemeClr val="tx1"/>
                        </a:solidFill>
                        <a:latin typeface="Meiryo UI"/>
                        <a:ea typeface="Meiryo UI"/>
                      </a:endParaRPr>
                    </a:p>
                    <a:p>
                      <a:pPr algn="l"/>
                      <a:endParaRPr kumimoji="1" lang="ja-JP" altLang="en-US" sz="900" b="0" u="none">
                        <a:solidFill>
                          <a:schemeClr val="tx1"/>
                        </a:solidFill>
                        <a:latin typeface="Meiryo UI" panose="020B0604030504040204" pitchFamily="50" charset="-128"/>
                        <a:ea typeface="Meiryo UI" panose="020B0604030504040204"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900" b="0" u="none">
                          <a:solidFill>
                            <a:schemeClr val="tx1"/>
                          </a:solidFill>
                          <a:latin typeface="Meiryo UI"/>
                          <a:ea typeface="Meiryo UI"/>
                          <a:cs typeface="Meiryo UI" pitchFamily="50" charset="-128"/>
                        </a:rPr>
                        <a:t>S/W</a:t>
                      </a:r>
                      <a:r>
                        <a:rPr lang="ja-JP" altLang="en-US" sz="900" b="0" u="none">
                          <a:solidFill>
                            <a:schemeClr val="tx1"/>
                          </a:solidFill>
                          <a:latin typeface="Meiryo UI"/>
                          <a:ea typeface="Meiryo UI"/>
                          <a:cs typeface="Meiryo UI" pitchFamily="50" charset="-128"/>
                        </a:rPr>
                        <a:t>開発項目が決定している事。</a:t>
                      </a:r>
                      <a:endParaRPr lang="en-US" altLang="ja-JP" sz="900" b="0" u="none">
                        <a:solidFill>
                          <a:schemeClr val="tx1"/>
                        </a:solidFill>
                        <a:latin typeface="Meiryo UI"/>
                        <a:ea typeface="Meiryo UI"/>
                        <a:cs typeface="Meiryo UI"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900" b="0" u="none">
                          <a:solidFill>
                            <a:schemeClr val="tx1"/>
                          </a:solidFill>
                          <a:latin typeface="Meiryo UI" pitchFamily="50" charset="-128"/>
                          <a:ea typeface="Meiryo UI" pitchFamily="50" charset="-128"/>
                          <a:cs typeface="Meiryo UI" pitchFamily="50" charset="-128"/>
                        </a:rPr>
                        <a:t>協調制御について成立性が証明されている事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u="none">
                          <a:solidFill>
                            <a:schemeClr val="tx1"/>
                          </a:solidFill>
                          <a:latin typeface="Meiryo UI" panose="020B0604030504040204" pitchFamily="50" charset="-128"/>
                          <a:ea typeface="Meiryo UI" panose="020B0604030504040204" pitchFamily="50" charset="-128"/>
                        </a:rPr>
                        <a:t>制御仕様の信頼性、妥当性が証明されている事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制御仕様完成</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panose="020B0604030504040204" pitchFamily="50" charset="-128"/>
                          <a:ea typeface="Meiryo UI" panose="020B0604030504040204" pitchFamily="50" charset="-128"/>
                        </a:rPr>
                        <a:t>仕様ﾌﾘｰｽﾞ</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認証用、耐久用</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車両製作に提供できる</a:t>
                      </a:r>
                      <a:r>
                        <a:rPr kumimoji="1" lang="en-US" altLang="ja-JP" sz="900" b="0">
                          <a:solidFill>
                            <a:schemeClr val="tx1"/>
                          </a:solidFill>
                          <a:latin typeface="Meiryo UI"/>
                          <a:ea typeface="Meiryo UI"/>
                        </a:rPr>
                        <a:t>ECU</a:t>
                      </a:r>
                      <a:r>
                        <a:rPr kumimoji="1" lang="ja-JP" altLang="en-US" sz="900" b="0">
                          <a:solidFill>
                            <a:schemeClr val="tx1"/>
                          </a:solidFill>
                          <a:latin typeface="Meiryo UI"/>
                          <a:ea typeface="Meiryo UI"/>
                        </a:rPr>
                        <a:t>レベルにある事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製作所生産ライン段取り確認</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en-US" altLang="ja-JP" sz="900" b="0">
                          <a:solidFill>
                            <a:schemeClr val="tx1"/>
                          </a:solidFill>
                          <a:latin typeface="Meiryo UI"/>
                          <a:ea typeface="Meiryo UI"/>
                        </a:rPr>
                        <a:t>MP0</a:t>
                      </a:r>
                      <a:r>
                        <a:rPr kumimoji="1" lang="ja-JP" altLang="en-US" sz="900" b="0">
                          <a:solidFill>
                            <a:schemeClr val="tx1"/>
                          </a:solidFill>
                          <a:latin typeface="Meiryo UI"/>
                          <a:ea typeface="Meiryo UI"/>
                        </a:rPr>
                        <a:t>適用</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開発完了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panose="020B0604030504040204" pitchFamily="50" charset="-128"/>
                          <a:ea typeface="Meiryo UI" panose="020B0604030504040204" pitchFamily="50" charset="-128"/>
                        </a:rPr>
                        <a:t>MP1</a:t>
                      </a:r>
                      <a:r>
                        <a:rPr kumimoji="1" lang="ja-JP" altLang="en-US" sz="900" b="0">
                          <a:solidFill>
                            <a:schemeClr val="tx1"/>
                          </a:solidFill>
                          <a:latin typeface="Meiryo UI" panose="020B0604030504040204" pitchFamily="50" charset="-128"/>
                          <a:ea typeface="Meiryo UI" panose="020B0604030504040204" pitchFamily="50" charset="-128"/>
                        </a:rPr>
                        <a:t>適用</a:t>
                      </a:r>
                      <a:endParaRPr kumimoji="1" lang="en-US" altLang="ja-JP" sz="900" b="0">
                        <a:solidFill>
                          <a:schemeClr val="tx1"/>
                        </a:solidFill>
                        <a:latin typeface="Meiryo UI" panose="020B0604030504040204" pitchFamily="50" charset="-128"/>
                        <a:ea typeface="Meiryo UI" panose="020B0604030504040204" pitchFamily="50" charset="-128"/>
                      </a:endParaRPr>
                    </a:p>
                    <a:p>
                      <a:pPr algn="l"/>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panose="020B0604030504040204" pitchFamily="50" charset="-128"/>
                          <a:ea typeface="Meiryo UI" panose="020B0604030504040204" pitchFamily="50" charset="-128"/>
                        </a:rPr>
                        <a:t>生産車両の</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panose="020B0604030504040204" pitchFamily="50" charset="-128"/>
                          <a:ea typeface="Meiryo UI" panose="020B0604030504040204" pitchFamily="50" charset="-128"/>
                        </a:rPr>
                        <a:t>品質確認</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560282"/>
                  </a:ext>
                </a:extLst>
              </a:tr>
              <a:tr h="676003">
                <a:tc>
                  <a:txBody>
                    <a:bodyPr/>
                    <a:lstStyle/>
                    <a:p>
                      <a:pPr algn="l"/>
                      <a:r>
                        <a:rPr kumimoji="1" lang="en-US" altLang="ja-JP" sz="900" b="0">
                          <a:solidFill>
                            <a:schemeClr val="tx1"/>
                          </a:solidFill>
                          <a:latin typeface="Meiryo UI"/>
                          <a:ea typeface="Meiryo UI"/>
                        </a:rPr>
                        <a:t>SW</a:t>
                      </a:r>
                      <a:r>
                        <a:rPr kumimoji="1" lang="ja-JP" altLang="en-US" sz="900" b="0">
                          <a:solidFill>
                            <a:schemeClr val="tx1"/>
                          </a:solidFill>
                          <a:latin typeface="Meiryo UI"/>
                          <a:ea typeface="Meiryo UI"/>
                        </a:rPr>
                        <a:t>要求仕様書</a:t>
                      </a:r>
                      <a:endParaRPr kumimoji="1" lang="en-US" altLang="ja-JP" sz="900" b="0">
                        <a:solidFill>
                          <a:schemeClr val="tx1"/>
                        </a:solidFill>
                        <a:latin typeface="Meiryo UI"/>
                        <a:ea typeface="Meiryo UI"/>
                      </a:endParaRPr>
                    </a:p>
                    <a:p>
                      <a:pPr algn="l"/>
                      <a:r>
                        <a:rPr kumimoji="1" lang="en-US" altLang="ja-JP" sz="900" b="0">
                          <a:solidFill>
                            <a:schemeClr val="tx1"/>
                          </a:solidFill>
                          <a:latin typeface="Meiryo UI"/>
                          <a:ea typeface="Meiryo UI"/>
                        </a:rPr>
                        <a:t>Change</a:t>
                      </a:r>
                      <a:r>
                        <a:rPr lang="en-US" altLang="ja-JP" sz="900" b="0">
                          <a:solidFill>
                            <a:schemeClr val="tx1"/>
                          </a:solidFill>
                          <a:latin typeface="Meiryo UI"/>
                          <a:ea typeface="Meiryo UI"/>
                        </a:rPr>
                        <a:t>   </a:t>
                      </a:r>
                      <a:endParaRPr kumimoji="1" lang="en-US" altLang="ja-JP" sz="900" b="0">
                        <a:solidFill>
                          <a:schemeClr val="tx1"/>
                        </a:solidFill>
                        <a:latin typeface="Meiryo UI"/>
                        <a:ea typeface="Meiryo UI"/>
                      </a:endParaRPr>
                    </a:p>
                    <a:p>
                      <a:pPr algn="l"/>
                      <a:r>
                        <a:rPr lang="en-US" altLang="ja-JP" sz="900" b="0">
                          <a:solidFill>
                            <a:schemeClr val="tx1"/>
                          </a:solidFill>
                          <a:latin typeface="Meiryo UI"/>
                          <a:ea typeface="Meiryo UI"/>
                        </a:rPr>
                        <a:t> </a:t>
                      </a:r>
                      <a:r>
                        <a:rPr kumimoji="1" lang="en-US" altLang="ja-JP" sz="900" b="0">
                          <a:solidFill>
                            <a:schemeClr val="tx1"/>
                          </a:solidFill>
                          <a:latin typeface="Meiryo UI"/>
                          <a:ea typeface="Meiryo UI"/>
                        </a:rPr>
                        <a:t> Requirement</a:t>
                      </a:r>
                    </a:p>
                    <a:p>
                      <a:pPr algn="l"/>
                      <a:r>
                        <a:rPr kumimoji="1" lang="en-US" altLang="ja-JP" sz="700" b="0">
                          <a:solidFill>
                            <a:schemeClr val="tx1"/>
                          </a:solidFill>
                          <a:latin typeface="Meiryo UI"/>
                          <a:ea typeface="Meiryo UI"/>
                        </a:rPr>
                        <a:t>(SW </a:t>
                      </a:r>
                      <a:r>
                        <a:rPr kumimoji="1" lang="en-US" altLang="ja-JP" sz="700" b="0" baseline="0">
                          <a:solidFill>
                            <a:schemeClr val="tx1"/>
                          </a:solidFill>
                          <a:latin typeface="Meiryo UI"/>
                          <a:ea typeface="Meiryo UI"/>
                        </a:rPr>
                        <a:t>specification)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base">
                        <a:spcBef>
                          <a:spcPct val="0"/>
                        </a:spcBef>
                        <a:spcAft>
                          <a:spcPct val="0"/>
                        </a:spcAft>
                      </a:pPr>
                      <a:r>
                        <a:rPr lang="en-US" altLang="ja-JP" sz="900" b="0" u="none">
                          <a:solidFill>
                            <a:schemeClr val="tx1"/>
                          </a:solidFill>
                          <a:latin typeface="Meiryo UI"/>
                          <a:ea typeface="Meiryo UI"/>
                        </a:rPr>
                        <a:t>F1</a:t>
                      </a:r>
                      <a:r>
                        <a:rPr lang="ja-JP" altLang="en-US" sz="900" b="0" u="none">
                          <a:solidFill>
                            <a:schemeClr val="tx1"/>
                          </a:solidFill>
                          <a:latin typeface="Meiryo UI"/>
                          <a:ea typeface="Meiryo UI"/>
                        </a:rPr>
                        <a:t>後製作ﾃｽﾄ車用基本走行用の仕様が発行されている事</a:t>
                      </a:r>
                      <a:endParaRPr lang="en-US" altLang="ja-JP" sz="900" b="0" u="none">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u="none">
                          <a:solidFill>
                            <a:schemeClr val="tx1"/>
                          </a:solidFill>
                          <a:latin typeface="Meiryo UI" panose="020B0604030504040204" pitchFamily="50" charset="-128"/>
                          <a:ea typeface="Meiryo UI" panose="020B0604030504040204" pitchFamily="50" charset="-128"/>
                        </a:rPr>
                        <a:t>他ユニットとの協調制御仕様書が完成している事</a:t>
                      </a:r>
                      <a:endParaRPr kumimoji="1" lang="en-US" altLang="ja-JP" sz="900" b="0" u="none">
                        <a:solidFill>
                          <a:schemeClr val="tx1"/>
                        </a:solidFill>
                        <a:latin typeface="Meiryo UI" panose="020B0604030504040204" pitchFamily="50" charset="-128"/>
                        <a:ea typeface="Meiryo UI" panose="020B0604030504040204" pitchFamily="50" charset="-128"/>
                      </a:endParaRPr>
                    </a:p>
                    <a:p>
                      <a:pPr algn="l"/>
                      <a:r>
                        <a:rPr kumimoji="1" lang="ja-JP" altLang="en-US" sz="900" b="0" u="none">
                          <a:solidFill>
                            <a:schemeClr val="tx1"/>
                          </a:solidFill>
                          <a:latin typeface="Meiryo UI"/>
                          <a:ea typeface="Meiryo UI"/>
                        </a:rPr>
                        <a:t>（</a:t>
                      </a:r>
                      <a:r>
                        <a:rPr kumimoji="1" lang="en-US" altLang="ja-JP" sz="900" b="0" u="none">
                          <a:solidFill>
                            <a:schemeClr val="tx1"/>
                          </a:solidFill>
                          <a:latin typeface="Meiryo UI"/>
                          <a:ea typeface="Meiryo UI"/>
                        </a:rPr>
                        <a:t>H</a:t>
                      </a:r>
                      <a:r>
                        <a:rPr kumimoji="1" lang="ja-JP" altLang="en-US" sz="900" b="0" u="none">
                          <a:solidFill>
                            <a:schemeClr val="tx1"/>
                          </a:solidFill>
                          <a:latin typeface="Meiryo UI"/>
                          <a:ea typeface="Meiryo UI"/>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u="none">
                          <a:solidFill>
                            <a:schemeClr val="tx1"/>
                          </a:solidFill>
                          <a:latin typeface="Meiryo UI"/>
                          <a:ea typeface="Meiryo UI"/>
                        </a:rPr>
                        <a:t>ENG</a:t>
                      </a:r>
                      <a:r>
                        <a:rPr kumimoji="1" lang="ja-JP" altLang="en-US" sz="900" b="0" u="none">
                          <a:solidFill>
                            <a:schemeClr val="tx1"/>
                          </a:solidFill>
                          <a:latin typeface="Meiryo UI"/>
                          <a:ea typeface="Meiryo UI"/>
                        </a:rPr>
                        <a:t>制御全仕様書が完成している事</a:t>
                      </a:r>
                      <a:endParaRPr kumimoji="1" lang="en-US" altLang="ja-JP" sz="900" b="0" u="none">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94406065"/>
                  </a:ext>
                </a:extLst>
              </a:tr>
              <a:tr h="754380">
                <a:tc>
                  <a:txBody>
                    <a:bodyPr/>
                    <a:lstStyle/>
                    <a:p>
                      <a:pPr algn="l"/>
                      <a:r>
                        <a:rPr kumimoji="1" lang="en-US" altLang="ja-JP" sz="900" b="0">
                          <a:solidFill>
                            <a:schemeClr val="tx1"/>
                          </a:solidFill>
                          <a:latin typeface="Meiryo UI"/>
                          <a:ea typeface="Meiryo UI"/>
                        </a:rPr>
                        <a:t>SW</a:t>
                      </a:r>
                      <a:r>
                        <a:rPr kumimoji="1" lang="ja-JP" altLang="en-US" sz="900" b="0">
                          <a:solidFill>
                            <a:schemeClr val="tx1"/>
                          </a:solidFill>
                          <a:latin typeface="Meiryo UI"/>
                          <a:ea typeface="Meiryo UI"/>
                        </a:rPr>
                        <a:t>リリース</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panose="020B0604030504040204" pitchFamily="50" charset="-128"/>
                          <a:ea typeface="Meiryo UI" panose="020B0604030504040204" pitchFamily="50" charset="-128"/>
                        </a:rPr>
                        <a:t>　レベル</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SW</a:t>
                      </a:r>
                      <a:r>
                        <a:rPr lang="ja-JP" altLang="en-US" sz="900" b="0">
                          <a:solidFill>
                            <a:schemeClr val="tx1"/>
                          </a:solidFill>
                          <a:latin typeface="Meiryo UI"/>
                          <a:ea typeface="Meiryo UI"/>
                        </a:rPr>
                        <a:t> </a:t>
                      </a:r>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release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u="none">
                          <a:solidFill>
                            <a:schemeClr val="tx1"/>
                          </a:solidFill>
                          <a:latin typeface="Meiryo UI"/>
                          <a:ea typeface="Meiryo UI"/>
                        </a:rPr>
                        <a:t>0X</a:t>
                      </a:r>
                      <a:r>
                        <a:rPr kumimoji="1" lang="ja-JP" altLang="en-US" sz="900" b="0" u="none">
                          <a:solidFill>
                            <a:schemeClr val="tx1"/>
                          </a:solidFill>
                          <a:latin typeface="Meiryo UI"/>
                          <a:ea typeface="Meiryo UI"/>
                        </a:rPr>
                        <a:t>ﾃｽﾄ車両の基本走行に支障が無く各ｶﾃ配車先でのﾃｽﾄが開始出来る事</a:t>
                      </a:r>
                      <a:endParaRPr kumimoji="1" lang="en-US" altLang="ja-JP" sz="900" b="0" u="none">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u="none">
                          <a:solidFill>
                            <a:schemeClr val="tx1"/>
                          </a:solidFill>
                          <a:latin typeface="Meiryo UI"/>
                          <a:ea typeface="Meiryo UI"/>
                        </a:rPr>
                        <a:t>NA</a:t>
                      </a:r>
                      <a:endParaRPr kumimoji="1" lang="ja-JP" altLang="en-US" sz="900" b="0" u="none">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ja-JP" altLang="en-US" sz="900" b="0" u="none">
                          <a:solidFill>
                            <a:schemeClr val="tx1"/>
                          </a:solidFill>
                          <a:latin typeface="Meiryo UI" panose="020B0604030504040204" pitchFamily="50" charset="-128"/>
                          <a:ea typeface="Meiryo UI" panose="020B0604030504040204" pitchFamily="50" charset="-128"/>
                        </a:rPr>
                        <a:t>他ユニット協調制御仕様実装完了</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a:ea typeface="Meiryo UI"/>
                        </a:rPr>
                        <a:t>全</a:t>
                      </a:r>
                      <a:r>
                        <a:rPr kumimoji="1" lang="en-US" altLang="ja-JP" sz="900" b="0">
                          <a:solidFill>
                            <a:schemeClr val="tx1"/>
                          </a:solidFill>
                          <a:latin typeface="Meiryo UI"/>
                          <a:ea typeface="Meiryo UI"/>
                        </a:rPr>
                        <a:t>SW</a:t>
                      </a:r>
                      <a:r>
                        <a:rPr kumimoji="1" lang="ja-JP" altLang="en-US" sz="900" b="0">
                          <a:solidFill>
                            <a:schemeClr val="tx1"/>
                          </a:solidFill>
                          <a:latin typeface="Meiryo UI"/>
                          <a:ea typeface="Meiryo UI"/>
                        </a:rPr>
                        <a:t>リリースが行われ　その実装検証、修正対応が完了している事</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a:solidFill>
                            <a:schemeClr val="tx1"/>
                          </a:solidFill>
                          <a:latin typeface="Meiryo UI"/>
                          <a:ea typeface="Meiryo UI"/>
                        </a:rPr>
                        <a:t>量産</a:t>
                      </a:r>
                      <a:r>
                        <a:rPr kumimoji="1" lang="en-US" altLang="ja-JP" sz="900" b="0">
                          <a:solidFill>
                            <a:schemeClr val="tx1"/>
                          </a:solidFill>
                          <a:latin typeface="Meiryo UI"/>
                          <a:ea typeface="Meiryo UI"/>
                        </a:rPr>
                        <a:t>MP1</a:t>
                      </a:r>
                      <a:r>
                        <a:rPr kumimoji="1" lang="ja-JP" altLang="en-US" sz="900" b="0">
                          <a:solidFill>
                            <a:schemeClr val="tx1"/>
                          </a:solidFill>
                          <a:latin typeface="Meiryo UI"/>
                          <a:ea typeface="Meiryo UI"/>
                        </a:rPr>
                        <a:t>用</a:t>
                      </a:r>
                      <a:r>
                        <a:rPr kumimoji="1" lang="en-US" altLang="ja-JP" sz="900" b="0">
                          <a:solidFill>
                            <a:schemeClr val="tx1"/>
                          </a:solidFill>
                          <a:latin typeface="Meiryo UI"/>
                          <a:ea typeface="Meiryo UI"/>
                        </a:rPr>
                        <a:t>SW</a:t>
                      </a:r>
                      <a:r>
                        <a:rPr kumimoji="1" lang="ja-JP" altLang="en-US" sz="900" b="0">
                          <a:solidFill>
                            <a:schemeClr val="tx1"/>
                          </a:solidFill>
                          <a:latin typeface="Meiryo UI"/>
                          <a:ea typeface="Meiryo UI"/>
                        </a:rPr>
                        <a:t>が完成している事</a:t>
                      </a:r>
                      <a:endParaRPr kumimoji="1" lang="en-US" altLang="ja-JP" sz="900" b="0">
                        <a:solidFill>
                          <a:schemeClr val="tx1"/>
                        </a:solidFill>
                        <a:latin typeface="Meiryo UI"/>
                        <a:ea typeface="Meiryo U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r>
                        <a:rPr kumimoji="1" lang="en-US" altLang="ja-JP" sz="900" b="0">
                          <a:solidFill>
                            <a:schemeClr val="tx1"/>
                          </a:solidFill>
                          <a:latin typeface="Meiryo UI"/>
                          <a:ea typeface="Meiryo UI"/>
                        </a:rPr>
                        <a:t>NA</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chemeClr val="tx1"/>
                          </a:solidFill>
                          <a:effectLst/>
                          <a:uLnTx/>
                          <a:uFillTx/>
                          <a:latin typeface="Meiryo UI"/>
                          <a:ea typeface="Meiryo UI"/>
                          <a:cs typeface="+mn-cs"/>
                        </a:rPr>
                        <a:t>NA</a:t>
                      </a:r>
                      <a:endParaRPr kumimoji="1" lang="ja-JP" altLang="en-US" sz="900" b="0" i="0" u="none" strike="noStrike" kern="1200" cap="none" spc="0" normalizeH="0" baseline="0" noProof="0">
                        <a:ln>
                          <a:noFill/>
                        </a:ln>
                        <a:solidFill>
                          <a:schemeClr val="tx1"/>
                        </a:solidFill>
                        <a:effectLst/>
                        <a:uLnTx/>
                        <a:uFillTx/>
                        <a:latin typeface="Meiryo UI"/>
                        <a:ea typeface="Meiryo UI"/>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32979196"/>
                  </a:ext>
                </a:extLst>
              </a:tr>
              <a:tr h="1028700">
                <a:tc>
                  <a:txBody>
                    <a:bodyPr/>
                    <a:lstStyle/>
                    <a:p>
                      <a:pPr algn="l"/>
                      <a:r>
                        <a:rPr kumimoji="1" lang="en-US" altLang="ja-JP" sz="900" b="0">
                          <a:solidFill>
                            <a:schemeClr val="tx1"/>
                          </a:solidFill>
                          <a:latin typeface="Meiryo UI"/>
                          <a:ea typeface="Meiryo UI"/>
                        </a:rPr>
                        <a:t>HEX</a:t>
                      </a:r>
                      <a:r>
                        <a:rPr kumimoji="1" lang="ja-JP" altLang="en-US" sz="900" b="0">
                          <a:solidFill>
                            <a:schemeClr val="tx1"/>
                          </a:solidFill>
                          <a:latin typeface="Meiryo UI"/>
                          <a:ea typeface="Meiryo UI"/>
                        </a:rPr>
                        <a:t>リリース</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panose="020B0604030504040204" pitchFamily="50" charset="-128"/>
                          <a:ea typeface="Meiryo UI" panose="020B0604030504040204" pitchFamily="50" charset="-128"/>
                        </a:rPr>
                        <a:t>　レベル</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a:t>
                      </a:r>
                      <a:r>
                        <a:rPr kumimoji="1" lang="en-US" altLang="ja-JP" sz="900" b="0">
                          <a:solidFill>
                            <a:schemeClr val="tx1"/>
                          </a:solidFill>
                          <a:latin typeface="Meiryo UI"/>
                          <a:ea typeface="Meiryo UI"/>
                        </a:rPr>
                        <a:t>Calib</a:t>
                      </a:r>
                      <a:r>
                        <a:rPr kumimoji="1" lang="ja-JP" altLang="en-US" sz="900" b="0">
                          <a:solidFill>
                            <a:schemeClr val="tx1"/>
                          </a:solidFill>
                          <a:latin typeface="Meiryo UI"/>
                          <a:ea typeface="Meiryo UI"/>
                        </a:rPr>
                        <a:t>適合ﾚﾍﾞﾙ</a:t>
                      </a:r>
                      <a:r>
                        <a:rPr kumimoji="1" lang="en-US" altLang="ja-JP" sz="900" b="0">
                          <a:solidFill>
                            <a:schemeClr val="tx1"/>
                          </a:solidFill>
                          <a:latin typeface="Meiryo UI"/>
                          <a:ea typeface="Meiryo UI"/>
                        </a:rPr>
                        <a:t>)</a:t>
                      </a:r>
                    </a:p>
                    <a:p>
                      <a:pPr algn="l"/>
                      <a:r>
                        <a:rPr kumimoji="1" lang="en-US" altLang="ja-JP" sz="900" b="0">
                          <a:solidFill>
                            <a:schemeClr val="tx1"/>
                          </a:solidFill>
                          <a:latin typeface="Meiryo UI"/>
                          <a:ea typeface="Meiryo UI"/>
                        </a:rPr>
                        <a:t>Hex</a:t>
                      </a:r>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Release</a:t>
                      </a:r>
                    </a:p>
                    <a:p>
                      <a:pPr marL="0" marR="0" indent="0" algn="l" rtl="0" eaLnBrk="1" fontAlgn="auto" latinLnBrk="0" hangingPunct="1">
                        <a:lnSpc>
                          <a:spcPct val="100000"/>
                        </a:lnSpc>
                        <a:spcBef>
                          <a:spcPts val="0"/>
                        </a:spcBef>
                        <a:spcAft>
                          <a:spcPts val="0"/>
                        </a:spcAft>
                        <a:buClrTx/>
                        <a:buSzTx/>
                        <a:buFontTx/>
                        <a:buNone/>
                      </a:pPr>
                      <a:r>
                        <a:rPr kumimoji="1" lang="ja-JP" altLang="en-US" sz="900" b="0">
                          <a:solidFill>
                            <a:schemeClr val="tx1"/>
                          </a:solidFill>
                          <a:latin typeface="Meiryo UI"/>
                          <a:ea typeface="Meiryo UI"/>
                        </a:rPr>
                        <a:t>（</a:t>
                      </a:r>
                      <a:r>
                        <a:rPr kumimoji="1" lang="en-US" altLang="ja-JP" sz="900" b="0">
                          <a:solidFill>
                            <a:schemeClr val="tx1"/>
                          </a:solidFill>
                          <a:latin typeface="Meiryo UI"/>
                          <a:ea typeface="Meiryo UI"/>
                        </a:rPr>
                        <a:t>with</a:t>
                      </a:r>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Calib)</a:t>
                      </a:r>
                      <a:r>
                        <a:rPr lang="ja-JP" altLang="en-US" sz="900" b="0">
                          <a:solidFill>
                            <a:schemeClr val="tx1"/>
                          </a:solidFill>
                          <a:latin typeface="Meiryo UI"/>
                          <a:ea typeface="Meiryo UI"/>
                        </a:rPr>
                        <a:t> </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BASE</a:t>
                      </a:r>
                      <a:r>
                        <a:rPr kumimoji="1" lang="ja-JP" altLang="en-US" sz="900" b="0">
                          <a:solidFill>
                            <a:schemeClr val="tx1"/>
                          </a:solidFill>
                          <a:latin typeface="Meiryo UI"/>
                          <a:ea typeface="Meiryo UI"/>
                        </a:rPr>
                        <a:t> </a:t>
                      </a:r>
                      <a:r>
                        <a:rPr kumimoji="1" lang="en-US" altLang="ja-JP" sz="900" b="0">
                          <a:solidFill>
                            <a:schemeClr val="tx1"/>
                          </a:solidFill>
                          <a:latin typeface="Meiryo UI"/>
                          <a:ea typeface="Meiryo UI"/>
                        </a:rPr>
                        <a:t>HEX</a:t>
                      </a:r>
                      <a:r>
                        <a:rPr kumimoji="1" lang="ja-JP" altLang="en-US" sz="900" b="0">
                          <a:solidFill>
                            <a:schemeClr val="tx1"/>
                          </a:solidFill>
                          <a:latin typeface="Meiryo UI"/>
                          <a:ea typeface="Meiryo UI"/>
                        </a:rPr>
                        <a:t>整合</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b="0">
                          <a:solidFill>
                            <a:schemeClr val="tx1"/>
                          </a:solidFill>
                          <a:latin typeface="Meiryo UI"/>
                          <a:ea typeface="Meiryo UI"/>
                        </a:rPr>
                        <a:t>ENG</a:t>
                      </a:r>
                      <a:r>
                        <a:rPr kumimoji="1" lang="ja-JP" altLang="en-US" sz="900" b="0">
                          <a:solidFill>
                            <a:schemeClr val="tx1"/>
                          </a:solidFill>
                          <a:latin typeface="Meiryo UI"/>
                          <a:ea typeface="Meiryo UI"/>
                        </a:rPr>
                        <a:t>が壊れず</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panose="020B0604030504040204" pitchFamily="50" charset="-128"/>
                          <a:ea typeface="Meiryo UI" panose="020B0604030504040204" pitchFamily="50" charset="-128"/>
                        </a:rPr>
                        <a:t>高速走行できる</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panose="020B0604030504040204" pitchFamily="50" charset="-128"/>
                          <a:ea typeface="Meiryo UI" panose="020B0604030504040204" pitchFamily="50" charset="-128"/>
                        </a:rPr>
                        <a:t>常温暖気後のベンチ適合</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常温暖気後の実車</a:t>
                      </a:r>
                      <a:r>
                        <a:rPr kumimoji="1" lang="en-US" altLang="ja-JP" sz="900" b="0">
                          <a:solidFill>
                            <a:schemeClr val="tx1"/>
                          </a:solidFill>
                          <a:latin typeface="Meiryo UI"/>
                          <a:ea typeface="Meiryo UI"/>
                        </a:rPr>
                        <a:t>DRB</a:t>
                      </a:r>
                    </a:p>
                    <a:p>
                      <a:pPr algn="l"/>
                      <a:endParaRPr kumimoji="1" lang="ja-JP" altLang="en-US" sz="900" b="0">
                        <a:solidFill>
                          <a:schemeClr val="tx1"/>
                        </a:solidFill>
                        <a:latin typeface="Meiryo UI" panose="020B0604030504040204" pitchFamily="50" charset="-128"/>
                        <a:ea typeface="Meiryo UI" panose="020B0604030504040204"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a:ea typeface="Meiryo UI"/>
                        </a:rPr>
                        <a:t>環境</a:t>
                      </a:r>
                      <a:r>
                        <a:rPr kumimoji="1" lang="en-US" altLang="ja-JP" sz="900" b="0">
                          <a:solidFill>
                            <a:schemeClr val="tx1"/>
                          </a:solidFill>
                          <a:latin typeface="Meiryo UI"/>
                          <a:ea typeface="Meiryo UI"/>
                        </a:rPr>
                        <a:t>(</a:t>
                      </a:r>
                      <a:r>
                        <a:rPr kumimoji="1" lang="ja-JP" altLang="en-US" sz="900" b="0">
                          <a:solidFill>
                            <a:schemeClr val="tx1"/>
                          </a:solidFill>
                          <a:latin typeface="Meiryo UI"/>
                          <a:ea typeface="Meiryo UI"/>
                        </a:rPr>
                        <a:t>高温・低温・高地</a:t>
                      </a:r>
                      <a:r>
                        <a:rPr kumimoji="1" lang="en-US" altLang="ja-JP" sz="900" b="0">
                          <a:solidFill>
                            <a:schemeClr val="tx1"/>
                          </a:solidFill>
                          <a:latin typeface="Meiryo UI"/>
                          <a:ea typeface="Meiryo UI"/>
                        </a:rPr>
                        <a:t>)</a:t>
                      </a:r>
                      <a:r>
                        <a:rPr kumimoji="1" lang="ja-JP" altLang="en-US" sz="900" b="0">
                          <a:solidFill>
                            <a:schemeClr val="tx1"/>
                          </a:solidFill>
                          <a:latin typeface="Meiryo UI"/>
                          <a:ea typeface="Meiryo UI"/>
                        </a:rPr>
                        <a:t>の実車</a:t>
                      </a:r>
                      <a:r>
                        <a:rPr kumimoji="1" lang="en-US" altLang="ja-JP" sz="900" b="0">
                          <a:solidFill>
                            <a:schemeClr val="tx1"/>
                          </a:solidFill>
                          <a:latin typeface="Meiryo UI"/>
                          <a:ea typeface="Meiryo UI"/>
                        </a:rPr>
                        <a:t>DRB</a:t>
                      </a:r>
                      <a:r>
                        <a:rPr kumimoji="1" lang="ja-JP" altLang="en-US" sz="900" b="0">
                          <a:solidFill>
                            <a:schemeClr val="tx1"/>
                          </a:solidFill>
                          <a:latin typeface="Meiryo UI"/>
                          <a:ea typeface="Meiryo UI"/>
                        </a:rPr>
                        <a:t>適合</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a:ea typeface="Meiryo UI"/>
                        </a:rPr>
                        <a:t>中央</a:t>
                      </a:r>
                      <a:r>
                        <a:rPr kumimoji="1" lang="en-US" altLang="ja-JP" sz="900" b="0">
                          <a:solidFill>
                            <a:schemeClr val="tx1"/>
                          </a:solidFill>
                          <a:latin typeface="Meiryo UI"/>
                          <a:ea typeface="Meiryo UI"/>
                        </a:rPr>
                        <a:t>EM</a:t>
                      </a:r>
                    </a:p>
                    <a:p>
                      <a:pPr algn="l"/>
                      <a:r>
                        <a:rPr kumimoji="1" lang="ja-JP" altLang="en-US" sz="900" b="0">
                          <a:solidFill>
                            <a:schemeClr val="tx1"/>
                          </a:solidFill>
                          <a:latin typeface="Meiryo UI" panose="020B0604030504040204" pitchFamily="50" charset="-128"/>
                          <a:ea typeface="Meiryo UI" panose="020B0604030504040204" pitchFamily="50" charset="-128"/>
                        </a:rPr>
                        <a:t>全開性能、排気系保護</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panose="020B0604030504040204" pitchFamily="50" charset="-128"/>
                          <a:ea typeface="Meiryo UI" panose="020B0604030504040204" pitchFamily="50" charset="-128"/>
                        </a:rPr>
                        <a:t>タフネス適合</a:t>
                      </a:r>
                      <a:endParaRPr kumimoji="1" lang="en-US" altLang="ja-JP" sz="900" b="0">
                        <a:solidFill>
                          <a:schemeClr val="tx1"/>
                        </a:solidFill>
                        <a:latin typeface="Meiryo UI" panose="020B0604030504040204" pitchFamily="50" charset="-128"/>
                        <a:ea typeface="Meiryo UI" panose="020B0604030504040204" pitchFamily="50" charset="-128"/>
                      </a:endParaRPr>
                    </a:p>
                    <a:p>
                      <a:pPr algn="l"/>
                      <a:r>
                        <a:rPr kumimoji="1" lang="ja-JP" altLang="en-US" sz="900" b="0">
                          <a:solidFill>
                            <a:schemeClr val="tx1"/>
                          </a:solidFill>
                          <a:latin typeface="Meiryo UI"/>
                          <a:ea typeface="Meiryo UI"/>
                        </a:rPr>
                        <a:t>全領域の</a:t>
                      </a:r>
                      <a:r>
                        <a:rPr kumimoji="1" lang="en-US" altLang="ja-JP" sz="900" b="0">
                          <a:solidFill>
                            <a:schemeClr val="tx1"/>
                          </a:solidFill>
                          <a:latin typeface="Meiryo UI"/>
                          <a:ea typeface="Meiryo UI"/>
                        </a:rPr>
                        <a:t>DRB</a:t>
                      </a:r>
                      <a:r>
                        <a:rPr kumimoji="1" lang="ja-JP" altLang="en-US" sz="900" b="0">
                          <a:solidFill>
                            <a:schemeClr val="tx1"/>
                          </a:solidFill>
                          <a:latin typeface="Meiryo UI"/>
                          <a:ea typeface="Meiryo UI"/>
                        </a:rPr>
                        <a:t>適合</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a:ea typeface="Meiryo UI"/>
                        </a:rPr>
                        <a:t>車体</a:t>
                      </a:r>
                      <a:r>
                        <a:rPr kumimoji="1" lang="en-US" altLang="ja-JP" sz="900" b="0">
                          <a:solidFill>
                            <a:schemeClr val="tx1"/>
                          </a:solidFill>
                          <a:latin typeface="Meiryo UI"/>
                          <a:ea typeface="Meiryo UI"/>
                        </a:rPr>
                        <a:t>UNIT</a:t>
                      </a:r>
                      <a:r>
                        <a:rPr kumimoji="1" lang="ja-JP" altLang="en-US" sz="900" b="0">
                          <a:solidFill>
                            <a:schemeClr val="tx1"/>
                          </a:solidFill>
                          <a:latin typeface="Meiryo UI"/>
                          <a:ea typeface="Meiryo UI"/>
                        </a:rPr>
                        <a:t>連携確認</a:t>
                      </a:r>
                      <a:endParaRPr kumimoji="1" lang="en-US" altLang="ja-JP" sz="900" b="0">
                        <a:solidFill>
                          <a:schemeClr val="tx1"/>
                        </a:solidFill>
                        <a:latin typeface="Meiryo UI"/>
                        <a:ea typeface="Meiryo UI"/>
                      </a:endParaRPr>
                    </a:p>
                    <a:p>
                      <a:pPr algn="l"/>
                      <a:r>
                        <a:rPr kumimoji="1" lang="ja-JP" altLang="en-US" sz="900" b="0">
                          <a:solidFill>
                            <a:schemeClr val="tx1"/>
                          </a:solidFill>
                          <a:latin typeface="Meiryo UI"/>
                          <a:ea typeface="Meiryo UI"/>
                        </a:rPr>
                        <a:t>タフネス</a:t>
                      </a:r>
                      <a:r>
                        <a:rPr kumimoji="1" lang="en-US" altLang="ja-JP" sz="900" b="0">
                          <a:solidFill>
                            <a:schemeClr val="tx1"/>
                          </a:solidFill>
                          <a:latin typeface="Meiryo UI"/>
                          <a:ea typeface="Meiryo UI"/>
                        </a:rPr>
                        <a:t>EM</a:t>
                      </a:r>
                    </a:p>
                    <a:p>
                      <a:pPr algn="l"/>
                      <a:r>
                        <a:rPr kumimoji="1" lang="en-US" altLang="ja-JP" sz="900" b="0">
                          <a:solidFill>
                            <a:schemeClr val="tx1"/>
                          </a:solidFill>
                          <a:latin typeface="Meiryo UI"/>
                          <a:ea typeface="Meiryo UI"/>
                        </a:rPr>
                        <a:t>OBD</a:t>
                      </a:r>
                      <a:r>
                        <a:rPr kumimoji="1" lang="ja-JP" altLang="en-US" sz="900" b="0">
                          <a:solidFill>
                            <a:schemeClr val="tx1"/>
                          </a:solidFill>
                          <a:latin typeface="Meiryo UI"/>
                          <a:ea typeface="Meiryo UI"/>
                        </a:rPr>
                        <a:t>検知性</a:t>
                      </a:r>
                      <a:endParaRPr kumimoji="1" lang="en-US" altLang="ja-JP"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900" b="0">
                          <a:solidFill>
                            <a:schemeClr val="tx1"/>
                          </a:solidFill>
                          <a:latin typeface="Meiryo UI"/>
                          <a:ea typeface="Meiryo UI"/>
                        </a:rPr>
                        <a:t>完検</a:t>
                      </a:r>
                      <a:r>
                        <a:rPr kumimoji="1" lang="en-US" altLang="ja-JP" sz="900" b="0">
                          <a:solidFill>
                            <a:schemeClr val="tx1"/>
                          </a:solidFill>
                          <a:latin typeface="Meiryo UI"/>
                          <a:ea typeface="Meiryo UI"/>
                        </a:rPr>
                        <a:t>LET</a:t>
                      </a:r>
                    </a:p>
                    <a:p>
                      <a:pPr algn="l"/>
                      <a:r>
                        <a:rPr kumimoji="1" lang="en-US" altLang="ja-JP" sz="900" b="0">
                          <a:solidFill>
                            <a:schemeClr val="tx1"/>
                          </a:solidFill>
                          <a:latin typeface="Meiryo UI"/>
                          <a:ea typeface="Meiryo UI"/>
                        </a:rPr>
                        <a:t>OBD</a:t>
                      </a:r>
                      <a:r>
                        <a:rPr kumimoji="1" lang="ja-JP" altLang="en-US" sz="900" b="0">
                          <a:solidFill>
                            <a:schemeClr val="tx1"/>
                          </a:solidFill>
                          <a:latin typeface="Meiryo UI"/>
                          <a:ea typeface="Meiryo UI"/>
                        </a:rPr>
                        <a:t>デモテスト、</a:t>
                      </a:r>
                      <a:r>
                        <a:rPr kumimoji="1" lang="en-US" altLang="ja-JP" sz="900" b="0">
                          <a:solidFill>
                            <a:schemeClr val="tx1"/>
                          </a:solidFill>
                          <a:latin typeface="Meiryo UI"/>
                          <a:ea typeface="Meiryo UI"/>
                        </a:rPr>
                        <a:t>IUMPR</a:t>
                      </a:r>
                    </a:p>
                    <a:p>
                      <a:pPr algn="l"/>
                      <a:endParaRPr kumimoji="1" lang="en-US" altLang="ja-JP" sz="900" b="0">
                        <a:solidFill>
                          <a:schemeClr val="tx1"/>
                        </a:solidFill>
                        <a:latin typeface="Meiryo UI"/>
                        <a:ea typeface="Meiryo UI"/>
                      </a:endParaRPr>
                    </a:p>
                    <a:p>
                      <a:pPr lvl="0" algn="l">
                        <a:lnSpc>
                          <a:spcPct val="100000"/>
                        </a:lnSpc>
                        <a:spcBef>
                          <a:spcPts val="0"/>
                        </a:spcBef>
                        <a:spcAft>
                          <a:spcPts val="0"/>
                        </a:spcAft>
                        <a:buNone/>
                      </a:pPr>
                      <a:r>
                        <a:rPr lang="ja-JP" altLang="ja-JP" sz="900" b="0" i="0" u="none" strike="noStrike" noProof="0">
                          <a:solidFill>
                            <a:schemeClr val="tx1"/>
                          </a:solidFill>
                          <a:latin typeface="Meiryo UI"/>
                          <a:ea typeface="Meiryo UI"/>
                        </a:rPr>
                        <a:t>MP</a:t>
                      </a:r>
                      <a:r>
                        <a:rPr lang="en-US" altLang="ja-JP" sz="900" b="0" i="0" u="none" strike="noStrike" noProof="0">
                          <a:solidFill>
                            <a:schemeClr val="tx1"/>
                          </a:solidFill>
                          <a:latin typeface="Meiryo UI"/>
                          <a:ea typeface="Meiryo UI"/>
                        </a:rPr>
                        <a:t>0</a:t>
                      </a:r>
                      <a:r>
                        <a:rPr lang="ja-JP" altLang="ja-JP" sz="900" b="0" i="0" u="none" strike="noStrike" noProof="0">
                          <a:solidFill>
                            <a:schemeClr val="tx1"/>
                          </a:solidFill>
                          <a:latin typeface="Meiryo UI"/>
                          <a:ea typeface="Meiryo UI"/>
                        </a:rPr>
                        <a:t>用</a:t>
                      </a:r>
                      <a:r>
                        <a:rPr kumimoji="1" lang="ja-JP" altLang="ja-JP" sz="900" b="0" i="0" u="none" strike="noStrike" noProof="0">
                          <a:solidFill>
                            <a:schemeClr val="tx1"/>
                          </a:solidFill>
                          <a:latin typeface="Meiryo UI"/>
                          <a:ea typeface="Meiryo UI"/>
                        </a:rPr>
                        <a:t>ｴｷｽﾊﾟｰﾄ検証</a:t>
                      </a:r>
                      <a:r>
                        <a:rPr lang="ja-JP" altLang="ja-JP" sz="900" b="0" i="0" u="none" strike="noStrike" noProof="0">
                          <a:solidFill>
                            <a:schemeClr val="tx1"/>
                          </a:solidFill>
                          <a:latin typeface="Meiryo UI"/>
                          <a:ea typeface="Meiryo UI"/>
                        </a:rPr>
                        <a:t>が完了し、</a:t>
                      </a:r>
                      <a:endParaRPr kumimoji="1" lang="ja-JP" altLang="en-US" sz="900">
                        <a:solidFill>
                          <a:schemeClr val="tx1"/>
                        </a:solidFill>
                      </a:endParaRPr>
                    </a:p>
                    <a:p>
                      <a:pPr lvl="0" algn="l">
                        <a:lnSpc>
                          <a:spcPct val="100000"/>
                        </a:lnSpc>
                        <a:spcBef>
                          <a:spcPts val="0"/>
                        </a:spcBef>
                        <a:spcAft>
                          <a:spcPts val="0"/>
                        </a:spcAft>
                        <a:buNone/>
                      </a:pPr>
                      <a:r>
                        <a:rPr kumimoji="1" lang="ja-JP" altLang="en-US" sz="900" b="0" i="0" u="none" strike="noStrike" noProof="0">
                          <a:solidFill>
                            <a:schemeClr val="tx1"/>
                          </a:solidFill>
                          <a:latin typeface="Meiryo UI"/>
                          <a:ea typeface="Meiryo UI"/>
                        </a:rPr>
                        <a:t>変化点</a:t>
                      </a:r>
                      <a:r>
                        <a:rPr kumimoji="1" lang="ja-JP" altLang="ja-JP" sz="900" b="0" i="0" u="none" strike="noStrike" noProof="0">
                          <a:solidFill>
                            <a:schemeClr val="tx1"/>
                          </a:solidFill>
                          <a:latin typeface="Meiryo UI"/>
                          <a:ea typeface="Meiryo UI"/>
                        </a:rPr>
                        <a:t>適合ﾃﾞｰﾀ</a:t>
                      </a:r>
                      <a:r>
                        <a:rPr lang="en-US" altLang="ja-JP" sz="900" b="0" i="0" u="none" strike="noStrike" noProof="0">
                          <a:solidFill>
                            <a:schemeClr val="tx1"/>
                          </a:solidFill>
                          <a:latin typeface="Meiryo UI"/>
                          <a:ea typeface="Meiryo UI"/>
                        </a:rPr>
                        <a:t>FIX</a:t>
                      </a:r>
                      <a:r>
                        <a:rPr lang="ja-JP" altLang="en-US" sz="900" b="0" i="0" u="none" strike="noStrike" noProof="0">
                          <a:solidFill>
                            <a:schemeClr val="tx1"/>
                          </a:solidFill>
                          <a:latin typeface="Meiryo UI"/>
                          <a:ea typeface="Meiryo UI"/>
                        </a:rPr>
                        <a:t>。</a:t>
                      </a:r>
                      <a:endParaRPr kumimoji="1" lang="en-US" altLang="ja-JP" sz="90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kumimoji="1" lang="ja-JP" altLang="ja-JP" sz="900" b="0" i="0" u="none" strike="noStrike" noProof="0">
                          <a:solidFill>
                            <a:schemeClr val="tx1"/>
                          </a:solidFill>
                          <a:latin typeface="Meiryo UI" panose="020B0604030504040204" pitchFamily="50" charset="-128"/>
                          <a:ea typeface="Meiryo UI" panose="020B0604030504040204" pitchFamily="50" charset="-128"/>
                        </a:rPr>
                        <a:t>認</a:t>
                      </a:r>
                      <a:r>
                        <a:rPr lang="ja-JP" altLang="ja-JP" sz="900" b="0" i="0" u="none" strike="noStrike" noProof="0">
                          <a:solidFill>
                            <a:schemeClr val="tx1"/>
                          </a:solidFill>
                          <a:latin typeface="Meiryo UI" panose="020B0604030504040204" pitchFamily="50" charset="-128"/>
                          <a:ea typeface="Meiryo UI" panose="020B0604030504040204" pitchFamily="50" charset="-128"/>
                        </a:rPr>
                        <a:t>定、商検検証へ量産HEXとして提供可能な事。</a:t>
                      </a:r>
                      <a:endParaRPr kumimoji="1" lang="en-US" altLang="ja-JP" sz="900">
                        <a:solidFill>
                          <a:schemeClr val="tx1"/>
                        </a:solidFill>
                        <a:latin typeface="Meiryo UI" panose="020B0604030504040204" pitchFamily="50" charset="-128"/>
                        <a:ea typeface="Meiryo UI" panose="020B0604030504040204" pitchFamily="50" charset="-128"/>
                      </a:endParaRPr>
                    </a:p>
                    <a:p>
                      <a:pPr lvl="0" algn="l">
                        <a:lnSpc>
                          <a:spcPct val="100000"/>
                        </a:lnSpc>
                        <a:spcBef>
                          <a:spcPts val="0"/>
                        </a:spcBef>
                        <a:spcAft>
                          <a:spcPts val="0"/>
                        </a:spcAft>
                        <a:buNone/>
                      </a:pPr>
                      <a:r>
                        <a:rPr kumimoji="1" lang="ja-JP" altLang="ja-JP" sz="900" b="0" i="0" u="none" strike="noStrike" noProof="0">
                          <a:solidFill>
                            <a:schemeClr val="tx1"/>
                          </a:solidFill>
                          <a:latin typeface="Meiryo UI" panose="020B0604030504040204" pitchFamily="50" charset="-128"/>
                          <a:ea typeface="Meiryo UI" panose="020B0604030504040204" pitchFamily="50" charset="-128"/>
                        </a:rPr>
                        <a:t>トルクモニター</a:t>
                      </a:r>
                      <a:endParaRPr lang="ja-JP" altLang="ja-JP" sz="900" i="0" u="none" strike="noStrike" noProof="0">
                        <a:solidFill>
                          <a:schemeClr val="tx1"/>
                        </a:solidFill>
                        <a:latin typeface="Meiryo UI" panose="020B0604030504040204" pitchFamily="50" charset="-128"/>
                        <a:ea typeface="Meiryo UI" panose="020B0604030504040204" pitchFamily="50" charset="-128"/>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ja-JP" sz="900" b="0" i="0" u="none" strike="noStrike" noProof="0">
                          <a:solidFill>
                            <a:schemeClr val="tx1"/>
                          </a:solidFill>
                          <a:latin typeface="Meiryo UI"/>
                          <a:ea typeface="Meiryo UI"/>
                        </a:rPr>
                        <a:t>MP1用</a:t>
                      </a:r>
                      <a:r>
                        <a:rPr kumimoji="1" lang="ja-JP" sz="900" b="0" i="0" u="none" strike="noStrike" noProof="0">
                          <a:solidFill>
                            <a:schemeClr val="tx1"/>
                          </a:solidFill>
                          <a:latin typeface="Meiryo UI"/>
                          <a:ea typeface="Meiryo UI"/>
                        </a:rPr>
                        <a:t>ｴｷｽﾊﾟｰﾄ検証</a:t>
                      </a:r>
                      <a:r>
                        <a:rPr lang="ja-JP" sz="900" b="0" i="0" u="none" strike="noStrike" noProof="0">
                          <a:solidFill>
                            <a:schemeClr val="tx1"/>
                          </a:solidFill>
                          <a:latin typeface="Meiryo UI"/>
                          <a:ea typeface="Meiryo UI"/>
                        </a:rPr>
                        <a:t>が完了し、</a:t>
                      </a:r>
                      <a:endParaRPr kumimoji="1" lang="ja-JP" altLang="en-US">
                        <a:solidFill>
                          <a:schemeClr val="tx1"/>
                        </a:solidFill>
                      </a:endParaRPr>
                    </a:p>
                    <a:p>
                      <a:pPr lvl="0" algn="l">
                        <a:lnSpc>
                          <a:spcPct val="100000"/>
                        </a:lnSpc>
                        <a:spcBef>
                          <a:spcPts val="0"/>
                        </a:spcBef>
                        <a:spcAft>
                          <a:spcPts val="0"/>
                        </a:spcAft>
                        <a:buNone/>
                      </a:pPr>
                      <a:r>
                        <a:rPr kumimoji="1" lang="ja-JP" sz="900" b="0" i="0" u="none" strike="noStrike" noProof="0">
                          <a:solidFill>
                            <a:schemeClr val="tx1"/>
                          </a:solidFill>
                          <a:latin typeface="Meiryo UI"/>
                          <a:ea typeface="Meiryo UI"/>
                        </a:rPr>
                        <a:t>最終適合ﾃﾞｰﾀ</a:t>
                      </a:r>
                      <a:r>
                        <a:rPr lang="en-US" altLang="ja-JP" sz="900" b="0" i="0" u="none" strike="noStrike" noProof="0">
                          <a:solidFill>
                            <a:schemeClr val="tx1"/>
                          </a:solidFill>
                          <a:latin typeface="Meiryo UI"/>
                          <a:ea typeface="Meiryo UI"/>
                        </a:rPr>
                        <a:t>FIX</a:t>
                      </a:r>
                      <a:r>
                        <a:rPr lang="ja-JP" altLang="en-US" sz="900" b="0" i="0" u="none" strike="noStrike" noProof="0">
                          <a:solidFill>
                            <a:schemeClr val="tx1"/>
                          </a:solidFill>
                          <a:latin typeface="Meiryo UI"/>
                          <a:ea typeface="Meiryo UI"/>
                        </a:rPr>
                        <a:t>。</a:t>
                      </a:r>
                      <a:endParaRPr kumimoji="1" lang="en-US">
                        <a:solidFill>
                          <a:schemeClr val="tx1"/>
                        </a:solidFill>
                      </a:endParaRPr>
                    </a:p>
                    <a:p>
                      <a:pPr lvl="0" algn="l">
                        <a:buNone/>
                      </a:pP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0">
                          <a:solidFill>
                            <a:schemeClr val="tx1"/>
                          </a:solidFill>
                          <a:latin typeface="Meiryo UI"/>
                          <a:ea typeface="Meiryo UI"/>
                        </a:rPr>
                        <a:t>NA</a:t>
                      </a:r>
                      <a:endParaRPr kumimoji="1" lang="ja-JP" altLang="en-US" sz="900" b="0">
                        <a:solidFill>
                          <a:schemeClr val="tx1"/>
                        </a:solidFill>
                        <a:latin typeface="Meiryo UI"/>
                        <a:ea typeface="Meiryo UI"/>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25807535"/>
                  </a:ext>
                </a:extLst>
              </a:tr>
            </a:tbl>
          </a:graphicData>
        </a:graphic>
      </p:graphicFrame>
    </p:spTree>
    <p:extLst>
      <p:ext uri="{BB962C8B-B14F-4D97-AF65-F5344CB8AC3E}">
        <p14:creationId xmlns:p14="http://schemas.microsoft.com/office/powerpoint/2010/main" val="40738516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p:cNvSpPr txBox="1"/>
          <p:nvPr/>
        </p:nvSpPr>
        <p:spPr>
          <a:xfrm>
            <a:off x="431067" y="807417"/>
            <a:ext cx="8399419" cy="2677656"/>
          </a:xfrm>
          <a:prstGeom prst="rect">
            <a:avLst/>
          </a:prstGeom>
          <a:noFill/>
        </p:spPr>
        <p:txBody>
          <a:bodyPr wrap="square" rtlCol="0">
            <a:spAutoFit/>
          </a:bodyPr>
          <a:lstStyle/>
          <a:p>
            <a:pPr algn="l">
              <a:spcBef>
                <a:spcPts val="0"/>
              </a:spcBef>
            </a:pPr>
            <a:r>
              <a:rPr kumimoji="1" lang="en-US" altLang="ja-JP" sz="1400" b="1">
                <a:latin typeface="Meiryo UI" panose="020B0604030504040204" pitchFamily="50" charset="-128"/>
                <a:ea typeface="Meiryo UI" panose="020B0604030504040204" pitchFamily="50" charset="-128"/>
              </a:rPr>
              <a:t>Setsu Kata Go </a:t>
            </a:r>
            <a:r>
              <a:rPr kumimoji="1" lang="en-US" altLang="ja-JP" sz="1400">
                <a:latin typeface="Meiryo UI" panose="020B0604030504040204" pitchFamily="50" charset="-128"/>
                <a:ea typeface="Meiryo UI" panose="020B0604030504040204" pitchFamily="50" charset="-128"/>
              </a:rPr>
              <a:t>or later is </a:t>
            </a:r>
            <a:r>
              <a:rPr lang="en-US" altLang="ja-JP" sz="1400">
                <a:latin typeface="Meiryo UI" panose="020B0604030504040204" pitchFamily="50" charset="-128"/>
                <a:ea typeface="Meiryo UI" panose="020B0604030504040204" pitchFamily="50" charset="-128"/>
              </a:rPr>
              <a:t>NOT </a:t>
            </a:r>
            <a:r>
              <a:rPr kumimoji="1" lang="en-US" altLang="ja-JP" sz="1400">
                <a:latin typeface="Meiryo UI" panose="020B0604030504040204" pitchFamily="50" charset="-128"/>
                <a:ea typeface="Meiryo UI" panose="020B0604030504040204" pitchFamily="50" charset="-128"/>
              </a:rPr>
              <a:t>allowed, basically</a:t>
            </a:r>
            <a:r>
              <a:rPr lang="en-US" altLang="ja-JP" sz="1400">
                <a:latin typeface="Meiryo UI" panose="020B0604030504040204" pitchFamily="50" charset="-128"/>
                <a:ea typeface="Meiryo UI" panose="020B0604030504040204" pitchFamily="50" charset="-128"/>
              </a:rPr>
              <a:t>.</a:t>
            </a:r>
          </a:p>
          <a:p>
            <a:pPr algn="l">
              <a:spcBef>
                <a:spcPts val="0"/>
              </a:spcBef>
            </a:pPr>
            <a:r>
              <a:rPr lang="en-US" altLang="ja-JP" sz="1400">
                <a:latin typeface="Meiryo UI" panose="020B0604030504040204" pitchFamily="50" charset="-128"/>
                <a:ea typeface="Meiryo UI" panose="020B0604030504040204" pitchFamily="50" charset="-128"/>
              </a:rPr>
              <a:t>In case of</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needs to release new PVER after V2,</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must get agreement of Honda before PVER activity.</a:t>
            </a:r>
          </a:p>
          <a:p>
            <a:pPr algn="l">
              <a:spcBef>
                <a:spcPts val="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is required to explain clear necessity.</a:t>
            </a:r>
          </a:p>
          <a:p>
            <a:pPr algn="l">
              <a:spcBef>
                <a:spcPts val="0"/>
              </a:spcBef>
            </a:pPr>
            <a:endParaRPr lang="en-US" altLang="ja-JP" sz="1400">
              <a:latin typeface="Meiryo UI" panose="020B0604030504040204" pitchFamily="50" charset="-128"/>
              <a:ea typeface="Meiryo UI" panose="020B0604030504040204" pitchFamily="50" charset="-128"/>
            </a:endParaRPr>
          </a:p>
          <a:p>
            <a:pPr algn="l">
              <a:spcBef>
                <a:spcPts val="0"/>
              </a:spcBef>
            </a:pPr>
            <a:r>
              <a:rPr lang="en-US" altLang="ja-JP" sz="1400" b="1">
                <a:latin typeface="Meiryo UI" panose="020B0604030504040204" pitchFamily="50" charset="-128"/>
                <a:ea typeface="Meiryo UI" panose="020B0604030504040204" pitchFamily="50" charset="-128"/>
              </a:rPr>
              <a:t>MP1 is final release</a:t>
            </a:r>
            <a:r>
              <a:rPr lang="en-US" altLang="ja-JP" sz="1400" b="1">
                <a:solidFill>
                  <a:srgbClr val="00B050"/>
                </a:solidFill>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and data changes is basically not allowed.</a:t>
            </a:r>
          </a:p>
          <a:p>
            <a:pPr algn="l">
              <a:spcBef>
                <a:spcPts val="0"/>
              </a:spcBef>
            </a:pPr>
            <a:r>
              <a:rPr lang="en-US" altLang="ja-JP" sz="1400">
                <a:latin typeface="Meiryo UI" panose="020B0604030504040204" pitchFamily="50" charset="-128"/>
                <a:ea typeface="Meiryo UI" panose="020B0604030504040204" pitchFamily="50" charset="-128"/>
              </a:rPr>
              <a:t>In case of</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needs to release new dataset after V2,</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must get agreement of Honda before calibration activity.</a:t>
            </a:r>
          </a:p>
          <a:p>
            <a:pPr algn="l">
              <a:spcBef>
                <a:spcPts val="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is required to explain clear necessity.</a:t>
            </a:r>
          </a:p>
          <a:p>
            <a:pPr algn="l">
              <a:spcBef>
                <a:spcPts val="0"/>
              </a:spcBef>
            </a:pPr>
            <a:endParaRPr lang="en-US" altLang="ja-JP" sz="1400">
              <a:latin typeface="Meiryo UI" panose="020B0604030504040204" pitchFamily="50" charset="-128"/>
              <a:ea typeface="Meiryo UI" panose="020B0604030504040204" pitchFamily="50" charset="-128"/>
            </a:endParaRPr>
          </a:p>
          <a:p>
            <a:pPr algn="l">
              <a:spcBef>
                <a:spcPts val="0"/>
              </a:spcBef>
            </a:pPr>
            <a:r>
              <a:rPr lang="en-US" altLang="ja-JP" sz="1400">
                <a:latin typeface="Meiryo UI" panose="020B0604030504040204" pitchFamily="50" charset="-128"/>
                <a:ea typeface="Meiryo UI" panose="020B0604030504040204" pitchFamily="50" charset="-128"/>
                <a:cs typeface="Arial" pitchFamily="34" charset="0"/>
              </a:rPr>
              <a:t>If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changes calibration data after V3 and HONDA verifies about the content, </a:t>
            </a:r>
          </a:p>
          <a:p>
            <a:pPr algn="l">
              <a:spcBef>
                <a:spcPts val="0"/>
              </a:spcBef>
            </a:pPr>
            <a:r>
              <a:rPr lang="en-US" altLang="ja-JP" sz="1400">
                <a:latin typeface="Meiryo UI" panose="020B0604030504040204" pitchFamily="50" charset="-128"/>
                <a:ea typeface="Meiryo UI" panose="020B0604030504040204" pitchFamily="50" charset="-128"/>
                <a:cs typeface="Arial" pitchFamily="34" charset="0"/>
              </a:rPr>
              <a:t>HONDA will carry out cost charge of the actual man-power applied to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t>
            </a:r>
            <a:endParaRPr lang="en-US" altLang="ja-JP" sz="1400">
              <a:latin typeface="Meiryo UI" panose="020B0604030504040204" pitchFamily="50" charset="-128"/>
              <a:ea typeface="Meiryo UI" panose="020B0604030504040204" pitchFamily="50" charset="-128"/>
            </a:endParaRPr>
          </a:p>
        </p:txBody>
      </p:sp>
      <p:sp>
        <p:nvSpPr>
          <p:cNvPr id="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(16/21)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6" name="テキスト ボックス 5"/>
          <p:cNvSpPr txBox="1"/>
          <p:nvPr/>
        </p:nvSpPr>
        <p:spPr>
          <a:xfrm>
            <a:off x="431067" y="3704623"/>
            <a:ext cx="8399419" cy="2339102"/>
          </a:xfrm>
          <a:prstGeom prst="rect">
            <a:avLst/>
          </a:prstGeom>
          <a:noFill/>
        </p:spPr>
        <p:txBody>
          <a:bodyPr wrap="square" rtlCol="0">
            <a:spAutoFit/>
          </a:bodyPr>
          <a:lstStyle/>
          <a:p>
            <a:pPr algn="l">
              <a:spcBef>
                <a:spcPts val="300"/>
              </a:spcBef>
            </a:pPr>
            <a:r>
              <a:rPr kumimoji="1" lang="ja-JP" altLang="en-US" sz="1400">
                <a:latin typeface="Meiryo UI" panose="020B0604030504040204" pitchFamily="50" charset="-128"/>
                <a:ea typeface="Meiryo UI" panose="020B0604030504040204" pitchFamily="50" charset="-128"/>
              </a:rPr>
              <a:t>基本的に、</a:t>
            </a:r>
            <a:r>
              <a:rPr kumimoji="1" lang="ja-JP" altLang="en-US" sz="1400" b="1">
                <a:latin typeface="Meiryo UI" panose="020B0604030504040204" pitchFamily="50" charset="-128"/>
                <a:ea typeface="Meiryo UI" panose="020B0604030504040204" pitchFamily="50" charset="-128"/>
              </a:rPr>
              <a:t>設型</a:t>
            </a:r>
            <a:r>
              <a:rPr kumimoji="1" lang="en-US" altLang="ja-JP" sz="1400" b="1">
                <a:latin typeface="Meiryo UI" panose="020B0604030504040204" pitchFamily="50" charset="-128"/>
                <a:ea typeface="Meiryo UI" panose="020B0604030504040204" pitchFamily="50" charset="-128"/>
              </a:rPr>
              <a:t>Go </a:t>
            </a:r>
            <a:r>
              <a:rPr kumimoji="1" lang="ja-JP" altLang="en-US" sz="1400">
                <a:latin typeface="Meiryo UI" panose="020B0604030504040204" pitchFamily="50" charset="-128"/>
                <a:ea typeface="Meiryo UI" panose="020B0604030504040204" pitchFamily="50" charset="-128"/>
              </a:rPr>
              <a:t>またはそれ以降の発行は許可しない。</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ただし</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が設型</a:t>
            </a:r>
            <a:r>
              <a:rPr lang="en-US" altLang="ja-JP" sz="1400">
                <a:latin typeface="Meiryo UI" panose="020B0604030504040204" pitchFamily="50" charset="-128"/>
                <a:ea typeface="Meiryo UI" panose="020B0604030504040204" pitchFamily="50" charset="-128"/>
              </a:rPr>
              <a:t>Go</a:t>
            </a:r>
            <a:r>
              <a:rPr lang="ja-JP" altLang="en-US" sz="1400">
                <a:latin typeface="Meiryo UI" panose="020B0604030504040204" pitchFamily="50" charset="-128"/>
                <a:ea typeface="Meiryo UI" panose="020B0604030504040204" pitchFamily="50" charset="-128"/>
              </a:rPr>
              <a:t>以降の新規</a:t>
            </a:r>
            <a:r>
              <a:rPr lang="en-US" altLang="ja-JP" sz="1400">
                <a:latin typeface="Meiryo UI" panose="020B0604030504040204" pitchFamily="50" charset="-128"/>
                <a:ea typeface="Meiryo UI" panose="020B0604030504040204" pitchFamily="50" charset="-128"/>
              </a:rPr>
              <a:t>PVER</a:t>
            </a:r>
            <a:r>
              <a:rPr lang="ja-JP" altLang="en-US" sz="1400">
                <a:latin typeface="Meiryo UI" panose="020B0604030504040204" pitchFamily="50" charset="-128"/>
                <a:ea typeface="Meiryo UI" panose="020B0604030504040204" pitchFamily="50" charset="-128"/>
              </a:rPr>
              <a:t>発行を必要とした場合、</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は</a:t>
            </a:r>
            <a:r>
              <a:rPr lang="en-US" altLang="ja-JP" sz="1400">
                <a:latin typeface="Meiryo UI" panose="020B0604030504040204" pitchFamily="50" charset="-128"/>
                <a:ea typeface="Meiryo UI" panose="020B0604030504040204" pitchFamily="50" charset="-128"/>
              </a:rPr>
              <a:t>PVER</a:t>
            </a:r>
            <a:r>
              <a:rPr lang="ja-JP" altLang="en-US" sz="1400">
                <a:latin typeface="Meiryo UI" panose="020B0604030504040204" pitchFamily="50" charset="-128"/>
                <a:ea typeface="Meiryo UI" panose="020B0604030504040204" pitchFamily="50" charset="-128"/>
              </a:rPr>
              <a:t>発行作業前に</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必ず</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と同意を得ること。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は要求内容について、詳細に報告をすること。</a:t>
            </a:r>
            <a:endParaRPr lang="en-US" altLang="ja-JP" sz="1400">
              <a:latin typeface="Meiryo UI" panose="020B0604030504040204" pitchFamily="50" charset="-128"/>
              <a:ea typeface="Meiryo UI" panose="020B0604030504040204" pitchFamily="50" charset="-128"/>
            </a:endParaRP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b="1">
                <a:latin typeface="Meiryo UI" panose="020B0604030504040204" pitchFamily="50" charset="-128"/>
                <a:ea typeface="Meiryo UI" panose="020B0604030504040204" pitchFamily="50" charset="-128"/>
              </a:rPr>
              <a:t>MP1</a:t>
            </a:r>
            <a:r>
              <a:rPr lang="ja-JP" altLang="en-US" sz="1400" b="1">
                <a:latin typeface="Meiryo UI" panose="020B0604030504040204" pitchFamily="50" charset="-128"/>
                <a:ea typeface="Meiryo UI" panose="020B0604030504040204" pitchFamily="50" charset="-128"/>
              </a:rPr>
              <a:t>は最終リリース</a:t>
            </a:r>
            <a:r>
              <a:rPr lang="ja-JP" altLang="en-US" sz="1400">
                <a:latin typeface="Meiryo UI" panose="020B0604030504040204" pitchFamily="50" charset="-128"/>
                <a:ea typeface="Meiryo UI" panose="020B0604030504040204" pitchFamily="50" charset="-128"/>
              </a:rPr>
              <a:t>であり、基本的に以降のデータ変更は認められない。</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ただし</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が</a:t>
            </a:r>
            <a:r>
              <a:rPr lang="en-US" altLang="ja-JP" sz="1400">
                <a:latin typeface="Meiryo UI" panose="020B0604030504040204" pitchFamily="50" charset="-128"/>
                <a:ea typeface="Meiryo UI" panose="020B0604030504040204" pitchFamily="50" charset="-128"/>
              </a:rPr>
              <a:t>V2</a:t>
            </a:r>
            <a:r>
              <a:rPr lang="ja-JP" altLang="en-US" sz="1400">
                <a:latin typeface="Meiryo UI" panose="020B0604030504040204" pitchFamily="50" charset="-128"/>
                <a:ea typeface="Meiryo UI" panose="020B0604030504040204" pitchFamily="50" charset="-128"/>
              </a:rPr>
              <a:t>以降の新規データ設定を必要とした場合、</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は適合を始める前に</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必ず</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の同意を得ること。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は要求内容について、詳細に報告をすること。</a:t>
            </a:r>
            <a:endParaRPr lang="en-US" altLang="ja-JP" sz="1400">
              <a:latin typeface="Meiryo UI" panose="020B0604030504040204" pitchFamily="50" charset="-128"/>
              <a:ea typeface="Meiryo UI" panose="020B0604030504040204" pitchFamily="50" charset="-128"/>
            </a:endParaRPr>
          </a:p>
        </p:txBody>
      </p:sp>
      <p:sp>
        <p:nvSpPr>
          <p:cNvPr id="8" name="正方形/長方形 7"/>
          <p:cNvSpPr/>
          <p:nvPr/>
        </p:nvSpPr>
        <p:spPr>
          <a:xfrm>
            <a:off x="171317" y="511103"/>
            <a:ext cx="4898136" cy="366639"/>
          </a:xfrm>
          <a:prstGeom prst="rect">
            <a:avLst/>
          </a:prstGeom>
        </p:spPr>
        <p:txBody>
          <a:bodyPr wrap="none">
            <a:spAutoFit/>
          </a:bodyPr>
          <a:lstStyle/>
          <a:p>
            <a:pPr algn="l" eaLnBrk="1" hangingPunct="1">
              <a:lnSpc>
                <a:spcPct val="11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Standard SW and Calibration Maturity </a:t>
            </a:r>
          </a:p>
        </p:txBody>
      </p:sp>
    </p:spTree>
    <p:extLst>
      <p:ext uri="{BB962C8B-B14F-4D97-AF65-F5344CB8AC3E}">
        <p14:creationId xmlns:p14="http://schemas.microsoft.com/office/powerpoint/2010/main" val="11331414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6DC216D2-7064-4DF0-9F19-56DB56EA91CF}"/>
              </a:ext>
            </a:extLst>
          </p:cNvPr>
          <p:cNvSpPr txBox="1"/>
          <p:nvPr/>
        </p:nvSpPr>
        <p:spPr>
          <a:xfrm>
            <a:off x="113893" y="672289"/>
            <a:ext cx="8916211" cy="2877711"/>
          </a:xfrm>
          <a:prstGeom prst="rect">
            <a:avLst/>
          </a:prstGeom>
          <a:noFill/>
        </p:spPr>
        <p:txBody>
          <a:bodyPr wrap="square" rtlCol="0">
            <a:spAutoFit/>
          </a:bodyPr>
          <a:lstStyle/>
          <a:p>
            <a:pPr algn="l">
              <a:spcBef>
                <a:spcPts val="300"/>
              </a:spcBef>
            </a:pPr>
            <a:r>
              <a:rPr lang="en-US" altLang="ja-JP" sz="1600" b="1" i="0" u="sng" strike="noStrike" baseline="0">
                <a:latin typeface="Meiryo UI" panose="020B0604030504040204" pitchFamily="50" charset="-128"/>
                <a:ea typeface="Meiryo UI" panose="020B0604030504040204" pitchFamily="50" charset="-128"/>
              </a:rPr>
              <a:t>ADDITIONAL EFFORT REIMBURSEMENT</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If HONDA engages in an additional work and/or activity to solve problems caused by defects</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or incompleteness pursuant to Article 7.3 hereof on and after the time when HONDA and</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Bosch agree that all targets for Work have been achieved (called V3 for Software activity</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and MP1 Container release for Calibration activity), HONDA shall inform Bosch of such</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fact without undue delay.</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In this case, the Parties shall discuss in good faith and determine whether Bosch is liable</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for compensation for the additional work and/or activity by HONDA.</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Then, if Bosch is determined to be liable, the Parties shall further discuss in good faith and</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agree in writing upon the responsibility ratio of each Party and the amount of the</a:t>
            </a:r>
          </a:p>
          <a:p>
            <a:pPr algn="l">
              <a:spcBef>
                <a:spcPts val="300"/>
              </a:spcBef>
            </a:pPr>
            <a:r>
              <a:rPr lang="en-US" altLang="ja-JP" sz="1400" b="0" i="0" u="none" strike="noStrike" baseline="0">
                <a:latin typeface="Meiryo UI" panose="020B0604030504040204" pitchFamily="50" charset="-128"/>
                <a:ea typeface="Meiryo UI" panose="020B0604030504040204" pitchFamily="50" charset="-128"/>
              </a:rPr>
              <a:t>compensation by Bosch.</a:t>
            </a:r>
          </a:p>
        </p:txBody>
      </p:sp>
      <p:sp>
        <p:nvSpPr>
          <p:cNvPr id="13" name="Text Box 2">
            <a:extLst>
              <a:ext uri="{FF2B5EF4-FFF2-40B4-BE49-F238E27FC236}">
                <a16:creationId xmlns:a16="http://schemas.microsoft.com/office/drawing/2014/main" id="{524BE646-AA67-4C27-B0D8-0A474B70811D}"/>
              </a:ext>
            </a:extLst>
          </p:cNvPr>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(17/21)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14" name="テキスト ボックス 13">
            <a:extLst>
              <a:ext uri="{FF2B5EF4-FFF2-40B4-BE49-F238E27FC236}">
                <a16:creationId xmlns:a16="http://schemas.microsoft.com/office/drawing/2014/main" id="{BC21E463-EE44-4077-A910-5CE83E8EE957}"/>
              </a:ext>
            </a:extLst>
          </p:cNvPr>
          <p:cNvSpPr txBox="1"/>
          <p:nvPr/>
        </p:nvSpPr>
        <p:spPr>
          <a:xfrm>
            <a:off x="113893" y="4043334"/>
            <a:ext cx="9030107" cy="1354217"/>
          </a:xfrm>
          <a:prstGeom prst="rect">
            <a:avLst/>
          </a:prstGeom>
          <a:noFill/>
        </p:spPr>
        <p:txBody>
          <a:bodyPr wrap="square" rtlCol="0">
            <a:spAutoFit/>
          </a:bodyPr>
          <a:lstStyle/>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600" b="1"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追加業務の請求</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開発完了</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(SW</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V3</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、適合：</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MP1)</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後に、第</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7.3</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条に準ずる欠陥または不具合の解決に</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で発生した追加業務に対し</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は</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Bosch</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に遅延することなく通知する。</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この場合、</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による追加の作業または活動の補償に責任を負うかどうかを両社で協議し、</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Bosch</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に責任があった場合</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Bosch</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の責任比率と金額を請求できる。</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274080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(18/21)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7" name="正方形/長方形 6"/>
          <p:cNvSpPr/>
          <p:nvPr/>
        </p:nvSpPr>
        <p:spPr>
          <a:xfrm>
            <a:off x="250829" y="1610245"/>
            <a:ext cx="8641651" cy="4416594"/>
          </a:xfrm>
          <a:prstGeom prst="rect">
            <a:avLst/>
          </a:prstGeom>
        </p:spPr>
        <p:txBody>
          <a:bodyPr wrap="square">
            <a:spAutoFit/>
          </a:bodyPr>
          <a:lstStyle/>
          <a:p>
            <a:pPr algn="l"/>
            <a:r>
              <a:rPr lang="en-US" altLang="ja-JP" sz="1400">
                <a:solidFill>
                  <a:srgbClr val="000000"/>
                </a:solidFill>
                <a:latin typeface="Meiryo UI" pitchFamily="50" charset="-128"/>
                <a:ea typeface="Meiryo UI" pitchFamily="50" charset="-128"/>
                <a:cs typeface="Meiryo UI" pitchFamily="50" charset="-128"/>
              </a:rPr>
              <a:t>With MP data, many tests such as emission certification, OBD certification, drive-by noise certification, manufacturer’s durability tests will be carried out.</a:t>
            </a:r>
          </a:p>
          <a:p>
            <a:pPr algn="l"/>
            <a:r>
              <a:rPr lang="en-US" altLang="ja-JP" sz="1400">
                <a:solidFill>
                  <a:srgbClr val="000000"/>
                </a:solidFill>
                <a:latin typeface="Meiryo UI" pitchFamily="50" charset="-128"/>
                <a:ea typeface="Meiryo UI" pitchFamily="50" charset="-128"/>
                <a:cs typeface="Meiryo UI" pitchFamily="50" charset="-128"/>
              </a:rPr>
              <a:t>Therefore, (after MP released) any data changes can not be allowed without Honda agreement.</a:t>
            </a:r>
          </a:p>
          <a:p>
            <a:pPr algn="l"/>
            <a:r>
              <a:rPr lang="en-US" altLang="ja-JP" sz="1400">
                <a:solidFill>
                  <a:srgbClr val="000000"/>
                </a:solidFill>
                <a:latin typeface="Meiryo UI" pitchFamily="50" charset="-128"/>
                <a:ea typeface="Meiryo UI" pitchFamily="50" charset="-128"/>
                <a:cs typeface="Meiryo UI" pitchFamily="50" charset="-128"/>
              </a:rPr>
              <a:t>In case of data changes related to emission, emission equality verification report must be submitted to Honda in advance.</a:t>
            </a:r>
          </a:p>
          <a:p>
            <a:pPr algn="l"/>
            <a:endParaRPr lang="en-US" altLang="ja-JP" sz="1400">
              <a:solidFill>
                <a:srgbClr val="000000"/>
              </a:solidFill>
              <a:latin typeface="Meiryo UI" pitchFamily="50" charset="-128"/>
              <a:ea typeface="Meiryo UI" pitchFamily="50" charset="-128"/>
              <a:cs typeface="Meiryo UI" pitchFamily="50" charset="-128"/>
            </a:endParaRPr>
          </a:p>
          <a:p>
            <a:pPr algn="l"/>
            <a:r>
              <a:rPr lang="en-US" altLang="ja-JP" sz="1400">
                <a:solidFill>
                  <a:srgbClr val="000000"/>
                </a:solidFill>
                <a:latin typeface="Meiryo UI" pitchFamily="50" charset="-128"/>
                <a:ea typeface="Meiryo UI" pitchFamily="50" charset="-128"/>
                <a:cs typeface="Meiryo UI" pitchFamily="50" charset="-128"/>
              </a:rPr>
              <a:t>MP data release date agreed with Honda needs to be kept strictly so planned tests with the data can be started as scheduled. </a:t>
            </a:r>
          </a:p>
          <a:p>
            <a:pPr algn="l"/>
            <a:r>
              <a:rPr lang="en-US" altLang="ja-JP" sz="1400">
                <a:solidFill>
                  <a:srgbClr val="000000"/>
                </a:solidFill>
                <a:latin typeface="Meiryo UI" pitchFamily="50" charset="-128"/>
                <a:ea typeface="Meiryo UI" pitchFamily="50" charset="-128"/>
                <a:cs typeface="Meiryo UI" pitchFamily="50" charset="-128"/>
              </a:rPr>
              <a:t>In case</a:t>
            </a:r>
            <a:r>
              <a:rPr lang="ja-JP" altLang="en-US" sz="1400">
                <a:solidFill>
                  <a:srgbClr val="000000"/>
                </a:solidFill>
                <a:latin typeface="Meiryo UI" pitchFamily="50" charset="-128"/>
                <a:ea typeface="Meiryo UI" pitchFamily="50" charset="-128"/>
                <a:cs typeface="Meiryo UI"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itchFamily="50" charset="-128"/>
                <a:ea typeface="Meiryo UI" pitchFamily="50" charset="-128"/>
                <a:cs typeface="Meiryo UI" pitchFamily="50" charset="-128"/>
              </a:rPr>
              <a:t> found any problems at the final moment, please inform to Honda of the fact in timely with information of their root causes, possible countermeasures, and recovery plans. </a:t>
            </a:r>
          </a:p>
          <a:p>
            <a:pPr algn="l"/>
            <a:endParaRPr lang="en-US" altLang="ja-JP" sz="1400">
              <a:solidFill>
                <a:srgbClr val="000000"/>
              </a:solidFill>
              <a:latin typeface="Meiryo UI" pitchFamily="50" charset="-128"/>
              <a:ea typeface="Meiryo UI" pitchFamily="50" charset="-128"/>
              <a:cs typeface="Meiryo UI" pitchFamily="50" charset="-128"/>
            </a:endParaRPr>
          </a:p>
          <a:p>
            <a:pPr algn="l"/>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en-US" altLang="ja-JP" sz="1400">
                <a:solidFill>
                  <a:srgbClr val="000000"/>
                </a:solidFill>
                <a:latin typeface="Meiryo UI" pitchFamily="50" charset="-128"/>
                <a:ea typeface="Meiryo UI" pitchFamily="50" charset="-128"/>
                <a:cs typeface="Meiryo UI" pitchFamily="50" charset="-128"/>
              </a:rPr>
              <a:t>MP</a:t>
            </a:r>
            <a:r>
              <a:rPr lang="ja-JP" altLang="en-US" sz="1400">
                <a:solidFill>
                  <a:srgbClr val="000000"/>
                </a:solidFill>
                <a:latin typeface="Meiryo UI" pitchFamily="50" charset="-128"/>
                <a:ea typeface="Meiryo UI" pitchFamily="50" charset="-128"/>
                <a:cs typeface="Meiryo UI" pitchFamily="50" charset="-128"/>
              </a:rPr>
              <a:t>データを使って、排ガス、</a:t>
            </a:r>
            <a:r>
              <a:rPr lang="en-US" altLang="ja-JP" sz="1400">
                <a:solidFill>
                  <a:srgbClr val="000000"/>
                </a:solidFill>
                <a:latin typeface="Meiryo UI" pitchFamily="50" charset="-128"/>
                <a:ea typeface="Meiryo UI" pitchFamily="50" charset="-128"/>
                <a:cs typeface="Meiryo UI" pitchFamily="50" charset="-128"/>
              </a:rPr>
              <a:t>OBD</a:t>
            </a:r>
            <a:r>
              <a:rPr lang="ja-JP" altLang="en-US" sz="1400">
                <a:solidFill>
                  <a:srgbClr val="000000"/>
                </a:solidFill>
                <a:latin typeface="Meiryo UI" pitchFamily="50" charset="-128"/>
                <a:ea typeface="Meiryo UI" pitchFamily="50" charset="-128"/>
                <a:cs typeface="Meiryo UI" pitchFamily="50" charset="-128"/>
              </a:rPr>
              <a:t>、</a:t>
            </a:r>
            <a:r>
              <a:rPr lang="en-US" altLang="ja-JP" sz="1400">
                <a:solidFill>
                  <a:srgbClr val="000000"/>
                </a:solidFill>
                <a:latin typeface="Meiryo UI" pitchFamily="50" charset="-128"/>
                <a:ea typeface="Meiryo UI" pitchFamily="50" charset="-128"/>
                <a:cs typeface="Meiryo UI" pitchFamily="50" charset="-128"/>
              </a:rPr>
              <a:t>NV</a:t>
            </a:r>
            <a:r>
              <a:rPr lang="ja-JP" altLang="en-US" sz="1400">
                <a:solidFill>
                  <a:srgbClr val="000000"/>
                </a:solidFill>
                <a:latin typeface="Meiryo UI" pitchFamily="50" charset="-128"/>
                <a:ea typeface="Meiryo UI" pitchFamily="50" charset="-128"/>
                <a:cs typeface="Meiryo UI" pitchFamily="50" charset="-128"/>
              </a:rPr>
              <a:t>認証テスト、工場での耐久テストが行われる。</a:t>
            </a: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a:solidFill>
                  <a:srgbClr val="000000"/>
                </a:solidFill>
                <a:latin typeface="Meiryo UI" pitchFamily="50" charset="-128"/>
                <a:ea typeface="Meiryo UI" pitchFamily="50" charset="-128"/>
                <a:cs typeface="Meiryo UI" pitchFamily="50" charset="-128"/>
              </a:rPr>
              <a:t>よって、</a:t>
            </a:r>
            <a:r>
              <a:rPr lang="en-US" altLang="ja-JP" sz="1400">
                <a:solidFill>
                  <a:srgbClr val="000000"/>
                </a:solidFill>
                <a:latin typeface="Meiryo UI" pitchFamily="50" charset="-128"/>
                <a:ea typeface="Meiryo UI" pitchFamily="50" charset="-128"/>
                <a:cs typeface="Meiryo UI" pitchFamily="50" charset="-128"/>
              </a:rPr>
              <a:t>MP</a:t>
            </a:r>
            <a:r>
              <a:rPr lang="ja-JP" altLang="en-US" sz="1400">
                <a:solidFill>
                  <a:srgbClr val="000000"/>
                </a:solidFill>
                <a:latin typeface="Meiryo UI" pitchFamily="50" charset="-128"/>
                <a:ea typeface="Meiryo UI" pitchFamily="50" charset="-128"/>
                <a:cs typeface="Meiryo UI" pitchFamily="50" charset="-128"/>
              </a:rPr>
              <a:t>発行後は</a:t>
            </a:r>
            <a:r>
              <a:rPr lang="en-US" altLang="ja-JP" sz="1400">
                <a:solidFill>
                  <a:srgbClr val="000000"/>
                </a:solidFill>
                <a:latin typeface="Meiryo UI" pitchFamily="50" charset="-128"/>
                <a:ea typeface="Meiryo UI" pitchFamily="50" charset="-128"/>
                <a:cs typeface="Meiryo UI" pitchFamily="50" charset="-128"/>
              </a:rPr>
              <a:t>Honda</a:t>
            </a:r>
            <a:r>
              <a:rPr lang="ja-JP" altLang="en-US" sz="1400">
                <a:solidFill>
                  <a:srgbClr val="000000"/>
                </a:solidFill>
                <a:latin typeface="Meiryo UI" pitchFamily="50" charset="-128"/>
                <a:ea typeface="Meiryo UI" pitchFamily="50" charset="-128"/>
                <a:cs typeface="Meiryo UI" pitchFamily="50" charset="-128"/>
              </a:rPr>
              <a:t>の合意なしにいかなるデータ変更も認められない。</a:t>
            </a: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a:solidFill>
                  <a:srgbClr val="000000"/>
                </a:solidFill>
                <a:latin typeface="Meiryo UI" pitchFamily="50" charset="-128"/>
                <a:ea typeface="Meiryo UI" pitchFamily="50" charset="-128"/>
                <a:cs typeface="Meiryo UI" pitchFamily="50" charset="-128"/>
              </a:rPr>
              <a:t>排ガスに影響するデータ変更を行う場合は、エミッション同等証明が、次</a:t>
            </a:r>
            <a:r>
              <a:rPr lang="en-US" altLang="ja-JP" sz="1400">
                <a:solidFill>
                  <a:srgbClr val="000000"/>
                </a:solidFill>
                <a:latin typeface="Meiryo UI" pitchFamily="50" charset="-128"/>
                <a:ea typeface="Meiryo UI" pitchFamily="50" charset="-128"/>
                <a:cs typeface="Meiryo UI" pitchFamily="50" charset="-128"/>
              </a:rPr>
              <a:t>MP</a:t>
            </a:r>
            <a:r>
              <a:rPr lang="ja-JP" altLang="en-US" sz="1400">
                <a:solidFill>
                  <a:srgbClr val="000000"/>
                </a:solidFill>
                <a:latin typeface="Meiryo UI" pitchFamily="50" charset="-128"/>
                <a:ea typeface="Meiryo UI" pitchFamily="50" charset="-128"/>
                <a:cs typeface="Meiryo UI" pitchFamily="50" charset="-128"/>
              </a:rPr>
              <a:t>データ発行前の提示が求められる。</a:t>
            </a: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a:solidFill>
                  <a:srgbClr val="000000"/>
                </a:solidFill>
                <a:latin typeface="Meiryo UI" pitchFamily="50" charset="-128"/>
                <a:ea typeface="Meiryo UI" pitchFamily="50" charset="-128"/>
                <a:cs typeface="Meiryo UI" pitchFamily="50" charset="-128"/>
              </a:rPr>
              <a:t>上記テストをスケジュール通りに進めるために、合意した</a:t>
            </a:r>
            <a:r>
              <a:rPr lang="en-US" altLang="ja-JP" sz="1400">
                <a:solidFill>
                  <a:srgbClr val="000000"/>
                </a:solidFill>
                <a:latin typeface="Meiryo UI" pitchFamily="50" charset="-128"/>
                <a:ea typeface="Meiryo UI" pitchFamily="50" charset="-128"/>
                <a:cs typeface="Meiryo UI" pitchFamily="50" charset="-128"/>
              </a:rPr>
              <a:t>MP</a:t>
            </a:r>
            <a:r>
              <a:rPr lang="ja-JP" altLang="en-US" sz="1400">
                <a:solidFill>
                  <a:srgbClr val="000000"/>
                </a:solidFill>
                <a:latin typeface="Meiryo UI" pitchFamily="50" charset="-128"/>
                <a:ea typeface="Meiryo UI" pitchFamily="50" charset="-128"/>
                <a:cs typeface="Meiryo UI" pitchFamily="50" charset="-128"/>
              </a:rPr>
              <a:t>リリース期日は厳格に守ること。</a:t>
            </a: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a:solidFill>
                  <a:srgbClr val="000000"/>
                </a:solidFill>
                <a:latin typeface="Meiryo UI" pitchFamily="50" charset="-128"/>
                <a:ea typeface="Meiryo UI" pitchFamily="50" charset="-128"/>
                <a:cs typeface="Meiryo UI" pitchFamily="50" charset="-128"/>
              </a:rPr>
              <a:t>もしも何か問題がある場合は、原因及び可能な対策、リカバリー計画と一緒に</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itchFamily="50" charset="-128"/>
                <a:ea typeface="Meiryo UI" pitchFamily="50" charset="-128"/>
                <a:cs typeface="Meiryo UI" pitchFamily="50" charset="-128"/>
              </a:rPr>
              <a:t>は</a:t>
            </a:r>
            <a:r>
              <a:rPr lang="en-US" altLang="ja-JP" sz="1400">
                <a:solidFill>
                  <a:srgbClr val="000000"/>
                </a:solidFill>
                <a:latin typeface="Meiryo UI" pitchFamily="50" charset="-128"/>
                <a:ea typeface="Meiryo UI" pitchFamily="50" charset="-128"/>
                <a:cs typeface="Meiryo UI" pitchFamily="50" charset="-128"/>
              </a:rPr>
              <a:t>Honda</a:t>
            </a:r>
            <a:r>
              <a:rPr lang="ja-JP" altLang="en-US" sz="1400">
                <a:solidFill>
                  <a:srgbClr val="000000"/>
                </a:solidFill>
                <a:latin typeface="Meiryo UI" pitchFamily="50" charset="-128"/>
                <a:ea typeface="Meiryo UI" pitchFamily="50" charset="-128"/>
                <a:cs typeface="Meiryo UI" pitchFamily="50" charset="-128"/>
              </a:rPr>
              <a:t>に、</a:t>
            </a: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ja-JP" altLang="en-US" sz="1400">
                <a:solidFill>
                  <a:srgbClr val="000000"/>
                </a:solidFill>
                <a:latin typeface="Meiryo UI" pitchFamily="50" charset="-128"/>
                <a:ea typeface="Meiryo UI" pitchFamily="50" charset="-128"/>
                <a:cs typeface="Meiryo UI" pitchFamily="50" charset="-128"/>
              </a:rPr>
              <a:t>速やかに報告すること。</a:t>
            </a:r>
            <a:endParaRPr lang="en-US" altLang="ja-JP" sz="1400">
              <a:solidFill>
                <a:srgbClr val="000000"/>
              </a:solidFill>
              <a:latin typeface="Meiryo UI" pitchFamily="50" charset="-128"/>
              <a:ea typeface="Meiryo UI" pitchFamily="50" charset="-128"/>
              <a:cs typeface="Meiryo UI" pitchFamily="50" charset="-128"/>
            </a:endParaRPr>
          </a:p>
        </p:txBody>
      </p:sp>
      <p:sp>
        <p:nvSpPr>
          <p:cNvPr id="10" name="テキスト ボックス 9"/>
          <p:cNvSpPr txBox="1"/>
          <p:nvPr/>
        </p:nvSpPr>
        <p:spPr>
          <a:xfrm>
            <a:off x="250829" y="1027403"/>
            <a:ext cx="2162772" cy="369332"/>
          </a:xfrm>
          <a:prstGeom prst="rect">
            <a:avLst/>
          </a:prstGeom>
          <a:noFill/>
        </p:spPr>
        <p:txBody>
          <a:bodyPr wrap="none" rtlCol="0">
            <a:spAutoFit/>
          </a:bodyPr>
          <a:lstStyle/>
          <a:p>
            <a:r>
              <a:rPr kumimoji="1" lang="en-US" altLang="ja-JP" sz="1800" b="1" u="sng">
                <a:latin typeface="Meiryo UI" panose="020B0604030504040204" pitchFamily="50" charset="-128"/>
                <a:ea typeface="Meiryo UI" panose="020B0604030504040204" pitchFamily="50" charset="-128"/>
              </a:rPr>
              <a:t>MP</a:t>
            </a:r>
            <a:r>
              <a:rPr lang="ja-JP" altLang="en-US" sz="1800" b="1" u="sng">
                <a:latin typeface="Meiryo UI" panose="020B0604030504040204" pitchFamily="50" charset="-128"/>
                <a:ea typeface="Meiryo UI" panose="020B0604030504040204" pitchFamily="50" charset="-128"/>
              </a:rPr>
              <a:t>データの取り扱い</a:t>
            </a:r>
            <a:endParaRPr kumimoji="1" lang="ja-JP" altLang="en-US" sz="1800" b="1" u="sng">
              <a:latin typeface="Meiryo UI" panose="020B0604030504040204" pitchFamily="50" charset="-128"/>
              <a:ea typeface="Meiryo UI" panose="020B0604030504040204" pitchFamily="50" charset="-128"/>
            </a:endParaRPr>
          </a:p>
        </p:txBody>
      </p:sp>
      <p:sp>
        <p:nvSpPr>
          <p:cNvPr id="8" name="正方形/長方形 7"/>
          <p:cNvSpPr/>
          <p:nvPr/>
        </p:nvSpPr>
        <p:spPr>
          <a:xfrm>
            <a:off x="250829" y="630371"/>
            <a:ext cx="4898136" cy="366639"/>
          </a:xfrm>
          <a:prstGeom prst="rect">
            <a:avLst/>
          </a:prstGeom>
        </p:spPr>
        <p:txBody>
          <a:bodyPr wrap="none">
            <a:spAutoFit/>
          </a:bodyPr>
          <a:lstStyle/>
          <a:p>
            <a:pPr algn="l" eaLnBrk="1" hangingPunct="1">
              <a:lnSpc>
                <a:spcPct val="11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Standard SW and Calibration Maturity </a:t>
            </a:r>
          </a:p>
        </p:txBody>
      </p:sp>
    </p:spTree>
    <p:extLst>
      <p:ext uri="{BB962C8B-B14F-4D97-AF65-F5344CB8AC3E}">
        <p14:creationId xmlns:p14="http://schemas.microsoft.com/office/powerpoint/2010/main" val="28656008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正方形/長方形 2"/>
          <p:cNvSpPr/>
          <p:nvPr/>
        </p:nvSpPr>
        <p:spPr>
          <a:xfrm>
            <a:off x="259667" y="962325"/>
            <a:ext cx="8641651" cy="2769989"/>
          </a:xfrm>
          <a:prstGeom prst="rect">
            <a:avLst/>
          </a:prstGeom>
        </p:spPr>
        <p:txBody>
          <a:bodyPr wrap="square">
            <a:spAutoFit/>
          </a:bodyPr>
          <a:lstStyle/>
          <a:p>
            <a:pPr algn="l">
              <a:spcBef>
                <a:spcPts val="300"/>
              </a:spcBef>
            </a:pPr>
            <a:r>
              <a:rPr lang="en-US" altLang="ja-JP" sz="1400">
                <a:solidFill>
                  <a:srgbClr val="000000"/>
                </a:solidFill>
                <a:latin typeface="Meiryo UI" pitchFamily="50" charset="-128"/>
                <a:ea typeface="Meiryo UI" pitchFamily="50" charset="-128"/>
                <a:cs typeface="Meiryo UI" pitchFamily="50" charset="-128"/>
              </a:rPr>
              <a:t>All codex requirement must be shown and agreed with Honda before contract activity finished. After contract, RB must not add any additional codex requirements.</a:t>
            </a:r>
          </a:p>
          <a:p>
            <a:pPr algn="l">
              <a:spcBef>
                <a:spcPts val="300"/>
              </a:spcBef>
            </a:pP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en-US" altLang="ja-JP" sz="1400">
                <a:solidFill>
                  <a:srgbClr val="000000"/>
                </a:solidFill>
                <a:latin typeface="Meiryo UI" pitchFamily="50" charset="-128"/>
                <a:ea typeface="Meiryo UI" pitchFamily="50" charset="-128"/>
                <a:cs typeface="Meiryo UI" pitchFamily="50" charset="-128"/>
              </a:rPr>
              <a:t>Codex requirements are</a:t>
            </a:r>
          </a:p>
          <a:p>
            <a:pPr marL="342900" indent="-342900" algn="l">
              <a:spcBef>
                <a:spcPts val="300"/>
              </a:spcBef>
              <a:buAutoNum type="arabicPeriod"/>
            </a:pPr>
            <a:r>
              <a:rPr lang="en-US" altLang="ja-JP" sz="1400">
                <a:solidFill>
                  <a:srgbClr val="000000"/>
                </a:solidFill>
                <a:latin typeface="Meiryo UI" pitchFamily="50" charset="-128"/>
                <a:ea typeface="Meiryo UI" pitchFamily="50" charset="-128"/>
                <a:cs typeface="Meiryo UI" pitchFamily="50" charset="-128"/>
              </a:rPr>
              <a:t>Emission requirement (test condition, driving cycle, emission target)</a:t>
            </a:r>
          </a:p>
          <a:p>
            <a:pPr marL="342900" indent="-342900" algn="l">
              <a:spcBef>
                <a:spcPts val="300"/>
              </a:spcBef>
              <a:buAutoNum type="arabicPeriod"/>
            </a:pPr>
            <a:r>
              <a:rPr lang="en-US" altLang="ja-JP" sz="1400">
                <a:solidFill>
                  <a:srgbClr val="000000"/>
                </a:solidFill>
                <a:latin typeface="Meiryo UI" pitchFamily="50" charset="-128"/>
                <a:ea typeface="Meiryo UI" pitchFamily="50" charset="-128"/>
                <a:cs typeface="Meiryo UI" pitchFamily="50" charset="-128"/>
              </a:rPr>
              <a:t>Function use/not use (for example, scavenging)</a:t>
            </a:r>
          </a:p>
          <a:p>
            <a:pPr marL="342900" indent="-342900" algn="l">
              <a:spcBef>
                <a:spcPts val="300"/>
              </a:spcBef>
              <a:buAutoNum type="arabicPeriod"/>
            </a:pPr>
            <a:r>
              <a:rPr lang="en-US" altLang="ja-JP" sz="1400">
                <a:solidFill>
                  <a:srgbClr val="000000"/>
                </a:solidFill>
                <a:latin typeface="Meiryo UI" pitchFamily="50" charset="-128"/>
                <a:ea typeface="Meiryo UI" pitchFamily="50" charset="-128"/>
                <a:cs typeface="Meiryo UI" pitchFamily="50" charset="-128"/>
              </a:rPr>
              <a:t>Calibration (for example, catalyst heating enable condition calibration)</a:t>
            </a:r>
          </a:p>
          <a:p>
            <a:pPr algn="l">
              <a:spcBef>
                <a:spcPts val="300"/>
              </a:spcBef>
            </a:pP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endParaRPr lang="en-US" altLang="ja-JP" sz="1400">
              <a:solidFill>
                <a:srgbClr val="000000"/>
              </a:solidFill>
              <a:latin typeface="Meiryo UI" pitchFamily="50" charset="-128"/>
              <a:ea typeface="Meiryo UI" pitchFamily="50" charset="-128"/>
              <a:cs typeface="Meiryo UI" pitchFamily="50" charset="-128"/>
            </a:endParaRPr>
          </a:p>
          <a:p>
            <a:pPr algn="l">
              <a:spcBef>
                <a:spcPts val="300"/>
              </a:spcBef>
            </a:pPr>
            <a:r>
              <a:rPr lang="en-US" altLang="ja-JP" sz="1400">
                <a:solidFill>
                  <a:srgbClr val="000000"/>
                </a:solidFill>
                <a:latin typeface="Meiryo UI" pitchFamily="50" charset="-128"/>
                <a:ea typeface="Meiryo UI" pitchFamily="50" charset="-128"/>
                <a:cs typeface="Meiryo UI" pitchFamily="50" charset="-128"/>
              </a:rPr>
              <a:t>Because all Codex requirement is Bosch activity, cost of codex activity must not be charged on Honda.</a:t>
            </a:r>
          </a:p>
        </p:txBody>
      </p:sp>
      <p:sp>
        <p:nvSpPr>
          <p:cNvPr id="8" name="テキスト ボックス 7"/>
          <p:cNvSpPr txBox="1"/>
          <p:nvPr/>
        </p:nvSpPr>
        <p:spPr>
          <a:xfrm>
            <a:off x="231799" y="3929421"/>
            <a:ext cx="8641651" cy="815608"/>
          </a:xfrm>
          <a:prstGeom prst="rect">
            <a:avLst/>
          </a:prstGeom>
          <a:noFill/>
        </p:spPr>
        <p:txBody>
          <a:bodyPr wrap="square" rtlCol="0">
            <a:spAutoFit/>
          </a:bodyPr>
          <a:lstStyle/>
          <a:p>
            <a:pPr algn="l">
              <a:spcBef>
                <a:spcPts val="300"/>
              </a:spcBef>
            </a:pP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Codex, MEC/CRP</a:t>
            </a:r>
            <a:r>
              <a:rPr kumimoji="1" lang="ja-JP" altLang="en-US" sz="1400">
                <a:latin typeface="Meiryo UI" panose="020B0604030504040204" pitchFamily="50" charset="-128"/>
                <a:ea typeface="Meiryo UI" panose="020B0604030504040204" pitchFamily="50" charset="-128"/>
              </a:rPr>
              <a:t>は、</a:t>
            </a:r>
            <a:r>
              <a:rPr kumimoji="1" lang="en-US" altLang="ja-JP" sz="1400">
                <a:latin typeface="Meiryo UI" panose="020B0604030504040204" pitchFamily="50" charset="-128"/>
                <a:ea typeface="Meiryo UI" panose="020B0604030504040204" pitchFamily="50" charset="-128"/>
              </a:rPr>
              <a:t>Bosch</a:t>
            </a:r>
            <a:r>
              <a:rPr kumimoji="1" lang="ja-JP" altLang="en-US" sz="1400">
                <a:latin typeface="Meiryo UI" panose="020B0604030504040204" pitchFamily="50" charset="-128"/>
                <a:ea typeface="Meiryo UI" panose="020B0604030504040204" pitchFamily="50" charset="-128"/>
              </a:rPr>
              <a:t>内部の業務である。</a:t>
            </a:r>
            <a:endParaRPr kumimoji="1"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MEC/CRP</a:t>
            </a:r>
            <a:r>
              <a:rPr lang="ja-JP" altLang="en-US" sz="1400">
                <a:latin typeface="Meiryo UI" panose="020B0604030504040204" pitchFamily="50" charset="-128"/>
                <a:ea typeface="Meiryo UI" panose="020B0604030504040204" pitchFamily="50" charset="-128"/>
              </a:rPr>
              <a:t>を理由にした、ハード変更要求・</a:t>
            </a:r>
            <a:r>
              <a:rPr lang="en-US" altLang="ja-JP" sz="1400">
                <a:latin typeface="Meiryo UI" panose="020B0604030504040204" pitchFamily="50" charset="-128"/>
                <a:ea typeface="Meiryo UI" panose="020B0604030504040204" pitchFamily="50" charset="-128"/>
              </a:rPr>
              <a:t>MP</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Hex</a:t>
            </a:r>
            <a:r>
              <a:rPr lang="ja-JP" altLang="en-US" sz="1400">
                <a:latin typeface="Meiryo UI" panose="020B0604030504040204" pitchFamily="50" charset="-128"/>
                <a:ea typeface="Meiryo UI" panose="020B0604030504040204" pitchFamily="50" charset="-128"/>
              </a:rPr>
              <a:t>リリースの遅延は受け入れられない。</a:t>
            </a:r>
            <a:endParaRPr kumimoji="1"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は成果物を要求しない。</a:t>
            </a:r>
            <a:endParaRPr kumimoji="1" lang="ja-JP" altLang="en-US" sz="1400">
              <a:latin typeface="Meiryo UI" panose="020B0604030504040204" pitchFamily="50" charset="-128"/>
              <a:ea typeface="Meiryo UI" panose="020B0604030504040204" pitchFamily="50" charset="-128"/>
            </a:endParaRPr>
          </a:p>
        </p:txBody>
      </p:sp>
      <p:sp>
        <p:nvSpPr>
          <p:cNvPr id="12" name="Text Box 2"/>
          <p:cNvSpPr txBox="1">
            <a:spLocks noChangeArrowheads="1"/>
          </p:cNvSpPr>
          <p:nvPr/>
        </p:nvSpPr>
        <p:spPr bwMode="auto">
          <a:xfrm>
            <a:off x="231799" y="549544"/>
            <a:ext cx="3625864" cy="387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800" b="1" u="sng">
                <a:latin typeface="Meiryo UI" panose="020B0604030504040204" pitchFamily="50" charset="-128"/>
                <a:ea typeface="Meiryo UI" panose="020B0604030504040204" pitchFamily="50" charset="-128"/>
                <a:cs typeface="Arial" pitchFamily="34" charset="0"/>
              </a:rPr>
              <a:t>Appendix . Codex, MEC/CRP</a:t>
            </a:r>
          </a:p>
        </p:txBody>
      </p:sp>
      <p:sp>
        <p:nvSpPr>
          <p:cNvPr id="13" name="Text Box 2"/>
          <p:cNvSpPr txBox="1">
            <a:spLocks noChangeArrowheads="1"/>
          </p:cNvSpPr>
          <p:nvPr/>
        </p:nvSpPr>
        <p:spPr bwMode="auto">
          <a:xfrm>
            <a:off x="259667" y="122081"/>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90000"/>
              </a:lnSpc>
            </a:pPr>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(19/21)</a:t>
            </a:r>
            <a:endParaRPr lang="en-US" altLang="ja-JP" sz="2000">
              <a:solidFill>
                <a:schemeClr val="bg1"/>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36545261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p:cNvSpPr txBox="1"/>
          <p:nvPr/>
        </p:nvSpPr>
        <p:spPr>
          <a:xfrm>
            <a:off x="133262" y="874039"/>
            <a:ext cx="9010737" cy="4293483"/>
          </a:xfrm>
          <a:prstGeom prst="rect">
            <a:avLst/>
          </a:prstGeom>
          <a:noFill/>
        </p:spPr>
        <p:txBody>
          <a:bodyPr wrap="square" rtlCol="0">
            <a:spAutoFit/>
          </a:bodyPr>
          <a:lstStyle/>
          <a:p>
            <a:pPr algn="l">
              <a:spcBef>
                <a:spcPts val="300"/>
              </a:spcBef>
            </a:pPr>
            <a:r>
              <a:rPr lang="en-US" altLang="ja-JP" sz="1400">
                <a:latin typeface="Meiryo UI" panose="020B0604030504040204" pitchFamily="50" charset="-128"/>
                <a:ea typeface="Meiryo UI" panose="020B0604030504040204" pitchFamily="50" charset="-128"/>
              </a:rPr>
              <a:t>Wrap up meeting to be held at the end of project within 1 month from last MP released.</a:t>
            </a:r>
          </a:p>
          <a:p>
            <a:pPr algn="l">
              <a:spcBef>
                <a:spcPts val="300"/>
              </a:spcBef>
            </a:pPr>
            <a:r>
              <a:rPr lang="en-US" altLang="ja-JP" sz="1400">
                <a:latin typeface="Meiryo UI" panose="020B0604030504040204" pitchFamily="50" charset="-128"/>
                <a:ea typeface="Meiryo UI" panose="020B0604030504040204" pitchFamily="50" charset="-128"/>
              </a:rPr>
              <a:t>The purpose is to discuss how to improve next project. </a:t>
            </a:r>
          </a:p>
          <a:p>
            <a:pPr algn="l">
              <a:spcBef>
                <a:spcPts val="300"/>
              </a:spcBef>
            </a:pPr>
            <a:r>
              <a:rPr lang="en-US" altLang="ja-JP" sz="1400">
                <a:latin typeface="Meiryo UI" panose="020B0604030504040204" pitchFamily="50" charset="-128"/>
                <a:ea typeface="Meiryo UI" panose="020B0604030504040204" pitchFamily="50" charset="-128"/>
              </a:rPr>
              <a:t>	technical item</a:t>
            </a:r>
          </a:p>
          <a:p>
            <a:pPr algn="l">
              <a:spcBef>
                <a:spcPts val="300"/>
              </a:spcBef>
            </a:pPr>
            <a:r>
              <a:rPr lang="en-US" altLang="ja-JP" sz="1400">
                <a:latin typeface="Meiryo UI" panose="020B0604030504040204" pitchFamily="50" charset="-128"/>
                <a:ea typeface="Meiryo UI" panose="020B0604030504040204" pitchFamily="50" charset="-128"/>
              </a:rPr>
              <a:t>	- what is the open items for the next project ?</a:t>
            </a:r>
          </a:p>
          <a:p>
            <a:pPr algn="l">
              <a:spcBef>
                <a:spcPts val="300"/>
              </a:spcBef>
            </a:pPr>
            <a:r>
              <a:rPr lang="en-US" altLang="ja-JP" sz="1400">
                <a:latin typeface="Meiryo UI" panose="020B0604030504040204" pitchFamily="50" charset="-128"/>
                <a:ea typeface="Meiryo UI" panose="020B0604030504040204" pitchFamily="50" charset="-128"/>
              </a:rPr>
              <a:t>	- what was the technical issue in the project ?</a:t>
            </a:r>
          </a:p>
          <a:p>
            <a:pPr algn="l">
              <a:spcBef>
                <a:spcPts val="300"/>
              </a:spcBef>
            </a:pPr>
            <a:r>
              <a:rPr lang="en-US" altLang="ja-JP" sz="1400">
                <a:latin typeface="Meiryo UI" panose="020B0604030504040204" pitchFamily="50" charset="-128"/>
                <a:ea typeface="Meiryo UI" panose="020B0604030504040204" pitchFamily="50" charset="-128"/>
              </a:rPr>
              <a:t>	     Lesson &amp; Learn of procedure</a:t>
            </a:r>
          </a:p>
          <a:p>
            <a:pPr algn="l">
              <a:spcBef>
                <a:spcPts val="300"/>
              </a:spcBef>
            </a:pPr>
            <a:r>
              <a:rPr lang="en-US" altLang="ja-JP" sz="1400">
                <a:latin typeface="Meiryo UI" panose="020B0604030504040204" pitchFamily="50" charset="-128"/>
                <a:ea typeface="Meiryo UI" panose="020B0604030504040204" pitchFamily="50" charset="-128"/>
              </a:rPr>
              <a:t>	- what was the issue of operating the project ?</a:t>
            </a:r>
          </a:p>
          <a:p>
            <a:pPr algn="l">
              <a:spcBef>
                <a:spcPts val="300"/>
              </a:spcBef>
            </a:pPr>
            <a:r>
              <a:rPr lang="en-US" altLang="ja-JP" sz="1400">
                <a:latin typeface="Meiryo UI" panose="020B0604030504040204" pitchFamily="50" charset="-128"/>
                <a:ea typeface="Meiryo UI" panose="020B0604030504040204" pitchFamily="50" charset="-128"/>
              </a:rPr>
              <a:t>According to expert meeting and/or regular meeting, if there is open items for next project, </a:t>
            </a: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must report and agree with Honda listed items below.</a:t>
            </a:r>
          </a:p>
          <a:p>
            <a:pPr algn="l">
              <a:spcBef>
                <a:spcPts val="300"/>
              </a:spcBef>
            </a:pPr>
            <a:r>
              <a:rPr lang="en-US" altLang="ja-JP" sz="1400">
                <a:latin typeface="Meiryo UI" panose="020B0604030504040204" pitchFamily="50" charset="-128"/>
                <a:ea typeface="Meiryo UI" panose="020B0604030504040204" pitchFamily="50" charset="-128"/>
              </a:rPr>
              <a:t>	- what is remaining item(s), unsolved item</a:t>
            </a:r>
          </a:p>
          <a:p>
            <a:pPr algn="l">
              <a:spcBef>
                <a:spcPts val="300"/>
              </a:spcBef>
            </a:pPr>
            <a:r>
              <a:rPr lang="en-US" altLang="ja-JP" sz="1400">
                <a:latin typeface="Meiryo UI" panose="020B0604030504040204" pitchFamily="50" charset="-128"/>
                <a:ea typeface="Meiryo UI" panose="020B0604030504040204" pitchFamily="50" charset="-128"/>
              </a:rPr>
              <a:t>	- what is root cause for all items</a:t>
            </a:r>
          </a:p>
          <a:p>
            <a:pPr algn="l">
              <a:spcBef>
                <a:spcPts val="300"/>
              </a:spcBef>
            </a:pPr>
            <a:r>
              <a:rPr lang="en-US" altLang="ja-JP" sz="1400">
                <a:latin typeface="Meiryo UI" panose="020B0604030504040204" pitchFamily="50" charset="-128"/>
                <a:ea typeface="Meiryo UI" panose="020B0604030504040204" pitchFamily="50" charset="-128"/>
              </a:rPr>
              <a:t>	- How to solve technically</a:t>
            </a:r>
          </a:p>
          <a:p>
            <a:pPr algn="l">
              <a:spcBef>
                <a:spcPts val="300"/>
              </a:spcBef>
            </a:pPr>
            <a:r>
              <a:rPr lang="en-US" altLang="ja-JP" sz="1400">
                <a:latin typeface="Meiryo UI" panose="020B0604030504040204" pitchFamily="50" charset="-128"/>
                <a:ea typeface="Meiryo UI" panose="020B0604030504040204" pitchFamily="50" charset="-128"/>
              </a:rPr>
              <a:t>Maru-Ji items are clarified by both</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and HONDA.</a:t>
            </a:r>
          </a:p>
          <a:p>
            <a:pPr algn="l">
              <a:spcBef>
                <a:spcPts val="300"/>
              </a:spcBef>
            </a:pPr>
            <a:r>
              <a:rPr lang="en-US" altLang="ja-JP" sz="1400">
                <a:latin typeface="Meiryo UI" panose="020B0604030504040204" pitchFamily="50" charset="-128"/>
                <a:ea typeface="Meiryo UI" panose="020B0604030504040204" pitchFamily="50" charset="-128"/>
              </a:rPr>
              <a:t>Agreement document shall be issued by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with attached file format.</a:t>
            </a:r>
          </a:p>
          <a:p>
            <a:pPr algn="l">
              <a:spcBef>
                <a:spcPts val="300"/>
              </a:spcBef>
            </a:pPr>
            <a:r>
              <a:rPr lang="en-US" altLang="ja-JP" sz="1400">
                <a:latin typeface="Meiryo UI" panose="020B0604030504040204" pitchFamily="50" charset="-128"/>
                <a:ea typeface="Meiryo UI" panose="020B0604030504040204" pitchFamily="50" charset="-128"/>
                <a:cs typeface="Arial" pitchFamily="34" charset="0"/>
              </a:rPr>
              <a:t>Regardless of d</a:t>
            </a:r>
            <a:r>
              <a:rPr kumimoji="1" lang="en-US" altLang="ja-JP" sz="1400">
                <a:latin typeface="Meiryo UI" panose="020B0604030504040204" pitchFamily="50" charset="-128"/>
                <a:ea typeface="Meiryo UI" panose="020B0604030504040204" pitchFamily="50" charset="-128"/>
              </a:rPr>
              <a:t>ifficulty</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of detecting fault </a:t>
            </a:r>
            <a:r>
              <a:rPr lang="en-US" altLang="ja-JP" sz="1400">
                <a:latin typeface="Meiryo UI" panose="020B0604030504040204" pitchFamily="50" charset="-128"/>
                <a:ea typeface="Meiryo UI" panose="020B0604030504040204" pitchFamily="50" charset="-128"/>
                <a:cs typeface="Arial" pitchFamily="34" charset="0"/>
              </a:rPr>
              <a:t>or e</a:t>
            </a:r>
            <a:r>
              <a:rPr kumimoji="1" lang="en-US" altLang="ja-JP" sz="1400">
                <a:latin typeface="Meiryo UI" panose="020B0604030504040204" pitchFamily="50" charset="-128"/>
                <a:ea typeface="Meiryo UI" panose="020B0604030504040204" pitchFamily="50" charset="-128"/>
              </a:rPr>
              <a:t>ffort against countermeasure,</a:t>
            </a:r>
            <a:r>
              <a:rPr kumimoji="1" lang="ja-JP" altLang="en-US" sz="1400">
                <a:latin typeface="Meiryo UI" panose="020B0604030504040204" pitchFamily="50" charset="-128"/>
                <a:ea typeface="Meiryo UI" panose="020B0604030504040204" pitchFamily="50" charset="-128"/>
                <a:cs typeface="Arial" pitchFamily="34" charset="0"/>
              </a:rPr>
              <a:t> </a:t>
            </a:r>
            <a:r>
              <a:rPr kumimoji="1"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and HONDA</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discuss the burden ratio for all items,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is required to solve them in the next project for free if the issued was caused by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400">
              <a:solidFill>
                <a:schemeClr val="bg1">
                  <a:lumMod val="75000"/>
                </a:schemeClr>
              </a:solidFill>
              <a:latin typeface="Meiryo UI" panose="020B0604030504040204" pitchFamily="50" charset="-128"/>
              <a:ea typeface="Meiryo UI" panose="020B0604030504040204" pitchFamily="50" charset="-128"/>
            </a:endParaRPr>
          </a:p>
        </p:txBody>
      </p:sp>
      <p:sp>
        <p:nvSpPr>
          <p:cNvPr id="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(20/21)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正方形/長方形 7"/>
          <p:cNvSpPr/>
          <p:nvPr/>
        </p:nvSpPr>
        <p:spPr>
          <a:xfrm>
            <a:off x="250829" y="550859"/>
            <a:ext cx="3015056" cy="366639"/>
          </a:xfrm>
          <a:prstGeom prst="rect">
            <a:avLst/>
          </a:prstGeom>
        </p:spPr>
        <p:txBody>
          <a:bodyPr wrap="none">
            <a:spAutoFit/>
          </a:bodyPr>
          <a:lstStyle/>
          <a:p>
            <a:pPr algn="l" eaLnBrk="1" hangingPunct="1">
              <a:lnSpc>
                <a:spcPct val="11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Development Wrap-up</a:t>
            </a:r>
          </a:p>
        </p:txBody>
      </p:sp>
      <p:sp>
        <p:nvSpPr>
          <p:cNvPr id="9" name="コンテンツ プレースホルダー 2">
            <a:extLst>
              <a:ext uri="{FF2B5EF4-FFF2-40B4-BE49-F238E27FC236}">
                <a16:creationId xmlns:a16="http://schemas.microsoft.com/office/drawing/2014/main" id="{7E1503E4-F0B6-4C86-9D74-C2DA1B4D31F1}"/>
              </a:ext>
            </a:extLst>
          </p:cNvPr>
          <p:cNvSpPr txBox="1">
            <a:spLocks/>
          </p:cNvSpPr>
          <p:nvPr>
            <p:custDataLst>
              <p:tags r:id="rId1"/>
            </p:custDataLst>
          </p:nvPr>
        </p:nvSpPr>
        <p:spPr bwMode="auto">
          <a:xfrm>
            <a:off x="4811257" y="6166170"/>
            <a:ext cx="422872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“Project</a:t>
            </a:r>
            <a:r>
              <a:rPr lang="ja-JP" altLang="en-US" sz="1400" b="1" kern="0">
                <a:latin typeface="Meiryo UI" panose="020B0604030504040204" pitchFamily="50" charset="-128"/>
              </a:rPr>
              <a:t> </a:t>
            </a:r>
            <a:r>
              <a:rPr lang="en-US" altLang="ja-JP" sz="1400" b="1" kern="0">
                <a:latin typeface="Meiryo UI" panose="020B0604030504040204" pitchFamily="50" charset="-128"/>
              </a:rPr>
              <a:t>Open</a:t>
            </a:r>
            <a:r>
              <a:rPr lang="ja-JP" altLang="en-US" sz="1400" b="1" kern="0">
                <a:latin typeface="Meiryo UI" panose="020B0604030504040204" pitchFamily="50" charset="-128"/>
              </a:rPr>
              <a:t> </a:t>
            </a:r>
            <a:r>
              <a:rPr lang="en-US" altLang="ja-JP" sz="1400" b="1" kern="0">
                <a:latin typeface="Meiryo UI" panose="020B0604030504040204" pitchFamily="50" charset="-128"/>
              </a:rPr>
              <a:t>items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16</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Requirement</a:t>
            </a:r>
            <a:r>
              <a:rPr lang="en-US" sz="1400" b="1" kern="0">
                <a:latin typeface="Meiryo UI" panose="020B0604030504040204" pitchFamily="50" charset="-128"/>
              </a:rPr>
              <a:t>”</a:t>
            </a:r>
          </a:p>
        </p:txBody>
      </p:sp>
      <p:graphicFrame>
        <p:nvGraphicFramePr>
          <p:cNvPr id="10" name="表 3">
            <a:extLst>
              <a:ext uri="{FF2B5EF4-FFF2-40B4-BE49-F238E27FC236}">
                <a16:creationId xmlns:a16="http://schemas.microsoft.com/office/drawing/2014/main" id="{0093F956-AE98-45C6-8628-963C55FF6B38}"/>
              </a:ext>
            </a:extLst>
          </p:cNvPr>
          <p:cNvGraphicFramePr>
            <a:graphicFrameLocks noGrp="1"/>
          </p:cNvGraphicFramePr>
          <p:nvPr>
            <p:extLst>
              <p:ext uri="{D42A27DB-BD31-4B8C-83A1-F6EECF244321}">
                <p14:modId xmlns:p14="http://schemas.microsoft.com/office/powerpoint/2010/main" val="3821315667"/>
              </p:ext>
            </p:extLst>
          </p:nvPr>
        </p:nvGraphicFramePr>
        <p:xfrm>
          <a:off x="187148" y="5512839"/>
          <a:ext cx="4540982" cy="1280160"/>
        </p:xfrm>
        <a:graphic>
          <a:graphicData uri="http://schemas.openxmlformats.org/drawingml/2006/table">
            <a:tbl>
              <a:tblPr firstRow="1" bandRow="1">
                <a:tableStyleId>{5940675A-B579-460E-94D1-54222C63F5DA}</a:tableStyleId>
              </a:tblPr>
              <a:tblGrid>
                <a:gridCol w="1295215">
                  <a:extLst>
                    <a:ext uri="{9D8B030D-6E8A-4147-A177-3AD203B41FA5}">
                      <a16:colId xmlns:a16="http://schemas.microsoft.com/office/drawing/2014/main" val="2239555202"/>
                    </a:ext>
                  </a:extLst>
                </a:gridCol>
                <a:gridCol w="1005439">
                  <a:extLst>
                    <a:ext uri="{9D8B030D-6E8A-4147-A177-3AD203B41FA5}">
                      <a16:colId xmlns:a16="http://schemas.microsoft.com/office/drawing/2014/main" val="1837594741"/>
                    </a:ext>
                  </a:extLst>
                </a:gridCol>
                <a:gridCol w="1240571">
                  <a:extLst>
                    <a:ext uri="{9D8B030D-6E8A-4147-A177-3AD203B41FA5}">
                      <a16:colId xmlns:a16="http://schemas.microsoft.com/office/drawing/2014/main" val="557138045"/>
                    </a:ext>
                  </a:extLst>
                </a:gridCol>
                <a:gridCol w="999757">
                  <a:extLst>
                    <a:ext uri="{9D8B030D-6E8A-4147-A177-3AD203B41FA5}">
                      <a16:colId xmlns:a16="http://schemas.microsoft.com/office/drawing/2014/main" val="2374698661"/>
                    </a:ext>
                  </a:extLst>
                </a:gridCol>
              </a:tblGrid>
              <a:tr h="217850">
                <a:tc>
                  <a:txBody>
                    <a:bodyPr/>
                    <a:lstStyle/>
                    <a:p>
                      <a:pPr algn="ctr"/>
                      <a:r>
                        <a:rPr kumimoji="1" lang="en-US" altLang="ja-JP" sz="1000">
                          <a:latin typeface="Meiryo UI" panose="020B0604030504040204" pitchFamily="50" charset="-128"/>
                          <a:ea typeface="Meiryo UI" panose="020B0604030504040204" pitchFamily="50" charset="-128"/>
                        </a:rPr>
                        <a:t>Difficulty</a:t>
                      </a:r>
                      <a:r>
                        <a:rPr kumimoji="1" lang="ja-JP" altLang="en-US" sz="1000">
                          <a:latin typeface="Meiryo UI" panose="020B0604030504040204" pitchFamily="50" charset="-128"/>
                          <a:ea typeface="Meiryo UI" panose="020B0604030504040204" pitchFamily="50" charset="-128"/>
                        </a:rPr>
                        <a:t> </a:t>
                      </a:r>
                      <a:r>
                        <a:rPr kumimoji="1" lang="en-US" altLang="ja-JP" sz="1000">
                          <a:latin typeface="Meiryo UI" panose="020B0604030504040204" pitchFamily="50" charset="-128"/>
                          <a:ea typeface="Meiryo UI" panose="020B0604030504040204" pitchFamily="50" charset="-128"/>
                        </a:rPr>
                        <a:t>of detecting fault until MP1 issue</a:t>
                      </a:r>
                    </a:p>
                  </a:txBody>
                  <a:tcPr/>
                </a:tc>
                <a:tc>
                  <a:txBody>
                    <a:bodyPr/>
                    <a:lstStyle/>
                    <a:p>
                      <a:pPr algn="ctr"/>
                      <a:r>
                        <a:rPr kumimoji="1" lang="en-US" altLang="ja-JP" sz="1000">
                          <a:latin typeface="Meiryo UI" panose="020B0604030504040204" pitchFamily="50" charset="-128"/>
                          <a:ea typeface="Meiryo UI" panose="020B0604030504040204" pitchFamily="50" charset="-128"/>
                        </a:rPr>
                        <a:t>Effort against C/M</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Payment</a:t>
                      </a:r>
                      <a:r>
                        <a:rPr kumimoji="1" lang="ja-JP" altLang="en-US" sz="1000">
                          <a:latin typeface="Meiryo UI" panose="020B0604030504040204" pitchFamily="50" charset="-128"/>
                          <a:ea typeface="Meiryo UI" panose="020B0604030504040204" pitchFamily="50" charset="-128"/>
                        </a:rPr>
                        <a:t> </a:t>
                      </a:r>
                      <a:r>
                        <a:rPr kumimoji="1" lang="en-US" altLang="ja-JP" sz="1000">
                          <a:latin typeface="Meiryo UI" panose="020B0604030504040204" pitchFamily="50" charset="-128"/>
                          <a:ea typeface="Meiryo UI" panose="020B0604030504040204" pitchFamily="50" charset="-128"/>
                        </a:rPr>
                        <a:t>Responsibility</a:t>
                      </a:r>
                    </a:p>
                    <a:p>
                      <a:pPr algn="ctr"/>
                      <a:r>
                        <a:rPr kumimoji="1" lang="en-US" altLang="ja-JP" sz="1000">
                          <a:solidFill>
                            <a:srgbClr val="0000FF"/>
                          </a:solidFill>
                          <a:latin typeface="Meiryo UI" panose="020B0604030504040204" pitchFamily="50" charset="-128"/>
                          <a:ea typeface="Meiryo UI" panose="020B0604030504040204" pitchFamily="50" charset="-128"/>
                        </a:rPr>
                        <a:t>Bosch</a:t>
                      </a:r>
                      <a:r>
                        <a:rPr kumimoji="1" lang="en-US" altLang="ja-JP" sz="1000">
                          <a:solidFill>
                            <a:schemeClr val="tx1"/>
                          </a:solidFill>
                          <a:latin typeface="Meiryo UI" panose="020B0604030504040204" pitchFamily="50" charset="-128"/>
                          <a:ea typeface="Meiryo UI" panose="020B0604030504040204" pitchFamily="50" charset="-128"/>
                        </a:rPr>
                        <a:t>/Honda</a:t>
                      </a:r>
                      <a:endParaRPr kumimoji="1" lang="ja-JP" altLang="en-US" sz="1000">
                        <a:solidFill>
                          <a:schemeClr val="tx1"/>
                        </a:solidFill>
                        <a:latin typeface="Meiryo UI" panose="020B0604030504040204" pitchFamily="50" charset="-128"/>
                        <a:ea typeface="Meiryo UI" panose="020B0604030504040204" pitchFamily="50" charset="-128"/>
                      </a:endParaRPr>
                    </a:p>
                  </a:txBody>
                  <a:tcPr/>
                </a:tc>
                <a:tc>
                  <a:txBody>
                    <a:bodyPr/>
                    <a:lstStyle/>
                    <a:p>
                      <a:pPr algn="ctr"/>
                      <a:r>
                        <a:rPr kumimoji="1" lang="en-US" altLang="ja-JP" sz="1000">
                          <a:solidFill>
                            <a:schemeClr val="tx1"/>
                          </a:solidFill>
                          <a:latin typeface="Meiryo UI" panose="020B0604030504040204" pitchFamily="50" charset="-128"/>
                          <a:ea typeface="Meiryo UI" panose="020B0604030504040204" pitchFamily="50" charset="-128"/>
                        </a:rPr>
                        <a:t>SOW</a:t>
                      </a:r>
                      <a:endParaRPr kumimoji="1" lang="ja-JP" altLang="en-US" sz="10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966362997"/>
                  </a:ext>
                </a:extLst>
              </a:tr>
              <a:tr h="203885">
                <a:tc>
                  <a:txBody>
                    <a:bodyPr/>
                    <a:lstStyle/>
                    <a:p>
                      <a:pPr algn="ctr"/>
                      <a:r>
                        <a:rPr kumimoji="1" lang="en-US" altLang="ja-JP" sz="1000">
                          <a:latin typeface="Meiryo UI" panose="020B0604030504040204" pitchFamily="50" charset="-128"/>
                          <a:ea typeface="Meiryo UI" panose="020B0604030504040204" pitchFamily="50" charset="-128"/>
                        </a:rPr>
                        <a:t>Easy</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Low/Mid</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100/0</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Unnecessary</a:t>
                      </a:r>
                      <a:endParaRPr kumimoji="1" lang="ja-JP" altLang="en-US" sz="10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138609816"/>
                  </a:ext>
                </a:extLst>
              </a:tr>
              <a:tr h="203885">
                <a:tc>
                  <a:txBody>
                    <a:bodyPr/>
                    <a:lstStyle/>
                    <a:p>
                      <a:pPr algn="ctr"/>
                      <a:r>
                        <a:rPr kumimoji="1" lang="en-US" altLang="ja-JP" sz="1000">
                          <a:latin typeface="Meiryo UI" panose="020B0604030504040204" pitchFamily="50" charset="-128"/>
                          <a:ea typeface="Meiryo UI" panose="020B0604030504040204" pitchFamily="50" charset="-128"/>
                        </a:rPr>
                        <a:t>Easy</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High</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Need to discuss</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Necessary</a:t>
                      </a:r>
                      <a:endParaRPr kumimoji="1" lang="ja-JP" altLang="en-US" sz="10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198812333"/>
                  </a:ext>
                </a:extLst>
              </a:tr>
              <a:tr h="203885">
                <a:tc>
                  <a:txBody>
                    <a:bodyPr/>
                    <a:lstStyle/>
                    <a:p>
                      <a:pPr algn="ctr"/>
                      <a:r>
                        <a:rPr kumimoji="1" lang="en-US" altLang="ja-JP" sz="1000">
                          <a:latin typeface="Meiryo UI" panose="020B0604030504040204" pitchFamily="50" charset="-128"/>
                          <a:ea typeface="Meiryo UI" panose="020B0604030504040204" pitchFamily="50" charset="-128"/>
                        </a:rPr>
                        <a:t>Difficult</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ja-JP" altLang="en-US" sz="1000">
                          <a:latin typeface="Meiryo UI" panose="020B0604030504040204" pitchFamily="50" charset="-128"/>
                          <a:ea typeface="Meiryo UI" panose="020B0604030504040204" pitchFamily="50" charset="-128"/>
                        </a:rPr>
                        <a:t>ー</a:t>
                      </a:r>
                    </a:p>
                  </a:txBody>
                  <a:tcPr/>
                </a:tc>
                <a:tc>
                  <a:txBody>
                    <a:bodyPr/>
                    <a:lstStyle/>
                    <a:p>
                      <a:pPr algn="ctr"/>
                      <a:r>
                        <a:rPr kumimoji="1" lang="en-US" altLang="ja-JP" sz="1000">
                          <a:latin typeface="Meiryo UI" panose="020B0604030504040204" pitchFamily="50" charset="-128"/>
                          <a:ea typeface="Meiryo UI" panose="020B0604030504040204" pitchFamily="50" charset="-128"/>
                        </a:rPr>
                        <a:t>0/100</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en-US" altLang="ja-JP" sz="1000">
                          <a:latin typeface="Meiryo UI" panose="020B0604030504040204" pitchFamily="50" charset="-128"/>
                          <a:ea typeface="Meiryo UI" panose="020B0604030504040204" pitchFamily="50" charset="-128"/>
                        </a:rPr>
                        <a:t>Necessary</a:t>
                      </a:r>
                      <a:endParaRPr kumimoji="1" lang="ja-JP" altLang="en-US" sz="10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650068478"/>
                  </a:ext>
                </a:extLst>
              </a:tr>
            </a:tbl>
          </a:graphicData>
        </a:graphic>
      </p:graphicFrame>
      <p:sp>
        <p:nvSpPr>
          <p:cNvPr id="11" name="テキスト ボックス 10">
            <a:extLst>
              <a:ext uri="{FF2B5EF4-FFF2-40B4-BE49-F238E27FC236}">
                <a16:creationId xmlns:a16="http://schemas.microsoft.com/office/drawing/2014/main" id="{68FDD6A2-BE6E-430F-A085-2E2895200484}"/>
              </a:ext>
            </a:extLst>
          </p:cNvPr>
          <p:cNvSpPr txBox="1"/>
          <p:nvPr/>
        </p:nvSpPr>
        <p:spPr>
          <a:xfrm>
            <a:off x="133262" y="5171334"/>
            <a:ext cx="4450449" cy="307777"/>
          </a:xfrm>
          <a:prstGeom prst="rect">
            <a:avLst/>
          </a:prstGeom>
          <a:noFill/>
        </p:spPr>
        <p:txBody>
          <a:bodyPr wrap="none" rtlCol="0">
            <a:spAutoFit/>
          </a:bodyPr>
          <a:lstStyle/>
          <a:p>
            <a:pPr algn="l"/>
            <a:r>
              <a:rPr lang="en-US" altLang="ja-JP" sz="1400" u="sng">
                <a:latin typeface="Meiryo UI" panose="020B0604030504040204" pitchFamily="50" charset="-128"/>
                <a:ea typeface="Meiryo UI" panose="020B0604030504040204" pitchFamily="50" charset="-128"/>
              </a:rPr>
              <a:t>Payment responsibility example of Maru-ji items</a:t>
            </a:r>
            <a:endParaRPr kumimoji="1" lang="en-US" altLang="ja-JP" sz="1400" u="sng">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163466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p:cNvSpPr txBox="1"/>
          <p:nvPr/>
        </p:nvSpPr>
        <p:spPr>
          <a:xfrm>
            <a:off x="133262" y="1006558"/>
            <a:ext cx="8916841" cy="4585871"/>
          </a:xfrm>
          <a:prstGeom prst="rect">
            <a:avLst/>
          </a:prstGeom>
          <a:noFill/>
        </p:spPr>
        <p:txBody>
          <a:bodyPr wrap="square" rtlCol="0">
            <a:spAutoFit/>
          </a:bodyPr>
          <a:lstStyle/>
          <a:p>
            <a:pPr algn="l">
              <a:spcBef>
                <a:spcPts val="300"/>
              </a:spcBef>
            </a:pPr>
            <a:r>
              <a:rPr lang="ja-JP" altLang="en-US" sz="1400">
                <a:latin typeface="Meiryo UI" panose="020B0604030504040204" pitchFamily="50" charset="-128"/>
                <a:ea typeface="Meiryo UI" panose="020B0604030504040204" pitchFamily="50" charset="-128"/>
              </a:rPr>
              <a:t>最終</a:t>
            </a:r>
            <a:r>
              <a:rPr lang="en-US" altLang="ja-JP" sz="1400">
                <a:latin typeface="Meiryo UI" panose="020B0604030504040204" pitchFamily="50" charset="-128"/>
                <a:ea typeface="Meiryo UI" panose="020B0604030504040204" pitchFamily="50" charset="-128"/>
              </a:rPr>
              <a:t>MP</a:t>
            </a:r>
            <a:r>
              <a:rPr lang="ja-JP" altLang="en-US" sz="1400">
                <a:latin typeface="Meiryo UI" panose="020B0604030504040204" pitchFamily="50" charset="-128"/>
                <a:ea typeface="Meiryo UI" panose="020B0604030504040204" pitchFamily="50" charset="-128"/>
              </a:rPr>
              <a:t>ファイルリリースから</a:t>
            </a:r>
            <a:r>
              <a:rPr lang="en-US" altLang="ja-JP" sz="1400">
                <a:latin typeface="Meiryo UI" panose="020B0604030504040204" pitchFamily="50" charset="-128"/>
                <a:ea typeface="Meiryo UI" panose="020B0604030504040204" pitchFamily="50" charset="-128"/>
              </a:rPr>
              <a:t>1</a:t>
            </a:r>
            <a:r>
              <a:rPr lang="ja-JP" altLang="en-US" sz="1400">
                <a:latin typeface="Meiryo UI" panose="020B0604030504040204" pitchFamily="50" charset="-128"/>
                <a:ea typeface="Meiryo UI" panose="020B0604030504040204" pitchFamily="50" charset="-128"/>
              </a:rPr>
              <a:t>カ月以内に、まとめ・振り返りの打ち合わせを行うこと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目的は、次プロジェクトをどううまく運営するかを議論することである。</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技術的課題</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 </a:t>
            </a:r>
            <a:r>
              <a:rPr lang="ja-JP" altLang="en-US" sz="1400">
                <a:latin typeface="Meiryo UI" panose="020B0604030504040204" pitchFamily="50" charset="-128"/>
                <a:ea typeface="Meiryo UI" panose="020B0604030504040204" pitchFamily="50" charset="-128"/>
              </a:rPr>
              <a:t>次プロジェクトへ延期した項目は何か</a:t>
            </a:r>
            <a:r>
              <a:rPr lang="en-US" altLang="ja-JP" sz="1400">
                <a:latin typeface="Meiryo UI" panose="020B0604030504040204" pitchFamily="50" charset="-128"/>
                <a:ea typeface="Meiryo UI" panose="020B0604030504040204" pitchFamily="50" charset="-128"/>
              </a:rPr>
              <a:t>?</a:t>
            </a:r>
          </a:p>
          <a:p>
            <a:pPr algn="l">
              <a:spcBef>
                <a:spcPts val="300"/>
              </a:spcBef>
            </a:pPr>
            <a:r>
              <a:rPr lang="en-US" altLang="ja-JP" sz="1400">
                <a:latin typeface="Meiryo UI" panose="020B0604030504040204" pitchFamily="50" charset="-128"/>
                <a:ea typeface="Meiryo UI" panose="020B0604030504040204" pitchFamily="50" charset="-128"/>
              </a:rPr>
              <a:t>	- </a:t>
            </a:r>
            <a:r>
              <a:rPr lang="ja-JP" altLang="en-US" sz="1400">
                <a:latin typeface="Meiryo UI" panose="020B0604030504040204" pitchFamily="50" charset="-128"/>
                <a:ea typeface="Meiryo UI" panose="020B0604030504040204" pitchFamily="50" charset="-128"/>
              </a:rPr>
              <a:t>現プロジェクト内での技術的な課題は何であったか</a:t>
            </a:r>
            <a:r>
              <a:rPr lang="en-US" altLang="ja-JP" sz="1400">
                <a:latin typeface="Meiryo UI" panose="020B0604030504040204" pitchFamily="50" charset="-128"/>
                <a:ea typeface="Meiryo UI" panose="020B0604030504040204" pitchFamily="50" charset="-128"/>
              </a:rPr>
              <a:t>?</a:t>
            </a:r>
          </a:p>
          <a:p>
            <a:pPr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振り返り、なぜなぜ</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 </a:t>
            </a:r>
            <a:r>
              <a:rPr lang="ja-JP" altLang="en-US" sz="1400">
                <a:latin typeface="Meiryo UI" panose="020B0604030504040204" pitchFamily="50" charset="-128"/>
                <a:ea typeface="Meiryo UI" panose="020B0604030504040204" pitchFamily="50" charset="-128"/>
              </a:rPr>
              <a:t>現プロジェクトを運営するうえでの課題は何であったか</a:t>
            </a:r>
            <a:r>
              <a:rPr lang="en-US" altLang="ja-JP" sz="1400">
                <a:latin typeface="Meiryo UI" panose="020B0604030504040204" pitchFamily="50" charset="-128"/>
                <a:ea typeface="Meiryo UI" panose="020B0604030504040204" pitchFamily="50" charset="-128"/>
              </a:rPr>
              <a:t>?</a:t>
            </a:r>
          </a:p>
          <a:p>
            <a:pPr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エキスパートミーティングまたはレギュラーミーティングにおいて、マル次項目がある場合は、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に</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以下の項目を報告し、合意を得ること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 </a:t>
            </a:r>
            <a:r>
              <a:rPr lang="ja-JP" altLang="en-US" sz="1400">
                <a:latin typeface="Meiryo UI" panose="020B0604030504040204" pitchFamily="50" charset="-128"/>
                <a:ea typeface="Meiryo UI" panose="020B0604030504040204" pitchFamily="50" charset="-128"/>
              </a:rPr>
              <a:t>残項目は何か？　解決できなかった項目は何か？</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 </a:t>
            </a:r>
            <a:r>
              <a:rPr lang="ja-JP" altLang="en-US" sz="1400">
                <a:latin typeface="Meiryo UI" panose="020B0604030504040204" pitchFamily="50" charset="-128"/>
                <a:ea typeface="Meiryo UI" panose="020B0604030504040204" pitchFamily="50" charset="-128"/>
              </a:rPr>
              <a:t>その原因は何か？</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 </a:t>
            </a:r>
            <a:r>
              <a:rPr lang="ja-JP" altLang="en-US" sz="1400">
                <a:latin typeface="Meiryo UI" panose="020B0604030504040204" pitchFamily="50" charset="-128"/>
                <a:ea typeface="Meiryo UI" panose="020B0604030504040204" pitchFamily="50" charset="-128"/>
              </a:rPr>
              <a:t>どのように解決するか？</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マル次項目は</a:t>
            </a:r>
            <a:r>
              <a:rPr lang="en-US" altLang="ja-JP" sz="1400">
                <a:solidFill>
                  <a:srgbClr val="0000FF"/>
                </a:solidFill>
                <a:latin typeface="Meiryo UI" panose="020B0604030504040204" pitchFamily="50" charset="-128"/>
                <a:ea typeface="Meiryo UI" panose="020B0604030504040204" pitchFamily="50" charset="-128"/>
              </a:rPr>
              <a:t>Bosch</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双方で抽出し整合する。</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合意文書は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によって、添付ファイルの書式にて発行し、次プロジェクトのバウンダリーコンディションに反映すること。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開発での不具合抽出、対策の難易度によらず、全てのマル次項目についての負担割合を両社で協議し、マル次項目の原因</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が</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にある場合、</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は次プロジェクトにおいて無償で対応すること。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ja-JP" sz="1400">
                <a:effectLst/>
                <a:latin typeface="Meiryo UI" panose="020B0604030504040204" pitchFamily="50" charset="-128"/>
                <a:ea typeface="Meiryo UI" panose="020B0604030504040204" pitchFamily="50" charset="-128"/>
                <a:cs typeface="Times New Roman" panose="02020603050405020304" pitchFamily="18" charset="0"/>
              </a:rPr>
              <a:t>マル次項目整合後、関連機種への反映漏れ防止のため、マル次項目毎に</a:t>
            </a:r>
            <a:r>
              <a:rPr lang="en-US" altLang="ja-JP" sz="1400">
                <a:effectLst/>
                <a:latin typeface="Meiryo UI" panose="020B0604030504040204" pitchFamily="50" charset="-128"/>
                <a:ea typeface="Meiryo UI" panose="020B0604030504040204" pitchFamily="50" charset="-128"/>
                <a:cs typeface="Times New Roman" panose="02020603050405020304" pitchFamily="18" charset="0"/>
              </a:rPr>
              <a:t>CR</a:t>
            </a:r>
            <a:r>
              <a:rPr lang="ja-JP" altLang="ja-JP" sz="1400">
                <a:effectLst/>
                <a:latin typeface="Meiryo UI" panose="020B0604030504040204" pitchFamily="50" charset="-128"/>
                <a:ea typeface="Meiryo UI" panose="020B0604030504040204" pitchFamily="50" charset="-128"/>
                <a:cs typeface="Times New Roman" panose="02020603050405020304" pitchFamily="18" charset="0"/>
              </a:rPr>
              <a:t>を発行すること</a:t>
            </a:r>
            <a:endParaRPr kumimoji="1" lang="en-US" altLang="ja-JP" sz="1400">
              <a:latin typeface="Meiryo UI" panose="020B0604030504040204" pitchFamily="50" charset="-128"/>
              <a:ea typeface="Meiryo UI" panose="020B0604030504040204" pitchFamily="50" charset="-128"/>
            </a:endParaRPr>
          </a:p>
          <a:p>
            <a:pPr algn="l">
              <a:spcBef>
                <a:spcPts val="300"/>
              </a:spcBef>
            </a:pPr>
            <a:endParaRPr lang="en-US" altLang="ja-JP" sz="1400">
              <a:latin typeface="Meiryo UI" panose="020B0604030504040204" pitchFamily="50" charset="-128"/>
              <a:ea typeface="Meiryo UI" panose="020B0604030504040204" pitchFamily="50" charset="-128"/>
            </a:endParaRPr>
          </a:p>
        </p:txBody>
      </p:sp>
      <p:sp>
        <p:nvSpPr>
          <p:cNvPr id="7"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16. EMS Requirement and CR (21/21)</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コンテンツ プレースホルダー 2"/>
          <p:cNvSpPr txBox="1">
            <a:spLocks/>
          </p:cNvSpPr>
          <p:nvPr>
            <p:custDataLst>
              <p:tags r:id="rId1"/>
            </p:custDataLst>
          </p:nvPr>
        </p:nvSpPr>
        <p:spPr bwMode="auto">
          <a:xfrm>
            <a:off x="4821381" y="6273694"/>
            <a:ext cx="422872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“Project</a:t>
            </a:r>
            <a:r>
              <a:rPr lang="ja-JP" altLang="en-US" sz="1400" b="1" kern="0">
                <a:latin typeface="Meiryo UI" panose="020B0604030504040204" pitchFamily="50" charset="-128"/>
              </a:rPr>
              <a:t> </a:t>
            </a:r>
            <a:r>
              <a:rPr lang="en-US" altLang="ja-JP" sz="1400" b="1" kern="0">
                <a:latin typeface="Meiryo UI" panose="020B0604030504040204" pitchFamily="50" charset="-128"/>
              </a:rPr>
              <a:t>Open</a:t>
            </a:r>
            <a:r>
              <a:rPr lang="ja-JP" altLang="en-US" sz="1400" b="1" kern="0">
                <a:latin typeface="Meiryo UI" panose="020B0604030504040204" pitchFamily="50" charset="-128"/>
              </a:rPr>
              <a:t> </a:t>
            </a:r>
            <a:r>
              <a:rPr lang="en-US" altLang="ja-JP" sz="1400" b="1" kern="0">
                <a:latin typeface="Meiryo UI" panose="020B0604030504040204" pitchFamily="50" charset="-128"/>
              </a:rPr>
              <a:t>items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16</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Requirement</a:t>
            </a:r>
            <a:r>
              <a:rPr lang="en-US" sz="1400" b="1" kern="0">
                <a:latin typeface="Meiryo UI" panose="020B0604030504040204" pitchFamily="50" charset="-128"/>
              </a:rPr>
              <a:t>”</a:t>
            </a:r>
          </a:p>
        </p:txBody>
      </p:sp>
      <p:sp>
        <p:nvSpPr>
          <p:cNvPr id="9" name="正方形/長方形 8"/>
          <p:cNvSpPr/>
          <p:nvPr/>
        </p:nvSpPr>
        <p:spPr>
          <a:xfrm>
            <a:off x="0" y="627905"/>
            <a:ext cx="1657826" cy="397032"/>
          </a:xfrm>
          <a:prstGeom prst="rect">
            <a:avLst/>
          </a:prstGeom>
        </p:spPr>
        <p:txBody>
          <a:bodyPr wrap="none">
            <a:spAutoFit/>
          </a:bodyPr>
          <a:lstStyle/>
          <a:p>
            <a:pPr algn="l" eaLnBrk="1" hangingPunct="1">
              <a:lnSpc>
                <a:spcPct val="110000"/>
              </a:lnSpc>
            </a:pP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開発項目まとめ</a:t>
            </a:r>
            <a:endParaRPr lang="en-US" altLang="ja-JP" sz="1800" b="1" u="sng">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3" name="表 3">
            <a:extLst>
              <a:ext uri="{FF2B5EF4-FFF2-40B4-BE49-F238E27FC236}">
                <a16:creationId xmlns:a16="http://schemas.microsoft.com/office/drawing/2014/main" id="{30E26847-5DF4-4C93-A6B8-30A776E39829}"/>
              </a:ext>
            </a:extLst>
          </p:cNvPr>
          <p:cNvGraphicFramePr>
            <a:graphicFrameLocks noGrp="1"/>
          </p:cNvGraphicFramePr>
          <p:nvPr>
            <p:extLst>
              <p:ext uri="{D42A27DB-BD31-4B8C-83A1-F6EECF244321}">
                <p14:modId xmlns:p14="http://schemas.microsoft.com/office/powerpoint/2010/main" val="3751335131"/>
              </p:ext>
            </p:extLst>
          </p:nvPr>
        </p:nvGraphicFramePr>
        <p:xfrm>
          <a:off x="187148" y="5618854"/>
          <a:ext cx="4353511" cy="1127760"/>
        </p:xfrm>
        <a:graphic>
          <a:graphicData uri="http://schemas.openxmlformats.org/drawingml/2006/table">
            <a:tbl>
              <a:tblPr firstRow="1" bandRow="1">
                <a:tableStyleId>{5940675A-B579-460E-94D1-54222C63F5DA}</a:tableStyleId>
              </a:tblPr>
              <a:tblGrid>
                <a:gridCol w="1241743">
                  <a:extLst>
                    <a:ext uri="{9D8B030D-6E8A-4147-A177-3AD203B41FA5}">
                      <a16:colId xmlns:a16="http://schemas.microsoft.com/office/drawing/2014/main" val="2239555202"/>
                    </a:ext>
                  </a:extLst>
                </a:gridCol>
                <a:gridCol w="963930">
                  <a:extLst>
                    <a:ext uri="{9D8B030D-6E8A-4147-A177-3AD203B41FA5}">
                      <a16:colId xmlns:a16="http://schemas.microsoft.com/office/drawing/2014/main" val="1837594741"/>
                    </a:ext>
                  </a:extLst>
                </a:gridCol>
                <a:gridCol w="1189355">
                  <a:extLst>
                    <a:ext uri="{9D8B030D-6E8A-4147-A177-3AD203B41FA5}">
                      <a16:colId xmlns:a16="http://schemas.microsoft.com/office/drawing/2014/main" val="557138045"/>
                    </a:ext>
                  </a:extLst>
                </a:gridCol>
                <a:gridCol w="958483">
                  <a:extLst>
                    <a:ext uri="{9D8B030D-6E8A-4147-A177-3AD203B41FA5}">
                      <a16:colId xmlns:a16="http://schemas.microsoft.com/office/drawing/2014/main" val="2374698661"/>
                    </a:ext>
                  </a:extLst>
                </a:gridCol>
              </a:tblGrid>
              <a:tr h="217850">
                <a:tc>
                  <a:txBody>
                    <a:bodyPr/>
                    <a:lstStyle/>
                    <a:p>
                      <a:pPr algn="ctr"/>
                      <a:r>
                        <a:rPr kumimoji="1" lang="ja-JP" altLang="en-US" sz="1000">
                          <a:latin typeface="Meiryo UI" panose="020B0604030504040204" pitchFamily="50" charset="-128"/>
                          <a:ea typeface="Meiryo UI" panose="020B0604030504040204" pitchFamily="50" charset="-128"/>
                        </a:rPr>
                        <a:t>不具合抽出の</a:t>
                      </a:r>
                      <a:endParaRPr kumimoji="1" lang="en-US" altLang="ja-JP" sz="1000">
                        <a:latin typeface="Meiryo UI" panose="020B0604030504040204" pitchFamily="50" charset="-128"/>
                        <a:ea typeface="Meiryo UI" panose="020B0604030504040204" pitchFamily="50" charset="-128"/>
                      </a:endParaRPr>
                    </a:p>
                    <a:p>
                      <a:pPr algn="ctr"/>
                      <a:r>
                        <a:rPr kumimoji="1" lang="ja-JP" altLang="en-US" sz="1000">
                          <a:latin typeface="Meiryo UI" panose="020B0604030504040204" pitchFamily="50" charset="-128"/>
                          <a:ea typeface="Meiryo UI" panose="020B0604030504040204" pitchFamily="50" charset="-128"/>
                        </a:rPr>
                        <a:t>難易度</a:t>
                      </a:r>
                      <a:r>
                        <a:rPr kumimoji="1" lang="en-US" altLang="ja-JP" sz="1000">
                          <a:latin typeface="Meiryo UI" panose="020B0604030504040204" pitchFamily="50" charset="-128"/>
                          <a:ea typeface="Meiryo UI" panose="020B0604030504040204" pitchFamily="50" charset="-128"/>
                        </a:rPr>
                        <a:t>(~MP1)</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ja-JP" altLang="en-US" sz="1000">
                          <a:latin typeface="Meiryo UI" panose="020B0604030504040204" pitchFamily="50" charset="-128"/>
                          <a:ea typeface="Meiryo UI" panose="020B0604030504040204" pitchFamily="50" charset="-128"/>
                        </a:rPr>
                        <a:t>対策の難易度</a:t>
                      </a:r>
                    </a:p>
                  </a:txBody>
                  <a:tcPr/>
                </a:tc>
                <a:tc>
                  <a:txBody>
                    <a:bodyPr/>
                    <a:lstStyle/>
                    <a:p>
                      <a:pPr algn="ctr"/>
                      <a:r>
                        <a:rPr kumimoji="1" lang="ja-JP" altLang="en-US" sz="1000">
                          <a:latin typeface="Meiryo UI" panose="020B0604030504040204" pitchFamily="50" charset="-128"/>
                          <a:ea typeface="Meiryo UI" panose="020B0604030504040204" pitchFamily="50" charset="-128"/>
                        </a:rPr>
                        <a:t>負担割合</a:t>
                      </a:r>
                      <a:endParaRPr kumimoji="1" lang="en-US" altLang="ja-JP" sz="1000">
                        <a:latin typeface="Meiryo UI" panose="020B0604030504040204" pitchFamily="50" charset="-128"/>
                        <a:ea typeface="Meiryo UI" panose="020B0604030504040204" pitchFamily="50" charset="-128"/>
                      </a:endParaRPr>
                    </a:p>
                    <a:p>
                      <a:pPr algn="ctr"/>
                      <a:r>
                        <a:rPr kumimoji="1" lang="en-US" altLang="ja-JP" sz="1000">
                          <a:solidFill>
                            <a:srgbClr val="0000FF"/>
                          </a:solidFill>
                          <a:latin typeface="Meiryo UI" panose="020B0604030504040204" pitchFamily="50" charset="-128"/>
                          <a:ea typeface="Meiryo UI" panose="020B0604030504040204" pitchFamily="50" charset="-128"/>
                        </a:rPr>
                        <a:t>Bosch</a:t>
                      </a:r>
                      <a:r>
                        <a:rPr kumimoji="1" lang="en-US" altLang="ja-JP" sz="1000">
                          <a:solidFill>
                            <a:schemeClr val="tx1"/>
                          </a:solidFill>
                          <a:latin typeface="Meiryo UI" panose="020B0604030504040204" pitchFamily="50" charset="-128"/>
                          <a:ea typeface="Meiryo UI" panose="020B0604030504040204" pitchFamily="50" charset="-128"/>
                        </a:rPr>
                        <a:t>/Honda</a:t>
                      </a:r>
                      <a:endParaRPr kumimoji="1" lang="ja-JP" altLang="en-US" sz="1000">
                        <a:solidFill>
                          <a:schemeClr val="tx1"/>
                        </a:solidFill>
                        <a:latin typeface="Meiryo UI" panose="020B0604030504040204" pitchFamily="50" charset="-128"/>
                        <a:ea typeface="Meiryo UI" panose="020B0604030504040204" pitchFamily="50" charset="-128"/>
                      </a:endParaRPr>
                    </a:p>
                  </a:txBody>
                  <a:tcPr/>
                </a:tc>
                <a:tc>
                  <a:txBody>
                    <a:bodyPr/>
                    <a:lstStyle/>
                    <a:p>
                      <a:pPr algn="ctr"/>
                      <a:r>
                        <a:rPr kumimoji="1" lang="en-US" altLang="ja-JP" sz="1000">
                          <a:solidFill>
                            <a:schemeClr val="tx1"/>
                          </a:solidFill>
                          <a:latin typeface="Meiryo UI" panose="020B0604030504040204" pitchFamily="50" charset="-128"/>
                          <a:ea typeface="Meiryo UI" panose="020B0604030504040204" pitchFamily="50" charset="-128"/>
                        </a:rPr>
                        <a:t>SOW</a:t>
                      </a:r>
                      <a:r>
                        <a:rPr kumimoji="1" lang="ja-JP" altLang="en-US" sz="1000">
                          <a:solidFill>
                            <a:schemeClr val="tx1"/>
                          </a:solidFill>
                          <a:latin typeface="Meiryo UI" panose="020B0604030504040204" pitchFamily="50" charset="-128"/>
                          <a:ea typeface="Meiryo UI" panose="020B0604030504040204" pitchFamily="50" charset="-128"/>
                        </a:rPr>
                        <a:t>反映</a:t>
                      </a:r>
                    </a:p>
                  </a:txBody>
                  <a:tcPr/>
                </a:tc>
                <a:extLst>
                  <a:ext uri="{0D108BD9-81ED-4DB2-BD59-A6C34878D82A}">
                    <a16:rowId xmlns:a16="http://schemas.microsoft.com/office/drawing/2014/main" val="966362997"/>
                  </a:ext>
                </a:extLst>
              </a:tr>
              <a:tr h="203885">
                <a:tc>
                  <a:txBody>
                    <a:bodyPr/>
                    <a:lstStyle/>
                    <a:p>
                      <a:pPr algn="ctr"/>
                      <a:r>
                        <a:rPr kumimoji="1" lang="ja-JP" altLang="en-US" sz="1000">
                          <a:latin typeface="Meiryo UI" panose="020B0604030504040204" pitchFamily="50" charset="-128"/>
                          <a:ea typeface="Meiryo UI" panose="020B0604030504040204" pitchFamily="50" charset="-128"/>
                        </a:rPr>
                        <a:t>容易</a:t>
                      </a:r>
                    </a:p>
                  </a:txBody>
                  <a:tcPr/>
                </a:tc>
                <a:tc>
                  <a:txBody>
                    <a:bodyPr/>
                    <a:lstStyle/>
                    <a:p>
                      <a:pPr algn="ctr"/>
                      <a:r>
                        <a:rPr kumimoji="1" lang="ja-JP" altLang="en-US" sz="1000">
                          <a:latin typeface="Meiryo UI" panose="020B0604030504040204" pitchFamily="50" charset="-128"/>
                          <a:ea typeface="Meiryo UI" panose="020B0604030504040204" pitchFamily="50" charset="-128"/>
                        </a:rPr>
                        <a:t>低・中</a:t>
                      </a:r>
                    </a:p>
                  </a:txBody>
                  <a:tcPr/>
                </a:tc>
                <a:tc>
                  <a:txBody>
                    <a:bodyPr/>
                    <a:lstStyle/>
                    <a:p>
                      <a:pPr algn="ctr"/>
                      <a:r>
                        <a:rPr kumimoji="1" lang="en-US" altLang="ja-JP" sz="1000">
                          <a:latin typeface="Meiryo UI" panose="020B0604030504040204" pitchFamily="50" charset="-128"/>
                          <a:ea typeface="Meiryo UI" panose="020B0604030504040204" pitchFamily="50" charset="-128"/>
                        </a:rPr>
                        <a:t>100/0</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ja-JP" altLang="en-US" sz="1000">
                          <a:latin typeface="Meiryo UI" panose="020B0604030504040204" pitchFamily="50" charset="-128"/>
                          <a:ea typeface="Meiryo UI" panose="020B0604030504040204" pitchFamily="50" charset="-128"/>
                        </a:rPr>
                        <a:t>不要</a:t>
                      </a:r>
                    </a:p>
                  </a:txBody>
                  <a:tcPr/>
                </a:tc>
                <a:extLst>
                  <a:ext uri="{0D108BD9-81ED-4DB2-BD59-A6C34878D82A}">
                    <a16:rowId xmlns:a16="http://schemas.microsoft.com/office/drawing/2014/main" val="2138609816"/>
                  </a:ext>
                </a:extLst>
              </a:tr>
              <a:tr h="203885">
                <a:tc>
                  <a:txBody>
                    <a:bodyPr/>
                    <a:lstStyle/>
                    <a:p>
                      <a:pPr algn="ctr"/>
                      <a:r>
                        <a:rPr kumimoji="1" lang="ja-JP" altLang="en-US" sz="1000">
                          <a:latin typeface="Meiryo UI" panose="020B0604030504040204" pitchFamily="50" charset="-128"/>
                          <a:ea typeface="Meiryo UI" panose="020B0604030504040204" pitchFamily="50" charset="-128"/>
                        </a:rPr>
                        <a:t>容易</a:t>
                      </a:r>
                    </a:p>
                  </a:txBody>
                  <a:tcPr/>
                </a:tc>
                <a:tc>
                  <a:txBody>
                    <a:bodyPr/>
                    <a:lstStyle/>
                    <a:p>
                      <a:pPr algn="ctr"/>
                      <a:r>
                        <a:rPr kumimoji="1" lang="ja-JP" altLang="en-US" sz="1000">
                          <a:latin typeface="Meiryo UI" panose="020B0604030504040204" pitchFamily="50" charset="-128"/>
                          <a:ea typeface="Meiryo UI" panose="020B0604030504040204" pitchFamily="50" charset="-128"/>
                        </a:rPr>
                        <a:t>高</a:t>
                      </a:r>
                    </a:p>
                  </a:txBody>
                  <a:tcPr/>
                </a:tc>
                <a:tc>
                  <a:txBody>
                    <a:bodyPr/>
                    <a:lstStyle/>
                    <a:p>
                      <a:pPr algn="ctr"/>
                      <a:r>
                        <a:rPr kumimoji="1" lang="ja-JP" altLang="en-US" sz="1000">
                          <a:latin typeface="Meiryo UI" panose="020B0604030504040204" pitchFamily="50" charset="-128"/>
                          <a:ea typeface="Meiryo UI" panose="020B0604030504040204" pitchFamily="50" charset="-128"/>
                        </a:rPr>
                        <a:t>割合整合</a:t>
                      </a:r>
                    </a:p>
                  </a:txBody>
                  <a:tcPr/>
                </a:tc>
                <a:tc>
                  <a:txBody>
                    <a:bodyPr/>
                    <a:lstStyle/>
                    <a:p>
                      <a:pPr algn="ctr"/>
                      <a:r>
                        <a:rPr kumimoji="1" lang="ja-JP" altLang="en-US" sz="1000">
                          <a:latin typeface="Meiryo UI" panose="020B0604030504040204" pitchFamily="50" charset="-128"/>
                          <a:ea typeface="Meiryo UI" panose="020B0604030504040204" pitchFamily="50" charset="-128"/>
                        </a:rPr>
                        <a:t>要</a:t>
                      </a:r>
                    </a:p>
                  </a:txBody>
                  <a:tcPr/>
                </a:tc>
                <a:extLst>
                  <a:ext uri="{0D108BD9-81ED-4DB2-BD59-A6C34878D82A}">
                    <a16:rowId xmlns:a16="http://schemas.microsoft.com/office/drawing/2014/main" val="3198812333"/>
                  </a:ext>
                </a:extLst>
              </a:tr>
              <a:tr h="203885">
                <a:tc>
                  <a:txBody>
                    <a:bodyPr/>
                    <a:lstStyle/>
                    <a:p>
                      <a:pPr algn="ctr"/>
                      <a:r>
                        <a:rPr kumimoji="1" lang="ja-JP" altLang="en-US" sz="1000">
                          <a:latin typeface="Meiryo UI" panose="020B0604030504040204" pitchFamily="50" charset="-128"/>
                          <a:ea typeface="Meiryo UI" panose="020B0604030504040204" pitchFamily="50" charset="-128"/>
                        </a:rPr>
                        <a:t>困難</a:t>
                      </a:r>
                    </a:p>
                  </a:txBody>
                  <a:tcPr/>
                </a:tc>
                <a:tc>
                  <a:txBody>
                    <a:bodyPr/>
                    <a:lstStyle/>
                    <a:p>
                      <a:pPr algn="ctr"/>
                      <a:r>
                        <a:rPr kumimoji="1" lang="ja-JP" altLang="en-US" sz="1000">
                          <a:latin typeface="Meiryo UI" panose="020B0604030504040204" pitchFamily="50" charset="-128"/>
                          <a:ea typeface="Meiryo UI" panose="020B0604030504040204" pitchFamily="50" charset="-128"/>
                        </a:rPr>
                        <a:t>ー</a:t>
                      </a:r>
                    </a:p>
                  </a:txBody>
                  <a:tcPr/>
                </a:tc>
                <a:tc>
                  <a:txBody>
                    <a:bodyPr/>
                    <a:lstStyle/>
                    <a:p>
                      <a:pPr algn="ctr"/>
                      <a:r>
                        <a:rPr kumimoji="1" lang="en-US" altLang="ja-JP" sz="1000">
                          <a:latin typeface="Meiryo UI" panose="020B0604030504040204" pitchFamily="50" charset="-128"/>
                          <a:ea typeface="Meiryo UI" panose="020B0604030504040204" pitchFamily="50" charset="-128"/>
                        </a:rPr>
                        <a:t>0/100</a:t>
                      </a:r>
                      <a:endParaRPr kumimoji="1" lang="ja-JP" altLang="en-US" sz="1000">
                        <a:latin typeface="Meiryo UI" panose="020B0604030504040204" pitchFamily="50" charset="-128"/>
                        <a:ea typeface="Meiryo UI" panose="020B0604030504040204" pitchFamily="50" charset="-128"/>
                      </a:endParaRPr>
                    </a:p>
                  </a:txBody>
                  <a:tcPr/>
                </a:tc>
                <a:tc>
                  <a:txBody>
                    <a:bodyPr/>
                    <a:lstStyle/>
                    <a:p>
                      <a:pPr algn="ctr"/>
                      <a:r>
                        <a:rPr kumimoji="1" lang="ja-JP" altLang="en-US" sz="1000">
                          <a:latin typeface="Meiryo UI" panose="020B0604030504040204" pitchFamily="50" charset="-128"/>
                          <a:ea typeface="Meiryo UI" panose="020B0604030504040204" pitchFamily="50" charset="-128"/>
                        </a:rPr>
                        <a:t>要</a:t>
                      </a:r>
                    </a:p>
                  </a:txBody>
                  <a:tcPr/>
                </a:tc>
                <a:extLst>
                  <a:ext uri="{0D108BD9-81ED-4DB2-BD59-A6C34878D82A}">
                    <a16:rowId xmlns:a16="http://schemas.microsoft.com/office/drawing/2014/main" val="2650068478"/>
                  </a:ext>
                </a:extLst>
              </a:tr>
            </a:tbl>
          </a:graphicData>
        </a:graphic>
      </p:graphicFrame>
      <p:sp>
        <p:nvSpPr>
          <p:cNvPr id="10" name="テキスト ボックス 9">
            <a:extLst>
              <a:ext uri="{FF2B5EF4-FFF2-40B4-BE49-F238E27FC236}">
                <a16:creationId xmlns:a16="http://schemas.microsoft.com/office/drawing/2014/main" id="{3808B24F-516E-4831-8880-A5A7F2F244D0}"/>
              </a:ext>
            </a:extLst>
          </p:cNvPr>
          <p:cNvSpPr txBox="1"/>
          <p:nvPr/>
        </p:nvSpPr>
        <p:spPr>
          <a:xfrm>
            <a:off x="143146" y="5288235"/>
            <a:ext cx="1806905" cy="307777"/>
          </a:xfrm>
          <a:prstGeom prst="rect">
            <a:avLst/>
          </a:prstGeom>
          <a:noFill/>
        </p:spPr>
        <p:txBody>
          <a:bodyPr wrap="none" rtlCol="0">
            <a:spAutoFit/>
          </a:bodyPr>
          <a:lstStyle/>
          <a:p>
            <a:pPr algn="l"/>
            <a:r>
              <a:rPr lang="ja-JP" altLang="en-US" sz="1400" u="sng">
                <a:latin typeface="Meiryo UI" panose="020B0604030504040204" pitchFamily="50" charset="-128"/>
                <a:ea typeface="Meiryo UI" panose="020B0604030504040204" pitchFamily="50" charset="-128"/>
              </a:rPr>
              <a:t>マル次　負担</a:t>
            </a:r>
            <a:r>
              <a:rPr kumimoji="1" lang="ja-JP" altLang="en-US" sz="1400" u="sng">
                <a:latin typeface="Meiryo UI" panose="020B0604030504040204" pitchFamily="50" charset="-128"/>
                <a:ea typeface="Meiryo UI" panose="020B0604030504040204" pitchFamily="50" charset="-128"/>
              </a:rPr>
              <a:t>割合の</a:t>
            </a:r>
            <a:r>
              <a:rPr lang="ja-JP" altLang="en-US" sz="1400" u="sng">
                <a:latin typeface="Meiryo UI" panose="020B0604030504040204" pitchFamily="50" charset="-128"/>
                <a:ea typeface="Meiryo UI" panose="020B0604030504040204" pitchFamily="50" charset="-128"/>
              </a:rPr>
              <a:t>例</a:t>
            </a:r>
            <a:endParaRPr kumimoji="1" lang="en-US" altLang="ja-JP" sz="1400" u="sng">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677969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6868687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(1/31)</a:t>
            </a:r>
            <a:r>
              <a:rPr lang="ja-JP" altLang="en-US" sz="1800">
                <a:solidFill>
                  <a:srgbClr val="FFFFFF"/>
                </a:solidFill>
                <a:latin typeface="Meiryo UI" panose="020B0604030504040204" pitchFamily="50" charset="-128"/>
                <a:ea typeface="Meiryo UI" panose="020B0604030504040204" pitchFamily="50" charset="-128"/>
                <a:cs typeface="Arial" pitchFamily="34" charset="0"/>
              </a:rPr>
              <a:t> </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3" name="テキスト ボックス 2"/>
          <p:cNvSpPr txBox="1"/>
          <p:nvPr/>
        </p:nvSpPr>
        <p:spPr>
          <a:xfrm>
            <a:off x="100424" y="522554"/>
            <a:ext cx="5913670" cy="369332"/>
          </a:xfrm>
          <a:prstGeom prst="rect">
            <a:avLst/>
          </a:prstGeom>
          <a:noFill/>
        </p:spPr>
        <p:txBody>
          <a:bodyPr wrap="none" rtlCol="0">
            <a:spAutoFit/>
          </a:bodyPr>
          <a:lstStyle/>
          <a:p>
            <a:pPr algn="l"/>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Maturation Verification Main Point (definition) </a:t>
            </a:r>
            <a:endParaRPr lang="ja-JP" altLang="en-US" sz="18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0" name="テキスト ボックス 9"/>
          <p:cNvSpPr txBox="1"/>
          <p:nvPr/>
        </p:nvSpPr>
        <p:spPr>
          <a:xfrm>
            <a:off x="100424" y="891886"/>
            <a:ext cx="9009384" cy="4216539"/>
          </a:xfrm>
          <a:prstGeom prst="rect">
            <a:avLst/>
          </a:prstGeom>
          <a:noFill/>
        </p:spPr>
        <p:txBody>
          <a:bodyPr wrap="square" rtlCol="0">
            <a:spAutoFit/>
          </a:bodyPr>
          <a:lstStyle/>
          <a:p>
            <a:pPr marL="263525" indent="-263525" algn="l">
              <a:spcBef>
                <a:spcPts val="300"/>
              </a:spcBef>
            </a:pPr>
            <a:r>
              <a:rPr lang="ja-JP" altLang="en-US" sz="1400">
                <a:solidFill>
                  <a:srgbClr val="000000"/>
                </a:solidFill>
                <a:latin typeface="Meiryo UI" panose="020B0604030504040204" pitchFamily="50" charset="-128"/>
                <a:ea typeface="Meiryo UI" panose="020B0604030504040204" pitchFamily="50" charset="-128"/>
                <a:cs typeface="Arial" pitchFamily="34" charset="0"/>
              </a:rPr>
              <a:t>１．</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Calibration</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verification</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a:t>
            </a:r>
            <a:endParaRPr lang="en-US" altLang="ja-JP" sz="1400">
              <a:solidFill>
                <a:srgbClr val="000000"/>
              </a:solidFill>
              <a:latin typeface="Meiryo UI" panose="020B0604030504040204" pitchFamily="50" charset="-128"/>
              <a:ea typeface="Meiryo UI" panose="020B0604030504040204" pitchFamily="50" charset="-128"/>
              <a:cs typeface="Arial" pitchFamily="34" charset="0"/>
            </a:endParaRPr>
          </a:p>
          <a:p>
            <a:pPr marL="263525" indent="-263525"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The following page describes the verification method, EMS sheet result examination and prove method. Both of the verification is to evaluate the</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management system development workmanship and the deliverable issue. The main points of the verification shall satisfy all EMS requirements and the result of calibration output based on</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calibration development activity, then it is including the actual vehicle verification. </a:t>
            </a:r>
          </a:p>
          <a:p>
            <a:pPr marL="263525" indent="-263525" algn="l">
              <a:spcBef>
                <a:spcPts val="300"/>
              </a:spcBef>
            </a:pPr>
            <a:endParaRPr lang="en-US" altLang="ja-JP" sz="1400">
              <a:solidFill>
                <a:srgbClr val="000000"/>
              </a:solidFill>
              <a:latin typeface="Meiryo UI" panose="020B0604030504040204" pitchFamily="50" charset="-128"/>
              <a:ea typeface="Meiryo UI" panose="020B0604030504040204" pitchFamily="50" charset="-128"/>
              <a:cs typeface="Arial" pitchFamily="34" charset="0"/>
            </a:endParaRPr>
          </a:p>
          <a:p>
            <a:pPr marL="263525" indent="-263525"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2. Software verification:</a:t>
            </a:r>
          </a:p>
          <a:p>
            <a:pPr marL="263525" indent="-263525"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SW verification is to focus the unusual ENG control phenomenon when</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modified</a:t>
            </a:r>
          </a:p>
          <a:p>
            <a:pPr marL="263525" indent="-263525"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STD SW due to Honda request the modification of the Honda special control area and connection </a:t>
            </a:r>
          </a:p>
          <a:p>
            <a:pPr marL="263525" indent="-263525"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area between</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STD SW and modification SW. This SW modification shall be verified by</a:t>
            </a:r>
          </a:p>
          <a:p>
            <a:pPr marL="263525" indent="-263525"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internally first to guarantee the SW and then Honda will evaluate it. </a:t>
            </a:r>
          </a:p>
          <a:p>
            <a:pPr marL="263525" indent="-263525" algn="l">
              <a:spcBef>
                <a:spcPts val="300"/>
              </a:spcBef>
            </a:pPr>
            <a:endParaRPr lang="en-US" altLang="ja-JP" sz="1400">
              <a:solidFill>
                <a:srgbClr val="0000FF"/>
              </a:solidFill>
              <a:latin typeface="Meiryo UI" panose="020B0604030504040204" pitchFamily="50" charset="-128"/>
              <a:ea typeface="Meiryo UI" panose="020B0604030504040204" pitchFamily="50" charset="-128"/>
              <a:cs typeface="Arial" pitchFamily="34" charset="0"/>
            </a:endParaRPr>
          </a:p>
          <a:p>
            <a:pPr marL="263525" indent="-263525"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STD specification definition:</a:t>
            </a:r>
          </a:p>
          <a:p>
            <a:pPr marL="263525" indent="-263525"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The</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STD specification shall meet the assignment destination regulation and satisfy </a:t>
            </a:r>
          </a:p>
          <a:p>
            <a:pPr marL="263525" indent="-263525"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the feature which are applying the other OEM application level with hardware structure, </a:t>
            </a:r>
          </a:p>
          <a:p>
            <a:pPr marL="263525" indent="-263525"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also include the fundamental platform software.</a:t>
            </a:r>
            <a:endParaRPr lang="ja-JP" altLang="en-US" sz="1400">
              <a:solidFill>
                <a:srgbClr val="000000"/>
              </a:solidFill>
              <a:latin typeface="Meiryo UI" panose="020B0604030504040204" pitchFamily="50" charset="-128"/>
              <a:ea typeface="Meiryo UI" panose="020B0604030504040204" pitchFamily="50" charset="-128"/>
              <a:cs typeface="Arial" pitchFamily="34" charset="0"/>
            </a:endParaRPr>
          </a:p>
        </p:txBody>
      </p:sp>
    </p:spTree>
    <p:extLst>
      <p:ext uri="{BB962C8B-B14F-4D97-AF65-F5344CB8AC3E}">
        <p14:creationId xmlns:p14="http://schemas.microsoft.com/office/powerpoint/2010/main" val="12955269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3" name="テキスト ボックス 2"/>
          <p:cNvSpPr txBox="1"/>
          <p:nvPr/>
        </p:nvSpPr>
        <p:spPr>
          <a:xfrm>
            <a:off x="100424" y="522554"/>
            <a:ext cx="2704587" cy="369332"/>
          </a:xfrm>
          <a:prstGeom prst="rect">
            <a:avLst/>
          </a:prstGeom>
          <a:noFill/>
        </p:spPr>
        <p:txBody>
          <a:bodyPr wrap="none" rtlCol="0">
            <a:spAutoFit/>
          </a:bodyPr>
          <a:lstStyle/>
          <a:p>
            <a:pPr algn="l"/>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品熟検証の骨子（定義）</a:t>
            </a:r>
          </a:p>
        </p:txBody>
      </p:sp>
      <p:sp>
        <p:nvSpPr>
          <p:cNvPr id="11" name="テキスト ボックス 10"/>
          <p:cNvSpPr txBox="1"/>
          <p:nvPr/>
        </p:nvSpPr>
        <p:spPr>
          <a:xfrm>
            <a:off x="100424" y="886849"/>
            <a:ext cx="8856984" cy="4116512"/>
          </a:xfrm>
          <a:prstGeom prst="rect">
            <a:avLst/>
          </a:prstGeom>
          <a:noFill/>
        </p:spPr>
        <p:txBody>
          <a:bodyPr wrap="square" rtlCol="0">
            <a:spAutoFit/>
          </a:bodyPr>
          <a:lstStyle/>
          <a:p>
            <a:pPr marL="360363" indent="-360363" algn="l">
              <a:spcBef>
                <a:spcPts val="300"/>
              </a:spcBef>
            </a:pPr>
            <a:r>
              <a:rPr lang="ja-JP" altLang="en-US" sz="1400">
                <a:latin typeface="Meiryo UI" panose="020B0604030504040204" pitchFamily="50" charset="-128"/>
                <a:ea typeface="Meiryo UI" panose="020B0604030504040204" pitchFamily="50" charset="-128"/>
              </a:rPr>
              <a:t>１．適合内容検証：</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適合内容検証と承認手法、</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シート結果検証と承認手法を次ページに記載。　双方検証とも、</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a:t>
            </a:r>
          </a:p>
          <a:p>
            <a:pPr marL="360363" indent="-360363" algn="l">
              <a:spcBef>
                <a:spcPts val="300"/>
              </a:spcBef>
            </a:pPr>
            <a:r>
              <a:rPr lang="en-US" altLang="ja-JP" sz="1400">
                <a:latin typeface="Meiryo UI" panose="020B0604030504040204" pitchFamily="50" charset="-128"/>
                <a:ea typeface="Meiryo UI" panose="020B0604030504040204" pitchFamily="50" charset="-128"/>
              </a:rPr>
              <a:t>      ENG</a:t>
            </a:r>
            <a:r>
              <a:rPr lang="ja-JP" altLang="en-US" sz="1400">
                <a:latin typeface="Meiryo UI" panose="020B0604030504040204" pitchFamily="50" charset="-128"/>
                <a:ea typeface="Meiryo UI" panose="020B0604030504040204" pitchFamily="50" charset="-128"/>
              </a:rPr>
              <a:t>コントロールマネージメント開発結果の成果物確認・出来栄え検証を行うものである。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検証骨子は、</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要求内容を全て満足した上で、</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ENG</a:t>
            </a:r>
            <a:r>
              <a:rPr lang="ja-JP" altLang="en-US" sz="1400">
                <a:latin typeface="Meiryo UI" panose="020B0604030504040204" pitchFamily="50" charset="-128"/>
                <a:ea typeface="Meiryo UI" panose="020B0604030504040204" pitchFamily="50" charset="-128"/>
              </a:rPr>
              <a:t>制御マネージメントシステムの出来栄え検証であり、</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実車を使っての合同評価も含む。</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2. Software</a:t>
            </a:r>
            <a:r>
              <a:rPr lang="ja-JP" altLang="en-US" sz="1400">
                <a:latin typeface="Meiryo UI" panose="020B0604030504040204" pitchFamily="50" charset="-128"/>
                <a:ea typeface="Meiryo UI" panose="020B0604030504040204" pitchFamily="50" charset="-128"/>
              </a:rPr>
              <a:t>検証：</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SW</a:t>
            </a:r>
            <a:r>
              <a:rPr lang="ja-JP" altLang="en-US" sz="1400">
                <a:latin typeface="Meiryo UI" panose="020B0604030504040204" pitchFamily="50" charset="-128"/>
                <a:ea typeface="Meiryo UI" panose="020B0604030504040204" pitchFamily="50" charset="-128"/>
              </a:rPr>
              <a:t>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が専用で要求した制御要求</a:t>
            </a:r>
            <a:r>
              <a:rPr lang="en-US" altLang="ja-JP" sz="1400">
                <a:latin typeface="Meiryo UI" panose="020B0604030504040204" pitchFamily="50" charset="-128"/>
                <a:ea typeface="Meiryo UI" panose="020B0604030504040204" pitchFamily="50" charset="-128"/>
              </a:rPr>
              <a:t>(CR</a:t>
            </a:r>
            <a:r>
              <a:rPr lang="ja-JP" altLang="en-US" sz="1400">
                <a:latin typeface="Meiryo UI" panose="020B0604030504040204" pitchFamily="50" charset="-128"/>
                <a:ea typeface="Meiryo UI" panose="020B0604030504040204" pitchFamily="50" charset="-128"/>
              </a:rPr>
              <a:t>項目</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に於いて、</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標準</a:t>
            </a:r>
            <a:r>
              <a:rPr lang="en-US" altLang="ja-JP" sz="1400">
                <a:latin typeface="Meiryo UI" panose="020B0604030504040204" pitchFamily="50" charset="-128"/>
                <a:ea typeface="Meiryo UI" panose="020B0604030504040204" pitchFamily="50" charset="-128"/>
              </a:rPr>
              <a:t>SW</a:t>
            </a:r>
            <a:r>
              <a:rPr lang="ja-JP" altLang="en-US" sz="1400">
                <a:latin typeface="Meiryo UI" panose="020B0604030504040204" pitchFamily="50" charset="-128"/>
                <a:ea typeface="Meiryo UI" panose="020B0604030504040204" pitchFamily="50" charset="-128"/>
              </a:rPr>
              <a:t>へ組み込まれ、動かし方で</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異常な制御状況になっていないか、検証するものである。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このＳＷの変更は、要求を受理した</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側で十分な分析と検証がなされなければならない。要求分析の結果は、</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文書（</a:t>
            </a:r>
            <a:r>
              <a:rPr lang="en-US" altLang="ja-JP" sz="1400">
                <a:latin typeface="Meiryo UI" panose="020B0604030504040204" pitchFamily="50" charset="-128"/>
                <a:ea typeface="Meiryo UI" panose="020B0604030504040204" pitchFamily="50" charset="-128"/>
              </a:rPr>
              <a:t>SRS</a:t>
            </a:r>
            <a:r>
              <a:rPr lang="ja-JP" altLang="en-US" sz="1400">
                <a:latin typeface="Meiryo UI" panose="020B0604030504040204" pitchFamily="50" charset="-128"/>
                <a:ea typeface="Meiryo UI" panose="020B0604030504040204" pitchFamily="50" charset="-128"/>
              </a:rPr>
              <a:t>）として</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へ供給される。また実装</a:t>
            </a:r>
            <a:r>
              <a:rPr lang="en-US" altLang="ja-JP" sz="1400">
                <a:latin typeface="Meiryo UI" panose="020B0604030504040204" pitchFamily="50" charset="-128"/>
                <a:ea typeface="Meiryo UI" panose="020B0604030504040204" pitchFamily="50" charset="-128"/>
              </a:rPr>
              <a:t>SW</a:t>
            </a:r>
            <a:r>
              <a:rPr lang="ja-JP" altLang="en-US" sz="1400">
                <a:latin typeface="Meiryo UI" panose="020B0604030504040204" pitchFamily="50" charset="-128"/>
                <a:ea typeface="Meiryo UI" panose="020B0604030504040204" pitchFamily="50" charset="-128"/>
              </a:rPr>
              <a:t>については、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内部で</a:t>
            </a:r>
            <a:r>
              <a:rPr lang="en-US" altLang="ja-JP" sz="1400">
                <a:latin typeface="Meiryo UI" panose="020B0604030504040204" pitchFamily="50" charset="-128"/>
                <a:ea typeface="Meiryo UI" panose="020B0604030504040204" pitchFamily="50" charset="-128"/>
              </a:rPr>
              <a:t>Soft</a:t>
            </a:r>
            <a:r>
              <a:rPr lang="ja-JP" altLang="en-US" sz="1400">
                <a:latin typeface="Meiryo UI" panose="020B0604030504040204" pitchFamily="50" charset="-128"/>
                <a:ea typeface="Meiryo UI" panose="020B0604030504040204" pitchFamily="50" charset="-128"/>
              </a:rPr>
              <a:t>シュミレーションや</a:t>
            </a:r>
            <a:r>
              <a:rPr lang="en-US" altLang="ja-JP" sz="1400">
                <a:latin typeface="Meiryo UI" panose="020B0604030504040204" pitchFamily="50" charset="-128"/>
                <a:ea typeface="Meiryo UI" panose="020B0604030504040204" pitchFamily="50" charset="-128"/>
              </a:rPr>
              <a:t>HILS</a:t>
            </a:r>
            <a:r>
              <a:rPr lang="ja-JP" altLang="en-US" sz="1400">
                <a:latin typeface="Meiryo UI" panose="020B0604030504040204" pitchFamily="50" charset="-128"/>
                <a:ea typeface="Meiryo UI" panose="020B0604030504040204" pitchFamily="50" charset="-128"/>
              </a:rPr>
              <a:t>検証、</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デバック検証などが行われ、不具合なき内容の</a:t>
            </a:r>
            <a:r>
              <a:rPr lang="en-US" altLang="ja-JP" sz="1400">
                <a:latin typeface="Meiryo UI" panose="020B0604030504040204" pitchFamily="50" charset="-128"/>
                <a:ea typeface="Meiryo UI" panose="020B0604030504040204" pitchFamily="50" charset="-128"/>
              </a:rPr>
              <a:t>SW</a:t>
            </a:r>
            <a:r>
              <a:rPr lang="ja-JP" altLang="en-US" sz="1400">
                <a:latin typeface="Meiryo UI" panose="020B0604030504040204" pitchFamily="50" charset="-128"/>
                <a:ea typeface="Meiryo UI" panose="020B0604030504040204" pitchFamily="50" charset="-128"/>
              </a:rPr>
              <a:t>を供給され、</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で検証する。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endParaRPr lang="en-US" altLang="ja-JP" sz="1400">
              <a:solidFill>
                <a:srgbClr val="0000FF"/>
              </a:solidFill>
              <a:latin typeface="Meiryo UI" panose="020B0604030504040204" pitchFamily="50" charset="-128"/>
              <a:ea typeface="Meiryo UI" panose="020B0604030504040204" pitchFamily="50" charset="-128"/>
              <a:cs typeface="Arial" pitchFamily="34" charset="0"/>
            </a:endParaRPr>
          </a:p>
          <a:p>
            <a:pPr marL="360363" indent="-360363"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標準仕様の定義；</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標準仕様とは、指定地区の法規対応・装備仕様を満足するハード構成で、他社</a:t>
            </a:r>
            <a:r>
              <a:rPr lang="en-US" altLang="ja-JP" sz="1400">
                <a:latin typeface="Meiryo UI" panose="020B0604030504040204" pitchFamily="50" charset="-128"/>
                <a:ea typeface="Meiryo UI" panose="020B0604030504040204" pitchFamily="50" charset="-128"/>
              </a:rPr>
              <a:t>OEM</a:t>
            </a:r>
            <a:r>
              <a:rPr lang="ja-JP" altLang="en-US" sz="1400">
                <a:latin typeface="Meiryo UI" panose="020B0604030504040204" pitchFamily="50" charset="-128"/>
                <a:ea typeface="Meiryo UI" panose="020B0604030504040204" pitchFamily="50" charset="-128"/>
              </a:rPr>
              <a:t>を含めた指定地区に対応した</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基本プログラム（プラットフォーム）を備えた仕様構成を意味し、保証するものである。</a:t>
            </a:r>
            <a:r>
              <a:rPr lang="en-US" altLang="ja-JP" sz="1400">
                <a:latin typeface="Meiryo UI" panose="020B0604030504040204" pitchFamily="50" charset="-128"/>
                <a:ea typeface="Meiryo UI" panose="020B0604030504040204" pitchFamily="50" charset="-128"/>
              </a:rPr>
              <a:t>	</a:t>
            </a:r>
            <a:endParaRPr lang="ja-JP" altLang="en-US" sz="14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840399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13"/>
          <p:cNvSpPr>
            <a:spLocks noChangeArrowheads="1"/>
          </p:cNvSpPr>
          <p:nvPr/>
        </p:nvSpPr>
        <p:spPr bwMode="auto">
          <a:xfrm>
            <a:off x="34929" y="917627"/>
            <a:ext cx="9109075"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533400" lvl="1" indent="-266700" algn="l">
              <a:lnSpc>
                <a:spcPct val="150000"/>
              </a:lnSpc>
              <a:spcBef>
                <a:spcPts val="600"/>
              </a:spcBef>
              <a:buFont typeface="Arial" pitchFamily="34" charset="0"/>
              <a:buChar char="-"/>
            </a:pPr>
            <a:r>
              <a:rPr lang="en-US" altLang="ja-JP" sz="1400">
                <a:latin typeface="Meiryo UI" panose="020B0604030504040204" pitchFamily="50" charset="-128"/>
                <a:ea typeface="Meiryo UI" panose="020B0604030504040204" pitchFamily="50" charset="-128"/>
                <a:cs typeface="Arial" pitchFamily="34" charset="0"/>
              </a:rPr>
              <a:t>Report has to provide for result of Development Work each payment. (include the separate payment)</a:t>
            </a:r>
            <a:endParaRPr lang="ja-JP" altLang="en-US" sz="1600" u="sng">
              <a:latin typeface="Meiryo UI" panose="020B0604030504040204" pitchFamily="50" charset="-128"/>
              <a:ea typeface="Meiryo UI" panose="020B0604030504040204" pitchFamily="50" charset="-128"/>
              <a:cs typeface="Arial" pitchFamily="34" charset="0"/>
            </a:endParaRPr>
          </a:p>
          <a:p>
            <a:pPr marL="552450" lvl="1" indent="-285750" algn="l">
              <a:spcBef>
                <a:spcPts val="600"/>
              </a:spcBef>
              <a:buFontTx/>
              <a:buChar char="-"/>
            </a:pPr>
            <a:r>
              <a:rPr lang="en-US" altLang="ja-JP" sz="1400">
                <a:latin typeface="Meiryo UI" panose="020B0604030504040204" pitchFamily="50" charset="-128"/>
                <a:ea typeface="Meiryo UI" panose="020B0604030504040204" pitchFamily="50" charset="-128"/>
                <a:cs typeface="Arial" pitchFamily="34" charset="0"/>
              </a:rPr>
              <a:t>Report documents shall be written in English so they can be shared effectively with Honda</a:t>
            </a:r>
          </a:p>
          <a:p>
            <a:pPr marL="266700" lvl="1" algn="l">
              <a:spcBef>
                <a:spcPts val="600"/>
              </a:spcBef>
            </a:pPr>
            <a:r>
              <a:rPr lang="en-US" altLang="ja-JP" sz="1400">
                <a:latin typeface="Meiryo UI" panose="020B0604030504040204" pitchFamily="50" charset="-128"/>
                <a:ea typeface="Meiryo UI" panose="020B0604030504040204" pitchFamily="50" charset="-128"/>
                <a:cs typeface="Arial" pitchFamily="34" charset="0"/>
              </a:rPr>
              <a:t>     and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among the world..</a:t>
            </a:r>
          </a:p>
          <a:p>
            <a:pPr marL="552450" lvl="1" indent="-285750" algn="l">
              <a:spcBef>
                <a:spcPts val="600"/>
              </a:spcBef>
              <a:buFontTx/>
              <a:buChar char="-"/>
            </a:pPr>
            <a:r>
              <a:rPr lang="en-US" altLang="ja-JP" sz="1400">
                <a:latin typeface="Meiryo UI" panose="020B0604030504040204" pitchFamily="50" charset="-128"/>
                <a:ea typeface="Meiryo UI" panose="020B0604030504040204" pitchFamily="50" charset="-128"/>
                <a:cs typeface="Arial" pitchFamily="34" charset="0"/>
              </a:rPr>
              <a:t>Report documents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are administered with fixed naming policy</a:t>
            </a:r>
          </a:p>
          <a:p>
            <a:pPr marL="552450" lvl="1" indent="-285750" algn="l">
              <a:spcBef>
                <a:spcPts val="600"/>
              </a:spcBef>
              <a:buFontTx/>
              <a:buChar char="-"/>
            </a:pPr>
            <a:r>
              <a:rPr lang="en-US" altLang="ja-JP" sz="1400">
                <a:latin typeface="Meiryo UI" panose="020B0604030504040204" pitchFamily="50" charset="-128"/>
                <a:ea typeface="Meiryo UI" panose="020B0604030504040204" pitchFamily="50" charset="-128"/>
                <a:cs typeface="Arial" pitchFamily="34" charset="0"/>
              </a:rPr>
              <a:t>Report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shall be formatted and include following items: objectives, sample characteristics, conditions of sample production, initial data, test conditions, measurement conditions, judgment criteria, raw measurement data, graphs contains test result essence with judgment criteria, considerations, date, test site location</a:t>
            </a:r>
          </a:p>
          <a:p>
            <a:pPr marL="552450" lvl="1" indent="-285750" algn="l">
              <a:spcBef>
                <a:spcPts val="600"/>
              </a:spcBef>
              <a:buFontTx/>
              <a:buChar cha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internal words shall be avoided. These words shall be replaced by common word </a:t>
            </a:r>
          </a:p>
          <a:p>
            <a:pPr marL="266700" lvl="1" algn="l">
              <a:spcBef>
                <a:spcPts val="600"/>
              </a:spcBef>
            </a:pPr>
            <a:r>
              <a:rPr lang="en-US" altLang="ja-JP" sz="1400">
                <a:latin typeface="Meiryo UI" panose="020B0604030504040204" pitchFamily="50" charset="-128"/>
                <a:ea typeface="Meiryo UI" panose="020B0604030504040204" pitchFamily="50" charset="-128"/>
                <a:cs typeface="Arial" pitchFamily="34" charset="0"/>
              </a:rPr>
              <a:t>     in the automobile industry.</a:t>
            </a:r>
          </a:p>
          <a:p>
            <a:pPr marL="552450" lvl="1" indent="-285750" algn="l">
              <a:spcBef>
                <a:spcPts val="600"/>
              </a:spcBef>
              <a:buFontTx/>
              <a:buChar cha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should avoid “abbreviation word”. If it is really needed, explanation shall be written.</a:t>
            </a:r>
          </a:p>
          <a:p>
            <a:pPr marL="552450" lvl="1" indent="-285750" algn="l">
              <a:spcBef>
                <a:spcPts val="600"/>
              </a:spcBef>
              <a:buFontTx/>
              <a:buChar char="-"/>
            </a:pPr>
            <a:r>
              <a:rPr lang="en-US" altLang="ja-JP" sz="1400">
                <a:latin typeface="Meiryo UI" panose="020B0604030504040204" pitchFamily="50" charset="-128"/>
                <a:ea typeface="Meiryo UI" panose="020B0604030504040204" pitchFamily="50" charset="-128"/>
                <a:cs typeface="Arial" pitchFamily="34" charset="0"/>
              </a:rPr>
              <a:t>Report documents shall be secured with password which agreed between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and Honda</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(3/31)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5" name="テキスト ボックス 4"/>
          <p:cNvSpPr txBox="1"/>
          <p:nvPr/>
        </p:nvSpPr>
        <p:spPr>
          <a:xfrm>
            <a:off x="100424" y="522554"/>
            <a:ext cx="3561039" cy="369332"/>
          </a:xfrm>
          <a:prstGeom prst="rect">
            <a:avLst/>
          </a:prstGeom>
          <a:noFill/>
        </p:spPr>
        <p:txBody>
          <a:bodyPr wrap="none" rtlCol="0">
            <a:spAutoFit/>
          </a:bodyPr>
          <a:lstStyle/>
          <a:p>
            <a:pPr algn="l">
              <a:spcBef>
                <a:spcPts val="300"/>
              </a:spcBef>
            </a:pPr>
            <a:r>
              <a:rPr lang="en-US" altLang="ja-JP" sz="1800" b="1" u="sng">
                <a:latin typeface="Meiryo UI" panose="020B0604030504040204" pitchFamily="50" charset="-128"/>
                <a:ea typeface="Meiryo UI" panose="020B0604030504040204" pitchFamily="50" charset="-128"/>
                <a:cs typeface="Arial" pitchFamily="34" charset="0"/>
              </a:rPr>
              <a:t>Report</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Document</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Guideline</a:t>
            </a:r>
          </a:p>
        </p:txBody>
      </p:sp>
    </p:spTree>
    <p:extLst>
      <p:ext uri="{BB962C8B-B14F-4D97-AF65-F5344CB8AC3E}">
        <p14:creationId xmlns:p14="http://schemas.microsoft.com/office/powerpoint/2010/main" val="32304892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143164" y="891886"/>
            <a:ext cx="9108504" cy="321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報告書は、成果物として指定された評価イベントタイミング毎に提示する。</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報告文書は、グローバル</a:t>
            </a:r>
            <a:r>
              <a:rPr lang="en-US" altLang="ja-JP" sz="1400">
                <a:latin typeface="Meiryo UI" panose="020B0604030504040204" pitchFamily="50" charset="-128"/>
                <a:ea typeface="Meiryo UI" panose="020B0604030504040204" pitchFamily="50" charset="-128"/>
                <a:cs typeface="Meiryo UI" pitchFamily="50" charset="-128"/>
              </a:rPr>
              <a:t>Honda</a:t>
            </a:r>
            <a:r>
              <a:rPr lang="ja-JP" altLang="en-US" sz="1400">
                <a:latin typeface="Meiryo UI" panose="020B0604030504040204" pitchFamily="50" charset="-128"/>
                <a:ea typeface="Meiryo UI" panose="020B0604030504040204" pitchFamily="50" charset="-128"/>
                <a:cs typeface="Meiryo UI" pitchFamily="50" charset="-128"/>
              </a:rPr>
              <a:t>、</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Meiryo UI" pitchFamily="50" charset="-128"/>
              </a:rPr>
              <a:t>間で効果的に共有できる様、英語表記とする。（箇条書き可）</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報告文書は、所定のルールに従って</a:t>
            </a:r>
            <a:r>
              <a:rPr lang="en-US" altLang="ja-JP" sz="1400">
                <a:latin typeface="Meiryo UI" panose="020B0604030504040204" pitchFamily="50" charset="-128"/>
                <a:ea typeface="Meiryo UI" panose="020B0604030504040204" pitchFamily="50" charset="-128"/>
                <a:cs typeface="Meiryo UI" pitchFamily="50" charset="-128"/>
              </a:rPr>
              <a:t>File</a:t>
            </a:r>
            <a:r>
              <a:rPr lang="ja-JP" altLang="en-US" sz="1400">
                <a:latin typeface="Meiryo UI" panose="020B0604030504040204" pitchFamily="50" charset="-128"/>
                <a:ea typeface="Meiryo UI" panose="020B0604030504040204" pitchFamily="50" charset="-128"/>
                <a:cs typeface="Meiryo UI" pitchFamily="50" charset="-128"/>
              </a:rPr>
              <a:t>名を決め管理すること</a:t>
            </a:r>
            <a:endParaRPr lang="en-US" altLang="ja-JP" sz="1400">
              <a:latin typeface="Meiryo UI" panose="020B0604030504040204" pitchFamily="50" charset="-128"/>
              <a:ea typeface="Meiryo UI" panose="020B0604030504040204" pitchFamily="50" charset="-128"/>
              <a:cs typeface="Meiryo UI" pitchFamily="50" charset="-128"/>
            </a:endParaRPr>
          </a:p>
          <a:p>
            <a:pPr marL="992188" lvl="2"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例　</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部品名（システム名）通し</a:t>
            </a:r>
            <a:r>
              <a:rPr lang="en-US" altLang="ja-JP" sz="1400">
                <a:latin typeface="Meiryo UI" panose="020B0604030504040204" pitchFamily="50" charset="-128"/>
                <a:ea typeface="Meiryo UI" panose="020B0604030504040204" pitchFamily="50" charset="-128"/>
              </a:rPr>
              <a:t>No_</a:t>
            </a:r>
            <a:r>
              <a:rPr lang="ja-JP" altLang="en-US" sz="1400">
                <a:latin typeface="Meiryo UI" panose="020B0604030504040204" pitchFamily="50" charset="-128"/>
                <a:ea typeface="Meiryo UI" panose="020B0604030504040204" pitchFamily="50" charset="-128"/>
              </a:rPr>
              <a:t>タイトル</a:t>
            </a:r>
            <a:r>
              <a:rPr lang="en-US" altLang="ja-JP" sz="1400">
                <a:latin typeface="Meiryo UI" panose="020B0604030504040204" pitchFamily="50" charset="-128"/>
                <a:ea typeface="Meiryo UI" panose="020B0604030504040204" pitchFamily="50" charset="-128"/>
              </a:rPr>
              <a:t>_</a:t>
            </a:r>
            <a:r>
              <a:rPr lang="ja-JP" altLang="en-US" sz="1400">
                <a:latin typeface="Meiryo UI" panose="020B0604030504040204" pitchFamily="50" charset="-128"/>
                <a:ea typeface="Meiryo UI" panose="020B0604030504040204" pitchFamily="50" charset="-128"/>
              </a:rPr>
              <a:t>内容</a:t>
            </a:r>
            <a:r>
              <a:rPr lang="en-US" altLang="ja-JP" sz="1400">
                <a:latin typeface="Meiryo UI" panose="020B0604030504040204" pitchFamily="50" charset="-128"/>
                <a:ea typeface="Meiryo UI" panose="020B0604030504040204" pitchFamily="50" charset="-128"/>
              </a:rPr>
              <a:t>_</a:t>
            </a:r>
            <a:r>
              <a:rPr lang="ja-JP" altLang="en-US" sz="1400">
                <a:latin typeface="Meiryo UI" panose="020B0604030504040204" pitchFamily="50" charset="-128"/>
                <a:ea typeface="Meiryo UI" panose="020B0604030504040204" pitchFamily="50" charset="-128"/>
              </a:rPr>
              <a:t>提出日</a:t>
            </a:r>
            <a:r>
              <a:rPr lang="en-US" altLang="ja-JP" sz="1400">
                <a:latin typeface="Meiryo UI" panose="020B0604030504040204" pitchFamily="50" charset="-128"/>
                <a:ea typeface="Meiryo UI" panose="020B0604030504040204" pitchFamily="50" charset="-128"/>
              </a:rPr>
              <a:t>]</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報告文書は定型化され、以下の情報を記載のこと：</a:t>
            </a:r>
            <a:br>
              <a:rPr lang="en-US" altLang="ja-JP" sz="1400">
                <a:latin typeface="Meiryo UI" panose="020B0604030504040204" pitchFamily="50" charset="-128"/>
                <a:ea typeface="Meiryo UI" panose="020B0604030504040204" pitchFamily="50" charset="-128"/>
                <a:cs typeface="Meiryo UI" pitchFamily="50" charset="-128"/>
              </a:rPr>
            </a:br>
            <a:r>
              <a:rPr lang="ja-JP" altLang="en-US" sz="1400">
                <a:latin typeface="Meiryo UI" panose="020B0604030504040204" pitchFamily="50" charset="-128"/>
                <a:ea typeface="Meiryo UI" panose="020B0604030504040204" pitchFamily="50" charset="-128"/>
                <a:cs typeface="Meiryo UI" pitchFamily="50" charset="-128"/>
              </a:rPr>
              <a:t>テスト目的、サンプル特性、サンプル作成条件、初期データ、テスト条件、計測条件、判定基準、計測生データ、</a:t>
            </a:r>
            <a:br>
              <a:rPr lang="en-US" altLang="ja-JP" sz="1400">
                <a:latin typeface="Meiryo UI" panose="020B0604030504040204" pitchFamily="50" charset="-128"/>
                <a:ea typeface="Meiryo UI" panose="020B0604030504040204" pitchFamily="50" charset="-128"/>
                <a:cs typeface="Meiryo UI" pitchFamily="50" charset="-128"/>
              </a:rPr>
            </a:br>
            <a:r>
              <a:rPr lang="ja-JP" altLang="en-US" sz="1400">
                <a:latin typeface="Meiryo UI" panose="020B0604030504040204" pitchFamily="50" charset="-128"/>
                <a:ea typeface="Meiryo UI" panose="020B0604030504040204" pitchFamily="50" charset="-128"/>
                <a:cs typeface="Meiryo UI" pitchFamily="50" charset="-128"/>
              </a:rPr>
              <a:t>最も重要なテスト結果と判定基準を含むグラフ、考察、日付、テスト場所など定型化し記載のこと</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報告文書には、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Meiryo UI" pitchFamily="50" charset="-128"/>
              </a:rPr>
              <a:t>内部でしか使用されない言葉の使用は避け、自動車業界で使用される一般的な言葉に</a:t>
            </a:r>
            <a:br>
              <a:rPr lang="en-US" altLang="ja-JP" sz="1400">
                <a:latin typeface="Meiryo UI" panose="020B0604030504040204" pitchFamily="50" charset="-128"/>
                <a:ea typeface="Meiryo UI" panose="020B0604030504040204" pitchFamily="50" charset="-128"/>
                <a:cs typeface="Meiryo UI" pitchFamily="50" charset="-128"/>
              </a:rPr>
            </a:br>
            <a:r>
              <a:rPr lang="ja-JP" altLang="en-US" sz="1400">
                <a:latin typeface="Meiryo UI" panose="020B0604030504040204" pitchFamily="50" charset="-128"/>
                <a:ea typeface="Meiryo UI" panose="020B0604030504040204" pitchFamily="50" charset="-128"/>
                <a:cs typeface="Meiryo UI" pitchFamily="50" charset="-128"/>
              </a:rPr>
              <a:t>置き換えること</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報告文書には、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Meiryo UI" pitchFamily="50" charset="-128"/>
              </a:rPr>
              <a:t>内部で使用されている略語は使用しない。やむを得ず使用する際は、略語に関する注釈を</a:t>
            </a:r>
            <a:br>
              <a:rPr lang="en-US" altLang="ja-JP" sz="1400">
                <a:latin typeface="Meiryo UI" panose="020B0604030504040204" pitchFamily="50" charset="-128"/>
                <a:ea typeface="Meiryo UI" panose="020B0604030504040204" pitchFamily="50" charset="-128"/>
                <a:cs typeface="Meiryo UI" pitchFamily="50" charset="-128"/>
              </a:rPr>
            </a:br>
            <a:r>
              <a:rPr lang="ja-JP" altLang="en-US" sz="1400">
                <a:latin typeface="Meiryo UI" panose="020B0604030504040204" pitchFamily="50" charset="-128"/>
                <a:ea typeface="Meiryo UI" panose="020B0604030504040204" pitchFamily="50" charset="-128"/>
                <a:cs typeface="Meiryo UI" pitchFamily="50" charset="-128"/>
              </a:rPr>
              <a:t>記載のこと</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報告文書は、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Meiryo UI" pitchFamily="50" charset="-128"/>
              </a:rPr>
              <a:t>と</a:t>
            </a:r>
            <a:r>
              <a:rPr lang="en-US" altLang="ja-JP" sz="1400">
                <a:latin typeface="Meiryo UI" panose="020B0604030504040204" pitchFamily="50" charset="-128"/>
                <a:ea typeface="Meiryo UI" panose="020B0604030504040204" pitchFamily="50" charset="-128"/>
                <a:cs typeface="Meiryo UI" pitchFamily="50" charset="-128"/>
              </a:rPr>
              <a:t>Honda</a:t>
            </a:r>
            <a:r>
              <a:rPr lang="ja-JP" altLang="en-US" sz="1400">
                <a:latin typeface="Meiryo UI" panose="020B0604030504040204" pitchFamily="50" charset="-128"/>
                <a:ea typeface="Meiryo UI" panose="020B0604030504040204" pitchFamily="50" charset="-128"/>
                <a:cs typeface="Meiryo UI" pitchFamily="50" charset="-128"/>
              </a:rPr>
              <a:t>間で合意したパスワードで保護されること</a:t>
            </a:r>
            <a:endParaRPr lang="en-US" altLang="ja-JP" sz="1400">
              <a:latin typeface="Meiryo UI" panose="020B0604030504040204" pitchFamily="50" charset="-128"/>
              <a:ea typeface="Meiryo UI" panose="020B0604030504040204" pitchFamily="50" charset="-128"/>
              <a:cs typeface="Meiryo UI" pitchFamily="50" charset="-128"/>
            </a:endParaRPr>
          </a:p>
        </p:txBody>
      </p:sp>
      <p:sp>
        <p:nvSpPr>
          <p:cNvPr id="10"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(4/31)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5" name="テキスト ボックス 4"/>
          <p:cNvSpPr txBox="1"/>
          <p:nvPr/>
        </p:nvSpPr>
        <p:spPr>
          <a:xfrm>
            <a:off x="100424" y="522554"/>
            <a:ext cx="2206053" cy="369332"/>
          </a:xfrm>
          <a:prstGeom prst="rect">
            <a:avLst/>
          </a:prstGeom>
          <a:noFill/>
        </p:spPr>
        <p:txBody>
          <a:bodyPr wrap="none" rtlCol="0">
            <a:spAutoFit/>
          </a:bodyPr>
          <a:lstStyle/>
          <a:p>
            <a:pPr algn="l">
              <a:spcBef>
                <a:spcPts val="300"/>
              </a:spcBef>
            </a:pPr>
            <a:r>
              <a:rPr lang="ja-JP" altLang="en-US" sz="1800" b="1" u="sng">
                <a:latin typeface="Meiryo UI" panose="020B0604030504040204" pitchFamily="50" charset="-128"/>
                <a:ea typeface="Meiryo UI" panose="020B0604030504040204" pitchFamily="50" charset="-128"/>
                <a:cs typeface="Meiryo UI" pitchFamily="50" charset="-128"/>
              </a:rPr>
              <a:t>報告文書ガイドライン</a:t>
            </a:r>
            <a:endParaRPr lang="en-US" altLang="ja-JP" sz="1800" b="1">
              <a:latin typeface="Meiryo UI" panose="020B0604030504040204" pitchFamily="50" charset="-128"/>
              <a:ea typeface="Meiryo UI" panose="020B0604030504040204" pitchFamily="50" charset="-128"/>
              <a:cs typeface="Meiryo UI" pitchFamily="50" charset="-128"/>
            </a:endParaRPr>
          </a:p>
        </p:txBody>
      </p:sp>
    </p:spTree>
    <p:extLst>
      <p:ext uri="{BB962C8B-B14F-4D97-AF65-F5344CB8AC3E}">
        <p14:creationId xmlns:p14="http://schemas.microsoft.com/office/powerpoint/2010/main" val="5764313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p:cNvSpPr txBox="1"/>
          <p:nvPr/>
        </p:nvSpPr>
        <p:spPr>
          <a:xfrm>
            <a:off x="100424" y="522554"/>
            <a:ext cx="8526741" cy="684803"/>
          </a:xfrm>
          <a:prstGeom prst="rect">
            <a:avLst/>
          </a:prstGeom>
          <a:noFill/>
        </p:spPr>
        <p:txBody>
          <a:bodyPr wrap="square" rtlCol="0">
            <a:spAutoFit/>
          </a:bodyPr>
          <a:lstStyle/>
          <a:p>
            <a:pPr algn="l"/>
            <a:r>
              <a:rPr lang="en-US" altLang="ja-JP" sz="1800" b="1" u="sng">
                <a:latin typeface="Meiryo UI" panose="020B0604030504040204" pitchFamily="50" charset="-128"/>
                <a:ea typeface="Meiryo UI" panose="020B0604030504040204" pitchFamily="50" charset="-128"/>
                <a:cs typeface="Arial" panose="020B0604020202020204" pitchFamily="34" charset="0"/>
              </a:rPr>
              <a:t>Major Deliverables of EMS Maturity and Quality Verifications</a:t>
            </a:r>
          </a:p>
          <a:p>
            <a:pPr algn="l">
              <a:spcBef>
                <a:spcPts val="300"/>
              </a:spcBef>
            </a:pPr>
            <a:r>
              <a:rPr lang="ja-JP" altLang="en-US" sz="1800">
                <a:latin typeface="Meiryo UI" panose="020B0604030504040204" pitchFamily="50" charset="-128"/>
                <a:ea typeface="Meiryo UI" panose="020B0604030504040204" pitchFamily="50" charset="-128"/>
                <a:cs typeface="Arial" panose="020B0604020202020204" pitchFamily="34" charset="0"/>
              </a:rPr>
              <a:t>主要</a:t>
            </a:r>
            <a:r>
              <a:rPr lang="en-US" altLang="ja-JP" sz="1800">
                <a:latin typeface="Meiryo UI" panose="020B0604030504040204" pitchFamily="50" charset="-128"/>
                <a:ea typeface="Meiryo UI" panose="020B0604030504040204" pitchFamily="50" charset="-128"/>
                <a:cs typeface="Arial" panose="020B0604020202020204" pitchFamily="34" charset="0"/>
              </a:rPr>
              <a:t>EMS</a:t>
            </a:r>
            <a:r>
              <a:rPr lang="ja-JP" altLang="en-US" sz="1800">
                <a:latin typeface="Meiryo UI" panose="020B0604030504040204" pitchFamily="50" charset="-128"/>
                <a:ea typeface="Meiryo UI" panose="020B0604030504040204" pitchFamily="50" charset="-128"/>
                <a:cs typeface="Arial" panose="020B0604020202020204" pitchFamily="34" charset="0"/>
              </a:rPr>
              <a:t>達成度と品質検証の発行について</a:t>
            </a:r>
            <a:endParaRPr lang="en-US" altLang="ja-JP" sz="1800">
              <a:latin typeface="Meiryo UI" panose="020B0604030504040204" pitchFamily="50" charset="-128"/>
              <a:ea typeface="Meiryo UI" panose="020B0604030504040204" pitchFamily="50" charset="-128"/>
              <a:cs typeface="Arial" panose="020B0604020202020204" pitchFamily="34" charset="0"/>
            </a:endParaRPr>
          </a:p>
        </p:txBody>
      </p:sp>
      <p:graphicFrame>
        <p:nvGraphicFramePr>
          <p:cNvPr id="6" name="表 5"/>
          <p:cNvGraphicFramePr>
            <a:graphicFrameLocks noGrp="1"/>
          </p:cNvGraphicFramePr>
          <p:nvPr>
            <p:extLst>
              <p:ext uri="{D42A27DB-BD31-4B8C-83A1-F6EECF244321}">
                <p14:modId xmlns:p14="http://schemas.microsoft.com/office/powerpoint/2010/main" val="805062611"/>
              </p:ext>
            </p:extLst>
          </p:nvPr>
        </p:nvGraphicFramePr>
        <p:xfrm>
          <a:off x="368396" y="1259224"/>
          <a:ext cx="8054789" cy="5303520"/>
        </p:xfrm>
        <a:graphic>
          <a:graphicData uri="http://schemas.openxmlformats.org/drawingml/2006/table">
            <a:tbl>
              <a:tblPr firstRow="1" bandRow="1">
                <a:tableStyleId>{5C22544A-7EE6-4342-B048-85BDC9FD1C3A}</a:tableStyleId>
              </a:tblPr>
              <a:tblGrid>
                <a:gridCol w="3227130">
                  <a:extLst>
                    <a:ext uri="{9D8B030D-6E8A-4147-A177-3AD203B41FA5}">
                      <a16:colId xmlns:a16="http://schemas.microsoft.com/office/drawing/2014/main" val="123933921"/>
                    </a:ext>
                  </a:extLst>
                </a:gridCol>
                <a:gridCol w="4827659">
                  <a:extLst>
                    <a:ext uri="{9D8B030D-6E8A-4147-A177-3AD203B41FA5}">
                      <a16:colId xmlns:a16="http://schemas.microsoft.com/office/drawing/2014/main" val="3351768162"/>
                    </a:ext>
                  </a:extLst>
                </a:gridCol>
              </a:tblGrid>
              <a:tr h="260748">
                <a:tc>
                  <a:txBody>
                    <a:bodyPr/>
                    <a:lstStyle/>
                    <a:p>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Releasing</a:t>
                      </a:r>
                      <a:r>
                        <a:rPr kumimoji="1" lang="en-US" altLang="ja-JP" sz="1400" baseline="0">
                          <a:solidFill>
                            <a:schemeClr val="tx1"/>
                          </a:solidFill>
                          <a:latin typeface="Meiryo UI" panose="020B0604030504040204" pitchFamily="50" charset="-128"/>
                          <a:ea typeface="Meiryo UI" panose="020B0604030504040204" pitchFamily="50" charset="-128"/>
                          <a:cs typeface="Arial" panose="020B0604020202020204" pitchFamily="34" charset="0"/>
                        </a:rPr>
                        <a:t> timing</a:t>
                      </a:r>
                      <a:r>
                        <a:rPr kumimoji="1" lang="ja-JP" altLang="en-US" sz="1400" baseline="0">
                          <a:solidFill>
                            <a:schemeClr val="tx1"/>
                          </a:solidFill>
                          <a:latin typeface="Meiryo UI" panose="020B0604030504040204" pitchFamily="50" charset="-128"/>
                          <a:ea typeface="Meiryo UI" panose="020B0604030504040204" pitchFamily="50" charset="-128"/>
                          <a:cs typeface="Arial" panose="020B0604020202020204" pitchFamily="34" charset="0"/>
                        </a:rPr>
                        <a:t> 発行時期</a:t>
                      </a:r>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07430733"/>
                  </a:ext>
                </a:extLst>
              </a:tr>
              <a:tr h="260748">
                <a:tc>
                  <a:txBody>
                    <a:bodyPr/>
                    <a:lstStyle/>
                    <a:p>
                      <a:pPr marL="0" indent="0" algn="l">
                        <a:buFontTx/>
                        <a:buNone/>
                      </a:pPr>
                      <a:r>
                        <a:rPr lang="en-US" altLang="ja-JP" sz="1400">
                          <a:latin typeface="Meiryo UI" panose="020B0604030504040204" pitchFamily="50" charset="-128"/>
                          <a:ea typeface="Meiryo UI" panose="020B0604030504040204" pitchFamily="50" charset="-128"/>
                          <a:cs typeface="Arial" panose="020B0604020202020204" pitchFamily="34" charset="0"/>
                        </a:rPr>
                        <a:t> Expert meeting report(s)</a:t>
                      </a:r>
                    </a:p>
                    <a:p>
                      <a:pPr marL="0" indent="0" algn="l">
                        <a:buFontTx/>
                        <a:buNone/>
                      </a:pPr>
                      <a:r>
                        <a:rPr lang="ja-JP" altLang="en-US" sz="1400">
                          <a:latin typeface="Meiryo UI" panose="020B0604030504040204" pitchFamily="50" charset="-128"/>
                          <a:ea typeface="Meiryo UI" panose="020B0604030504040204" pitchFamily="50" charset="-128"/>
                          <a:cs typeface="Arial" panose="020B0604020202020204" pitchFamily="34" charset="0"/>
                        </a:rPr>
                        <a:t> エキスパートミーティングレポート</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Expert meeting</a:t>
                      </a:r>
                    </a:p>
                    <a:p>
                      <a:r>
                        <a:rPr lang="ja-JP" altLang="en-US" sz="1400">
                          <a:latin typeface="Meiryo UI" panose="020B0604030504040204" pitchFamily="50" charset="-128"/>
                          <a:ea typeface="Meiryo UI" panose="020B0604030504040204" pitchFamily="50" charset="-128"/>
                        </a:rPr>
                        <a:t>エキスパートミーティング時</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07549241"/>
                  </a:ext>
                </a:extLst>
              </a:tr>
              <a:tr h="260748">
                <a:tc>
                  <a:txBody>
                    <a:bodyPr/>
                    <a:lstStyle/>
                    <a:p>
                      <a:pPr marL="0" indent="0" algn="l">
                        <a:buFontTx/>
                        <a:buNone/>
                      </a:pPr>
                      <a:r>
                        <a:rPr lang="en-US" altLang="ja-JP" sz="1400">
                          <a:latin typeface="Meiryo UI" panose="020B0604030504040204" pitchFamily="50" charset="-128"/>
                          <a:ea typeface="Meiryo UI" panose="020B0604030504040204" pitchFamily="50" charset="-128"/>
                          <a:cs typeface="Arial" panose="020B0604020202020204" pitchFamily="34" charset="0"/>
                        </a:rPr>
                        <a:t> Cal schedule and status report(s)</a:t>
                      </a:r>
                    </a:p>
                    <a:p>
                      <a:pPr marL="0" indent="0" algn="l">
                        <a:buFontTx/>
                        <a:buNone/>
                      </a:pPr>
                      <a:r>
                        <a:rPr lang="ja-JP" altLang="en-US" sz="1400">
                          <a:latin typeface="Meiryo UI" panose="020B0604030504040204" pitchFamily="50" charset="-128"/>
                          <a:ea typeface="Meiryo UI" panose="020B0604030504040204" pitchFamily="50" charset="-128"/>
                          <a:cs typeface="Arial" panose="020B0604020202020204" pitchFamily="34" charset="0"/>
                        </a:rPr>
                        <a:t> 適合日程と状況の報告</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Cal schedule :  once</a:t>
                      </a:r>
                      <a:r>
                        <a:rPr lang="en-US" altLang="ja-JP" sz="1400" baseline="0">
                          <a:latin typeface="Meiryo UI" panose="020B0604030504040204" pitchFamily="50" charset="-128"/>
                          <a:ea typeface="Meiryo UI" panose="020B0604030504040204" pitchFamily="50" charset="-128"/>
                        </a:rPr>
                        <a:t> a month</a:t>
                      </a:r>
                    </a:p>
                    <a:p>
                      <a:r>
                        <a:rPr lang="ja-JP" altLang="en-US" sz="1400" baseline="0">
                          <a:latin typeface="Meiryo UI" panose="020B0604030504040204" pitchFamily="50" charset="-128"/>
                          <a:ea typeface="Meiryo UI" panose="020B0604030504040204" pitchFamily="50" charset="-128"/>
                        </a:rPr>
                        <a:t>適合日程：</a:t>
                      </a:r>
                      <a:r>
                        <a:rPr lang="en-US" altLang="ja-JP" sz="1400" baseline="0">
                          <a:latin typeface="Meiryo UI" panose="020B0604030504040204" pitchFamily="50" charset="-128"/>
                          <a:ea typeface="Meiryo UI" panose="020B0604030504040204" pitchFamily="50" charset="-128"/>
                        </a:rPr>
                        <a:t>2</a:t>
                      </a:r>
                      <a:r>
                        <a:rPr lang="ja-JP" altLang="en-US" sz="1400" baseline="0">
                          <a:latin typeface="Meiryo UI" panose="020B0604030504040204" pitchFamily="50" charset="-128"/>
                          <a:ea typeface="Meiryo UI" panose="020B0604030504040204" pitchFamily="50" charset="-128"/>
                        </a:rPr>
                        <a:t>か月に</a:t>
                      </a:r>
                      <a:r>
                        <a:rPr lang="en-US" altLang="ja-JP" sz="1400" baseline="0">
                          <a:latin typeface="Meiryo UI" panose="020B0604030504040204" pitchFamily="50" charset="-128"/>
                          <a:ea typeface="Meiryo UI" panose="020B0604030504040204" pitchFamily="50" charset="-128"/>
                        </a:rPr>
                        <a:t>1</a:t>
                      </a:r>
                      <a:r>
                        <a:rPr lang="ja-JP" altLang="en-US" sz="1400" baseline="0">
                          <a:latin typeface="Meiryo UI" panose="020B0604030504040204" pitchFamily="50" charset="-128"/>
                          <a:ea typeface="Meiryo UI" panose="020B0604030504040204" pitchFamily="50" charset="-128"/>
                        </a:rPr>
                        <a:t>度</a:t>
                      </a:r>
                      <a:endParaRPr lang="en-US" altLang="ja-JP" sz="1400" baseline="0">
                        <a:latin typeface="Meiryo UI" panose="020B0604030504040204" pitchFamily="50" charset="-128"/>
                        <a:ea typeface="Meiryo UI" panose="020B0604030504040204" pitchFamily="50" charset="-128"/>
                      </a:endParaRPr>
                    </a:p>
                    <a:p>
                      <a:endParaRPr lang="en-US" altLang="ja-JP" sz="1400">
                        <a:latin typeface="Meiryo UI" panose="020B0604030504040204" pitchFamily="50" charset="-128"/>
                        <a:ea typeface="Meiryo UI" panose="020B0604030504040204" pitchFamily="50" charset="-128"/>
                      </a:endParaRPr>
                    </a:p>
                    <a:p>
                      <a:r>
                        <a:rPr lang="en-US" altLang="ja-JP" sz="1400">
                          <a:latin typeface="Meiryo UI" panose="020B0604030504040204" pitchFamily="50" charset="-128"/>
                          <a:ea typeface="Meiryo UI" panose="020B0604030504040204" pitchFamily="50" charset="-128"/>
                        </a:rPr>
                        <a:t>Status report : within</a:t>
                      </a:r>
                      <a:r>
                        <a:rPr lang="en-US" altLang="ja-JP" sz="1400" baseline="0">
                          <a:latin typeface="Meiryo UI" panose="020B0604030504040204" pitchFamily="50" charset="-128"/>
                          <a:ea typeface="Meiryo UI" panose="020B0604030504040204" pitchFamily="50" charset="-128"/>
                        </a:rPr>
                        <a:t> 2 weeks after each </a:t>
                      </a:r>
                    </a:p>
                    <a:p>
                      <a:r>
                        <a:rPr lang="en-US" altLang="ja-JP" sz="1400" baseline="0">
                          <a:latin typeface="Meiryo UI" panose="020B0604030504040204" pitchFamily="50" charset="-128"/>
                          <a:ea typeface="Meiryo UI" panose="020B0604030504040204" pitchFamily="50" charset="-128"/>
                        </a:rPr>
                        <a:t>calibration working package is finished</a:t>
                      </a:r>
                    </a:p>
                    <a:p>
                      <a:r>
                        <a:rPr lang="ja-JP" altLang="en-US" sz="1400" baseline="0">
                          <a:latin typeface="Meiryo UI" panose="020B0604030504040204" pitchFamily="50" charset="-128"/>
                          <a:ea typeface="Meiryo UI" panose="020B0604030504040204" pitchFamily="50" charset="-128"/>
                        </a:rPr>
                        <a:t>ステータスレポート：適合パッケージ終了後</a:t>
                      </a:r>
                      <a:r>
                        <a:rPr lang="en-US" altLang="ja-JP" sz="1400" baseline="0">
                          <a:latin typeface="Meiryo UI" panose="020B0604030504040204" pitchFamily="50" charset="-128"/>
                          <a:ea typeface="Meiryo UI" panose="020B0604030504040204" pitchFamily="50" charset="-128"/>
                        </a:rPr>
                        <a:t>2</a:t>
                      </a:r>
                      <a:r>
                        <a:rPr lang="ja-JP" altLang="en-US" sz="1400" baseline="0">
                          <a:latin typeface="Meiryo UI" panose="020B0604030504040204" pitchFamily="50" charset="-128"/>
                          <a:ea typeface="Meiryo UI" panose="020B0604030504040204" pitchFamily="50" charset="-128"/>
                        </a:rPr>
                        <a:t>週間以内</a:t>
                      </a:r>
                      <a:endParaRPr lang="ja-JP" altLang="en-US" sz="1400">
                        <a:latin typeface="Meiryo UI" panose="020B0604030504040204" pitchFamily="50" charset="-128"/>
                        <a:ea typeface="Meiryo UI" panose="020B0604030504040204" pitchFamily="50" charset="-128"/>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93261120"/>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EMS report(s)</a:t>
                      </a:r>
                    </a:p>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EMS</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レポート</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Each event timing, defined in project schedule</a:t>
                      </a:r>
                    </a:p>
                    <a:p>
                      <a:r>
                        <a:rPr lang="ja-JP" altLang="en-US" sz="1400">
                          <a:latin typeface="Meiryo UI" panose="020B0604030504040204" pitchFamily="50" charset="-128"/>
                          <a:ea typeface="Meiryo UI" panose="020B0604030504040204" pitchFamily="50" charset="-128"/>
                        </a:rPr>
                        <a:t>各イベントタイミング（各プロジェクト日程による）</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44824044"/>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SW report</a:t>
                      </a:r>
                    </a:p>
                    <a:p>
                      <a:pPr marL="0" indent="0" algn="l">
                        <a:buNone/>
                      </a:pP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ソフトウェアレポート</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PVER release timing</a:t>
                      </a:r>
                    </a:p>
                    <a:p>
                      <a:r>
                        <a:rPr lang="en-US" altLang="ja-JP" sz="1400">
                          <a:latin typeface="Meiryo UI" panose="020B0604030504040204" pitchFamily="50" charset="-128"/>
                          <a:ea typeface="Meiryo UI" panose="020B0604030504040204" pitchFamily="50" charset="-128"/>
                        </a:rPr>
                        <a:t>PVER</a:t>
                      </a:r>
                      <a:r>
                        <a:rPr lang="ja-JP" altLang="en-US" sz="1400">
                          <a:latin typeface="Meiryo UI" panose="020B0604030504040204" pitchFamily="50" charset="-128"/>
                          <a:ea typeface="Meiryo UI" panose="020B0604030504040204" pitchFamily="50" charset="-128"/>
                        </a:rPr>
                        <a:t>発行時期</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48646132"/>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Hex schedule</a:t>
                      </a:r>
                    </a:p>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HEX</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スケジュール</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Can be</a:t>
                      </a:r>
                      <a:r>
                        <a:rPr lang="en-US" altLang="ja-JP" sz="1400" baseline="0">
                          <a:latin typeface="Meiryo UI" panose="020B0604030504040204" pitchFamily="50" charset="-128"/>
                          <a:ea typeface="Meiryo UI" panose="020B0604030504040204" pitchFamily="50" charset="-128"/>
                        </a:rPr>
                        <a:t> discussed in the project meeting</a:t>
                      </a:r>
                    </a:p>
                    <a:p>
                      <a:r>
                        <a:rPr lang="ja-JP" altLang="en-US" sz="1400" baseline="0">
                          <a:latin typeface="Meiryo UI" panose="020B0604030504040204" pitchFamily="50" charset="-128"/>
                          <a:ea typeface="Meiryo UI" panose="020B0604030504040204" pitchFamily="50" charset="-128"/>
                        </a:rPr>
                        <a:t>プロジェクト</a:t>
                      </a:r>
                      <a:r>
                        <a:rPr lang="en-US" altLang="ja-JP" sz="1400" baseline="0">
                          <a:latin typeface="Meiryo UI" panose="020B0604030504040204" pitchFamily="50" charset="-128"/>
                          <a:ea typeface="Meiryo UI" panose="020B0604030504040204" pitchFamily="50" charset="-128"/>
                        </a:rPr>
                        <a:t>MTG</a:t>
                      </a:r>
                      <a:r>
                        <a:rPr lang="ja-JP" altLang="en-US" sz="1400" baseline="0">
                          <a:latin typeface="Meiryo UI" panose="020B0604030504040204" pitchFamily="50" charset="-128"/>
                          <a:ea typeface="Meiryo UI" panose="020B0604030504040204" pitchFamily="50" charset="-128"/>
                        </a:rPr>
                        <a:t>にて協議</a:t>
                      </a:r>
                      <a:endParaRPr lang="ja-JP" altLang="en-US" sz="1400">
                        <a:latin typeface="Meiryo UI" panose="020B0604030504040204" pitchFamily="50" charset="-128"/>
                        <a:ea typeface="Meiryo UI" panose="020B0604030504040204" pitchFamily="50" charset="-128"/>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90159225"/>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Hex file(s)</a:t>
                      </a:r>
                    </a:p>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HEX</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ファイル</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Defined in project schedule</a:t>
                      </a:r>
                    </a:p>
                    <a:p>
                      <a:r>
                        <a:rPr lang="ja-JP" altLang="en-US" sz="1400">
                          <a:latin typeface="Meiryo UI" panose="020B0604030504040204" pitchFamily="50" charset="-128"/>
                          <a:ea typeface="Meiryo UI" panose="020B0604030504040204" pitchFamily="50" charset="-128"/>
                        </a:rPr>
                        <a:t>プロジェクト日程による</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58678974"/>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Test trip report(s)</a:t>
                      </a:r>
                    </a:p>
                    <a:p>
                      <a:pPr marL="0" indent="0" algn="l">
                        <a:buNone/>
                      </a:pP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外部テストレポート</a:t>
                      </a:r>
                      <a:endPar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Before/after each test trip(s)</a:t>
                      </a:r>
                    </a:p>
                    <a:p>
                      <a:r>
                        <a:rPr lang="ja-JP" altLang="en-US" sz="1400">
                          <a:latin typeface="Meiryo UI" panose="020B0604030504040204" pitchFamily="50" charset="-128"/>
                          <a:ea typeface="Meiryo UI" panose="020B0604030504040204" pitchFamily="50" charset="-128"/>
                        </a:rPr>
                        <a:t>各テストでの前後</a:t>
                      </a: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05061972"/>
                  </a:ext>
                </a:extLst>
              </a:tr>
              <a:tr h="260748">
                <a:tc>
                  <a:txBody>
                    <a:bodyPr/>
                    <a:lstStyle/>
                    <a:p>
                      <a:pPr marL="0" indent="0" algn="l">
                        <a:buNone/>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Failure list (SW/Cal combined) </a:t>
                      </a:r>
                    </a:p>
                    <a:p>
                      <a:pPr marL="0" indent="0" algn="l">
                        <a:buNone/>
                      </a:pP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不具合一覧表</a:t>
                      </a: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ソフト</a:t>
                      </a: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a:t>
                      </a:r>
                      <a:r>
                        <a:rPr kumimoji="1" lang="ja-JP" altLang="en-US"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適合両立</a:t>
                      </a: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 </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r>
                        <a:rPr lang="en-US" altLang="ja-JP" sz="1400">
                          <a:latin typeface="Meiryo UI" panose="020B0604030504040204" pitchFamily="50" charset="-128"/>
                          <a:ea typeface="Meiryo UI" panose="020B0604030504040204" pitchFamily="50" charset="-128"/>
                        </a:rPr>
                        <a:t>once</a:t>
                      </a:r>
                      <a:r>
                        <a:rPr lang="en-US" altLang="ja-JP" sz="1400" baseline="0">
                          <a:latin typeface="Meiryo UI" panose="020B0604030504040204" pitchFamily="50" charset="-128"/>
                          <a:ea typeface="Meiryo UI" panose="020B0604030504040204" pitchFamily="50" charset="-128"/>
                        </a:rPr>
                        <a:t> a month (at least)</a:t>
                      </a:r>
                    </a:p>
                    <a:p>
                      <a:r>
                        <a:rPr lang="ja-JP" altLang="en-US" sz="1400" baseline="0">
                          <a:latin typeface="Meiryo UI" panose="020B0604030504040204" pitchFamily="50" charset="-128"/>
                          <a:ea typeface="Meiryo UI" panose="020B0604030504040204" pitchFamily="50" charset="-128"/>
                        </a:rPr>
                        <a:t>月ごと（最低限）</a:t>
                      </a:r>
                      <a:endParaRPr lang="ja-JP" altLang="en-US" sz="1400">
                        <a:latin typeface="Meiryo UI" panose="020B0604030504040204" pitchFamily="50" charset="-128"/>
                        <a:ea typeface="Meiryo UI" panose="020B0604030504040204" pitchFamily="50" charset="-128"/>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76394054"/>
                  </a:ext>
                </a:extLst>
              </a:tr>
            </a:tbl>
          </a:graphicData>
        </a:graphic>
      </p:graphicFrame>
      <p:sp>
        <p:nvSpPr>
          <p:cNvPr id="8"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(5/31)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1192794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Box 2"/>
          <p:cNvSpPr txBox="1">
            <a:spLocks noChangeArrowheads="1"/>
          </p:cNvSpPr>
          <p:nvPr/>
        </p:nvSpPr>
        <p:spPr bwMode="auto">
          <a:xfrm>
            <a:off x="93650" y="483367"/>
            <a:ext cx="5301644"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Final Calibration Verification</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and</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Approval</a:t>
            </a:r>
            <a:endParaRPr lang="ja-JP" altLang="en-US" sz="18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3" name="Text Box 2"/>
          <p:cNvSpPr txBox="1">
            <a:spLocks noChangeArrowheads="1"/>
          </p:cNvSpPr>
          <p:nvPr/>
        </p:nvSpPr>
        <p:spPr bwMode="auto">
          <a:xfrm>
            <a:off x="93650" y="856482"/>
            <a:ext cx="9050350" cy="530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Method 	: Face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face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Joint Evaluation, called “expert meeting.”</a:t>
            </a:r>
          </a:p>
          <a:p>
            <a:pPr marL="623888" indent="-623888" algn="l" eaLnBrk="1" hangingPunct="1">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Timing		: When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release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ECU</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data</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set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for</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DAN0-Lot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(See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development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schedule)</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When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release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ECU</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data</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set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for</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DAN-Lot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(See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development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schedule)</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When release ECU data set for mass production</a:t>
            </a:r>
            <a:r>
              <a:rPr lang="ja-JP" altLang="en-US" sz="1400">
                <a:latin typeface="Meiryo UI" panose="020B0604030504040204" pitchFamily="50" charset="-128"/>
                <a:ea typeface="Meiryo UI" panose="020B0604030504040204" pitchFamily="50" charset="-128"/>
                <a:cs typeface="Arial" pitchFamily="34" charset="0"/>
              </a:rPr>
              <a:t> 　</a:t>
            </a:r>
            <a:endParaRPr lang="en-US" altLang="ja-JP" sz="140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(additional joint evaluation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will</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be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held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needed) </a:t>
            </a:r>
          </a:p>
          <a:p>
            <a:pPr marL="623888" indent="-623888" algn="l" eaLnBrk="1" hangingPunct="1">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Evaluation item</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 Following items need to be explained regarding each</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calibration work package</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 Results of Calibration details related 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knowhow/proprietary knowledge;</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Items regarding</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platform software functions</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Items that cannot be disclosed due 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 </a:t>
            </a:r>
            <a:r>
              <a:rPr lang="en-US" altLang="ja-JP" sz="1400">
                <a:latin typeface="Meiryo UI" panose="020B0604030504040204" pitchFamily="50" charset="-128"/>
                <a:ea typeface="Meiryo UI" panose="020B0604030504040204" pitchFamily="50" charset="-128"/>
                <a:cs typeface="Arial" pitchFamily="34" charset="0"/>
              </a:rPr>
              <a:t>knowhow/confidentiality (e.g. CVO)</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Items related ECU hardware setting- purpose of each calibration work package</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 judgment criteria</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 validation test result</a:t>
            </a:r>
            <a:r>
              <a:rPr lang="ja-JP" altLang="en-US" sz="1400">
                <a:latin typeface="Meiryo UI" panose="020B0604030504040204" pitchFamily="50" charset="-128"/>
                <a:ea typeface="Meiryo UI" panose="020B0604030504040204" pitchFamily="50" charset="-128"/>
                <a:cs typeface="Arial" pitchFamily="34" charset="0"/>
              </a:rPr>
              <a:t> </a:t>
            </a:r>
            <a:endParaRPr lang="en-US" altLang="ja-JP" sz="140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(essence graph contains test results and judgment criteria together is preferable) </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 internal evaluation result</a:t>
            </a:r>
          </a:p>
          <a:p>
            <a:pPr marL="623888" indent="-623888" algn="l" eaLnBrk="1" hangingPunct="1">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Place/period</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 Either location,  Honda or</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for</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about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1 week or more as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needed</a:t>
            </a:r>
          </a:p>
          <a:p>
            <a:pPr marL="623888" indent="-623888" algn="l" eaLnBrk="1" hangingPunct="1">
              <a:spcBef>
                <a:spcPts val="300"/>
              </a:spcBef>
            </a:pPr>
            <a:r>
              <a:rPr lang="en-US" altLang="ja-JP" sz="1400">
                <a:latin typeface="Meiryo UI" panose="020B0604030504040204" pitchFamily="50" charset="-128"/>
                <a:ea typeface="Meiryo UI" panose="020B0604030504040204" pitchFamily="50" charset="-128"/>
                <a:cs typeface="Arial" pitchFamily="34" charset="0"/>
              </a:rPr>
              <a:t>                 HRAP may ask 4MOC to help the verification at the Expert meeting with</a:t>
            </a:r>
            <a:r>
              <a:rPr lang="en-US" altLang="ja-JP" sz="140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10"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(6/31)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18844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78130" y="530014"/>
            <a:ext cx="4245073" cy="45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ja-JP" altLang="en-US" sz="1800" b="1" u="sng">
                <a:solidFill>
                  <a:srgbClr val="000000"/>
                </a:solidFill>
                <a:latin typeface="Meiryo UI" panose="020B0604030504040204" pitchFamily="50" charset="-128"/>
                <a:ea typeface="Meiryo UI" panose="020B0604030504040204" pitchFamily="50" charset="-128"/>
              </a:rPr>
              <a:t>最終的なキャリブレーション検証と承認手法</a:t>
            </a:r>
            <a:endParaRPr lang="en-US" altLang="ja-JP" sz="1800" b="1" u="sng">
              <a:solidFill>
                <a:srgbClr val="000000"/>
              </a:solidFill>
              <a:latin typeface="Meiryo UI" panose="020B0604030504040204" pitchFamily="50" charset="-128"/>
              <a:ea typeface="Meiryo UI" panose="020B0604030504040204" pitchFamily="50" charset="-128"/>
            </a:endParaRPr>
          </a:p>
        </p:txBody>
      </p:sp>
      <p:sp>
        <p:nvSpPr>
          <p:cNvPr id="7" name="Text Box 2"/>
          <p:cNvSpPr txBox="1">
            <a:spLocks noChangeArrowheads="1"/>
          </p:cNvSpPr>
          <p:nvPr/>
        </p:nvSpPr>
        <p:spPr bwMode="auto">
          <a:xfrm>
            <a:off x="109170" y="975636"/>
            <a:ext cx="9050350" cy="4331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spcBef>
                <a:spcPts val="300"/>
              </a:spcBef>
            </a:pPr>
            <a:r>
              <a:rPr lang="ja-JP" altLang="en-US" sz="1400">
                <a:latin typeface="Meiryo UI" panose="020B0604030504040204" pitchFamily="50" charset="-128"/>
                <a:ea typeface="Meiryo UI" panose="020B0604030504040204" pitchFamily="50" charset="-128"/>
              </a:rPr>
              <a:t>手法</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Face</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to</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face</a:t>
            </a:r>
            <a:r>
              <a:rPr lang="ja-JP" altLang="en-US" sz="1400">
                <a:latin typeface="Meiryo UI" panose="020B0604030504040204" pitchFamily="50" charset="-128"/>
                <a:ea typeface="Meiryo UI" panose="020B0604030504040204" pitchFamily="50" charset="-128"/>
              </a:rPr>
              <a:t>の合同検証</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エキスパートミーティングと呼ぶ</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ja-JP" altLang="en-US" sz="1400">
                <a:latin typeface="Meiryo UI" panose="020B0604030504040204" pitchFamily="50" charset="-128"/>
                <a:ea typeface="Meiryo UI" panose="020B0604030504040204" pitchFamily="50" charset="-128"/>
              </a:rPr>
              <a:t>タイミング</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DAN0</a:t>
            </a:r>
            <a:r>
              <a:rPr lang="ja-JP" altLang="en-US" sz="1400">
                <a:latin typeface="Meiryo UI" panose="020B0604030504040204" pitchFamily="50" charset="-128"/>
                <a:ea typeface="Meiryo UI" panose="020B0604030504040204" pitchFamily="50" charset="-128"/>
              </a:rPr>
              <a:t>ロット用</a:t>
            </a:r>
            <a:r>
              <a:rPr lang="en-US" altLang="ja-JP" sz="1400">
                <a:latin typeface="Meiryo UI" panose="020B0604030504040204" pitchFamily="50" charset="-128"/>
                <a:ea typeface="Meiryo UI" panose="020B0604030504040204" pitchFamily="50" charset="-128"/>
              </a:rPr>
              <a:t>ECU</a:t>
            </a:r>
            <a:r>
              <a:rPr lang="ja-JP" altLang="en-US" sz="1400">
                <a:latin typeface="Meiryo UI" panose="020B0604030504040204" pitchFamily="50" charset="-128"/>
                <a:ea typeface="Meiryo UI" panose="020B0604030504040204" pitchFamily="50" charset="-128"/>
              </a:rPr>
              <a:t>データ払出し前</a:t>
            </a:r>
            <a:r>
              <a:rPr lang="en-US" altLang="ja-JP" sz="1400">
                <a:latin typeface="Meiryo UI" panose="020B0604030504040204" pitchFamily="50" charset="-128"/>
                <a:ea typeface="Meiryo UI" panose="020B0604030504040204" pitchFamily="50" charset="-128"/>
              </a:rPr>
              <a:t>,DAN</a:t>
            </a:r>
            <a:r>
              <a:rPr lang="ja-JP" altLang="en-US" sz="1400">
                <a:latin typeface="Meiryo UI" panose="020B0604030504040204" pitchFamily="50" charset="-128"/>
                <a:ea typeface="Meiryo UI" panose="020B0604030504040204" pitchFamily="50" charset="-128"/>
              </a:rPr>
              <a:t>ロット用</a:t>
            </a:r>
            <a:r>
              <a:rPr lang="en-US" altLang="ja-JP" sz="1400">
                <a:latin typeface="Meiryo UI" panose="020B0604030504040204" pitchFamily="50" charset="-128"/>
                <a:ea typeface="Meiryo UI" panose="020B0604030504040204" pitchFamily="50" charset="-128"/>
              </a:rPr>
              <a:t>ECU</a:t>
            </a:r>
            <a:r>
              <a:rPr lang="ja-JP" altLang="en-US" sz="1400">
                <a:latin typeface="Meiryo UI" panose="020B0604030504040204" pitchFamily="50" charset="-128"/>
                <a:ea typeface="Meiryo UI" panose="020B0604030504040204" pitchFamily="50" charset="-128"/>
              </a:rPr>
              <a:t>データ払出し前、量産用</a:t>
            </a:r>
            <a:r>
              <a:rPr lang="en-US" altLang="ja-JP" sz="1400">
                <a:latin typeface="Meiryo UI" panose="020B0604030504040204" pitchFamily="50" charset="-128"/>
                <a:ea typeface="Meiryo UI" panose="020B0604030504040204" pitchFamily="50" charset="-128"/>
              </a:rPr>
              <a:t>ECU</a:t>
            </a:r>
            <a:r>
              <a:rPr lang="ja-JP" altLang="en-US" sz="1400">
                <a:latin typeface="Meiryo UI" panose="020B0604030504040204" pitchFamily="50" charset="-128"/>
                <a:ea typeface="Meiryo UI" panose="020B0604030504040204" pitchFamily="50" charset="-128"/>
              </a:rPr>
              <a:t>データ払出し前　</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（約２週間前）</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en-US" altLang="ja-JP" sz="1400">
                <a:latin typeface="Meiryo UI" panose="020B0604030504040204" pitchFamily="50" charset="-128"/>
                <a:ea typeface="Meiryo UI" panose="020B0604030504040204" pitchFamily="50" charset="-128"/>
              </a:rPr>
              <a:t>                  (DAN MASK</a:t>
            </a:r>
            <a:r>
              <a:rPr lang="ja-JP" altLang="en-US" sz="1400">
                <a:latin typeface="Meiryo UI" panose="020B0604030504040204" pitchFamily="50" charset="-128"/>
                <a:ea typeface="Meiryo UI" panose="020B0604030504040204" pitchFamily="50" charset="-128"/>
              </a:rPr>
              <a:t>以降で変化点があり、必要と判断された場合、</a:t>
            </a:r>
            <a:r>
              <a:rPr lang="en-US" altLang="ja-JP" sz="1400">
                <a:latin typeface="Meiryo UI" panose="020B0604030504040204" pitchFamily="50" charset="-128"/>
                <a:ea typeface="Meiryo UI" panose="020B0604030504040204" pitchFamily="50" charset="-128"/>
              </a:rPr>
              <a:t>DAN</a:t>
            </a:r>
            <a:r>
              <a:rPr lang="ja-JP" altLang="en-US" sz="1400">
                <a:latin typeface="Meiryo UI" panose="020B0604030504040204" pitchFamily="50" charset="-128"/>
                <a:ea typeface="Meiryo UI" panose="020B0604030504040204" pitchFamily="50" charset="-128"/>
              </a:rPr>
              <a:t>以後も追加実施）</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ja-JP" altLang="en-US" sz="1400">
                <a:latin typeface="Meiryo UI" panose="020B0604030504040204" pitchFamily="50" charset="-128"/>
                <a:ea typeface="Meiryo UI" panose="020B0604030504040204" pitchFamily="50" charset="-128"/>
              </a:rPr>
              <a:t>検証項目</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が持つ各キャリブレーションパッケージに関し、以下を検証する</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標準</a:t>
            </a:r>
            <a:r>
              <a:rPr lang="en-US" altLang="ja-JP" sz="1400">
                <a:latin typeface="Meiryo UI" panose="020B0604030504040204" pitchFamily="50" charset="-128"/>
                <a:ea typeface="Meiryo UI" panose="020B0604030504040204" pitchFamily="50" charset="-128"/>
              </a:rPr>
              <a:t>calibration</a:t>
            </a:r>
            <a:r>
              <a:rPr lang="ja-JP" altLang="en-US" sz="1400">
                <a:latin typeface="Meiryo UI" panose="020B0604030504040204" pitchFamily="50" charset="-128"/>
                <a:ea typeface="Meiryo UI" panose="020B0604030504040204" pitchFamily="50" charset="-128"/>
              </a:rPr>
              <a:t>項目の設定根拠と結果</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プラットフォーム</a:t>
            </a:r>
            <a:r>
              <a:rPr lang="en-US" altLang="ja-JP" sz="1400">
                <a:latin typeface="Meiryo UI" panose="020B0604030504040204" pitchFamily="50" charset="-128"/>
                <a:ea typeface="Meiryo UI" panose="020B0604030504040204" pitchFamily="50" charset="-128"/>
              </a:rPr>
              <a:t>S/W</a:t>
            </a:r>
            <a:r>
              <a:rPr lang="ja-JP" altLang="en-US" sz="1400">
                <a:latin typeface="Meiryo UI" panose="020B0604030504040204" pitchFamily="50" charset="-128"/>
                <a:ea typeface="Meiryo UI" panose="020B0604030504040204" pitchFamily="50" charset="-128"/>
              </a:rPr>
              <a:t>ファンクションに関する</a:t>
            </a:r>
            <a:r>
              <a:rPr lang="en-US" altLang="ja-JP" sz="1400">
                <a:latin typeface="Meiryo UI" panose="020B0604030504040204" pitchFamily="50" charset="-128"/>
                <a:ea typeface="Meiryo UI" panose="020B0604030504040204" pitchFamily="50" charset="-128"/>
              </a:rPr>
              <a:t>adaptation</a:t>
            </a:r>
            <a:r>
              <a:rPr lang="ja-JP" altLang="en-US" sz="1400">
                <a:latin typeface="Meiryo UI" panose="020B0604030504040204" pitchFamily="50" charset="-128"/>
                <a:ea typeface="Meiryo UI" panose="020B0604030504040204" pitchFamily="50" charset="-128"/>
              </a:rPr>
              <a:t>項目  </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	     - ECU H/W</a:t>
            </a:r>
            <a:r>
              <a:rPr lang="ja-JP" altLang="en-US" sz="1400">
                <a:latin typeface="Meiryo UI" panose="020B0604030504040204" pitchFamily="50" charset="-128"/>
                <a:ea typeface="Meiryo UI" panose="020B0604030504040204" pitchFamily="50" charset="-128"/>
              </a:rPr>
              <a:t>設定に関する項目</a:t>
            </a:r>
            <a:r>
              <a:rPr lang="en-US" altLang="ja-JP" sz="1400">
                <a:latin typeface="Meiryo UI" panose="020B0604030504040204" pitchFamily="50" charset="-128"/>
                <a:ea typeface="Meiryo UI" panose="020B0604030504040204" pitchFamily="50" charset="-128"/>
              </a:rPr>
              <a:t>	</a:t>
            </a:r>
          </a:p>
          <a:p>
            <a:pPr algn="l" eaLnBrk="1" hangingPunct="1">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キャリブレーションパッケージの目的（何を実現するのか）</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結果の是非の判定基準</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妥当性検証ﾃｽﾄの結果（判定基準とテスト結果が簡潔に纏まったグラフを提示）</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社内での検証結果の開示</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ja-JP" altLang="en-US" sz="1400">
                <a:latin typeface="Meiryo UI" panose="020B0604030504040204" pitchFamily="50" charset="-128"/>
                <a:ea typeface="Meiryo UI" panose="020B0604030504040204" pitchFamily="50" charset="-128"/>
              </a:rPr>
              <a:t>場所</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期間</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Honda </a:t>
            </a:r>
            <a:r>
              <a:rPr lang="ja-JP" altLang="en-US" sz="1400">
                <a:latin typeface="Meiryo UI" panose="020B0604030504040204" pitchFamily="50" charset="-128"/>
                <a:ea typeface="Meiryo UI" panose="020B0604030504040204" pitchFamily="50" charset="-128"/>
              </a:rPr>
              <a:t>か</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のいずれかにて約１週間を基本とし、必要に応じて期間延長する</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en-US" altLang="ja-JP" sz="1400">
                <a:solidFill>
                  <a:srgbClr val="FF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との</a:t>
            </a:r>
            <a:r>
              <a:rPr lang="en-US" altLang="ja-JP" sz="1400">
                <a:latin typeface="Meiryo UI" panose="020B0604030504040204" pitchFamily="50" charset="-128"/>
                <a:ea typeface="Meiryo UI" panose="020B0604030504040204" pitchFamily="50" charset="-128"/>
                <a:cs typeface="Arial" pitchFamily="34" charset="0"/>
              </a:rPr>
              <a:t>Expert meeting</a:t>
            </a:r>
            <a:r>
              <a:rPr lang="ja-JP" altLang="en-US" sz="1400">
                <a:latin typeface="Meiryo UI" panose="020B0604030504040204" pitchFamily="50" charset="-128"/>
                <a:ea typeface="Meiryo UI" panose="020B0604030504040204" pitchFamily="50" charset="-128"/>
                <a:cs typeface="Arial" pitchFamily="34" charset="0"/>
              </a:rPr>
              <a:t>において、</a:t>
            </a:r>
            <a:r>
              <a:rPr lang="en-US" altLang="ja-JP" sz="1400">
                <a:latin typeface="Meiryo UI" panose="020B0604030504040204" pitchFamily="50" charset="-128"/>
                <a:ea typeface="Meiryo UI" panose="020B0604030504040204" pitchFamily="50" charset="-128"/>
                <a:cs typeface="Arial" pitchFamily="34" charset="0"/>
              </a:rPr>
              <a:t>4MOC</a:t>
            </a:r>
            <a:r>
              <a:rPr lang="ja-JP" altLang="en-US" sz="1400">
                <a:latin typeface="Meiryo UI" panose="020B0604030504040204" pitchFamily="50" charset="-128"/>
                <a:ea typeface="Meiryo UI" panose="020B0604030504040204" pitchFamily="50" charset="-128"/>
                <a:cs typeface="Arial" pitchFamily="34" charset="0"/>
              </a:rPr>
              <a:t>に対してその検証のサポート依頼する場合がある。</a:t>
            </a:r>
            <a:endParaRPr lang="ja-JP" altLang="en-US" sz="1400">
              <a:latin typeface="Meiryo UI" panose="020B0604030504040204" pitchFamily="50" charset="-128"/>
              <a:ea typeface="Meiryo UI" panose="020B0604030504040204" pitchFamily="50" charset="-128"/>
            </a:endParaRPr>
          </a:p>
        </p:txBody>
      </p:sp>
      <p:sp>
        <p:nvSpPr>
          <p:cNvPr id="10"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(7/31)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2128201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テキスト ボックス 7"/>
          <p:cNvSpPr txBox="1"/>
          <p:nvPr/>
        </p:nvSpPr>
        <p:spPr>
          <a:xfrm>
            <a:off x="94232" y="852699"/>
            <a:ext cx="8651354" cy="2593018"/>
          </a:xfrm>
          <a:prstGeom prst="rect">
            <a:avLst/>
          </a:prstGeom>
          <a:noFill/>
        </p:spPr>
        <p:txBody>
          <a:bodyPr wrap="square" rtlCol="0">
            <a:spAutoFit/>
          </a:bodyPr>
          <a:lstStyle/>
          <a:p>
            <a:pPr algn="l">
              <a:spcBef>
                <a:spcPts val="300"/>
              </a:spcBef>
            </a:pPr>
            <a:r>
              <a:rPr lang="en-US" altLang="ja-JP" sz="1400">
                <a:latin typeface="Meiryo UI" panose="020B0604030504040204" pitchFamily="50" charset="-128"/>
                <a:ea typeface="Meiryo UI" panose="020B0604030504040204" pitchFamily="50" charset="-128"/>
              </a:rPr>
              <a:t>The purpose of “Compare list” is to check all data was verified and reported by</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a:t>
            </a:r>
          </a:p>
          <a:p>
            <a:pPr algn="l">
              <a:spcBef>
                <a:spcPts val="300"/>
              </a:spcBef>
            </a:pPr>
            <a:r>
              <a:rPr lang="en-US" altLang="ja-JP" sz="1400">
                <a:latin typeface="Meiryo UI" panose="020B0604030504040204" pitchFamily="50" charset="-128"/>
                <a:ea typeface="Meiryo UI" panose="020B0604030504040204" pitchFamily="50" charset="-128"/>
              </a:rPr>
              <a:t>Honda will see</a:t>
            </a: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コンペアリストの目的は、全てのデータが</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latin typeface="Meiryo UI" panose="020B0604030504040204" pitchFamily="50" charset="-128"/>
                <a:ea typeface="Meiryo UI" panose="020B0604030504040204" pitchFamily="50" charset="-128"/>
              </a:rPr>
              <a:t>によって検証され報告されたことをチェックすることである。</a:t>
            </a:r>
            <a:endParaRPr lang="en-US" altLang="ja-JP" sz="1400">
              <a:latin typeface="Meiryo UI" panose="020B0604030504040204" pitchFamily="50" charset="-128"/>
              <a:ea typeface="Meiryo UI" panose="020B0604030504040204" pitchFamily="50" charset="-128"/>
            </a:endParaRP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r>
              <a:rPr kumimoji="1" lang="en-US" altLang="ja-JP" sz="1400">
                <a:latin typeface="Meiryo UI" panose="020B0604030504040204" pitchFamily="50" charset="-128"/>
                <a:ea typeface="Meiryo UI" panose="020B0604030504040204" pitchFamily="50" charset="-128"/>
              </a:rPr>
              <a:t>MP1</a:t>
            </a:r>
          </a:p>
          <a:p>
            <a:pPr algn="l">
              <a:spcBef>
                <a:spcPts val="300"/>
              </a:spcBef>
            </a:pPr>
            <a:r>
              <a:rPr lang="en-US" altLang="ja-JP" sz="1400">
                <a:latin typeface="Meiryo UI" panose="020B0604030504040204" pitchFamily="50" charset="-128"/>
                <a:ea typeface="Meiryo UI" panose="020B0604030504040204" pitchFamily="50" charset="-128"/>
              </a:rPr>
              <a:t>Please Make Comparison list between MP0 (or</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Previous</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model)</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and MP1 in same variant.</a:t>
            </a: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同一仕向けにおいて、</a:t>
            </a:r>
            <a:r>
              <a:rPr lang="en-US" altLang="ja-JP" sz="1400">
                <a:latin typeface="Meiryo UI" panose="020B0604030504040204" pitchFamily="50" charset="-128"/>
                <a:ea typeface="Meiryo UI" panose="020B0604030504040204" pitchFamily="50" charset="-128"/>
              </a:rPr>
              <a:t>MP0(</a:t>
            </a:r>
            <a:r>
              <a:rPr lang="ja-JP" altLang="en-US" sz="1400">
                <a:latin typeface="Meiryo UI" panose="020B0604030504040204" pitchFamily="50" charset="-128"/>
                <a:ea typeface="Meiryo UI" panose="020B0604030504040204" pitchFamily="50" charset="-128"/>
              </a:rPr>
              <a:t>又は前モデル</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と</a:t>
            </a:r>
            <a:r>
              <a:rPr lang="en-US" altLang="ja-JP" sz="1400">
                <a:latin typeface="Meiryo UI" panose="020B0604030504040204" pitchFamily="50" charset="-128"/>
                <a:ea typeface="Meiryo UI" panose="020B0604030504040204" pitchFamily="50" charset="-128"/>
              </a:rPr>
              <a:t>MP1</a:t>
            </a:r>
            <a:r>
              <a:rPr lang="ja-JP" altLang="en-US" sz="1400">
                <a:latin typeface="Meiryo UI" panose="020B0604030504040204" pitchFamily="50" charset="-128"/>
                <a:ea typeface="Meiryo UI" panose="020B0604030504040204" pitchFamily="50" charset="-128"/>
              </a:rPr>
              <a:t>との比較（コンペア）リストを作成すること</a:t>
            </a:r>
            <a:endParaRPr lang="en-US" altLang="ja-JP" sz="1400">
              <a:latin typeface="Meiryo UI" panose="020B0604030504040204" pitchFamily="50" charset="-128"/>
              <a:ea typeface="Meiryo UI" panose="020B0604030504040204" pitchFamily="50" charset="-128"/>
            </a:endParaRPr>
          </a:p>
        </p:txBody>
      </p:sp>
      <p:sp>
        <p:nvSpPr>
          <p:cNvPr id="16"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(8/31)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93650" y="496619"/>
            <a:ext cx="17940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a:r>
              <a:rPr lang="en-US" altLang="ja-JP" sz="1800" b="1" u="sng">
                <a:latin typeface="Meiryo UI" panose="020B0604030504040204" pitchFamily="50" charset="-128"/>
                <a:ea typeface="Meiryo UI" panose="020B0604030504040204" pitchFamily="50" charset="-128"/>
              </a:rPr>
              <a:t>Compare List</a:t>
            </a:r>
          </a:p>
        </p:txBody>
      </p:sp>
      <p:sp>
        <p:nvSpPr>
          <p:cNvPr id="10" name="コンテンツ プレースホルダー 2">
            <a:extLst>
              <a:ext uri="{FF2B5EF4-FFF2-40B4-BE49-F238E27FC236}">
                <a16:creationId xmlns:a16="http://schemas.microsoft.com/office/drawing/2014/main" id="{DF8F3048-8336-42DF-8038-25D502D44392}"/>
              </a:ext>
            </a:extLst>
          </p:cNvPr>
          <p:cNvSpPr txBox="1">
            <a:spLocks/>
          </p:cNvSpPr>
          <p:nvPr>
            <p:custDataLst>
              <p:tags r:id="rId1"/>
            </p:custDataLst>
          </p:nvPr>
        </p:nvSpPr>
        <p:spPr bwMode="auto">
          <a:xfrm>
            <a:off x="4697416" y="5173765"/>
            <a:ext cx="3802323"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“Datacomp_List_sample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16</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Requirement</a:t>
            </a:r>
            <a:r>
              <a:rPr lang="en-US" sz="1400" b="1" kern="0">
                <a:latin typeface="Meiryo UI" panose="020B0604030504040204" pitchFamily="50" charset="-128"/>
              </a:rPr>
              <a:t>”</a:t>
            </a:r>
          </a:p>
        </p:txBody>
      </p:sp>
    </p:spTree>
    <p:extLst>
      <p:ext uri="{BB962C8B-B14F-4D97-AF65-F5344CB8AC3E}">
        <p14:creationId xmlns:p14="http://schemas.microsoft.com/office/powerpoint/2010/main" val="8677094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(9/31)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5" name="Rectangle 13">
            <a:extLst>
              <a:ext uri="{FF2B5EF4-FFF2-40B4-BE49-F238E27FC236}">
                <a16:creationId xmlns:a16="http://schemas.microsoft.com/office/drawing/2014/main" id="{991E8887-0D45-44ED-A912-98AC5115EDB5}"/>
              </a:ext>
            </a:extLst>
          </p:cNvPr>
          <p:cNvSpPr>
            <a:spLocks noChangeArrowheads="1"/>
          </p:cNvSpPr>
          <p:nvPr/>
        </p:nvSpPr>
        <p:spPr bwMode="auto">
          <a:xfrm>
            <a:off x="35496" y="2701195"/>
            <a:ext cx="9108504"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ja-JP" altLang="en-US" sz="1600" b="1" u="sng">
                <a:solidFill>
                  <a:srgbClr val="000000"/>
                </a:solidFill>
                <a:latin typeface="Meiryo UI" panose="020B0604030504040204" pitchFamily="50" charset="-128"/>
                <a:ea typeface="Meiryo UI" panose="020B0604030504040204" pitchFamily="50" charset="-128"/>
                <a:cs typeface="Meiryo UI" pitchFamily="50" charset="-128"/>
              </a:rPr>
              <a:t>品質向上施策検証</a:t>
            </a:r>
            <a:endParaRPr lang="en-US" altLang="ja-JP" sz="1600" b="1">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en-US" altLang="ja-JP" sz="1400">
                <a:latin typeface="Meiryo UI" panose="020B0604030504040204" pitchFamily="50" charset="-128"/>
                <a:ea typeface="Meiryo UI" panose="020B0604030504040204" pitchFamily="50" charset="-128"/>
                <a:cs typeface="Meiryo UI" pitchFamily="50" charset="-128"/>
              </a:rPr>
              <a:t>Honda </a:t>
            </a:r>
            <a:r>
              <a:rPr lang="ja-JP" altLang="en-US" sz="1400">
                <a:latin typeface="Meiryo UI" panose="020B0604030504040204" pitchFamily="50" charset="-128"/>
                <a:ea typeface="Meiryo UI" panose="020B0604030504040204" pitchFamily="50" charset="-128"/>
                <a:cs typeface="Meiryo UI" pitchFamily="50" charset="-128"/>
              </a:rPr>
              <a:t>品質向上施策に関して、検証を実施し、その結果を</a:t>
            </a:r>
            <a:r>
              <a:rPr lang="en-US" altLang="ja-JP" sz="1400">
                <a:latin typeface="Meiryo UI" panose="020B0604030504040204" pitchFamily="50" charset="-128"/>
                <a:ea typeface="Meiryo UI" panose="020B0604030504040204" pitchFamily="50" charset="-128"/>
                <a:cs typeface="Meiryo UI" pitchFamily="50" charset="-128"/>
              </a:rPr>
              <a:t>Honda</a:t>
            </a:r>
            <a:r>
              <a:rPr lang="ja-JP" altLang="en-US" sz="1400">
                <a:latin typeface="Meiryo UI" panose="020B0604030504040204" pitchFamily="50" charset="-128"/>
                <a:ea typeface="Meiryo UI" panose="020B0604030504040204" pitchFamily="50" charset="-128"/>
                <a:cs typeface="Meiryo UI" pitchFamily="50" charset="-128"/>
              </a:rPr>
              <a:t>に報告すること。</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施策ごとに実施した内容とまとめについては、それぞれの報告タイミングにて報告されること。</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全ての施策については、マスク</a:t>
            </a:r>
            <a:r>
              <a:rPr lang="en-US" altLang="ja-JP" sz="1400">
                <a:latin typeface="Meiryo UI" panose="020B0604030504040204" pitchFamily="50" charset="-128"/>
                <a:ea typeface="Meiryo UI" panose="020B0604030504040204" pitchFamily="50" charset="-128"/>
                <a:cs typeface="Meiryo UI" pitchFamily="50" charset="-128"/>
              </a:rPr>
              <a:t>HEX</a:t>
            </a:r>
            <a:r>
              <a:rPr lang="ja-JP" altLang="en-US" sz="1400">
                <a:latin typeface="Meiryo UI" panose="020B0604030504040204" pitchFamily="50" charset="-128"/>
                <a:ea typeface="Meiryo UI" panose="020B0604030504040204" pitchFamily="50" charset="-128"/>
                <a:cs typeface="Meiryo UI" pitchFamily="50" charset="-128"/>
              </a:rPr>
              <a:t>発行前に完了させること。</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cs typeface="Meiryo UI" pitchFamily="50" charset="-128"/>
              </a:rPr>
              <a:t>各検証目のやるやらは、</a:t>
            </a:r>
            <a:r>
              <a:rPr lang="en-US" altLang="ja-JP" sz="1400">
                <a:latin typeface="Meiryo UI" panose="020B0604030504040204" pitchFamily="50" charset="-128"/>
                <a:ea typeface="Meiryo UI" panose="020B0604030504040204" pitchFamily="50" charset="-128"/>
                <a:cs typeface="Meiryo UI" pitchFamily="50" charset="-128"/>
              </a:rPr>
              <a:t>F1</a:t>
            </a:r>
            <a:r>
              <a:rPr lang="ja-JP" altLang="en-US" sz="1400">
                <a:latin typeface="Meiryo UI" panose="020B0604030504040204" pitchFamily="50" charset="-128"/>
                <a:ea typeface="Meiryo UI" panose="020B0604030504040204" pitchFamily="50" charset="-128"/>
                <a:cs typeface="Meiryo UI" pitchFamily="50" charset="-128"/>
              </a:rPr>
              <a:t>までに</a:t>
            </a:r>
            <a:r>
              <a:rPr lang="en-US" altLang="ja-JP" sz="1400">
                <a:solidFill>
                  <a:srgbClr val="0000FF"/>
                </a:solidFill>
                <a:latin typeface="Meiryo UI" panose="020B0604030504040204" pitchFamily="50" charset="-128"/>
                <a:ea typeface="Meiryo UI" panose="020B0604030504040204" pitchFamily="50" charset="-128"/>
              </a:rPr>
              <a:t>Bosch</a:t>
            </a:r>
            <a:r>
              <a:rPr lang="en-US" altLang="ja-JP" sz="1400">
                <a:latin typeface="Meiryo UI" panose="020B0604030504040204" pitchFamily="50" charset="-128"/>
                <a:ea typeface="Meiryo UI" panose="020B0604030504040204" pitchFamily="50" charset="-128"/>
                <a:cs typeface="Meiryo UI" pitchFamily="50" charset="-128"/>
              </a:rPr>
              <a:t>/HONDA</a:t>
            </a:r>
            <a:r>
              <a:rPr lang="ja-JP" altLang="en-US" sz="1400">
                <a:latin typeface="Meiryo UI" panose="020B0604030504040204" pitchFamily="50" charset="-128"/>
                <a:ea typeface="Meiryo UI" panose="020B0604030504040204" pitchFamily="50" charset="-128"/>
                <a:cs typeface="Meiryo UI" pitchFamily="50" charset="-128"/>
              </a:rPr>
              <a:t>間で整合</a:t>
            </a:r>
            <a:endParaRPr lang="en-US" altLang="ja-JP" sz="1400">
              <a:latin typeface="Meiryo UI" panose="020B0604030504040204" pitchFamily="50" charset="-128"/>
              <a:ea typeface="Meiryo UI" panose="020B0604030504040204" pitchFamily="50" charset="-128"/>
              <a:cs typeface="Meiryo UI" pitchFamily="50" charset="-128"/>
            </a:endParaRPr>
          </a:p>
        </p:txBody>
      </p:sp>
      <p:sp>
        <p:nvSpPr>
          <p:cNvPr id="7" name="Rectangle 13">
            <a:extLst>
              <a:ext uri="{FF2B5EF4-FFF2-40B4-BE49-F238E27FC236}">
                <a16:creationId xmlns:a16="http://schemas.microsoft.com/office/drawing/2014/main" id="{631E1A8D-FB6E-493C-A65C-1AF91BDEE8DF}"/>
              </a:ext>
            </a:extLst>
          </p:cNvPr>
          <p:cNvSpPr>
            <a:spLocks noChangeArrowheads="1"/>
          </p:cNvSpPr>
          <p:nvPr/>
        </p:nvSpPr>
        <p:spPr bwMode="auto">
          <a:xfrm>
            <a:off x="-19571" y="525920"/>
            <a:ext cx="9163571"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Quality</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Improvement</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Measures Verification</a:t>
            </a:r>
            <a:endParaRPr lang="en-US" altLang="ja-JP" sz="1600" b="1">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Regarding Honda’s</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quality improvement measure, the verification shall be </a:t>
            </a:r>
            <a:r>
              <a:rPr lang="en-US" altLang="ja-JP" sz="1400">
                <a:latin typeface="Meiryo UI" panose="020B0604030504040204" pitchFamily="50" charset="-128"/>
                <a:ea typeface="Meiryo UI" panose="020B0604030504040204" pitchFamily="50" charset="-128"/>
                <a:cs typeface="Arial" pitchFamily="34" charset="0"/>
              </a:rPr>
              <a:t>implemented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and report the result to Honda.</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Contents and summary</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of each measures shall be reported at the report timing of each measure.</a:t>
            </a:r>
            <a:endParaRPr lang="en-US" altLang="ja-JP" sz="1400">
              <a:solidFill>
                <a:srgbClr val="FF0000"/>
              </a:solidFill>
              <a:latin typeface="Meiryo UI" panose="020B0604030504040204" pitchFamily="50" charset="-128"/>
              <a:ea typeface="Meiryo UI" panose="020B0604030504040204" pitchFamily="50" charset="-128"/>
              <a:cs typeface="Meiryo UI" pitchFamily="50" charset="-128"/>
            </a:endParaRPr>
          </a:p>
          <a:p>
            <a:pPr marL="534988" lvl="1" indent="-285750" algn="l">
              <a:spcBef>
                <a:spcPts val="600"/>
              </a:spcBef>
              <a:buFontTx/>
              <a:buChar char="-"/>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All</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measures in the list below shall be completed before mask HEX MP1 release.</a:t>
            </a:r>
          </a:p>
          <a:p>
            <a:pPr marL="534988" lvl="1" indent="-285750" algn="l">
              <a:spcBef>
                <a:spcPts val="600"/>
              </a:spcBef>
              <a:buFontTx/>
              <a:buChar char="-"/>
            </a:pPr>
            <a:r>
              <a:rPr lang="en-US" altLang="ja-JP" sz="1400">
                <a:solidFill>
                  <a:srgbClr val="000000"/>
                </a:solidFill>
                <a:latin typeface="Meiryo UI" panose="020B0604030504040204" pitchFamily="50" charset="-128"/>
                <a:ea typeface="Meiryo UI" panose="020B0604030504040204" pitchFamily="50" charset="-128"/>
                <a:cs typeface="Meiryo UI" pitchFamily="50" charset="-128"/>
              </a:rPr>
              <a:t>Verification items shall be aligned between </a:t>
            </a:r>
            <a:r>
              <a:rPr lang="en-US" altLang="ja-JP" sz="1400">
                <a:solidFill>
                  <a:srgbClr val="0000FF"/>
                </a:solidFill>
                <a:latin typeface="Meiryo UI" panose="020B0604030504040204" pitchFamily="50" charset="-128"/>
                <a:ea typeface="Meiryo UI" panose="020B0604030504040204" pitchFamily="50" charset="-128"/>
              </a:rPr>
              <a:t>Bosch</a:t>
            </a:r>
            <a:r>
              <a:rPr lang="ja-JP" altLang="en-US" sz="1400">
                <a:solidFill>
                  <a:srgbClr val="0000FF"/>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cs typeface="Meiryo UI" pitchFamily="50" charset="-128"/>
              </a:rPr>
              <a:t>and HONDA before F1 event. </a:t>
            </a:r>
            <a:endParaRPr lang="en-US" altLang="ja-JP" sz="1100">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7" name="コンテンツ プレースホルダー 2">
            <a:extLst>
              <a:ext uri="{FF2B5EF4-FFF2-40B4-BE49-F238E27FC236}">
                <a16:creationId xmlns:a16="http://schemas.microsoft.com/office/drawing/2014/main" id="{CB20E5B9-67A3-4A55-9B04-418766AB1F56}"/>
              </a:ext>
            </a:extLst>
          </p:cNvPr>
          <p:cNvSpPr txBox="1">
            <a:spLocks/>
          </p:cNvSpPr>
          <p:nvPr>
            <p:custDataLst>
              <p:tags r:id="rId1"/>
            </p:custDataLst>
          </p:nvPr>
        </p:nvSpPr>
        <p:spPr bwMode="auto">
          <a:xfrm>
            <a:off x="2948539" y="5823607"/>
            <a:ext cx="568585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“Quality</a:t>
            </a:r>
            <a:r>
              <a:rPr lang="ja-JP" altLang="en-US" sz="1400" b="1" kern="0">
                <a:latin typeface="Meiryo UI" panose="020B0604030504040204" pitchFamily="50" charset="-128"/>
              </a:rPr>
              <a:t> </a:t>
            </a:r>
            <a:r>
              <a:rPr lang="en-US" altLang="ja-JP" sz="1400" b="1" kern="0">
                <a:latin typeface="Meiryo UI" panose="020B0604030504040204" pitchFamily="50" charset="-128"/>
              </a:rPr>
              <a:t>improvement measure verification”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Tree>
    <p:extLst>
      <p:ext uri="{BB962C8B-B14F-4D97-AF65-F5344CB8AC3E}">
        <p14:creationId xmlns:p14="http://schemas.microsoft.com/office/powerpoint/2010/main" val="35170659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35676"/>
            <a:ext cx="910850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Quality</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Improvement</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Measures Verification</a:t>
            </a:r>
            <a:endParaRPr lang="en-US" altLang="ja-JP" sz="1800" b="1">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Regarding Honda’s quality improvement measure, the verification shall be implemented and report the result to Honda.</a:t>
            </a:r>
          </a:p>
          <a:p>
            <a:pPr marL="534988" lvl="1" indent="-285750" algn="l">
              <a:buFontTx/>
              <a:buChar char="-"/>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Contents and summary</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of each measure shall be reported at the report timing of each measure.</a:t>
            </a:r>
            <a:endParaRPr lang="en-US" altLang="ja-JP" sz="1200">
              <a:solidFill>
                <a:srgbClr val="FF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All</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measures in the list below shall be completed before mask HEX MP1 release.</a:t>
            </a:r>
            <a:endParaRPr lang="ja-JP" altLang="en-US" sz="1200">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2" name="表 1"/>
          <p:cNvGraphicFramePr>
            <a:graphicFrameLocks noGrp="1"/>
          </p:cNvGraphicFramePr>
          <p:nvPr>
            <p:extLst>
              <p:ext uri="{D42A27DB-BD31-4B8C-83A1-F6EECF244321}">
                <p14:modId xmlns:p14="http://schemas.microsoft.com/office/powerpoint/2010/main" val="702724381"/>
              </p:ext>
            </p:extLst>
          </p:nvPr>
        </p:nvGraphicFramePr>
        <p:xfrm>
          <a:off x="191890" y="1612070"/>
          <a:ext cx="8851709" cy="5179504"/>
        </p:xfrm>
        <a:graphic>
          <a:graphicData uri="http://schemas.openxmlformats.org/drawingml/2006/table">
            <a:tbl>
              <a:tblPr firstRow="1" bandRow="1">
                <a:tableStyleId>{5940675A-B579-460E-94D1-54222C63F5DA}</a:tableStyleId>
              </a:tblPr>
              <a:tblGrid>
                <a:gridCol w="2695001">
                  <a:extLst>
                    <a:ext uri="{9D8B030D-6E8A-4147-A177-3AD203B41FA5}">
                      <a16:colId xmlns:a16="http://schemas.microsoft.com/office/drawing/2014/main" val="208362973"/>
                    </a:ext>
                  </a:extLst>
                </a:gridCol>
                <a:gridCol w="2429693">
                  <a:extLst>
                    <a:ext uri="{9D8B030D-6E8A-4147-A177-3AD203B41FA5}">
                      <a16:colId xmlns:a16="http://schemas.microsoft.com/office/drawing/2014/main" val="2304362547"/>
                    </a:ext>
                  </a:extLst>
                </a:gridCol>
                <a:gridCol w="1787321">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319504">
                <a:tc>
                  <a:txBody>
                    <a:bodyPr/>
                    <a:lstStyle/>
                    <a:p>
                      <a:r>
                        <a:rPr kumimoji="1" lang="en-US" altLang="ja-JP" sz="1200">
                          <a:latin typeface="Meiryo UI" panose="020B0604030504040204" pitchFamily="50" charset="-128"/>
                          <a:ea typeface="Meiryo UI" panose="020B0604030504040204" pitchFamily="50" charset="-128"/>
                        </a:rPr>
                        <a:t>Purpose</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of</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measure</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Recurrence prevention</a:t>
                      </a:r>
                      <a:r>
                        <a:rPr kumimoji="1" lang="en-US" altLang="ja-JP" sz="1200" baseline="0">
                          <a:latin typeface="Meiryo UI" panose="020B0604030504040204" pitchFamily="50" charset="-128"/>
                          <a:ea typeface="Meiryo UI" panose="020B0604030504040204" pitchFamily="50" charset="-128"/>
                        </a:rPr>
                        <a:t> tool</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Report</a:t>
                      </a:r>
                      <a:r>
                        <a:rPr kumimoji="1" lang="en-US" altLang="ja-JP" sz="1200" baseline="0">
                          <a:latin typeface="Meiryo UI" panose="020B0604030504040204" pitchFamily="50" charset="-128"/>
                          <a:ea typeface="Meiryo UI" panose="020B0604030504040204" pitchFamily="50" charset="-128"/>
                        </a:rPr>
                        <a:t> timing</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Report</a:t>
                      </a:r>
                      <a:r>
                        <a:rPr kumimoji="1" lang="en-US" altLang="ja-JP" sz="1400" baseline="0">
                          <a:latin typeface="Meiryo UI" panose="020B0604030504040204" pitchFamily="50" charset="-128"/>
                          <a:ea typeface="Meiryo UI" panose="020B0604030504040204" pitchFamily="50" charset="-128"/>
                        </a:rPr>
                        <a:t> samples</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843441020"/>
                  </a:ext>
                </a:extLst>
              </a:tr>
              <a:tr h="972000">
                <a:tc>
                  <a:txBody>
                    <a:bodyPr/>
                    <a:lstStyle/>
                    <a:p>
                      <a:r>
                        <a:rPr kumimoji="1" lang="en-US" altLang="ja-JP" sz="1400">
                          <a:latin typeface="Meiryo UI" panose="020B0604030504040204" pitchFamily="50" charset="-128"/>
                          <a:ea typeface="Meiryo UI" panose="020B0604030504040204" pitchFamily="50" charset="-128"/>
                        </a:rPr>
                        <a:t>Validation for</a:t>
                      </a:r>
                      <a:r>
                        <a:rPr kumimoji="1" lang="en-US" altLang="ja-JP" sz="1400" baseline="0">
                          <a:latin typeface="Meiryo UI" panose="020B0604030504040204" pitchFamily="50" charset="-128"/>
                          <a:ea typeface="Meiryo UI" panose="020B0604030504040204" pitchFamily="50" charset="-128"/>
                        </a:rPr>
                        <a:t> SW CR related calibration label</a:t>
                      </a:r>
                    </a:p>
                    <a:p>
                      <a:endParaRPr kumimoji="1" lang="en-US" altLang="ja-JP" sz="1400" baseline="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CR label comparison list</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List creation : before V1 event </a:t>
                      </a:r>
                    </a:p>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Final pdf report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Expert meeting</a:t>
                      </a:r>
                    </a:p>
                  </a:txBody>
                  <a:tcPr/>
                </a:tc>
                <a:tc>
                  <a:txBody>
                    <a:bodyPr/>
                    <a:lstStyle/>
                    <a:p>
                      <a:r>
                        <a:rPr kumimoji="1" lang="en-US" altLang="ja-JP" sz="1400">
                          <a:latin typeface="Meiryo UI" panose="020B0604030504040204" pitchFamily="50" charset="-128"/>
                          <a:ea typeface="Meiryo UI" panose="020B0604030504040204" pitchFamily="50" charset="-128"/>
                        </a:rPr>
                        <a:t>Refer to “CR label comparison</a:t>
                      </a:r>
                      <a:r>
                        <a:rPr kumimoji="1" lang="en-US" altLang="ja-JP" sz="1400" baseline="0">
                          <a:latin typeface="Meiryo UI" panose="020B0604030504040204" pitchFamily="50" charset="-128"/>
                          <a:ea typeface="Meiryo UI" panose="020B0604030504040204" pitchFamily="50" charset="-128"/>
                        </a:rPr>
                        <a:t> list</a:t>
                      </a:r>
                      <a:r>
                        <a:rPr kumimoji="1" lang="en-US" altLang="ja-JP" sz="1400">
                          <a:latin typeface="Meiryo UI" panose="020B0604030504040204" pitchFamily="50" charset="-128"/>
                          <a:ea typeface="Meiryo UI" panose="020B0604030504040204" pitchFamily="50" charset="-128"/>
                        </a:rPr>
                        <a:t>”</a:t>
                      </a:r>
                    </a:p>
                    <a:p>
                      <a:r>
                        <a:rPr kumimoji="1" lang="en-US" altLang="ja-JP" sz="1400">
                          <a:latin typeface="Meiryo UI" panose="020B0604030504040204" pitchFamily="50" charset="-128"/>
                          <a:ea typeface="Meiryo UI" panose="020B0604030504040204" pitchFamily="50" charset="-128"/>
                        </a:rPr>
                        <a:t>“CR label comp list</a:t>
                      </a:r>
                      <a:r>
                        <a:rPr kumimoji="1" lang="en-US" altLang="ja-JP" sz="1400" baseline="0">
                          <a:latin typeface="Meiryo UI" panose="020B0604030504040204" pitchFamily="50" charset="-128"/>
                          <a:ea typeface="Meiryo UI" panose="020B0604030504040204" pitchFamily="50" charset="-128"/>
                        </a:rPr>
                        <a:t> status summary”</a:t>
                      </a:r>
                      <a:endParaRPr kumimoji="1" lang="en-US" altLang="ja-JP"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465551"/>
                  </a:ext>
                </a:extLst>
              </a:tr>
              <a:tr h="972000">
                <a:tc>
                  <a:txBody>
                    <a:bodyPr/>
                    <a:lstStyle/>
                    <a:p>
                      <a:r>
                        <a:rPr kumimoji="1" lang="en-US" altLang="ja-JP" sz="1400">
                          <a:latin typeface="Meiryo UI" panose="020B0604030504040204" pitchFamily="50" charset="-128"/>
                          <a:ea typeface="Meiryo UI" panose="020B0604030504040204" pitchFamily="50" charset="-128"/>
                        </a:rPr>
                        <a:t>Validation for</a:t>
                      </a:r>
                      <a:r>
                        <a:rPr kumimoji="1" lang="en-US" altLang="ja-JP" sz="1400" baseline="0">
                          <a:latin typeface="Meiryo UI" panose="020B0604030504040204" pitchFamily="50" charset="-128"/>
                          <a:ea typeface="Meiryo UI" panose="020B0604030504040204" pitchFamily="50" charset="-128"/>
                        </a:rPr>
                        <a:t> CR related calibration label of Level-2</a:t>
                      </a:r>
                    </a:p>
                  </a:txBody>
                  <a:tcPr/>
                </a:tc>
                <a:tc>
                  <a:txBody>
                    <a:bodyPr/>
                    <a:lstStyle/>
                    <a:p>
                      <a:r>
                        <a:rPr kumimoji="1" lang="en-US" altLang="ja-JP" sz="1400">
                          <a:latin typeface="Meiryo UI" panose="020B0604030504040204" pitchFamily="50" charset="-128"/>
                          <a:ea typeface="Meiryo UI" panose="020B0604030504040204" pitchFamily="50" charset="-128"/>
                        </a:rPr>
                        <a:t>Level2 data comparison list</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p>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Refer to “Level</a:t>
                      </a:r>
                      <a:r>
                        <a:rPr kumimoji="1" lang="en-US" altLang="ja-JP" sz="1400" baseline="0">
                          <a:latin typeface="Meiryo UI" panose="020B0604030504040204" pitchFamily="50" charset="-128"/>
                          <a:ea typeface="Meiryo UI" panose="020B0604030504040204" pitchFamily="50" charset="-128"/>
                        </a:rPr>
                        <a:t>2 data comparison list sample”</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787623433"/>
                  </a:ext>
                </a:extLst>
              </a:tr>
              <a:tr h="972000">
                <a:tc>
                  <a:txBody>
                    <a:bodyPr/>
                    <a:lstStyle/>
                    <a:p>
                      <a:r>
                        <a:rPr lang="en-US" altLang="ja-JP" sz="1400">
                          <a:effectLst/>
                          <a:latin typeface="Meiryo UI" panose="020B0604030504040204" pitchFamily="50" charset="-128"/>
                          <a:ea typeface="Meiryo UI" panose="020B0604030504040204" pitchFamily="50" charset="-128"/>
                        </a:rPr>
                        <a:t>Impact analysis result for</a:t>
                      </a:r>
                      <a:r>
                        <a:rPr lang="en-US" altLang="ja-JP" sz="1400" baseline="0">
                          <a:effectLst/>
                          <a:latin typeface="Meiryo UI" panose="020B0604030504040204" pitchFamily="50" charset="-128"/>
                          <a:ea typeface="Meiryo UI" panose="020B0604030504040204" pitchFamily="50" charset="-128"/>
                        </a:rPr>
                        <a:t> </a:t>
                      </a:r>
                      <a:r>
                        <a:rPr lang="en-US" altLang="ja-JP" sz="1400">
                          <a:effectLst/>
                          <a:latin typeface="Meiryo UI" panose="020B0604030504040204" pitchFamily="50" charset="-128"/>
                          <a:ea typeface="Meiryo UI" panose="020B0604030504040204" pitchFamily="50" charset="-128"/>
                        </a:rPr>
                        <a:t>change point from base model </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SW</a:t>
                      </a:r>
                      <a:r>
                        <a:rPr kumimoji="1" lang="en-US" altLang="ja-JP" sz="1400" baseline="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CAL</a:t>
                      </a:r>
                      <a:r>
                        <a:rPr kumimoji="1" lang="en-US" altLang="ja-JP" sz="1400" baseline="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Coordination</a:t>
                      </a:r>
                      <a:r>
                        <a:rPr kumimoji="1" lang="en-US" altLang="ja-JP" sz="1400" baseline="0">
                          <a:latin typeface="Meiryo UI" panose="020B0604030504040204" pitchFamily="50" charset="-128"/>
                          <a:ea typeface="Meiryo UI" panose="020B0604030504040204" pitchFamily="50" charset="-128"/>
                        </a:rPr>
                        <a:t> i</a:t>
                      </a:r>
                      <a:r>
                        <a:rPr kumimoji="1" lang="en-US" altLang="ja-JP" sz="1400">
                          <a:latin typeface="Meiryo UI" panose="020B0604030504040204" pitchFamily="50" charset="-128"/>
                          <a:ea typeface="Meiryo UI" panose="020B0604030504040204" pitchFamily="50" charset="-128"/>
                        </a:rPr>
                        <a:t>tem list</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List creation : F1</a:t>
                      </a:r>
                    </a:p>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Implementation target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V1,latest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V2</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Refer to “SW CAL coordinatio</a:t>
                      </a:r>
                      <a:r>
                        <a:rPr kumimoji="1" lang="en-US" altLang="ja-JP" sz="1400" baseline="0">
                          <a:latin typeface="Meiryo UI" panose="020B0604030504040204" pitchFamily="50" charset="-128"/>
                          <a:ea typeface="Meiryo UI" panose="020B0604030504040204" pitchFamily="50" charset="-128"/>
                        </a:rPr>
                        <a:t>n item list_sample”</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35226378"/>
                  </a:ext>
                </a:extLst>
              </a:tr>
              <a:tr h="972000">
                <a:tc>
                  <a:txBody>
                    <a:bodyPr/>
                    <a:lstStyle/>
                    <a:p>
                      <a:r>
                        <a:rPr lang="en-US" altLang="ja-JP" sz="1400">
                          <a:effectLst/>
                          <a:latin typeface="Meiryo UI" panose="020B0604030504040204" pitchFamily="50" charset="-128"/>
                          <a:ea typeface="Meiryo UI" panose="020B0604030504040204" pitchFamily="50" charset="-128"/>
                        </a:rPr>
                        <a:t>Verification result of non-request item </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Calibration Data review report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Refer</a:t>
                      </a:r>
                      <a:r>
                        <a:rPr kumimoji="1" lang="en-US" altLang="ja-JP" sz="1400" baseline="0">
                          <a:latin typeface="Meiryo UI" panose="020B0604030504040204" pitchFamily="50" charset="-128"/>
                          <a:ea typeface="Meiryo UI" panose="020B0604030504040204" pitchFamily="50" charset="-128"/>
                        </a:rPr>
                        <a:t> to </a:t>
                      </a:r>
                      <a:r>
                        <a:rPr kumimoji="1" lang="en-US" altLang="ja-JP" sz="1400">
                          <a:latin typeface="Meiryo UI" panose="020B0604030504040204" pitchFamily="50" charset="-128"/>
                          <a:ea typeface="Meiryo UI" panose="020B0604030504040204" pitchFamily="50" charset="-128"/>
                        </a:rPr>
                        <a:t>“Calibration data review report_sample”</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503402131"/>
                  </a:ext>
                </a:extLst>
              </a:tr>
              <a:tr h="972000">
                <a:tc>
                  <a:txBody>
                    <a:bodyPr/>
                    <a:lstStyle/>
                    <a:p>
                      <a:r>
                        <a:rPr lang="en-US" altLang="ja-JP" sz="1400">
                          <a:effectLst/>
                          <a:latin typeface="Meiryo UI" panose="020B0604030504040204" pitchFamily="50" charset="-128"/>
                          <a:ea typeface="Meiryo UI" panose="020B0604030504040204" pitchFamily="50" charset="-128"/>
                        </a:rPr>
                        <a:t>Application confirmation of failure</a:t>
                      </a:r>
                      <a:r>
                        <a:rPr lang="ja-JP" altLang="en-US" sz="1400" baseline="0">
                          <a:effectLst/>
                          <a:latin typeface="Meiryo UI" panose="020B0604030504040204" pitchFamily="50" charset="-128"/>
                          <a:ea typeface="Meiryo UI" panose="020B0604030504040204" pitchFamily="50" charset="-128"/>
                        </a:rPr>
                        <a:t> </a:t>
                      </a:r>
                      <a:r>
                        <a:rPr lang="en-US" altLang="ja-JP" sz="1400" baseline="0">
                          <a:effectLst/>
                          <a:latin typeface="Meiryo UI" panose="020B0604030504040204" pitchFamily="50" charset="-128"/>
                          <a:ea typeface="Meiryo UI" panose="020B0604030504040204" pitchFamily="50" charset="-128"/>
                        </a:rPr>
                        <a:t>in past model</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Failure List</a:t>
                      </a:r>
                      <a:endParaRPr kumimoji="1" lang="ja-JP" altLang="en-US" sz="1400">
                        <a:latin typeface="Meiryo UI" panose="020B0604030504040204" pitchFamily="50" charset="-128"/>
                        <a:ea typeface="Meiryo UI" panose="020B0604030504040204" pitchFamily="50" charset="-128"/>
                      </a:endParaRPr>
                    </a:p>
                  </a:txBody>
                  <a:tcPr/>
                </a:tc>
                <a:tc>
                  <a:txBody>
                    <a:bodyPr/>
                    <a:lstStyle/>
                    <a:p>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en-US" altLang="ja-JP" sz="1400">
                          <a:latin typeface="Meiryo UI" panose="020B0604030504040204" pitchFamily="50" charset="-128"/>
                          <a:ea typeface="Meiryo UI" panose="020B0604030504040204" pitchFamily="50" charset="-128"/>
                        </a:rPr>
                        <a:t>Refer to “Failure </a:t>
                      </a:r>
                      <a:r>
                        <a:rPr kumimoji="1" lang="en-US" altLang="ja-JP" sz="1400" err="1">
                          <a:latin typeface="Meiryo UI" panose="020B0604030504040204" pitchFamily="50" charset="-128"/>
                          <a:ea typeface="Meiryo UI" panose="020B0604030504040204" pitchFamily="50" charset="-128"/>
                        </a:rPr>
                        <a:t>List_sample</a:t>
                      </a:r>
                      <a:r>
                        <a:rPr kumimoji="1" lang="en-US" altLang="ja-JP" sz="1400">
                          <a:latin typeface="Meiryo UI" panose="020B0604030504040204" pitchFamily="50" charset="-128"/>
                          <a:ea typeface="Meiryo UI" panose="020B0604030504040204" pitchFamily="50" charset="-128"/>
                        </a:rPr>
                        <a:t>”</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78771346"/>
                  </a:ext>
                </a:extLst>
              </a:tr>
            </a:tbl>
          </a:graphicData>
        </a:graphic>
      </p:graphicFrame>
      <p:sp>
        <p:nvSpPr>
          <p:cNvPr id="12"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(10/31)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9967982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63492" y="533696"/>
            <a:ext cx="910850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ja-JP" altLang="en-US" sz="1600" b="1" u="sng">
                <a:solidFill>
                  <a:srgbClr val="000000"/>
                </a:solidFill>
                <a:latin typeface="Meiryo UI" panose="020B0604030504040204" pitchFamily="50" charset="-128"/>
                <a:ea typeface="Meiryo UI" panose="020B0604030504040204" pitchFamily="50" charset="-128"/>
                <a:cs typeface="Meiryo UI" pitchFamily="50" charset="-128"/>
              </a:rPr>
              <a:t>品質向上施策検証</a:t>
            </a:r>
            <a:endParaRPr lang="en-US" altLang="ja-JP" sz="1600" b="1">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400">
                <a:latin typeface="Meiryo UI" panose="020B0604030504040204" pitchFamily="50" charset="-128"/>
                <a:ea typeface="Meiryo UI" panose="020B0604030504040204" pitchFamily="50" charset="-128"/>
                <a:cs typeface="Meiryo UI" pitchFamily="50" charset="-128"/>
              </a:rPr>
              <a:t>Honda </a:t>
            </a:r>
            <a:r>
              <a:rPr lang="ja-JP" altLang="en-US" sz="1400">
                <a:latin typeface="Meiryo UI" panose="020B0604030504040204" pitchFamily="50" charset="-128"/>
                <a:ea typeface="Meiryo UI" panose="020B0604030504040204" pitchFamily="50" charset="-128"/>
                <a:cs typeface="Meiryo UI" pitchFamily="50" charset="-128"/>
              </a:rPr>
              <a:t>品質向上施策に関して、検証を実施し、その結果を</a:t>
            </a:r>
            <a:r>
              <a:rPr lang="en-US" altLang="ja-JP" sz="1400">
                <a:latin typeface="Meiryo UI" panose="020B0604030504040204" pitchFamily="50" charset="-128"/>
                <a:ea typeface="Meiryo UI" panose="020B0604030504040204" pitchFamily="50" charset="-128"/>
                <a:cs typeface="Meiryo UI" pitchFamily="50" charset="-128"/>
              </a:rPr>
              <a:t>Honda</a:t>
            </a:r>
            <a:r>
              <a:rPr lang="ja-JP" altLang="en-US" sz="1400">
                <a:latin typeface="Meiryo UI" panose="020B0604030504040204" pitchFamily="50" charset="-128"/>
                <a:ea typeface="Meiryo UI" panose="020B0604030504040204" pitchFamily="50" charset="-128"/>
                <a:cs typeface="Meiryo UI" pitchFamily="50" charset="-128"/>
              </a:rPr>
              <a:t>に報告すること。</a:t>
            </a:r>
          </a:p>
          <a:p>
            <a:pPr marL="534988" lvl="1" indent="-285750" algn="l">
              <a:buFontTx/>
              <a:buChar char="-"/>
            </a:pPr>
            <a:r>
              <a:rPr lang="ja-JP" altLang="en-US" sz="1400">
                <a:latin typeface="Meiryo UI" panose="020B0604030504040204" pitchFamily="50" charset="-128"/>
                <a:ea typeface="Meiryo UI" panose="020B0604030504040204" pitchFamily="50" charset="-128"/>
                <a:cs typeface="Meiryo UI" pitchFamily="50" charset="-128"/>
              </a:rPr>
              <a:t>施策ごとに実施した内容とまとめについては、それぞれの報告タイミングにて報告されること。</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ja-JP" altLang="en-US" sz="1400">
                <a:latin typeface="Meiryo UI" panose="020B0604030504040204" pitchFamily="50" charset="-128"/>
                <a:ea typeface="Meiryo UI" panose="020B0604030504040204" pitchFamily="50" charset="-128"/>
                <a:cs typeface="Meiryo UI" pitchFamily="50" charset="-128"/>
              </a:rPr>
              <a:t>全ての施策については、マスク</a:t>
            </a:r>
            <a:r>
              <a:rPr lang="en-US" altLang="ja-JP" sz="1400">
                <a:latin typeface="Meiryo UI" panose="020B0604030504040204" pitchFamily="50" charset="-128"/>
                <a:ea typeface="Meiryo UI" panose="020B0604030504040204" pitchFamily="50" charset="-128"/>
                <a:cs typeface="Meiryo UI" pitchFamily="50" charset="-128"/>
              </a:rPr>
              <a:t>HEX</a:t>
            </a:r>
            <a:r>
              <a:rPr lang="ja-JP" altLang="en-US" sz="1400">
                <a:latin typeface="Meiryo UI" panose="020B0604030504040204" pitchFamily="50" charset="-128"/>
                <a:ea typeface="Meiryo UI" panose="020B0604030504040204" pitchFamily="50" charset="-128"/>
                <a:cs typeface="Meiryo UI" pitchFamily="50" charset="-128"/>
              </a:rPr>
              <a:t>発行前に完了させること。</a:t>
            </a:r>
            <a:endParaRPr lang="en-US" altLang="ja-JP" sz="1400">
              <a:latin typeface="Meiryo UI" panose="020B0604030504040204" pitchFamily="50" charset="-128"/>
              <a:ea typeface="Meiryo UI" panose="020B0604030504040204" pitchFamily="50" charset="-128"/>
              <a:cs typeface="Meiryo UI" pitchFamily="50" charset="-128"/>
            </a:endParaRPr>
          </a:p>
        </p:txBody>
      </p:sp>
      <p:graphicFrame>
        <p:nvGraphicFramePr>
          <p:cNvPr id="2" name="表 1"/>
          <p:cNvGraphicFramePr>
            <a:graphicFrameLocks noGrp="1"/>
          </p:cNvGraphicFramePr>
          <p:nvPr>
            <p:extLst>
              <p:ext uri="{D42A27DB-BD31-4B8C-83A1-F6EECF244321}">
                <p14:modId xmlns:p14="http://schemas.microsoft.com/office/powerpoint/2010/main" val="3749103348"/>
              </p:ext>
            </p:extLst>
          </p:nvPr>
        </p:nvGraphicFramePr>
        <p:xfrm>
          <a:off x="191890" y="1461030"/>
          <a:ext cx="8851708" cy="5417080"/>
        </p:xfrm>
        <a:graphic>
          <a:graphicData uri="http://schemas.openxmlformats.org/drawingml/2006/table">
            <a:tbl>
              <a:tblPr firstRow="1" bandRow="1">
                <a:tableStyleId>{5940675A-B579-460E-94D1-54222C63F5DA}</a:tableStyleId>
              </a:tblPr>
              <a:tblGrid>
                <a:gridCol w="2138190">
                  <a:extLst>
                    <a:ext uri="{9D8B030D-6E8A-4147-A177-3AD203B41FA5}">
                      <a16:colId xmlns:a16="http://schemas.microsoft.com/office/drawing/2014/main" val="208362973"/>
                    </a:ext>
                  </a:extLst>
                </a:gridCol>
                <a:gridCol w="3021849">
                  <a:extLst>
                    <a:ext uri="{9D8B030D-6E8A-4147-A177-3AD203B41FA5}">
                      <a16:colId xmlns:a16="http://schemas.microsoft.com/office/drawing/2014/main" val="2304362547"/>
                    </a:ext>
                  </a:extLst>
                </a:gridCol>
                <a:gridCol w="1751975">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370840">
                <a:tc>
                  <a:txBody>
                    <a:bodyPr/>
                    <a:lstStyle/>
                    <a:p>
                      <a:r>
                        <a:rPr kumimoji="1" lang="ja-JP" altLang="en-US" sz="1400">
                          <a:latin typeface="Meiryo UI" panose="020B0604030504040204" pitchFamily="50" charset="-128"/>
                          <a:ea typeface="Meiryo UI" panose="020B0604030504040204" pitchFamily="50" charset="-128"/>
                        </a:rPr>
                        <a:t>施策の目的</a:t>
                      </a:r>
                    </a:p>
                  </a:txBody>
                  <a:tcPr/>
                </a:tc>
                <a:tc>
                  <a:txBody>
                    <a:bodyPr/>
                    <a:lstStyle/>
                    <a:p>
                      <a:r>
                        <a:rPr kumimoji="1" lang="ja-JP" altLang="en-US" sz="1400">
                          <a:latin typeface="Meiryo UI" panose="020B0604030504040204" pitchFamily="50" charset="-128"/>
                          <a:ea typeface="Meiryo UI" panose="020B0604030504040204" pitchFamily="50" charset="-128"/>
                        </a:rPr>
                        <a:t>再発防止ツール</a:t>
                      </a:r>
                    </a:p>
                  </a:txBody>
                  <a:tcPr/>
                </a:tc>
                <a:tc>
                  <a:txBody>
                    <a:bodyPr/>
                    <a:lstStyle/>
                    <a:p>
                      <a:r>
                        <a:rPr kumimoji="1" lang="ja-JP" altLang="en-US" sz="1400">
                          <a:latin typeface="Meiryo UI" panose="020B0604030504040204" pitchFamily="50" charset="-128"/>
                          <a:ea typeface="Meiryo UI" panose="020B0604030504040204" pitchFamily="50" charset="-128"/>
                        </a:rPr>
                        <a:t>報告タイミング</a:t>
                      </a:r>
                    </a:p>
                  </a:txBody>
                  <a:tcPr/>
                </a:tc>
                <a:tc>
                  <a:txBody>
                    <a:bodyPr/>
                    <a:lstStyle/>
                    <a:p>
                      <a:r>
                        <a:rPr kumimoji="1" lang="ja-JP" altLang="en-US" sz="1400">
                          <a:latin typeface="Meiryo UI" panose="020B0604030504040204" pitchFamily="50" charset="-128"/>
                          <a:ea typeface="Meiryo UI" panose="020B0604030504040204" pitchFamily="50" charset="-128"/>
                        </a:rPr>
                        <a:t>報告資料（例）</a:t>
                      </a:r>
                    </a:p>
                  </a:txBody>
                  <a:tcPr/>
                </a:tc>
                <a:extLst>
                  <a:ext uri="{0D108BD9-81ED-4DB2-BD59-A6C34878D82A}">
                    <a16:rowId xmlns:a16="http://schemas.microsoft.com/office/drawing/2014/main" val="1843441020"/>
                  </a:ext>
                </a:extLst>
              </a:tr>
              <a:tr h="972000">
                <a:tc>
                  <a:txBody>
                    <a:bodyPr/>
                    <a:lstStyle/>
                    <a:p>
                      <a:r>
                        <a:rPr kumimoji="1" lang="en-US" altLang="ja-JP" sz="1400">
                          <a:latin typeface="Meiryo UI" panose="020B0604030504040204" pitchFamily="50" charset="-128"/>
                          <a:ea typeface="Meiryo UI" panose="020B0604030504040204" pitchFamily="50" charset="-128"/>
                        </a:rPr>
                        <a:t>SW CR</a:t>
                      </a:r>
                      <a:r>
                        <a:rPr kumimoji="1" lang="ja-JP" altLang="en-US" sz="1400">
                          <a:latin typeface="Meiryo UI" panose="020B0604030504040204" pitchFamily="50" charset="-128"/>
                          <a:ea typeface="Meiryo UI" panose="020B0604030504040204" pitchFamily="50" charset="-128"/>
                        </a:rPr>
                        <a:t>に関する適合値の妥当性確認</a:t>
                      </a:r>
                    </a:p>
                  </a:txBody>
                  <a:tcPr/>
                </a:tc>
                <a:tc>
                  <a:txBody>
                    <a:bodyPr/>
                    <a:lstStyle/>
                    <a:p>
                      <a:r>
                        <a:rPr kumimoji="1" lang="en-US" altLang="ja-JP" sz="1400">
                          <a:latin typeface="Meiryo UI" panose="020B0604030504040204" pitchFamily="50" charset="-128"/>
                          <a:ea typeface="Meiryo UI" panose="020B0604030504040204" pitchFamily="50" charset="-128"/>
                        </a:rPr>
                        <a:t>CR label comparison list</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List creation : before V1 event </a:t>
                      </a:r>
                    </a:p>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Final pdf report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Expert meeting</a:t>
                      </a:r>
                    </a:p>
                  </a:txBody>
                  <a:tcPr/>
                </a:tc>
                <a:tc>
                  <a:txBody>
                    <a:bodyPr/>
                    <a:lstStyle/>
                    <a:p>
                      <a:r>
                        <a:rPr kumimoji="1" lang="ja-JP" altLang="en-US" sz="1400">
                          <a:latin typeface="Meiryo UI" panose="020B0604030504040204" pitchFamily="50" charset="-128"/>
                          <a:ea typeface="Meiryo UI" panose="020B0604030504040204" pitchFamily="50" charset="-128"/>
                        </a:rPr>
                        <a:t>参照：</a:t>
                      </a:r>
                      <a:r>
                        <a:rPr kumimoji="1" lang="en-US" altLang="ja-JP" sz="1400">
                          <a:latin typeface="Meiryo UI" panose="020B0604030504040204" pitchFamily="50" charset="-128"/>
                          <a:ea typeface="Meiryo UI" panose="020B0604030504040204" pitchFamily="50" charset="-128"/>
                        </a:rPr>
                        <a:t>“CR label comparison</a:t>
                      </a:r>
                      <a:r>
                        <a:rPr kumimoji="1" lang="en-US" altLang="ja-JP" sz="1400" baseline="0">
                          <a:latin typeface="Meiryo UI" panose="020B0604030504040204" pitchFamily="50" charset="-128"/>
                          <a:ea typeface="Meiryo UI" panose="020B0604030504040204" pitchFamily="50" charset="-128"/>
                        </a:rPr>
                        <a:t> list</a:t>
                      </a:r>
                      <a:r>
                        <a:rPr kumimoji="1" lang="en-US" altLang="ja-JP" sz="1400">
                          <a:latin typeface="Meiryo UI" panose="020B0604030504040204" pitchFamily="50" charset="-128"/>
                          <a:ea typeface="Meiryo UI" panose="020B0604030504040204" pitchFamily="50" charset="-128"/>
                        </a:rPr>
                        <a:t>”</a:t>
                      </a:r>
                    </a:p>
                    <a:p>
                      <a:r>
                        <a:rPr kumimoji="1" lang="en-US" altLang="ja-JP" sz="1400">
                          <a:latin typeface="Meiryo UI" panose="020B0604030504040204" pitchFamily="50" charset="-128"/>
                          <a:ea typeface="Meiryo UI" panose="020B0604030504040204" pitchFamily="50" charset="-128"/>
                        </a:rPr>
                        <a:t>“CR label comp list</a:t>
                      </a:r>
                      <a:r>
                        <a:rPr kumimoji="1" lang="en-US" altLang="ja-JP" sz="1400" baseline="0">
                          <a:latin typeface="Meiryo UI" panose="020B0604030504040204" pitchFamily="50" charset="-128"/>
                          <a:ea typeface="Meiryo UI" panose="020B0604030504040204" pitchFamily="50" charset="-128"/>
                        </a:rPr>
                        <a:t> status summary”</a:t>
                      </a:r>
                      <a:endParaRPr kumimoji="1" lang="en-US" altLang="ja-JP"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465551"/>
                  </a:ext>
                </a:extLst>
              </a:tr>
              <a:tr h="972000">
                <a:tc>
                  <a:txBody>
                    <a:bodyPr/>
                    <a:lstStyle/>
                    <a:p>
                      <a:r>
                        <a:rPr kumimoji="1" lang="en-US" altLang="ja-JP" sz="1400">
                          <a:latin typeface="Meiryo UI" panose="020B0604030504040204" pitchFamily="50" charset="-128"/>
                          <a:ea typeface="Meiryo UI" panose="020B0604030504040204" pitchFamily="50" charset="-128"/>
                        </a:rPr>
                        <a:t>CR</a:t>
                      </a:r>
                      <a:r>
                        <a:rPr kumimoji="1" lang="ja-JP" altLang="en-US" sz="1400">
                          <a:latin typeface="Meiryo UI" panose="020B0604030504040204" pitchFamily="50" charset="-128"/>
                          <a:ea typeface="Meiryo UI" panose="020B0604030504040204" pitchFamily="50" charset="-128"/>
                        </a:rPr>
                        <a:t>に関する</a:t>
                      </a:r>
                      <a:r>
                        <a:rPr kumimoji="1" lang="en-US" altLang="ja-JP" sz="1400">
                          <a:latin typeface="Meiryo UI" panose="020B0604030504040204" pitchFamily="50" charset="-128"/>
                          <a:ea typeface="Meiryo UI" panose="020B0604030504040204" pitchFamily="50" charset="-128"/>
                        </a:rPr>
                        <a:t>Level-2</a:t>
                      </a:r>
                    </a:p>
                    <a:p>
                      <a:r>
                        <a:rPr kumimoji="1" lang="ja-JP" altLang="en-US" sz="1400">
                          <a:latin typeface="Meiryo UI" panose="020B0604030504040204" pitchFamily="50" charset="-128"/>
                          <a:ea typeface="Meiryo UI" panose="020B0604030504040204" pitchFamily="50" charset="-128"/>
                        </a:rPr>
                        <a:t>適合値の妥当性確認</a:t>
                      </a:r>
                    </a:p>
                  </a:txBody>
                  <a:tcPr/>
                </a:tc>
                <a:tc>
                  <a:txBody>
                    <a:bodyPr/>
                    <a:lstStyle/>
                    <a:p>
                      <a:r>
                        <a:rPr kumimoji="1" lang="en-US" altLang="ja-JP" sz="1400">
                          <a:latin typeface="Meiryo UI" panose="020B0604030504040204" pitchFamily="50" charset="-128"/>
                          <a:ea typeface="Meiryo UI" panose="020B0604030504040204" pitchFamily="50" charset="-128"/>
                        </a:rPr>
                        <a:t>Level2 data comparison list</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参照：</a:t>
                      </a:r>
                      <a:r>
                        <a:rPr kumimoji="1" lang="en-US" altLang="ja-JP" sz="1400">
                          <a:latin typeface="Meiryo UI" panose="020B0604030504040204" pitchFamily="50" charset="-128"/>
                          <a:ea typeface="Meiryo UI" panose="020B0604030504040204" pitchFamily="50" charset="-128"/>
                        </a:rPr>
                        <a:t>“Level</a:t>
                      </a:r>
                      <a:r>
                        <a:rPr kumimoji="1" lang="en-US" altLang="ja-JP" sz="1400" baseline="0">
                          <a:latin typeface="Meiryo UI" panose="020B0604030504040204" pitchFamily="50" charset="-128"/>
                          <a:ea typeface="Meiryo UI" panose="020B0604030504040204" pitchFamily="50" charset="-128"/>
                        </a:rPr>
                        <a:t>2 data comparison list”</a:t>
                      </a:r>
                      <a:endParaRPr kumimoji="1" lang="ja-JP" altLang="en-US" sz="1400">
                        <a:latin typeface="Meiryo UI" panose="020B0604030504040204" pitchFamily="50" charset="-128"/>
                        <a:ea typeface="Meiryo UI" panose="020B0604030504040204" pitchFamily="50" charset="-128"/>
                      </a:endParaRPr>
                    </a:p>
                    <a:p>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787623433"/>
                  </a:ext>
                </a:extLst>
              </a:tr>
              <a:tr h="972000">
                <a:tc>
                  <a:txBody>
                    <a:bodyPr/>
                    <a:lstStyle/>
                    <a:p>
                      <a:r>
                        <a:rPr kumimoji="1" lang="ja-JP" altLang="en-US" sz="1400">
                          <a:latin typeface="Meiryo UI" panose="020B0604030504040204" pitchFamily="50" charset="-128"/>
                          <a:ea typeface="Meiryo UI" panose="020B0604030504040204" pitchFamily="50" charset="-128"/>
                        </a:rPr>
                        <a:t>ベース機種からの変化点の影響分析結果</a:t>
                      </a:r>
                    </a:p>
                  </a:txBody>
                  <a:tcPr/>
                </a:tc>
                <a:tc>
                  <a:txBody>
                    <a:bodyPr/>
                    <a:lstStyle/>
                    <a:p>
                      <a:r>
                        <a:rPr kumimoji="1" lang="en-US" altLang="ja-JP" sz="1400">
                          <a:latin typeface="Meiryo UI" panose="020B0604030504040204" pitchFamily="50" charset="-128"/>
                          <a:ea typeface="Meiryo UI" panose="020B0604030504040204" pitchFamily="50" charset="-128"/>
                        </a:rPr>
                        <a:t>SW</a:t>
                      </a:r>
                      <a:r>
                        <a:rPr kumimoji="1" lang="en-US" altLang="ja-JP" sz="1400" baseline="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CAL</a:t>
                      </a:r>
                      <a:r>
                        <a:rPr kumimoji="1" lang="en-US" altLang="ja-JP" sz="1400" baseline="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Coordination</a:t>
                      </a:r>
                      <a:r>
                        <a:rPr kumimoji="1" lang="en-US" altLang="ja-JP" sz="1400" baseline="0">
                          <a:latin typeface="Meiryo UI" panose="020B0604030504040204" pitchFamily="50" charset="-128"/>
                          <a:ea typeface="Meiryo UI" panose="020B0604030504040204" pitchFamily="50" charset="-128"/>
                        </a:rPr>
                        <a:t> i</a:t>
                      </a:r>
                      <a:r>
                        <a:rPr kumimoji="1" lang="en-US" altLang="ja-JP" sz="1400">
                          <a:latin typeface="Meiryo UI" panose="020B0604030504040204" pitchFamily="50" charset="-128"/>
                          <a:ea typeface="Meiryo UI" panose="020B0604030504040204" pitchFamily="50" charset="-128"/>
                        </a:rPr>
                        <a:t>tem list</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List creation : F1</a:t>
                      </a:r>
                    </a:p>
                    <a:p>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Implementation target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V1,latest</a:t>
                      </a:r>
                      <a:r>
                        <a:rPr kumimoji="1" lang="ja-JP" altLang="en-US" sz="1400">
                          <a:latin typeface="Meiryo UI" panose="020B0604030504040204" pitchFamily="50" charset="-128"/>
                          <a:ea typeface="Meiryo UI" panose="020B0604030504040204" pitchFamily="50" charset="-128"/>
                        </a:rPr>
                        <a:t>：</a:t>
                      </a:r>
                      <a:r>
                        <a:rPr kumimoji="1" lang="en-US" altLang="ja-JP" sz="1400">
                          <a:latin typeface="Meiryo UI" panose="020B0604030504040204" pitchFamily="50" charset="-128"/>
                          <a:ea typeface="Meiryo UI" panose="020B0604030504040204" pitchFamily="50" charset="-128"/>
                        </a:rPr>
                        <a:t>V2</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参照：</a:t>
                      </a:r>
                      <a:r>
                        <a:rPr kumimoji="1" lang="en-US" altLang="ja-JP" sz="1400">
                          <a:latin typeface="Meiryo UI" panose="020B0604030504040204" pitchFamily="50" charset="-128"/>
                          <a:ea typeface="Meiryo UI" panose="020B0604030504040204" pitchFamily="50" charset="-128"/>
                        </a:rPr>
                        <a:t>“SW CAL coordinatio</a:t>
                      </a:r>
                      <a:r>
                        <a:rPr kumimoji="1" lang="en-US" altLang="ja-JP" sz="1400" baseline="0">
                          <a:latin typeface="Meiryo UI" panose="020B0604030504040204" pitchFamily="50" charset="-128"/>
                          <a:ea typeface="Meiryo UI" panose="020B0604030504040204" pitchFamily="50" charset="-128"/>
                        </a:rPr>
                        <a:t>n item list”</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35226378"/>
                  </a:ext>
                </a:extLst>
              </a:tr>
              <a:tr h="972000">
                <a:tc>
                  <a:txBody>
                    <a:bodyPr/>
                    <a:lstStyle/>
                    <a:p>
                      <a:r>
                        <a:rPr kumimoji="1" lang="ja-JP" altLang="en-US" sz="1400">
                          <a:latin typeface="Meiryo UI" panose="020B0604030504040204" pitchFamily="50" charset="-128"/>
                          <a:ea typeface="Meiryo UI" panose="020B0604030504040204" pitchFamily="50" charset="-128"/>
                        </a:rPr>
                        <a:t>非要求項目の検証結果</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kern="1200">
                          <a:solidFill>
                            <a:schemeClr val="dk1"/>
                          </a:solidFill>
                          <a:latin typeface="Meiryo UI" panose="020B0604030504040204" pitchFamily="50" charset="-128"/>
                          <a:ea typeface="Meiryo UI" panose="020B0604030504040204" pitchFamily="50" charset="-128"/>
                          <a:cs typeface="Arial" panose="020B0604020202020204" pitchFamily="34" charset="0"/>
                        </a:rPr>
                        <a:t>Calibration Data review report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参照：</a:t>
                      </a:r>
                      <a:r>
                        <a:rPr kumimoji="1" lang="en-US" altLang="ja-JP" sz="1400">
                          <a:latin typeface="Meiryo UI" panose="020B0604030504040204" pitchFamily="50" charset="-128"/>
                          <a:ea typeface="Meiryo UI" panose="020B0604030504040204" pitchFamily="50" charset="-128"/>
                        </a:rPr>
                        <a:t>“Calibration data review report”</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503402131"/>
                  </a:ext>
                </a:extLst>
              </a:tr>
              <a:tr h="972000">
                <a:tc>
                  <a:txBody>
                    <a:bodyPr/>
                    <a:lstStyle/>
                    <a:p>
                      <a:r>
                        <a:rPr kumimoji="1" lang="ja-JP" altLang="en-US" sz="1400">
                          <a:latin typeface="Meiryo UI" panose="020B0604030504040204" pitchFamily="50" charset="-128"/>
                          <a:ea typeface="Meiryo UI" panose="020B0604030504040204" pitchFamily="50" charset="-128"/>
                        </a:rPr>
                        <a:t>過去機種発生不具合の</a:t>
                      </a:r>
                      <a:endParaRPr kumimoji="1" lang="en-US" altLang="ja-JP" sz="1400">
                        <a:latin typeface="Meiryo UI" panose="020B0604030504040204" pitchFamily="50" charset="-128"/>
                        <a:ea typeface="Meiryo UI" panose="020B0604030504040204" pitchFamily="50" charset="-128"/>
                      </a:endParaRPr>
                    </a:p>
                    <a:p>
                      <a:r>
                        <a:rPr kumimoji="1" lang="ja-JP" altLang="en-US" sz="1400">
                          <a:latin typeface="Meiryo UI" panose="020B0604030504040204" pitchFamily="50" charset="-128"/>
                          <a:ea typeface="Meiryo UI" panose="020B0604030504040204" pitchFamily="50" charset="-128"/>
                        </a:rPr>
                        <a:t>適用確認</a:t>
                      </a:r>
                    </a:p>
                  </a:txBody>
                  <a:tcPr/>
                </a:tc>
                <a:tc>
                  <a:txBody>
                    <a:bodyPr/>
                    <a:lstStyle/>
                    <a:p>
                      <a:r>
                        <a:rPr kumimoji="1" lang="en-US" altLang="ja-JP" sz="1400">
                          <a:latin typeface="Meiryo UI" panose="020B0604030504040204" pitchFamily="50" charset="-128"/>
                          <a:ea typeface="Meiryo UI" panose="020B0604030504040204" pitchFamily="50" charset="-128"/>
                        </a:rPr>
                        <a:t>Failure List</a:t>
                      </a:r>
                      <a:endParaRPr kumimoji="1" lang="ja-JP" altLang="en-US" sz="1400">
                        <a:latin typeface="Meiryo UI" panose="020B0604030504040204" pitchFamily="50" charset="-128"/>
                        <a:ea typeface="Meiryo UI" panose="020B0604030504040204" pitchFamily="50" charset="-128"/>
                      </a:endParaRPr>
                    </a:p>
                  </a:txBody>
                  <a:tcPr/>
                </a:tc>
                <a:tc>
                  <a:txBody>
                    <a:bodyPr/>
                    <a:lstStyle/>
                    <a:p>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参照：</a:t>
                      </a:r>
                      <a:r>
                        <a:rPr kumimoji="1" lang="en-US" altLang="ja-JP" sz="1400">
                          <a:latin typeface="Meiryo UI" panose="020B0604030504040204" pitchFamily="50" charset="-128"/>
                          <a:ea typeface="Meiryo UI" panose="020B0604030504040204" pitchFamily="50" charset="-128"/>
                        </a:rPr>
                        <a:t>“Failure List”</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78771346"/>
                  </a:ext>
                </a:extLst>
              </a:tr>
            </a:tbl>
          </a:graphicData>
        </a:graphic>
      </p:graphicFrame>
      <p:sp>
        <p:nvSpPr>
          <p:cNvPr id="12"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(11/31)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4686992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22424"/>
            <a:ext cx="910850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Quality</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Improvement</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Measures Verification</a:t>
            </a:r>
            <a:endParaRPr lang="en-US" altLang="ja-JP" sz="1800" b="1">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Regarding Honda’s quality improvement measure, the verification shall be implemented and report the result to Honda.</a:t>
            </a:r>
          </a:p>
          <a:p>
            <a:pPr marL="534988" lvl="1" indent="-285750" algn="l">
              <a:buFontTx/>
              <a:buChar char="-"/>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Contents and summary</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of each measure shall be reported at the report timing of each measure.</a:t>
            </a:r>
            <a:endParaRPr lang="en-US" altLang="ja-JP" sz="1200">
              <a:solidFill>
                <a:srgbClr val="FF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All</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measures in the list below shall be completed before mask HEX MP1 release.</a:t>
            </a:r>
            <a:endParaRPr lang="ja-JP" altLang="en-US" sz="1200">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2" name="表 1"/>
          <p:cNvGraphicFramePr>
            <a:graphicFrameLocks noGrp="1"/>
          </p:cNvGraphicFramePr>
          <p:nvPr>
            <p:extLst>
              <p:ext uri="{D42A27DB-BD31-4B8C-83A1-F6EECF244321}">
                <p14:modId xmlns:p14="http://schemas.microsoft.com/office/powerpoint/2010/main" val="1380039979"/>
              </p:ext>
            </p:extLst>
          </p:nvPr>
        </p:nvGraphicFramePr>
        <p:xfrm>
          <a:off x="191890" y="1608228"/>
          <a:ext cx="8851709" cy="4446775"/>
        </p:xfrm>
        <a:graphic>
          <a:graphicData uri="http://schemas.openxmlformats.org/drawingml/2006/table">
            <a:tbl>
              <a:tblPr firstRow="1" bandRow="1">
                <a:tableStyleId>{5940675A-B579-460E-94D1-54222C63F5DA}</a:tableStyleId>
              </a:tblPr>
              <a:tblGrid>
                <a:gridCol w="2695001">
                  <a:extLst>
                    <a:ext uri="{9D8B030D-6E8A-4147-A177-3AD203B41FA5}">
                      <a16:colId xmlns:a16="http://schemas.microsoft.com/office/drawing/2014/main" val="208362973"/>
                    </a:ext>
                  </a:extLst>
                </a:gridCol>
                <a:gridCol w="2429693">
                  <a:extLst>
                    <a:ext uri="{9D8B030D-6E8A-4147-A177-3AD203B41FA5}">
                      <a16:colId xmlns:a16="http://schemas.microsoft.com/office/drawing/2014/main" val="2304362547"/>
                    </a:ext>
                  </a:extLst>
                </a:gridCol>
                <a:gridCol w="1787321">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257653">
                <a:tc>
                  <a:txBody>
                    <a:bodyPr/>
                    <a:lstStyle/>
                    <a:p>
                      <a:r>
                        <a:rPr kumimoji="1" lang="en-US" altLang="ja-JP" sz="1200">
                          <a:latin typeface="Meiryo UI" panose="020B0604030504040204" pitchFamily="50" charset="-128"/>
                          <a:ea typeface="Meiryo UI" panose="020B0604030504040204" pitchFamily="50" charset="-128"/>
                        </a:rPr>
                        <a:t>Purpose</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of</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measure</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Recurrence prevention</a:t>
                      </a:r>
                      <a:r>
                        <a:rPr kumimoji="1" lang="en-US" altLang="ja-JP" sz="1200" baseline="0">
                          <a:latin typeface="Meiryo UI" panose="020B0604030504040204" pitchFamily="50" charset="-128"/>
                          <a:ea typeface="Meiryo UI" panose="020B0604030504040204" pitchFamily="50" charset="-128"/>
                        </a:rPr>
                        <a:t> tool</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Report</a:t>
                      </a:r>
                      <a:r>
                        <a:rPr kumimoji="1" lang="en-US" altLang="ja-JP" sz="1200" baseline="0">
                          <a:latin typeface="Meiryo UI" panose="020B0604030504040204" pitchFamily="50" charset="-128"/>
                          <a:ea typeface="Meiryo UI" panose="020B0604030504040204" pitchFamily="50" charset="-128"/>
                        </a:rPr>
                        <a:t> timing</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Document</a:t>
                      </a:r>
                      <a:r>
                        <a:rPr kumimoji="1" lang="ja-JP" altLang="en-US" sz="1200">
                          <a:latin typeface="Meiryo UI" panose="020B0604030504040204" pitchFamily="50" charset="-128"/>
                          <a:ea typeface="Meiryo UI" panose="020B0604030504040204" pitchFamily="50" charset="-128"/>
                        </a:rPr>
                        <a:t>（</a:t>
                      </a:r>
                      <a:r>
                        <a:rPr kumimoji="1" lang="en-US" altLang="ja-JP" sz="1200">
                          <a:latin typeface="Meiryo UI" panose="020B0604030504040204" pitchFamily="50" charset="-128"/>
                          <a:ea typeface="Meiryo UI" panose="020B0604030504040204" pitchFamily="50" charset="-128"/>
                        </a:rPr>
                        <a:t>Example</a:t>
                      </a:r>
                      <a:r>
                        <a:rPr kumimoji="1" lang="ja-JP" altLang="en-US" sz="1200">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1843441020"/>
                  </a:ext>
                </a:extLst>
              </a:tr>
              <a:tr h="687076">
                <a:tc>
                  <a:txBody>
                    <a:bodyPr/>
                    <a:lstStyle/>
                    <a:p>
                      <a:r>
                        <a:rPr lang="en-US" altLang="ja-JP" sz="1200">
                          <a:effectLst/>
                          <a:latin typeface="Meiryo UI" panose="020B0604030504040204" pitchFamily="50" charset="-128"/>
                          <a:ea typeface="Meiryo UI" panose="020B0604030504040204" pitchFamily="50" charset="-128"/>
                        </a:rPr>
                        <a:t>Confirmation of GST related </a:t>
                      </a:r>
                      <a:r>
                        <a:rPr kumimoji="1" lang="en-US" altLang="ja-JP" sz="1200" kern="1200">
                          <a:solidFill>
                            <a:schemeClr val="tx1"/>
                          </a:solidFill>
                          <a:effectLst/>
                          <a:latin typeface="Meiryo UI" panose="020B0604030504040204" pitchFamily="50" charset="-128"/>
                          <a:ea typeface="Meiryo UI" panose="020B0604030504040204" pitchFamily="50" charset="-128"/>
                          <a:cs typeface="+mn-cs"/>
                        </a:rPr>
                        <a:t>calibration</a:t>
                      </a:r>
                      <a:r>
                        <a:rPr lang="en-US" altLang="ja-JP" sz="1200">
                          <a:effectLst/>
                          <a:latin typeface="Meiryo UI" panose="020B0604030504040204" pitchFamily="50" charset="-128"/>
                          <a:ea typeface="Meiryo UI" panose="020B0604030504040204" pitchFamily="50" charset="-128"/>
                        </a:rPr>
                        <a:t> setting quality maturation level </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GST</a:t>
                      </a:r>
                      <a:r>
                        <a:rPr kumimoji="1" lang="ja-JP" altLang="en-US" sz="1200" baseline="0">
                          <a:latin typeface="Meiryo UI" panose="020B0604030504040204" pitchFamily="50" charset="-128"/>
                          <a:ea typeface="Meiryo UI" panose="020B0604030504040204" pitchFamily="50" charset="-128"/>
                        </a:rPr>
                        <a:t> </a:t>
                      </a:r>
                      <a:r>
                        <a:rPr kumimoji="1" lang="en-US" altLang="ja-JP" sz="1200" baseline="0">
                          <a:latin typeface="Meiryo UI" panose="020B0604030504040204" pitchFamily="50" charset="-128"/>
                          <a:ea typeface="Meiryo UI" panose="020B0604030504040204" pitchFamily="50" charset="-128"/>
                        </a:rPr>
                        <a:t>related data review</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Discussion is need.</a:t>
                      </a:r>
                      <a:endParaRPr kumimoji="1" lang="ja-JP" altLang="en-US" sz="12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rPr>
                        <a:t>Discussion is need.</a:t>
                      </a:r>
                      <a:endParaRPr kumimoji="1" lang="ja-JP" altLang="en-US" sz="1200">
                        <a:latin typeface="Meiryo UI" panose="020B0604030504040204" pitchFamily="50" charset="-128"/>
                        <a:ea typeface="Meiryo UI" panose="020B0604030504040204" pitchFamily="50" charset="-128"/>
                      </a:endParaRPr>
                    </a:p>
                    <a:p>
                      <a:endParaRPr kumimoji="1" lang="ja-JP" altLang="en-US" sz="12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97843974"/>
                  </a:ext>
                </a:extLst>
              </a:tr>
              <a:tr h="8874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rPr>
                        <a:t>Validation for</a:t>
                      </a:r>
                      <a:r>
                        <a:rPr kumimoji="1" lang="en-US" altLang="ja-JP" sz="1200" baseline="0">
                          <a:latin typeface="Meiryo UI" panose="020B0604030504040204" pitchFamily="50" charset="-128"/>
                          <a:ea typeface="Meiryo UI" panose="020B0604030504040204" pitchFamily="50" charset="-128"/>
                        </a:rPr>
                        <a:t> system matrix related calibration label </a:t>
                      </a:r>
                    </a:p>
                  </a:txBody>
                  <a:tcPr/>
                </a:tc>
                <a:tc>
                  <a:txBody>
                    <a:bodyPr/>
                    <a:lstStyle/>
                    <a:p>
                      <a:r>
                        <a:rPr kumimoji="1" lang="en-US" altLang="ja-JP" sz="1200">
                          <a:solidFill>
                            <a:schemeClr val="tx1"/>
                          </a:solidFill>
                          <a:latin typeface="Meiryo UI" panose="020B0604030504040204" pitchFamily="50" charset="-128"/>
                          <a:ea typeface="Meiryo UI" panose="020B0604030504040204" pitchFamily="50" charset="-128"/>
                        </a:rPr>
                        <a:t>System Matrix</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relevant</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check</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V2 : complete check</a:t>
                      </a:r>
                    </a:p>
                    <a:p>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Event after V2</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delta check</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baseline="0">
                          <a:solidFill>
                            <a:schemeClr val="tx1"/>
                          </a:solidFill>
                          <a:latin typeface="Meiryo UI" panose="020B0604030504040204" pitchFamily="50" charset="-128"/>
                          <a:ea typeface="Meiryo UI" panose="020B0604030504040204" pitchFamily="50" charset="-128"/>
                        </a:rPr>
                        <a:t>Refer to “System Matrix relevant check_sample”</a:t>
                      </a:r>
                      <a:endParaRPr kumimoji="1" lang="ja-JP" altLang="en-US" sz="12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130553749"/>
                  </a:ext>
                </a:extLst>
              </a:tr>
              <a:tr h="8874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a:effectLst/>
                          <a:latin typeface="Meiryo UI" panose="020B0604030504040204" pitchFamily="50" charset="-128"/>
                          <a:ea typeface="Meiryo UI" panose="020B0604030504040204" pitchFamily="50" charset="-128"/>
                        </a:rPr>
                        <a:t>OBD impact analysis result for change point from base model</a:t>
                      </a:r>
                      <a:r>
                        <a:rPr lang="en-US" altLang="ja-JP" sz="1200" baseline="0">
                          <a:effectLst/>
                          <a:latin typeface="Meiryo UI" panose="020B0604030504040204" pitchFamily="50" charset="-128"/>
                          <a:ea typeface="Meiryo UI" panose="020B0604030504040204" pitchFamily="50" charset="-128"/>
                        </a:rPr>
                        <a:t> / V</a:t>
                      </a:r>
                      <a:r>
                        <a:rPr lang="en-US" altLang="ja-JP" sz="1200">
                          <a:effectLst/>
                          <a:latin typeface="Meiryo UI" panose="020B0604030504040204" pitchFamily="50" charset="-128"/>
                          <a:ea typeface="Meiryo UI" panose="020B0604030504040204" pitchFamily="50" charset="-128"/>
                        </a:rPr>
                        <a:t>erification contents agreement</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lang="en-US" altLang="ja-JP" sz="1200" u="none">
                          <a:effectLst/>
                          <a:latin typeface="Meiryo UI" panose="020B0604030504040204" pitchFamily="50" charset="-128"/>
                          <a:ea typeface="Meiryo UI" panose="020B0604030504040204" pitchFamily="50" charset="-128"/>
                        </a:rPr>
                        <a:t>Identification list of OBD change points </a:t>
                      </a:r>
                      <a:r>
                        <a:rPr lang="ja-JP" altLang="en-US" sz="1200" u="none" baseline="0">
                          <a:effectLst/>
                          <a:latin typeface="Meiryo UI" panose="020B0604030504040204" pitchFamily="50" charset="-128"/>
                          <a:ea typeface="Meiryo UI" panose="020B0604030504040204" pitchFamily="50" charset="-128"/>
                        </a:rPr>
                        <a:t> </a:t>
                      </a:r>
                      <a:r>
                        <a:rPr lang="en-US" altLang="ja-JP" sz="1200" u="none" baseline="0">
                          <a:effectLst/>
                          <a:latin typeface="Meiryo UI" panose="020B0604030504040204" pitchFamily="50" charset="-128"/>
                          <a:ea typeface="Meiryo UI" panose="020B0604030504040204" pitchFamily="50" charset="-128"/>
                        </a:rPr>
                        <a:t>/ </a:t>
                      </a:r>
                      <a:r>
                        <a:rPr kumimoji="1" lang="en-US" altLang="ja-JP" sz="1200" u="none" kern="1200">
                          <a:solidFill>
                            <a:schemeClr val="tx1"/>
                          </a:solidFill>
                          <a:effectLst/>
                          <a:latin typeface="Meiryo UI" panose="020B0604030504040204" pitchFamily="50" charset="-128"/>
                          <a:ea typeface="Meiryo UI" panose="020B0604030504040204" pitchFamily="50" charset="-128"/>
                          <a:cs typeface="+mn-cs"/>
                        </a:rPr>
                        <a:t>Verification result </a:t>
                      </a:r>
                      <a:r>
                        <a:rPr lang="en-US" altLang="ja-JP" sz="1200" u="none">
                          <a:effectLst/>
                          <a:latin typeface="Meiryo UI" panose="020B0604030504040204" pitchFamily="50" charset="-128"/>
                          <a:ea typeface="Meiryo UI" panose="020B0604030504040204" pitchFamily="50" charset="-128"/>
                        </a:rPr>
                        <a:t>in worst case</a:t>
                      </a:r>
                      <a:endParaRPr kumimoji="1" lang="ja-JP" altLang="en-US" sz="1200" u="none">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F1~V3</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rPr>
                        <a:t>Expert</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meeting</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baseline="0">
                          <a:solidFill>
                            <a:schemeClr val="tx1"/>
                          </a:solidFill>
                          <a:latin typeface="Meiryo UI" panose="020B0604030504040204" pitchFamily="50" charset="-128"/>
                          <a:ea typeface="Meiryo UI" panose="020B0604030504040204" pitchFamily="50" charset="-128"/>
                        </a:rPr>
                        <a:t>Refer to “OBD key change point list”</a:t>
                      </a:r>
                    </a:p>
                    <a:p>
                      <a:r>
                        <a:rPr kumimoji="1" lang="ja-JP" altLang="en-US" sz="1200" baseline="0">
                          <a:solidFill>
                            <a:schemeClr val="tx1"/>
                          </a:solidFill>
                          <a:latin typeface="Meiryo UI" panose="020B0604030504040204" pitchFamily="50" charset="-128"/>
                          <a:ea typeface="Meiryo UI" panose="020B0604030504040204" pitchFamily="50" charset="-128"/>
                        </a:rPr>
                        <a:t>“</a:t>
                      </a:r>
                      <a:r>
                        <a:rPr kumimoji="1" lang="en-US" altLang="ja-JP" sz="1200" baseline="0">
                          <a:solidFill>
                            <a:schemeClr val="tx1"/>
                          </a:solidFill>
                          <a:latin typeface="Meiryo UI" panose="020B0604030504040204" pitchFamily="50" charset="-128"/>
                          <a:ea typeface="Meiryo UI" panose="020B0604030504040204" pitchFamily="50" charset="-128"/>
                        </a:rPr>
                        <a:t>Test_condition_toughness_validation</a:t>
                      </a:r>
                      <a:r>
                        <a:rPr kumimoji="1" lang="ja-JP" altLang="en-US" sz="1200" baseline="0">
                          <a:solidFill>
                            <a:schemeClr val="tx1"/>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3345517253"/>
                  </a:ext>
                </a:extLst>
              </a:tr>
              <a:tr h="7729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a:effectLst/>
                          <a:latin typeface="Meiryo UI" panose="020B0604030504040204" pitchFamily="50" charset="-128"/>
                          <a:ea typeface="Meiryo UI" panose="020B0604030504040204" pitchFamily="50" charset="-128"/>
                        </a:rPr>
                        <a:t>Impact analysis result for SW change point of BMS</a:t>
                      </a:r>
                      <a:endParaRPr kumimoji="1" lang="ja-JP" altLang="en-US" sz="1200">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BMS</a:t>
                      </a:r>
                      <a:r>
                        <a:rPr kumimoji="1" lang="ja-JP" altLang="en-US" sz="1200" baseline="0">
                          <a:solidFill>
                            <a:schemeClr val="tx1"/>
                          </a:solidFill>
                          <a:latin typeface="Meiryo UI" panose="020B0604030504040204" pitchFamily="50" charset="-128"/>
                          <a:ea typeface="Meiryo UI" panose="020B0604030504040204" pitchFamily="50" charset="-128"/>
                        </a:rPr>
                        <a:t> </a:t>
                      </a:r>
                      <a:r>
                        <a:rPr kumimoji="1" lang="en-US" altLang="ja-JP" sz="1200" baseline="0">
                          <a:solidFill>
                            <a:schemeClr val="tx1"/>
                          </a:solidFill>
                          <a:latin typeface="Meiryo UI" panose="020B0604030504040204" pitchFamily="50" charset="-128"/>
                          <a:ea typeface="Meiryo UI" panose="020B0604030504040204" pitchFamily="50" charset="-128"/>
                        </a:rPr>
                        <a:t>impact analysis review</a:t>
                      </a:r>
                      <a:r>
                        <a:rPr kumimoji="1" lang="en-US" altLang="ja-JP" sz="1200">
                          <a:solidFill>
                            <a:schemeClr val="tx1"/>
                          </a:solidFill>
                          <a:latin typeface="Meiryo UI" panose="020B0604030504040204" pitchFamily="50" charset="-128"/>
                          <a:ea typeface="Meiryo UI" panose="020B0604030504040204" pitchFamily="50" charset="-128"/>
                        </a:rPr>
                        <a:t>/BMS function behavior check result (Detail</a:t>
                      </a:r>
                      <a:r>
                        <a:rPr kumimoji="1" lang="en-US" altLang="ja-JP" sz="1200" baseline="0">
                          <a:solidFill>
                            <a:schemeClr val="tx1"/>
                          </a:solidFill>
                          <a:latin typeface="Meiryo UI" panose="020B0604030504040204" pitchFamily="50" charset="-128"/>
                          <a:ea typeface="Meiryo UI" panose="020B0604030504040204" pitchFamily="50" charset="-128"/>
                        </a:rPr>
                        <a:t> information shall be reported</a:t>
                      </a:r>
                      <a:r>
                        <a:rPr kumimoji="1" lang="en-US" altLang="ja-JP" sz="1200">
                          <a:solidFill>
                            <a:schemeClr val="tx1"/>
                          </a:solidFill>
                          <a:latin typeface="Meiryo UI" panose="020B0604030504040204" pitchFamily="50" charset="-128"/>
                          <a:ea typeface="Meiryo UI" panose="020B0604030504040204" pitchFamily="50" charset="-128"/>
                        </a:rPr>
                        <a:t>)</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a:solidFill>
                            <a:schemeClr val="tx1"/>
                          </a:solidFill>
                          <a:latin typeface="Meiryo UI" panose="020B0604030504040204" pitchFamily="50" charset="-128"/>
                          <a:ea typeface="Meiryo UI" panose="020B0604030504040204" pitchFamily="50" charset="-128"/>
                        </a:rPr>
                        <a:t>each PVER</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aseline="0">
                          <a:solidFill>
                            <a:schemeClr val="tx1"/>
                          </a:solidFill>
                          <a:latin typeface="Meiryo UI" panose="020B0604030504040204" pitchFamily="50" charset="-128"/>
                          <a:ea typeface="Meiryo UI" panose="020B0604030504040204" pitchFamily="50" charset="-128"/>
                        </a:rPr>
                        <a:t>Refer to “SRS_BMS impact analysis”</a:t>
                      </a:r>
                      <a:endParaRPr kumimoji="1" lang="ja-JP" altLang="en-US" sz="12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792655451"/>
                  </a:ext>
                </a:extLst>
              </a:tr>
              <a:tr h="8874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2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200" baseline="0">
                          <a:solidFill>
                            <a:schemeClr val="tx1"/>
                          </a:solidFill>
                          <a:latin typeface="Meiryo UI" panose="020B0604030504040204" pitchFamily="50" charset="-128"/>
                          <a:ea typeface="Meiryo UI" panose="020B0604030504040204" pitchFamily="50" charset="-128"/>
                        </a:rPr>
                        <a:t>calibration item</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Confirmation of constraints and impacts on vehicle design</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Component</a:t>
                      </a:r>
                      <a:r>
                        <a:rPr kumimoji="1" lang="en-US" altLang="ja-JP" sz="1200" baseline="0">
                          <a:solidFill>
                            <a:schemeClr val="tx1"/>
                          </a:solidFill>
                          <a:latin typeface="Meiryo UI" panose="020B0604030504040204" pitchFamily="50" charset="-128"/>
                          <a:ea typeface="Meiryo UI" panose="020B0604030504040204" pitchFamily="50" charset="-128"/>
                        </a:rPr>
                        <a:t> Spec Device List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(Confirmation results of constraints and impacts on Honda vehicle design)</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F2</a:t>
                      </a:r>
                      <a:r>
                        <a:rPr kumimoji="1" lang="ja-JP" altLang="en-US" sz="1200">
                          <a:solidFill>
                            <a:schemeClr val="tx1"/>
                          </a:solidFill>
                          <a:latin typeface="Meiryo UI" panose="020B0604030504040204" pitchFamily="50" charset="-128"/>
                          <a:ea typeface="Meiryo UI" panose="020B0604030504040204" pitchFamily="50" charset="-128"/>
                        </a:rPr>
                        <a:t>、</a:t>
                      </a:r>
                      <a:r>
                        <a:rPr kumimoji="1" lang="en-US" altLang="ja-JP" sz="1200">
                          <a:solidFill>
                            <a:schemeClr val="tx1"/>
                          </a:solidFill>
                          <a:latin typeface="Meiryo UI" panose="020B0604030504040204" pitchFamily="50" charset="-128"/>
                          <a:ea typeface="Meiryo UI" panose="020B0604030504040204" pitchFamily="50" charset="-128"/>
                        </a:rPr>
                        <a:t>V3</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rPr>
                        <a:t>Expert</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meeting</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baseline="0">
                          <a:solidFill>
                            <a:schemeClr val="tx1"/>
                          </a:solidFill>
                          <a:latin typeface="Meiryo UI" panose="020B0604030504040204" pitchFamily="50" charset="-128"/>
                          <a:ea typeface="Meiryo UI" panose="020B0604030504040204" pitchFamily="50" charset="-128"/>
                        </a:rPr>
                        <a:t>Refer to “HDP-</a:t>
                      </a:r>
                      <a:r>
                        <a:rPr kumimoji="1" lang="en-US" altLang="ja-JP" sz="1200" baseline="0" err="1">
                          <a:solidFill>
                            <a:schemeClr val="tx1"/>
                          </a:solidFill>
                          <a:latin typeface="Meiryo UI" panose="020B0604030504040204" pitchFamily="50" charset="-128"/>
                          <a:ea typeface="Meiryo UI" panose="020B0604030504040204" pitchFamily="50" charset="-128"/>
                        </a:rPr>
                        <a:t>noise_resistance</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baseline="0" err="1">
                          <a:solidFill>
                            <a:schemeClr val="tx1"/>
                          </a:solidFill>
                          <a:latin typeface="Meiryo UI" panose="020B0604030504040204" pitchFamily="50" charset="-128"/>
                          <a:ea typeface="Meiryo UI" panose="020B0604030504040204" pitchFamily="50" charset="-128"/>
                        </a:rPr>
                        <a:t>Calibration_sample</a:t>
                      </a:r>
                      <a:r>
                        <a:rPr kumimoji="1" lang="en-US" altLang="ja-JP" sz="1200" baseline="0">
                          <a:solidFill>
                            <a:schemeClr val="tx1"/>
                          </a:solidFill>
                          <a:latin typeface="Meiryo UI" panose="020B0604030504040204" pitchFamily="50" charset="-128"/>
                          <a:ea typeface="Meiryo UI" panose="020B0604030504040204" pitchFamily="50" charset="-128"/>
                        </a:rPr>
                        <a:t>”</a:t>
                      </a:r>
                      <a:endParaRPr kumimoji="1" lang="ja-JP" altLang="en-US" sz="12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111109224"/>
                  </a:ext>
                </a:extLst>
              </a:tr>
            </a:tbl>
          </a:graphicData>
        </a:graphic>
      </p:graphicFrame>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(12/31)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750565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87739"/>
            <a:ext cx="910850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ja-JP" altLang="en-US" sz="1600" b="1" u="sng">
                <a:solidFill>
                  <a:srgbClr val="000000"/>
                </a:solidFill>
                <a:latin typeface="Meiryo UI" panose="020B0604030504040204" pitchFamily="50" charset="-128"/>
                <a:ea typeface="Meiryo UI" panose="020B0604030504040204" pitchFamily="50" charset="-128"/>
                <a:cs typeface="Meiryo UI" pitchFamily="50" charset="-128"/>
              </a:rPr>
              <a:t>品質向上施策検証</a:t>
            </a:r>
            <a:endParaRPr lang="en-US" altLang="ja-JP" sz="1600" b="1">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400">
                <a:latin typeface="Meiryo UI" panose="020B0604030504040204" pitchFamily="50" charset="-128"/>
                <a:ea typeface="Meiryo UI" panose="020B0604030504040204" pitchFamily="50" charset="-128"/>
                <a:cs typeface="Meiryo UI" pitchFamily="50" charset="-128"/>
              </a:rPr>
              <a:t>Honda </a:t>
            </a:r>
            <a:r>
              <a:rPr lang="ja-JP" altLang="en-US" sz="1400">
                <a:latin typeface="Meiryo UI" panose="020B0604030504040204" pitchFamily="50" charset="-128"/>
                <a:ea typeface="Meiryo UI" panose="020B0604030504040204" pitchFamily="50" charset="-128"/>
                <a:cs typeface="Meiryo UI" pitchFamily="50" charset="-128"/>
              </a:rPr>
              <a:t>品質向上施策に関して、検証を実施し、その結果を</a:t>
            </a:r>
            <a:r>
              <a:rPr lang="en-US" altLang="ja-JP" sz="1400">
                <a:latin typeface="Meiryo UI" panose="020B0604030504040204" pitchFamily="50" charset="-128"/>
                <a:ea typeface="Meiryo UI" panose="020B0604030504040204" pitchFamily="50" charset="-128"/>
                <a:cs typeface="Meiryo UI" pitchFamily="50" charset="-128"/>
              </a:rPr>
              <a:t>Honda</a:t>
            </a:r>
            <a:r>
              <a:rPr lang="ja-JP" altLang="en-US" sz="1400">
                <a:latin typeface="Meiryo UI" panose="020B0604030504040204" pitchFamily="50" charset="-128"/>
                <a:ea typeface="Meiryo UI" panose="020B0604030504040204" pitchFamily="50" charset="-128"/>
                <a:cs typeface="Meiryo UI" pitchFamily="50" charset="-128"/>
              </a:rPr>
              <a:t>に報告すること。</a:t>
            </a:r>
          </a:p>
          <a:p>
            <a:pPr marL="534988" lvl="1" indent="-285750" algn="l">
              <a:buFontTx/>
              <a:buChar char="-"/>
            </a:pPr>
            <a:r>
              <a:rPr lang="ja-JP" altLang="en-US" sz="1400">
                <a:latin typeface="Meiryo UI" panose="020B0604030504040204" pitchFamily="50" charset="-128"/>
                <a:ea typeface="Meiryo UI" panose="020B0604030504040204" pitchFamily="50" charset="-128"/>
                <a:cs typeface="Meiryo UI" pitchFamily="50" charset="-128"/>
              </a:rPr>
              <a:t>施策ごとに実施した内容とまとめについては、それぞれの報告タイミングにて報告されること。</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ja-JP" altLang="en-US" sz="1400">
                <a:latin typeface="Meiryo UI" panose="020B0604030504040204" pitchFamily="50" charset="-128"/>
                <a:ea typeface="Meiryo UI" panose="020B0604030504040204" pitchFamily="50" charset="-128"/>
                <a:cs typeface="Meiryo UI" pitchFamily="50" charset="-128"/>
              </a:rPr>
              <a:t>全ての施策については、マスク</a:t>
            </a:r>
            <a:r>
              <a:rPr lang="en-US" altLang="ja-JP" sz="1400">
                <a:latin typeface="Meiryo UI" panose="020B0604030504040204" pitchFamily="50" charset="-128"/>
                <a:ea typeface="Meiryo UI" panose="020B0604030504040204" pitchFamily="50" charset="-128"/>
                <a:cs typeface="Meiryo UI" pitchFamily="50" charset="-128"/>
              </a:rPr>
              <a:t>HEX</a:t>
            </a:r>
            <a:r>
              <a:rPr lang="ja-JP" altLang="en-US" sz="1400">
                <a:latin typeface="Meiryo UI" panose="020B0604030504040204" pitchFamily="50" charset="-128"/>
                <a:ea typeface="Meiryo UI" panose="020B0604030504040204" pitchFamily="50" charset="-128"/>
                <a:cs typeface="Meiryo UI" pitchFamily="50" charset="-128"/>
              </a:rPr>
              <a:t>発行前に完了させること。</a:t>
            </a:r>
            <a:endParaRPr lang="en-US" altLang="ja-JP" sz="1400">
              <a:latin typeface="Meiryo UI" panose="020B0604030504040204" pitchFamily="50" charset="-128"/>
              <a:ea typeface="Meiryo UI" panose="020B0604030504040204" pitchFamily="50" charset="-128"/>
              <a:cs typeface="Meiryo UI" pitchFamily="50" charset="-128"/>
            </a:endParaRPr>
          </a:p>
        </p:txBody>
      </p:sp>
      <p:graphicFrame>
        <p:nvGraphicFramePr>
          <p:cNvPr id="2" name="表 1"/>
          <p:cNvGraphicFramePr>
            <a:graphicFrameLocks noGrp="1"/>
          </p:cNvGraphicFramePr>
          <p:nvPr>
            <p:extLst>
              <p:ext uri="{D42A27DB-BD31-4B8C-83A1-F6EECF244321}">
                <p14:modId xmlns:p14="http://schemas.microsoft.com/office/powerpoint/2010/main" val="126788951"/>
              </p:ext>
            </p:extLst>
          </p:nvPr>
        </p:nvGraphicFramePr>
        <p:xfrm>
          <a:off x="191890" y="1552471"/>
          <a:ext cx="8851708" cy="4464447"/>
        </p:xfrm>
        <a:graphic>
          <a:graphicData uri="http://schemas.openxmlformats.org/drawingml/2006/table">
            <a:tbl>
              <a:tblPr firstRow="1" bandRow="1">
                <a:tableStyleId>{5940675A-B579-460E-94D1-54222C63F5DA}</a:tableStyleId>
              </a:tblPr>
              <a:tblGrid>
                <a:gridCol w="2138190">
                  <a:extLst>
                    <a:ext uri="{9D8B030D-6E8A-4147-A177-3AD203B41FA5}">
                      <a16:colId xmlns:a16="http://schemas.microsoft.com/office/drawing/2014/main" val="208362973"/>
                    </a:ext>
                  </a:extLst>
                </a:gridCol>
                <a:gridCol w="3021849">
                  <a:extLst>
                    <a:ext uri="{9D8B030D-6E8A-4147-A177-3AD203B41FA5}">
                      <a16:colId xmlns:a16="http://schemas.microsoft.com/office/drawing/2014/main" val="2304362547"/>
                    </a:ext>
                  </a:extLst>
                </a:gridCol>
                <a:gridCol w="1751975">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296862">
                <a:tc>
                  <a:txBody>
                    <a:bodyPr/>
                    <a:lstStyle/>
                    <a:p>
                      <a:r>
                        <a:rPr kumimoji="1" lang="ja-JP" altLang="en-US" sz="1400">
                          <a:latin typeface="Meiryo UI" panose="020B0604030504040204" pitchFamily="50" charset="-128"/>
                          <a:ea typeface="Meiryo UI" panose="020B0604030504040204" pitchFamily="50" charset="-128"/>
                        </a:rPr>
                        <a:t>施策の目的</a:t>
                      </a:r>
                    </a:p>
                  </a:txBody>
                  <a:tcPr/>
                </a:tc>
                <a:tc>
                  <a:txBody>
                    <a:bodyPr/>
                    <a:lstStyle/>
                    <a:p>
                      <a:r>
                        <a:rPr kumimoji="1" lang="ja-JP" altLang="en-US" sz="1400">
                          <a:latin typeface="Meiryo UI" panose="020B0604030504040204" pitchFamily="50" charset="-128"/>
                          <a:ea typeface="Meiryo UI" panose="020B0604030504040204" pitchFamily="50" charset="-128"/>
                        </a:rPr>
                        <a:t>再発防止ツール</a:t>
                      </a:r>
                    </a:p>
                  </a:txBody>
                  <a:tcPr/>
                </a:tc>
                <a:tc>
                  <a:txBody>
                    <a:bodyPr/>
                    <a:lstStyle/>
                    <a:p>
                      <a:r>
                        <a:rPr kumimoji="1" lang="ja-JP" altLang="en-US" sz="1400">
                          <a:latin typeface="Meiryo UI" panose="020B0604030504040204" pitchFamily="50" charset="-128"/>
                          <a:ea typeface="Meiryo UI" panose="020B0604030504040204" pitchFamily="50" charset="-128"/>
                        </a:rPr>
                        <a:t>報告タイミング</a:t>
                      </a:r>
                    </a:p>
                  </a:txBody>
                  <a:tcPr/>
                </a:tc>
                <a:tc>
                  <a:txBody>
                    <a:bodyPr/>
                    <a:lstStyle/>
                    <a:p>
                      <a:r>
                        <a:rPr kumimoji="1" lang="ja-JP" altLang="en-US" sz="1400">
                          <a:latin typeface="Meiryo UI" panose="020B0604030504040204" pitchFamily="50" charset="-128"/>
                          <a:ea typeface="Meiryo UI" panose="020B0604030504040204" pitchFamily="50" charset="-128"/>
                        </a:rPr>
                        <a:t>報告資料（例）</a:t>
                      </a:r>
                    </a:p>
                  </a:txBody>
                  <a:tcPr/>
                </a:tc>
                <a:extLst>
                  <a:ext uri="{0D108BD9-81ED-4DB2-BD59-A6C34878D82A}">
                    <a16:rowId xmlns:a16="http://schemas.microsoft.com/office/drawing/2014/main" val="1843441020"/>
                  </a:ext>
                </a:extLst>
              </a:tr>
              <a:tr h="756629">
                <a:tc>
                  <a:txBody>
                    <a:bodyPr/>
                    <a:lstStyle/>
                    <a:p>
                      <a:r>
                        <a:rPr kumimoji="1" lang="en-US" altLang="ja-JP" sz="1400">
                          <a:latin typeface="Meiryo UI" panose="020B0604030504040204" pitchFamily="50" charset="-128"/>
                          <a:ea typeface="Meiryo UI" panose="020B0604030504040204" pitchFamily="50" charset="-128"/>
                        </a:rPr>
                        <a:t>GST</a:t>
                      </a:r>
                      <a:r>
                        <a:rPr kumimoji="1" lang="ja-JP" altLang="en-US" sz="1400">
                          <a:latin typeface="Meiryo UI" panose="020B0604030504040204" pitchFamily="50" charset="-128"/>
                          <a:ea typeface="Meiryo UI" panose="020B0604030504040204" pitchFamily="50" charset="-128"/>
                        </a:rPr>
                        <a:t>関連適合値設定品熟レベルの確認</a:t>
                      </a:r>
                    </a:p>
                  </a:txBody>
                  <a:tcPr/>
                </a:tc>
                <a:tc>
                  <a:txBody>
                    <a:bodyPr/>
                    <a:lstStyle/>
                    <a:p>
                      <a:r>
                        <a:rPr kumimoji="1" lang="en-US" altLang="ja-JP" sz="1400">
                          <a:latin typeface="Meiryo UI" panose="020B0604030504040204" pitchFamily="50" charset="-128"/>
                          <a:ea typeface="Meiryo UI" panose="020B0604030504040204" pitchFamily="50" charset="-128"/>
                        </a:rPr>
                        <a:t>GST</a:t>
                      </a:r>
                      <a:r>
                        <a:rPr kumimoji="1" lang="ja-JP" altLang="en-US" sz="1400">
                          <a:latin typeface="Meiryo UI" panose="020B0604030504040204" pitchFamily="50" charset="-128"/>
                          <a:ea typeface="Meiryo UI" panose="020B0604030504040204" pitchFamily="50" charset="-128"/>
                        </a:rPr>
                        <a:t>関連データレビュー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Discussion is need.</a:t>
                      </a:r>
                      <a:endParaRPr kumimoji="1" lang="ja-JP" altLang="en-US" sz="1400">
                        <a:latin typeface="Meiryo UI" panose="020B0604030504040204" pitchFamily="50" charset="-128"/>
                        <a:ea typeface="Meiryo UI" panose="020B0604030504040204" pitchFamily="50" charset="-128"/>
                      </a:endParaRPr>
                    </a:p>
                    <a:p>
                      <a:endParaRPr kumimoji="1" lang="ja-JP" altLang="en-US" sz="14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Discussion is need.</a:t>
                      </a:r>
                      <a:endParaRPr kumimoji="1" lang="ja-JP" altLang="en-US" sz="1400">
                        <a:latin typeface="Meiryo UI" panose="020B0604030504040204" pitchFamily="50" charset="-128"/>
                        <a:ea typeface="Meiryo UI" panose="020B0604030504040204" pitchFamily="50" charset="-128"/>
                      </a:endParaRPr>
                    </a:p>
                    <a:p>
                      <a:endParaRPr kumimoji="1" lang="ja-JP" altLang="en-US" sz="14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465551"/>
                  </a:ext>
                </a:extLst>
              </a:tr>
              <a:tr h="920274">
                <a:tc>
                  <a:txBody>
                    <a:bodyPr/>
                    <a:lstStyle/>
                    <a:p>
                      <a:r>
                        <a:rPr kumimoji="1" lang="ja-JP" altLang="en-US" sz="1400">
                          <a:latin typeface="Meiryo UI" panose="020B0604030504040204" pitchFamily="50" charset="-128"/>
                          <a:ea typeface="Meiryo UI" panose="020B0604030504040204" pitchFamily="50" charset="-128"/>
                        </a:rPr>
                        <a:t>システムマトリックス関連の適合値の妥当性確認</a:t>
                      </a:r>
                    </a:p>
                  </a:txBody>
                  <a:tcPr/>
                </a:tc>
                <a:tc>
                  <a:txBody>
                    <a:bodyPr/>
                    <a:lstStyle/>
                    <a:p>
                      <a:r>
                        <a:rPr kumimoji="1" lang="en-US" altLang="ja-JP" sz="1400">
                          <a:solidFill>
                            <a:schemeClr val="tx1"/>
                          </a:solidFill>
                          <a:latin typeface="Meiryo UI" panose="020B0604030504040204" pitchFamily="50" charset="-128"/>
                          <a:ea typeface="Meiryo UI" panose="020B0604030504040204" pitchFamily="50" charset="-128"/>
                        </a:rPr>
                        <a:t>System Matrix</a:t>
                      </a:r>
                      <a:r>
                        <a:rPr kumimoji="1" lang="en-US" altLang="ja-JP" sz="1400" baseline="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relevant</a:t>
                      </a:r>
                      <a:r>
                        <a:rPr kumimoji="1" lang="en-US" altLang="ja-JP" sz="1400" baseline="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check</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400">
                          <a:solidFill>
                            <a:schemeClr val="tx1"/>
                          </a:solidFill>
                          <a:latin typeface="Meiryo UI" panose="020B0604030504040204" pitchFamily="50" charset="-128"/>
                          <a:ea typeface="Meiryo UI" panose="020B0604030504040204" pitchFamily="50" charset="-128"/>
                        </a:rPr>
                        <a:t>・</a:t>
                      </a:r>
                      <a:r>
                        <a:rPr kumimoji="1" lang="en-US" altLang="ja-JP" sz="1400">
                          <a:solidFill>
                            <a:schemeClr val="tx1"/>
                          </a:solidFill>
                          <a:latin typeface="Meiryo UI" panose="020B0604030504040204" pitchFamily="50" charset="-128"/>
                          <a:ea typeface="Meiryo UI" panose="020B0604030504040204" pitchFamily="50" charset="-128"/>
                        </a:rPr>
                        <a:t>V2 : complete check</a:t>
                      </a:r>
                    </a:p>
                    <a:p>
                      <a:r>
                        <a:rPr kumimoji="1" lang="ja-JP" altLang="en-US" sz="1400">
                          <a:solidFill>
                            <a:schemeClr val="tx1"/>
                          </a:solidFill>
                          <a:latin typeface="Meiryo UI" panose="020B0604030504040204" pitchFamily="50" charset="-128"/>
                          <a:ea typeface="Meiryo UI" panose="020B0604030504040204" pitchFamily="50" charset="-128"/>
                        </a:rPr>
                        <a:t>・</a:t>
                      </a:r>
                      <a:r>
                        <a:rPr kumimoji="1" lang="en-US" altLang="ja-JP" sz="1400">
                          <a:solidFill>
                            <a:schemeClr val="tx1"/>
                          </a:solidFill>
                          <a:latin typeface="Meiryo UI" panose="020B0604030504040204" pitchFamily="50" charset="-128"/>
                          <a:ea typeface="Meiryo UI" panose="020B0604030504040204" pitchFamily="50" charset="-128"/>
                        </a:rPr>
                        <a:t>Event after V2</a:t>
                      </a:r>
                      <a:r>
                        <a:rPr kumimoji="1" lang="ja-JP" altLang="en-US" sz="1400">
                          <a:solidFill>
                            <a:schemeClr val="tx1"/>
                          </a:solidFill>
                          <a:latin typeface="Meiryo UI" panose="020B0604030504040204" pitchFamily="50" charset="-128"/>
                          <a:ea typeface="Meiryo UI" panose="020B0604030504040204" pitchFamily="50" charset="-128"/>
                        </a:rPr>
                        <a:t>：</a:t>
                      </a:r>
                      <a:r>
                        <a:rPr kumimoji="1" lang="en-US" altLang="ja-JP" sz="1400">
                          <a:solidFill>
                            <a:schemeClr val="tx1"/>
                          </a:solidFill>
                          <a:latin typeface="Meiryo UI" panose="020B0604030504040204" pitchFamily="50" charset="-128"/>
                          <a:ea typeface="Meiryo UI" panose="020B0604030504040204" pitchFamily="50" charset="-128"/>
                        </a:rPr>
                        <a:t>delta check</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参照：</a:t>
                      </a:r>
                      <a:r>
                        <a:rPr kumimoji="1" lang="en-US" altLang="ja-JP" sz="1400" baseline="0">
                          <a:solidFill>
                            <a:schemeClr val="tx1"/>
                          </a:solidFill>
                          <a:latin typeface="Meiryo UI" panose="020B0604030504040204" pitchFamily="50" charset="-128"/>
                          <a:ea typeface="Meiryo UI" panose="020B0604030504040204" pitchFamily="50" charset="-128"/>
                        </a:rPr>
                        <a:t>“System Matrix relevant check_sample”</a:t>
                      </a:r>
                      <a:endParaRPr kumimoji="1" lang="ja-JP" altLang="en-US" sz="14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825324748"/>
                  </a:ext>
                </a:extLst>
              </a:tr>
              <a:tr h="92027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ベース機種からの変化点の</a:t>
                      </a:r>
                      <a:r>
                        <a:rPr kumimoji="1" lang="en-US" altLang="ja-JP" sz="1400">
                          <a:latin typeface="Meiryo UI" panose="020B0604030504040204" pitchFamily="50" charset="-128"/>
                          <a:ea typeface="Meiryo UI" panose="020B0604030504040204" pitchFamily="50" charset="-128"/>
                        </a:rPr>
                        <a:t>OBD</a:t>
                      </a:r>
                      <a:r>
                        <a:rPr kumimoji="1" lang="ja-JP" altLang="en-US" sz="1400">
                          <a:latin typeface="Meiryo UI" panose="020B0604030504040204" pitchFamily="50" charset="-128"/>
                          <a:ea typeface="Meiryo UI" panose="020B0604030504040204" pitchFamily="50" charset="-128"/>
                        </a:rPr>
                        <a:t>への影響分析および検証内容の整合</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OBD</a:t>
                      </a:r>
                      <a:r>
                        <a:rPr kumimoji="1" lang="ja-JP" altLang="en-US" sz="1400">
                          <a:solidFill>
                            <a:schemeClr val="tx1"/>
                          </a:solidFill>
                          <a:latin typeface="Meiryo UI" panose="020B0604030504040204" pitchFamily="50" charset="-128"/>
                          <a:ea typeface="Meiryo UI" panose="020B0604030504040204" pitchFamily="50" charset="-128"/>
                        </a:rPr>
                        <a:t>変化点抽出リスト</a:t>
                      </a:r>
                      <a:endParaRPr kumimoji="1" lang="en-US" altLang="ja-JP" sz="1400">
                        <a:solidFill>
                          <a:schemeClr val="tx1"/>
                        </a:solidFill>
                        <a:latin typeface="Meiryo UI" panose="020B0604030504040204" pitchFamily="50" charset="-128"/>
                        <a:ea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eiryo UI" panose="020B0604030504040204" pitchFamily="50" charset="-128"/>
                          <a:ea typeface="Meiryo UI" panose="020B0604030504040204" pitchFamily="50" charset="-128"/>
                        </a:rPr>
                        <a:t>弱点領域を考慮したワーストケースでの検証結果</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F1~V3</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400">
                          <a:latin typeface="Meiryo UI" panose="020B0604030504040204" pitchFamily="50" charset="-128"/>
                          <a:ea typeface="Meiryo UI" panose="020B0604030504040204" pitchFamily="50" charset="-128"/>
                        </a:rPr>
                        <a:t>参照：</a:t>
                      </a:r>
                      <a:r>
                        <a:rPr kumimoji="1" lang="en-US" altLang="ja-JP" sz="1400" baseline="0">
                          <a:solidFill>
                            <a:schemeClr val="tx1"/>
                          </a:solidFill>
                          <a:latin typeface="Meiryo UI" panose="020B0604030504040204" pitchFamily="50" charset="-128"/>
                          <a:ea typeface="Meiryo UI" panose="020B0604030504040204" pitchFamily="50" charset="-128"/>
                        </a:rPr>
                        <a:t>“OBD key change point list”</a:t>
                      </a:r>
                    </a:p>
                    <a:p>
                      <a:r>
                        <a:rPr kumimoji="1" lang="ja-JP" altLang="en-US" sz="1400" baseline="0">
                          <a:solidFill>
                            <a:schemeClr val="tx1"/>
                          </a:solidFill>
                          <a:latin typeface="Meiryo UI" panose="020B0604030504040204" pitchFamily="50" charset="-128"/>
                          <a:ea typeface="Meiryo UI" panose="020B0604030504040204" pitchFamily="50" charset="-128"/>
                        </a:rPr>
                        <a:t>“</a:t>
                      </a:r>
                      <a:r>
                        <a:rPr kumimoji="1" lang="en-US" altLang="ja-JP" sz="1400" baseline="0">
                          <a:solidFill>
                            <a:schemeClr val="tx1"/>
                          </a:solidFill>
                          <a:latin typeface="Meiryo UI" panose="020B0604030504040204" pitchFamily="50" charset="-128"/>
                          <a:ea typeface="Meiryo UI" panose="020B0604030504040204" pitchFamily="50" charset="-128"/>
                        </a:rPr>
                        <a:t>Test_condition_toughness_validation</a:t>
                      </a:r>
                      <a:r>
                        <a:rPr kumimoji="1" lang="ja-JP" altLang="en-US" sz="1400" baseline="0">
                          <a:solidFill>
                            <a:schemeClr val="tx1"/>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3721604532"/>
                  </a:ext>
                </a:extLst>
              </a:tr>
              <a:tr h="7566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400">
                          <a:solidFill>
                            <a:schemeClr val="tx1"/>
                          </a:solidFill>
                          <a:latin typeface="Meiryo UI" panose="020B0604030504040204" pitchFamily="50" charset="-128"/>
                          <a:ea typeface="Meiryo UI" panose="020B0604030504040204" pitchFamily="50" charset="-128"/>
                          <a:cs typeface="Meiryo UI" pitchFamily="50" charset="-128"/>
                        </a:rPr>
                        <a:t>SW</a:t>
                      </a:r>
                      <a:r>
                        <a:rPr lang="ja-JP" altLang="en-US" sz="1400">
                          <a:solidFill>
                            <a:schemeClr val="tx1"/>
                          </a:solidFill>
                          <a:latin typeface="Meiryo UI" panose="020B0604030504040204" pitchFamily="50" charset="-128"/>
                          <a:ea typeface="Meiryo UI" panose="020B0604030504040204" pitchFamily="50" charset="-128"/>
                          <a:cs typeface="Meiryo UI" pitchFamily="50" charset="-128"/>
                        </a:rPr>
                        <a:t>変化点の</a:t>
                      </a:r>
                      <a:r>
                        <a:rPr lang="en-US" altLang="ja-JP" sz="1400">
                          <a:solidFill>
                            <a:schemeClr val="tx1"/>
                          </a:solidFill>
                          <a:latin typeface="Meiryo UI" panose="020B0604030504040204" pitchFamily="50" charset="-128"/>
                          <a:ea typeface="Meiryo UI" panose="020B0604030504040204" pitchFamily="50" charset="-128"/>
                          <a:cs typeface="Meiryo UI" pitchFamily="50" charset="-128"/>
                        </a:rPr>
                        <a:t>BMS</a:t>
                      </a:r>
                      <a:r>
                        <a:rPr lang="ja-JP" altLang="en-US" sz="1400">
                          <a:solidFill>
                            <a:schemeClr val="tx1"/>
                          </a:solidFill>
                          <a:latin typeface="Meiryo UI" panose="020B0604030504040204" pitchFamily="50" charset="-128"/>
                          <a:ea typeface="Meiryo UI" panose="020B0604030504040204" pitchFamily="50" charset="-128"/>
                          <a:cs typeface="Meiryo UI" pitchFamily="50" charset="-128"/>
                        </a:rPr>
                        <a:t>影響</a:t>
                      </a:r>
                      <a:endParaRPr lang="en-US" altLang="ja-JP" sz="1400">
                        <a:solidFill>
                          <a:schemeClr val="tx1"/>
                        </a:solidFill>
                        <a:latin typeface="Meiryo UI" panose="020B0604030504040204" pitchFamily="50" charset="-128"/>
                        <a:ea typeface="Meiryo UI" panose="020B0604030504040204" pitchFamily="50" charset="-128"/>
                        <a:cs typeface="Meiryo UI"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400">
                          <a:solidFill>
                            <a:schemeClr val="tx1"/>
                          </a:solidFill>
                          <a:latin typeface="Meiryo UI" panose="020B0604030504040204" pitchFamily="50" charset="-128"/>
                          <a:ea typeface="Meiryo UI" panose="020B0604030504040204" pitchFamily="50" charset="-128"/>
                          <a:cs typeface="Meiryo UI" pitchFamily="50" charset="-128"/>
                        </a:rPr>
                        <a:t>分析確認</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BMS</a:t>
                      </a:r>
                      <a:r>
                        <a:rPr kumimoji="1" lang="ja-JP" altLang="en-US" sz="1400">
                          <a:solidFill>
                            <a:schemeClr val="tx1"/>
                          </a:solidFill>
                          <a:latin typeface="Meiryo UI" panose="020B0604030504040204" pitchFamily="50" charset="-128"/>
                          <a:ea typeface="Meiryo UI" panose="020B0604030504040204" pitchFamily="50" charset="-128"/>
                        </a:rPr>
                        <a:t>影響分析レビュー</a:t>
                      </a:r>
                      <a:r>
                        <a:rPr kumimoji="1" lang="en-US" altLang="ja-JP" sz="1400">
                          <a:solidFill>
                            <a:schemeClr val="tx1"/>
                          </a:solidFill>
                          <a:latin typeface="Meiryo UI" panose="020B0604030504040204" pitchFamily="50" charset="-128"/>
                          <a:ea typeface="Meiryo UI" panose="020B0604030504040204" pitchFamily="50" charset="-128"/>
                        </a:rPr>
                        <a:t>/BMS</a:t>
                      </a:r>
                      <a:r>
                        <a:rPr kumimoji="1" lang="ja-JP" altLang="en-US" sz="1400">
                          <a:solidFill>
                            <a:schemeClr val="tx1"/>
                          </a:solidFill>
                          <a:latin typeface="Meiryo UI" panose="020B0604030504040204" pitchFamily="50" charset="-128"/>
                          <a:ea typeface="Meiryo UI" panose="020B0604030504040204" pitchFamily="50" charset="-128"/>
                        </a:rPr>
                        <a:t>機能動作確認結果</a:t>
                      </a:r>
                      <a:endParaRPr kumimoji="1" lang="en-US" altLang="ja-JP" sz="1400">
                        <a:solidFill>
                          <a:schemeClr val="tx1"/>
                        </a:solidFill>
                        <a:latin typeface="Meiryo UI" panose="020B0604030504040204" pitchFamily="50" charset="-128"/>
                        <a:ea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a:t>
                      </a:r>
                      <a:r>
                        <a:rPr kumimoji="1" lang="ja-JP" altLang="en-US" sz="1400">
                          <a:solidFill>
                            <a:schemeClr val="tx1"/>
                          </a:solidFill>
                          <a:latin typeface="Meiryo UI" panose="020B0604030504040204" pitchFamily="50" charset="-128"/>
                          <a:ea typeface="Meiryo UI" panose="020B0604030504040204" pitchFamily="50" charset="-128"/>
                        </a:rPr>
                        <a:t>必要な部分は詳細開示すること</a:t>
                      </a:r>
                      <a:r>
                        <a:rPr kumimoji="1" lang="en-US" altLang="ja-JP" sz="1400">
                          <a:solidFill>
                            <a:schemeClr val="tx1"/>
                          </a:solidFill>
                          <a:latin typeface="Meiryo UI" panose="020B0604030504040204" pitchFamily="50" charset="-128"/>
                          <a:ea typeface="Meiryo UI" panose="020B0604030504040204" pitchFamily="50" charset="-128"/>
                        </a:rPr>
                        <a:t>)</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400">
                          <a:solidFill>
                            <a:schemeClr val="tx1"/>
                          </a:solidFill>
                          <a:latin typeface="Meiryo UI" panose="020B0604030504040204" pitchFamily="50" charset="-128"/>
                          <a:ea typeface="Meiryo UI" panose="020B0604030504040204" pitchFamily="50" charset="-128"/>
                        </a:rPr>
                        <a:t>each PVER</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参照：</a:t>
                      </a:r>
                      <a:r>
                        <a:rPr kumimoji="1" lang="en-US" altLang="ja-JP" sz="1400" baseline="0">
                          <a:solidFill>
                            <a:schemeClr val="tx1"/>
                          </a:solidFill>
                          <a:latin typeface="Meiryo UI" panose="020B0604030504040204" pitchFamily="50" charset="-128"/>
                          <a:ea typeface="Meiryo UI" panose="020B0604030504040204" pitchFamily="50" charset="-128"/>
                        </a:rPr>
                        <a:t>“SRS_BMS impact analysis”</a:t>
                      </a:r>
                      <a:endParaRPr kumimoji="1" lang="ja-JP" altLang="en-US" sz="14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814001794"/>
                  </a:ext>
                </a:extLst>
              </a:tr>
              <a:tr h="7566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a:solidFill>
                            <a:schemeClr val="tx1"/>
                          </a:solidFill>
                          <a:latin typeface="Meiryo UI" panose="020B0604030504040204" pitchFamily="50" charset="-128"/>
                          <a:ea typeface="Meiryo UI" panose="020B0604030504040204" pitchFamily="50" charset="-128"/>
                        </a:rPr>
                        <a:t>適合項目</a:t>
                      </a:r>
                      <a:endParaRPr kumimoji="1" lang="en-US" altLang="ja-JP" sz="1400">
                        <a:solidFill>
                          <a:schemeClr val="tx1"/>
                        </a:solidFill>
                        <a:latin typeface="Meiryo UI" panose="020B0604030504040204" pitchFamily="50" charset="-128"/>
                        <a:ea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eiryo UI" panose="020B0604030504040204" pitchFamily="50" charset="-128"/>
                          <a:ea typeface="Meiryo UI" panose="020B0604030504040204" pitchFamily="50" charset="-128"/>
                        </a:rPr>
                        <a:t>車両設計制約と影響確認</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Component</a:t>
                      </a:r>
                      <a:r>
                        <a:rPr kumimoji="1" lang="en-US" altLang="ja-JP" sz="1400" baseline="0">
                          <a:solidFill>
                            <a:schemeClr val="tx1"/>
                          </a:solidFill>
                          <a:latin typeface="Meiryo UI" panose="020B0604030504040204" pitchFamily="50" charset="-128"/>
                          <a:ea typeface="Meiryo UI" panose="020B0604030504040204" pitchFamily="50" charset="-128"/>
                        </a:rPr>
                        <a:t> Spec Device List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(Honda</a:t>
                      </a:r>
                      <a:r>
                        <a:rPr kumimoji="1" lang="ja-JP" altLang="en-US" sz="1400">
                          <a:solidFill>
                            <a:schemeClr val="tx1"/>
                          </a:solidFill>
                          <a:latin typeface="Meiryo UI" panose="020B0604030504040204" pitchFamily="50" charset="-128"/>
                          <a:ea typeface="Meiryo UI" panose="020B0604030504040204" pitchFamily="50" charset="-128"/>
                        </a:rPr>
                        <a:t>車両設計に対する制約と影響確認結果</a:t>
                      </a:r>
                      <a:r>
                        <a:rPr kumimoji="1" lang="en-US" altLang="ja-JP" sz="1400">
                          <a:solidFill>
                            <a:schemeClr val="tx1"/>
                          </a:solidFill>
                          <a:latin typeface="Meiryo UI" panose="020B0604030504040204" pitchFamily="50" charset="-128"/>
                          <a:ea typeface="Meiryo UI" panose="020B0604030504040204" pitchFamily="50" charset="-128"/>
                        </a:rPr>
                        <a:t>)</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F2</a:t>
                      </a:r>
                      <a:r>
                        <a:rPr kumimoji="1" lang="ja-JP" altLang="en-US" sz="1400">
                          <a:solidFill>
                            <a:schemeClr val="tx1"/>
                          </a:solidFill>
                          <a:latin typeface="Meiryo UI" panose="020B0604030504040204" pitchFamily="50" charset="-128"/>
                          <a:ea typeface="Meiryo UI" panose="020B0604030504040204" pitchFamily="50" charset="-128"/>
                        </a:rPr>
                        <a:t>、</a:t>
                      </a:r>
                      <a:r>
                        <a:rPr kumimoji="1" lang="en-US" altLang="ja-JP" sz="1400">
                          <a:solidFill>
                            <a:schemeClr val="tx1"/>
                          </a:solidFill>
                          <a:latin typeface="Meiryo UI" panose="020B0604030504040204" pitchFamily="50" charset="-128"/>
                          <a:ea typeface="Meiryo UI" panose="020B0604030504040204" pitchFamily="50" charset="-128"/>
                        </a:rPr>
                        <a:t>V3</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rPr>
                        <a:t>Expert</a:t>
                      </a:r>
                      <a:r>
                        <a:rPr kumimoji="1" lang="ja-JP" altLang="en-US"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meeting</a:t>
                      </a:r>
                      <a:endParaRPr kumimoji="1" lang="ja-JP" altLang="en-US" sz="1400">
                        <a:latin typeface="Meiryo UI" panose="020B0604030504040204" pitchFamily="50" charset="-128"/>
                        <a:ea typeface="Meiryo UI" panose="020B0604030504040204" pitchFamily="50" charset="-128"/>
                      </a:endParaRPr>
                    </a:p>
                  </a:txBody>
                  <a:tcPr/>
                </a:tc>
                <a:tc>
                  <a:txBody>
                    <a:bodyPr/>
                    <a:lstStyle/>
                    <a:p>
                      <a:r>
                        <a:rPr kumimoji="1" lang="ja-JP" altLang="en-US" sz="1200">
                          <a:latin typeface="Meiryo UI" panose="020B0604030504040204" pitchFamily="50" charset="-128"/>
                          <a:ea typeface="Meiryo UI" panose="020B0604030504040204" pitchFamily="50" charset="-128"/>
                        </a:rPr>
                        <a:t>参照：</a:t>
                      </a:r>
                      <a:r>
                        <a:rPr kumimoji="1" lang="en-US" altLang="ja-JP" sz="1200" baseline="0">
                          <a:solidFill>
                            <a:schemeClr val="tx1"/>
                          </a:solidFill>
                          <a:latin typeface="Meiryo UI" panose="020B0604030504040204" pitchFamily="50" charset="-128"/>
                          <a:ea typeface="Meiryo UI" panose="020B0604030504040204" pitchFamily="50" charset="-128"/>
                        </a:rPr>
                        <a:t>“HDP-</a:t>
                      </a:r>
                      <a:r>
                        <a:rPr kumimoji="1" lang="en-US" altLang="ja-JP" sz="1200" baseline="0" err="1">
                          <a:solidFill>
                            <a:schemeClr val="tx1"/>
                          </a:solidFill>
                          <a:latin typeface="Meiryo UI" panose="020B0604030504040204" pitchFamily="50" charset="-128"/>
                          <a:ea typeface="Meiryo UI" panose="020B0604030504040204" pitchFamily="50" charset="-128"/>
                        </a:rPr>
                        <a:t>noise_resistance</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baseline="0" err="1">
                          <a:solidFill>
                            <a:schemeClr val="tx1"/>
                          </a:solidFill>
                          <a:latin typeface="Meiryo UI" panose="020B0604030504040204" pitchFamily="50" charset="-128"/>
                          <a:ea typeface="Meiryo UI" panose="020B0604030504040204" pitchFamily="50" charset="-128"/>
                        </a:rPr>
                        <a:t>Calibration_sample</a:t>
                      </a:r>
                      <a:r>
                        <a:rPr kumimoji="1" lang="en-US" altLang="ja-JP" sz="1200" baseline="0">
                          <a:solidFill>
                            <a:schemeClr val="tx1"/>
                          </a:solidFill>
                          <a:latin typeface="Meiryo UI" panose="020B0604030504040204" pitchFamily="50" charset="-128"/>
                          <a:ea typeface="Meiryo UI" panose="020B0604030504040204" pitchFamily="50" charset="-128"/>
                        </a:rPr>
                        <a:t>”</a:t>
                      </a:r>
                      <a:endParaRPr kumimoji="1" lang="ja-JP" altLang="en-US" sz="1200" baseline="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9295497"/>
                  </a:ext>
                </a:extLst>
              </a:tr>
            </a:tbl>
          </a:graphicData>
        </a:graphic>
      </p:graphicFrame>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(13/31)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83960487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22424"/>
            <a:ext cx="9108504"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Quality</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Improvement</a:t>
            </a:r>
            <a:r>
              <a:rPr lang="ja-JP" altLang="en-US" sz="18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Measures Verification</a:t>
            </a:r>
            <a:endParaRPr lang="en-US" altLang="ja-JP" sz="1800" b="1">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Regarding Honda’s quality improvement measure, the verification shall be implemented and report the result to Honda.</a:t>
            </a:r>
          </a:p>
          <a:p>
            <a:pPr marL="534988" lvl="1" indent="-285750" algn="l">
              <a:buFontTx/>
              <a:buChar char="-"/>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Contents and summary</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of each measure shall be reported at the report timing of each measure.</a:t>
            </a:r>
            <a:endParaRPr lang="en-US" altLang="ja-JP" sz="1200">
              <a:solidFill>
                <a:srgbClr val="FF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200">
                <a:solidFill>
                  <a:srgbClr val="000000"/>
                </a:solidFill>
                <a:latin typeface="Meiryo UI" panose="020B0604030504040204" pitchFamily="50" charset="-128"/>
                <a:ea typeface="Meiryo UI" panose="020B0604030504040204" pitchFamily="50" charset="-128"/>
                <a:cs typeface="Arial" pitchFamily="34" charset="0"/>
              </a:rPr>
              <a:t>All</a:t>
            </a:r>
            <a:r>
              <a:rPr lang="ja-JP" altLang="en-US" sz="12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200">
                <a:solidFill>
                  <a:srgbClr val="000000"/>
                </a:solidFill>
                <a:latin typeface="Meiryo UI" panose="020B0604030504040204" pitchFamily="50" charset="-128"/>
                <a:ea typeface="Meiryo UI" panose="020B0604030504040204" pitchFamily="50" charset="-128"/>
                <a:cs typeface="Arial" pitchFamily="34" charset="0"/>
              </a:rPr>
              <a:t>measures in the list below shall be completed before mask HEX MP1 release.</a:t>
            </a:r>
            <a:endParaRPr lang="ja-JP" altLang="en-US" sz="1200">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2" name="表 1"/>
          <p:cNvGraphicFramePr>
            <a:graphicFrameLocks noGrp="1"/>
          </p:cNvGraphicFramePr>
          <p:nvPr>
            <p:extLst>
              <p:ext uri="{D42A27DB-BD31-4B8C-83A1-F6EECF244321}">
                <p14:modId xmlns:p14="http://schemas.microsoft.com/office/powerpoint/2010/main" val="2318010657"/>
              </p:ext>
            </p:extLst>
          </p:nvPr>
        </p:nvGraphicFramePr>
        <p:xfrm>
          <a:off x="191890" y="1608228"/>
          <a:ext cx="8851709" cy="2468880"/>
        </p:xfrm>
        <a:graphic>
          <a:graphicData uri="http://schemas.openxmlformats.org/drawingml/2006/table">
            <a:tbl>
              <a:tblPr firstRow="1" bandRow="1">
                <a:tableStyleId>{5940675A-B579-460E-94D1-54222C63F5DA}</a:tableStyleId>
              </a:tblPr>
              <a:tblGrid>
                <a:gridCol w="2695001">
                  <a:extLst>
                    <a:ext uri="{9D8B030D-6E8A-4147-A177-3AD203B41FA5}">
                      <a16:colId xmlns:a16="http://schemas.microsoft.com/office/drawing/2014/main" val="208362973"/>
                    </a:ext>
                  </a:extLst>
                </a:gridCol>
                <a:gridCol w="2429693">
                  <a:extLst>
                    <a:ext uri="{9D8B030D-6E8A-4147-A177-3AD203B41FA5}">
                      <a16:colId xmlns:a16="http://schemas.microsoft.com/office/drawing/2014/main" val="2304362547"/>
                    </a:ext>
                  </a:extLst>
                </a:gridCol>
                <a:gridCol w="1787321">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257653">
                <a:tc>
                  <a:txBody>
                    <a:bodyPr/>
                    <a:lstStyle/>
                    <a:p>
                      <a:r>
                        <a:rPr kumimoji="1" lang="en-US" altLang="ja-JP" sz="1200">
                          <a:latin typeface="Meiryo UI" panose="020B0604030504040204" pitchFamily="50" charset="-128"/>
                          <a:ea typeface="Meiryo UI" panose="020B0604030504040204" pitchFamily="50" charset="-128"/>
                        </a:rPr>
                        <a:t>Purpose</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of</a:t>
                      </a:r>
                      <a:r>
                        <a:rPr kumimoji="1" lang="ja-JP" altLang="en-US" sz="1200">
                          <a:latin typeface="Meiryo UI" panose="020B0604030504040204" pitchFamily="50" charset="-128"/>
                          <a:ea typeface="Meiryo UI" panose="020B0604030504040204" pitchFamily="50" charset="-128"/>
                        </a:rPr>
                        <a:t> </a:t>
                      </a:r>
                      <a:r>
                        <a:rPr kumimoji="1" lang="en-US" altLang="ja-JP" sz="1200">
                          <a:latin typeface="Meiryo UI" panose="020B0604030504040204" pitchFamily="50" charset="-128"/>
                          <a:ea typeface="Meiryo UI" panose="020B0604030504040204" pitchFamily="50" charset="-128"/>
                        </a:rPr>
                        <a:t>measure</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Recurrence prevention</a:t>
                      </a:r>
                      <a:r>
                        <a:rPr kumimoji="1" lang="en-US" altLang="ja-JP" sz="1200" baseline="0">
                          <a:latin typeface="Meiryo UI" panose="020B0604030504040204" pitchFamily="50" charset="-128"/>
                          <a:ea typeface="Meiryo UI" panose="020B0604030504040204" pitchFamily="50" charset="-128"/>
                        </a:rPr>
                        <a:t> tool</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Report</a:t>
                      </a:r>
                      <a:r>
                        <a:rPr kumimoji="1" lang="en-US" altLang="ja-JP" sz="1200" baseline="0">
                          <a:latin typeface="Meiryo UI" panose="020B0604030504040204" pitchFamily="50" charset="-128"/>
                          <a:ea typeface="Meiryo UI" panose="020B0604030504040204" pitchFamily="50" charset="-128"/>
                        </a:rPr>
                        <a:t> timing</a:t>
                      </a:r>
                      <a:endParaRPr kumimoji="1" lang="ja-JP" altLang="en-US" sz="1200">
                        <a:latin typeface="Meiryo UI" panose="020B0604030504040204" pitchFamily="50" charset="-128"/>
                        <a:ea typeface="Meiryo UI" panose="020B0604030504040204" pitchFamily="50" charset="-128"/>
                      </a:endParaRPr>
                    </a:p>
                  </a:txBody>
                  <a:tcPr/>
                </a:tc>
                <a:tc>
                  <a:txBody>
                    <a:bodyPr/>
                    <a:lstStyle/>
                    <a:p>
                      <a:r>
                        <a:rPr kumimoji="1" lang="en-US" altLang="ja-JP" sz="1200">
                          <a:latin typeface="Meiryo UI" panose="020B0604030504040204" pitchFamily="50" charset="-128"/>
                          <a:ea typeface="Meiryo UI" panose="020B0604030504040204" pitchFamily="50" charset="-128"/>
                        </a:rPr>
                        <a:t>Document</a:t>
                      </a:r>
                      <a:r>
                        <a:rPr kumimoji="1" lang="ja-JP" altLang="en-US" sz="1200">
                          <a:latin typeface="Meiryo UI" panose="020B0604030504040204" pitchFamily="50" charset="-128"/>
                          <a:ea typeface="Meiryo UI" panose="020B0604030504040204" pitchFamily="50" charset="-128"/>
                        </a:rPr>
                        <a:t>（</a:t>
                      </a:r>
                      <a:r>
                        <a:rPr kumimoji="1" lang="en-US" altLang="ja-JP" sz="1200">
                          <a:latin typeface="Meiryo UI" panose="020B0604030504040204" pitchFamily="50" charset="-128"/>
                          <a:ea typeface="Meiryo UI" panose="020B0604030504040204" pitchFamily="50" charset="-128"/>
                        </a:rPr>
                        <a:t>Example</a:t>
                      </a:r>
                      <a:r>
                        <a:rPr kumimoji="1" lang="ja-JP" altLang="en-US" sz="1200">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1843441020"/>
                  </a:ext>
                </a:extLst>
              </a:tr>
              <a:tr h="7729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a:solidFill>
                            <a:schemeClr val="tx1"/>
                          </a:solidFill>
                          <a:latin typeface="Meiryo UI" panose="020B0604030504040204" pitchFamily="50" charset="-128"/>
                          <a:ea typeface="Meiryo UI" panose="020B0604030504040204" pitchFamily="50" charset="-128"/>
                        </a:rPr>
                        <a:t>Setting Concept Confirmation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50" charset="-128"/>
                          <a:ea typeface="Meiryo UI" panose="020B0604030504040204" pitchFamily="50" charset="-128"/>
                        </a:rPr>
                        <a:t>Completion Declaration of Setting Concept Reflection</a:t>
                      </a:r>
                      <a:endParaRPr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Expert</a:t>
                      </a:r>
                      <a:r>
                        <a:rPr kumimoji="1" lang="ja-JP" altLang="en-US" sz="120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meeting</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baseline="0">
                          <a:solidFill>
                            <a:schemeClr val="tx1"/>
                          </a:solidFill>
                          <a:latin typeface="Meiryo UI" panose="020B0604030504040204" pitchFamily="50" charset="-128"/>
                          <a:ea typeface="Meiryo UI" panose="020B0604030504040204" pitchFamily="50" charset="-128"/>
                        </a:rPr>
                        <a:t>参照：“</a:t>
                      </a:r>
                      <a:r>
                        <a:rPr kumimoji="1" lang="en-US" altLang="ja-JP" sz="1200" baseline="0">
                          <a:solidFill>
                            <a:schemeClr val="tx1"/>
                          </a:solidFill>
                          <a:latin typeface="Meiryo UI" panose="020B0604030504040204" pitchFamily="50" charset="-128"/>
                          <a:ea typeface="Meiryo UI" panose="020B0604030504040204" pitchFamily="50" charset="-128"/>
                        </a:rPr>
                        <a:t>Completion Declaration of Setting Concept reflection_sample</a:t>
                      </a:r>
                      <a:r>
                        <a:rPr kumimoji="1" lang="ja-JP" altLang="en-US" sz="1200" baseline="0">
                          <a:solidFill>
                            <a:schemeClr val="tx1"/>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1178814606"/>
                  </a:ext>
                </a:extLst>
              </a:tr>
              <a:tr h="772960">
                <a:tc>
                  <a:txBody>
                    <a:bodyPr/>
                    <a:lstStyle/>
                    <a:p>
                      <a:r>
                        <a:rPr kumimoji="1" lang="en-US" altLang="ja-JP" sz="1400" b="0" i="0" kern="1200">
                          <a:solidFill>
                            <a:schemeClr val="tx1"/>
                          </a:solidFill>
                          <a:effectLst/>
                          <a:latin typeface="Meiryo UI" panose="020B0604030504040204" pitchFamily="50" charset="-128"/>
                          <a:ea typeface="Meiryo UI" panose="020B0604030504040204" pitchFamily="50" charset="-128"/>
                          <a:cs typeface="+mn-cs"/>
                        </a:rPr>
                        <a:t>Analysis of the impact of changes in the calibration data setting of OBD items from the base model and confirmation of validity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b="0" i="0" kern="1200">
                          <a:solidFill>
                            <a:schemeClr val="tx1"/>
                          </a:solidFill>
                          <a:effectLst/>
                          <a:latin typeface="Meiryo UI" panose="020B0604030504040204" pitchFamily="50" charset="-128"/>
                          <a:ea typeface="Meiryo UI" panose="020B0604030504040204" pitchFamily="50" charset="-128"/>
                          <a:cs typeface="+mn-cs"/>
                        </a:rPr>
                        <a:t>OBD</a:t>
                      </a:r>
                      <a:r>
                        <a:rPr kumimoji="1" lang="ja-JP" altLang="en-US" sz="1200" b="0" i="0" kern="1200">
                          <a:solidFill>
                            <a:schemeClr val="tx1"/>
                          </a:solidFill>
                          <a:effectLst/>
                          <a:latin typeface="Meiryo UI" panose="020B0604030504040204" pitchFamily="50" charset="-128"/>
                          <a:ea typeface="Meiryo UI" panose="020B0604030504040204" pitchFamily="50" charset="-128"/>
                          <a:cs typeface="+mn-cs"/>
                        </a:rPr>
                        <a:t> </a:t>
                      </a:r>
                      <a:r>
                        <a:rPr kumimoji="1" lang="en-US" altLang="ja-JP" sz="1200" b="0" i="0" kern="1200">
                          <a:solidFill>
                            <a:schemeClr val="tx1"/>
                          </a:solidFill>
                          <a:effectLst/>
                          <a:latin typeface="Meiryo UI" panose="020B0604030504040204" pitchFamily="50" charset="-128"/>
                          <a:ea typeface="Meiryo UI" panose="020B0604030504040204" pitchFamily="50" charset="-128"/>
                          <a:cs typeface="+mn-cs"/>
                        </a:rPr>
                        <a:t>Joint</a:t>
                      </a:r>
                      <a:r>
                        <a:rPr kumimoji="1" lang="ja-JP" altLang="en-US" sz="1200" b="0" i="0" kern="1200">
                          <a:solidFill>
                            <a:schemeClr val="tx1"/>
                          </a:solidFill>
                          <a:effectLst/>
                          <a:latin typeface="Meiryo UI" panose="020B0604030504040204" pitchFamily="50" charset="-128"/>
                          <a:ea typeface="Meiryo UI" panose="020B0604030504040204" pitchFamily="50" charset="-128"/>
                          <a:cs typeface="+mn-cs"/>
                        </a:rPr>
                        <a:t> </a:t>
                      </a:r>
                      <a:r>
                        <a:rPr kumimoji="1" lang="en-US" altLang="ja-JP" sz="1200" b="0" i="0" kern="1200">
                          <a:solidFill>
                            <a:schemeClr val="tx1"/>
                          </a:solidFill>
                          <a:effectLst/>
                          <a:latin typeface="Meiryo UI" panose="020B0604030504040204" pitchFamily="50" charset="-128"/>
                          <a:ea typeface="Meiryo UI" panose="020B0604030504040204" pitchFamily="50" charset="-128"/>
                          <a:cs typeface="+mn-cs"/>
                        </a:rPr>
                        <a:t>Review</a:t>
                      </a:r>
                    </a:p>
                    <a:p>
                      <a:r>
                        <a:rPr kumimoji="1" lang="en-US" altLang="ja-JP" sz="1200" b="0" i="0" kern="1200">
                          <a:solidFill>
                            <a:schemeClr val="tx1"/>
                          </a:solidFill>
                          <a:effectLst/>
                          <a:latin typeface="Meiryo UI" panose="020B0604030504040204" pitchFamily="50" charset="-128"/>
                          <a:ea typeface="Meiryo UI" panose="020B0604030504040204" pitchFamily="50" charset="-128"/>
                          <a:cs typeface="+mn-cs"/>
                        </a:rPr>
                        <a:t>Conduct reviews that include the upstream calibration team and extraction of risks associated with changes and confirmation of negative side impact</a:t>
                      </a:r>
                      <a:endParaRPr kumimoji="1" lang="en-US" altLang="ja-JP" sz="120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anose="020B0604030504040204" pitchFamily="50" charset="-128"/>
                          <a:ea typeface="Meiryo UI" panose="020B0604030504040204" pitchFamily="50" charset="-128"/>
                        </a:rPr>
                        <a:t>Expert</a:t>
                      </a:r>
                      <a:r>
                        <a:rPr kumimoji="1" lang="ja-JP" altLang="en-US" sz="120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meeting</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200">
                          <a:solidFill>
                            <a:schemeClr val="tx1"/>
                          </a:solidFill>
                          <a:latin typeface="Meiryo UI" panose="020B0604030504040204" pitchFamily="50" charset="-128"/>
                          <a:ea typeface="Meiryo UI" panose="020B0604030504040204" pitchFamily="50" charset="-128"/>
                        </a:rPr>
                        <a:t>T.B.D.</a:t>
                      </a:r>
                    </a:p>
                    <a:p>
                      <a:r>
                        <a:rPr kumimoji="1" lang="en-US" altLang="ja-JP" sz="1200">
                          <a:solidFill>
                            <a:schemeClr val="tx1"/>
                          </a:solidFill>
                          <a:latin typeface="Meiryo UI" panose="020B0604030504040204" pitchFamily="50" charset="-128"/>
                          <a:ea typeface="Meiryo UI" panose="020B0604030504040204" pitchFamily="50" charset="-128"/>
                        </a:rPr>
                        <a:t>*No Sample cause of New item.</a:t>
                      </a:r>
                      <a:endParaRPr kumimoji="1" lang="ja-JP" altLang="en-US" sz="120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402285668"/>
                  </a:ext>
                </a:extLst>
              </a:tr>
            </a:tbl>
          </a:graphicData>
        </a:graphic>
      </p:graphicFrame>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(14/31)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3853137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5496" y="587739"/>
            <a:ext cx="910850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ja-JP" altLang="en-US" sz="1600" b="1" u="sng">
                <a:solidFill>
                  <a:srgbClr val="000000"/>
                </a:solidFill>
                <a:latin typeface="Meiryo UI" panose="020B0604030504040204" pitchFamily="50" charset="-128"/>
                <a:ea typeface="Meiryo UI" panose="020B0604030504040204" pitchFamily="50" charset="-128"/>
                <a:cs typeface="Meiryo UI" pitchFamily="50" charset="-128"/>
              </a:rPr>
              <a:t>品質向上施策検証</a:t>
            </a:r>
            <a:endParaRPr lang="en-US" altLang="ja-JP" sz="1600" b="1">
              <a:solidFill>
                <a:srgbClr val="000000"/>
              </a:solidFill>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en-US" altLang="ja-JP" sz="1400">
                <a:latin typeface="Meiryo UI" panose="020B0604030504040204" pitchFamily="50" charset="-128"/>
                <a:ea typeface="Meiryo UI" panose="020B0604030504040204" pitchFamily="50" charset="-128"/>
                <a:cs typeface="Meiryo UI" pitchFamily="50" charset="-128"/>
              </a:rPr>
              <a:t>Honda </a:t>
            </a:r>
            <a:r>
              <a:rPr lang="ja-JP" altLang="en-US" sz="1400">
                <a:latin typeface="Meiryo UI" panose="020B0604030504040204" pitchFamily="50" charset="-128"/>
                <a:ea typeface="Meiryo UI" panose="020B0604030504040204" pitchFamily="50" charset="-128"/>
                <a:cs typeface="Meiryo UI" pitchFamily="50" charset="-128"/>
              </a:rPr>
              <a:t>品質向上施策に関して、検証を実施し、その結果を</a:t>
            </a:r>
            <a:r>
              <a:rPr lang="en-US" altLang="ja-JP" sz="1400">
                <a:latin typeface="Meiryo UI" panose="020B0604030504040204" pitchFamily="50" charset="-128"/>
                <a:ea typeface="Meiryo UI" panose="020B0604030504040204" pitchFamily="50" charset="-128"/>
                <a:cs typeface="Meiryo UI" pitchFamily="50" charset="-128"/>
              </a:rPr>
              <a:t>Honda</a:t>
            </a:r>
            <a:r>
              <a:rPr lang="ja-JP" altLang="en-US" sz="1400">
                <a:latin typeface="Meiryo UI" panose="020B0604030504040204" pitchFamily="50" charset="-128"/>
                <a:ea typeface="Meiryo UI" panose="020B0604030504040204" pitchFamily="50" charset="-128"/>
                <a:cs typeface="Meiryo UI" pitchFamily="50" charset="-128"/>
              </a:rPr>
              <a:t>に報告すること。</a:t>
            </a:r>
          </a:p>
          <a:p>
            <a:pPr marL="534988" lvl="1" indent="-285750" algn="l">
              <a:buFontTx/>
              <a:buChar char="-"/>
            </a:pPr>
            <a:r>
              <a:rPr lang="ja-JP" altLang="en-US" sz="1400">
                <a:latin typeface="Meiryo UI" panose="020B0604030504040204" pitchFamily="50" charset="-128"/>
                <a:ea typeface="Meiryo UI" panose="020B0604030504040204" pitchFamily="50" charset="-128"/>
                <a:cs typeface="Meiryo UI" pitchFamily="50" charset="-128"/>
              </a:rPr>
              <a:t>施策ごとに実施した内容とまとめについては、それぞれの報告タイミングにて報告されること。</a:t>
            </a:r>
            <a:endParaRPr lang="en-US" altLang="ja-JP" sz="1400">
              <a:latin typeface="Meiryo UI" panose="020B0604030504040204" pitchFamily="50" charset="-128"/>
              <a:ea typeface="Meiryo UI" panose="020B0604030504040204" pitchFamily="50" charset="-128"/>
              <a:cs typeface="Meiryo UI" pitchFamily="50" charset="-128"/>
            </a:endParaRPr>
          </a:p>
          <a:p>
            <a:pPr marL="534988" lvl="1" indent="-285750" algn="l">
              <a:buFontTx/>
              <a:buChar char="-"/>
            </a:pPr>
            <a:r>
              <a:rPr lang="ja-JP" altLang="en-US" sz="1400">
                <a:latin typeface="Meiryo UI" panose="020B0604030504040204" pitchFamily="50" charset="-128"/>
                <a:ea typeface="Meiryo UI" panose="020B0604030504040204" pitchFamily="50" charset="-128"/>
                <a:cs typeface="Meiryo UI" pitchFamily="50" charset="-128"/>
              </a:rPr>
              <a:t>全ての施策については、マスク</a:t>
            </a:r>
            <a:r>
              <a:rPr lang="en-US" altLang="ja-JP" sz="1400">
                <a:latin typeface="Meiryo UI" panose="020B0604030504040204" pitchFamily="50" charset="-128"/>
                <a:ea typeface="Meiryo UI" panose="020B0604030504040204" pitchFamily="50" charset="-128"/>
                <a:cs typeface="Meiryo UI" pitchFamily="50" charset="-128"/>
              </a:rPr>
              <a:t>HEX</a:t>
            </a:r>
            <a:r>
              <a:rPr lang="ja-JP" altLang="en-US" sz="1400">
                <a:latin typeface="Meiryo UI" panose="020B0604030504040204" pitchFamily="50" charset="-128"/>
                <a:ea typeface="Meiryo UI" panose="020B0604030504040204" pitchFamily="50" charset="-128"/>
                <a:cs typeface="Meiryo UI" pitchFamily="50" charset="-128"/>
              </a:rPr>
              <a:t>発行前に完了させること。</a:t>
            </a:r>
            <a:endParaRPr lang="en-US" altLang="ja-JP" sz="1400">
              <a:latin typeface="Meiryo UI" panose="020B0604030504040204" pitchFamily="50" charset="-128"/>
              <a:ea typeface="Meiryo UI" panose="020B0604030504040204" pitchFamily="50" charset="-128"/>
              <a:cs typeface="Meiryo UI" pitchFamily="50" charset="-128"/>
            </a:endParaRPr>
          </a:p>
        </p:txBody>
      </p:sp>
      <p:graphicFrame>
        <p:nvGraphicFramePr>
          <p:cNvPr id="2" name="表 1"/>
          <p:cNvGraphicFramePr>
            <a:graphicFrameLocks noGrp="1"/>
          </p:cNvGraphicFramePr>
          <p:nvPr>
            <p:extLst>
              <p:ext uri="{D42A27DB-BD31-4B8C-83A1-F6EECF244321}">
                <p14:modId xmlns:p14="http://schemas.microsoft.com/office/powerpoint/2010/main" val="4273499954"/>
              </p:ext>
            </p:extLst>
          </p:nvPr>
        </p:nvGraphicFramePr>
        <p:xfrm>
          <a:off x="191890" y="1552471"/>
          <a:ext cx="8851708" cy="2072640"/>
        </p:xfrm>
        <a:graphic>
          <a:graphicData uri="http://schemas.openxmlformats.org/drawingml/2006/table">
            <a:tbl>
              <a:tblPr firstRow="1" bandRow="1">
                <a:tableStyleId>{5940675A-B579-460E-94D1-54222C63F5DA}</a:tableStyleId>
              </a:tblPr>
              <a:tblGrid>
                <a:gridCol w="2138190">
                  <a:extLst>
                    <a:ext uri="{9D8B030D-6E8A-4147-A177-3AD203B41FA5}">
                      <a16:colId xmlns:a16="http://schemas.microsoft.com/office/drawing/2014/main" val="208362973"/>
                    </a:ext>
                  </a:extLst>
                </a:gridCol>
                <a:gridCol w="3021849">
                  <a:extLst>
                    <a:ext uri="{9D8B030D-6E8A-4147-A177-3AD203B41FA5}">
                      <a16:colId xmlns:a16="http://schemas.microsoft.com/office/drawing/2014/main" val="2304362547"/>
                    </a:ext>
                  </a:extLst>
                </a:gridCol>
                <a:gridCol w="1751975">
                  <a:extLst>
                    <a:ext uri="{9D8B030D-6E8A-4147-A177-3AD203B41FA5}">
                      <a16:colId xmlns:a16="http://schemas.microsoft.com/office/drawing/2014/main" val="669591786"/>
                    </a:ext>
                  </a:extLst>
                </a:gridCol>
                <a:gridCol w="1939694">
                  <a:extLst>
                    <a:ext uri="{9D8B030D-6E8A-4147-A177-3AD203B41FA5}">
                      <a16:colId xmlns:a16="http://schemas.microsoft.com/office/drawing/2014/main" val="3394803527"/>
                    </a:ext>
                  </a:extLst>
                </a:gridCol>
              </a:tblGrid>
              <a:tr h="296862">
                <a:tc>
                  <a:txBody>
                    <a:bodyPr/>
                    <a:lstStyle/>
                    <a:p>
                      <a:r>
                        <a:rPr kumimoji="1" lang="ja-JP" altLang="en-US" sz="1400">
                          <a:solidFill>
                            <a:schemeClr val="tx1"/>
                          </a:solidFill>
                          <a:latin typeface="Meiryo UI" panose="020B0604030504040204" pitchFamily="50" charset="-128"/>
                          <a:ea typeface="Meiryo UI" panose="020B0604030504040204" pitchFamily="50" charset="-128"/>
                        </a:rPr>
                        <a:t>施策の目的</a:t>
                      </a:r>
                    </a:p>
                  </a:txBody>
                  <a:tcPr/>
                </a:tc>
                <a:tc>
                  <a:txBody>
                    <a:bodyPr/>
                    <a:lstStyle/>
                    <a:p>
                      <a:r>
                        <a:rPr kumimoji="1" lang="ja-JP" altLang="en-US" sz="1400">
                          <a:solidFill>
                            <a:schemeClr val="tx1"/>
                          </a:solidFill>
                          <a:latin typeface="Meiryo UI" panose="020B0604030504040204" pitchFamily="50" charset="-128"/>
                          <a:ea typeface="Meiryo UI" panose="020B0604030504040204" pitchFamily="50" charset="-128"/>
                        </a:rPr>
                        <a:t>再発防止ツール</a:t>
                      </a:r>
                    </a:p>
                  </a:txBody>
                  <a:tcPr/>
                </a:tc>
                <a:tc>
                  <a:txBody>
                    <a:bodyPr/>
                    <a:lstStyle/>
                    <a:p>
                      <a:r>
                        <a:rPr kumimoji="1" lang="ja-JP" altLang="en-US" sz="1400">
                          <a:solidFill>
                            <a:schemeClr val="tx1"/>
                          </a:solidFill>
                          <a:latin typeface="Meiryo UI" panose="020B0604030504040204" pitchFamily="50" charset="-128"/>
                          <a:ea typeface="Meiryo UI" panose="020B0604030504040204" pitchFamily="50" charset="-128"/>
                        </a:rPr>
                        <a:t>報告タイミング</a:t>
                      </a:r>
                    </a:p>
                  </a:txBody>
                  <a:tcPr/>
                </a:tc>
                <a:tc>
                  <a:txBody>
                    <a:bodyPr/>
                    <a:lstStyle/>
                    <a:p>
                      <a:r>
                        <a:rPr kumimoji="1" lang="ja-JP" altLang="en-US" sz="1400">
                          <a:solidFill>
                            <a:schemeClr val="tx1"/>
                          </a:solidFill>
                          <a:latin typeface="Meiryo UI" panose="020B0604030504040204" pitchFamily="50" charset="-128"/>
                          <a:ea typeface="Meiryo UI" panose="020B0604030504040204" pitchFamily="50" charset="-128"/>
                        </a:rPr>
                        <a:t>報告資料（例）</a:t>
                      </a:r>
                    </a:p>
                  </a:txBody>
                  <a:tcPr/>
                </a:tc>
                <a:extLst>
                  <a:ext uri="{0D108BD9-81ED-4DB2-BD59-A6C34878D82A}">
                    <a16:rowId xmlns:a16="http://schemas.microsoft.com/office/drawing/2014/main" val="1843441020"/>
                  </a:ext>
                </a:extLst>
              </a:tr>
              <a:tr h="2968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a:solidFill>
                            <a:schemeClr val="tx1"/>
                          </a:solidFill>
                          <a:latin typeface="Meiryo UI" panose="020B0604030504040204" pitchFamily="50" charset="-128"/>
                          <a:ea typeface="Meiryo UI" panose="020B0604030504040204" pitchFamily="50" charset="-128"/>
                        </a:rPr>
                        <a:t>学習機能設定指針反映確認</a:t>
                      </a:r>
                      <a:endParaRPr lang="en-US" altLang="ja-JP" sz="14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eiryo UI" panose="020B0604030504040204" pitchFamily="50" charset="-128"/>
                          <a:ea typeface="Meiryo UI" panose="020B0604030504040204" pitchFamily="50" charset="-128"/>
                        </a:rPr>
                        <a:t>設定指針反映完了宣言書</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Expert</a:t>
                      </a:r>
                      <a:r>
                        <a:rPr kumimoji="1" lang="ja-JP" altLang="en-US" sz="140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meeting</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baseline="0">
                          <a:solidFill>
                            <a:schemeClr val="tx1"/>
                          </a:solidFill>
                          <a:latin typeface="Meiryo UI" panose="020B0604030504040204" pitchFamily="50" charset="-128"/>
                          <a:ea typeface="Meiryo UI" panose="020B0604030504040204" pitchFamily="50" charset="-128"/>
                        </a:rPr>
                        <a:t>参照：“</a:t>
                      </a:r>
                      <a:r>
                        <a:rPr kumimoji="1" lang="en-US" altLang="ja-JP" sz="1200" baseline="0">
                          <a:solidFill>
                            <a:schemeClr val="tx1"/>
                          </a:solidFill>
                          <a:latin typeface="Meiryo UI" panose="020B0604030504040204" pitchFamily="50" charset="-128"/>
                          <a:ea typeface="Meiryo UI" panose="020B0604030504040204" pitchFamily="50" charset="-128"/>
                        </a:rPr>
                        <a:t>Completion Declaration of Setting Concept reflection_sample</a:t>
                      </a:r>
                      <a:r>
                        <a:rPr kumimoji="1" lang="ja-JP" altLang="en-US" sz="1200" baseline="0">
                          <a:solidFill>
                            <a:schemeClr val="tx1"/>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2005168775"/>
                  </a:ext>
                </a:extLst>
              </a:tr>
              <a:tr h="296862">
                <a:tc>
                  <a:txBody>
                    <a:bodyPr/>
                    <a:lstStyle/>
                    <a:p>
                      <a:r>
                        <a:rPr kumimoji="1" lang="ja-JP" altLang="en-US" sz="1400">
                          <a:solidFill>
                            <a:schemeClr val="tx1"/>
                          </a:solidFill>
                          <a:latin typeface="Meiryo UI" panose="020B0604030504040204" pitchFamily="50" charset="-128"/>
                          <a:ea typeface="Meiryo UI" panose="020B0604030504040204" pitchFamily="50" charset="-128"/>
                        </a:rPr>
                        <a:t>ベース機種からの</a:t>
                      </a:r>
                      <a:r>
                        <a:rPr kumimoji="1" lang="en-US" altLang="ja-JP" sz="1400">
                          <a:solidFill>
                            <a:schemeClr val="tx1"/>
                          </a:solidFill>
                          <a:latin typeface="Meiryo UI" panose="020B0604030504040204" pitchFamily="50" charset="-128"/>
                          <a:ea typeface="Meiryo UI" panose="020B0604030504040204" pitchFamily="50" charset="-128"/>
                        </a:rPr>
                        <a:t>OBD</a:t>
                      </a:r>
                      <a:r>
                        <a:rPr kumimoji="1" lang="ja-JP" altLang="en-US" sz="1400">
                          <a:solidFill>
                            <a:schemeClr val="tx1"/>
                          </a:solidFill>
                          <a:latin typeface="Meiryo UI" panose="020B0604030504040204" pitchFamily="50" charset="-128"/>
                          <a:ea typeface="Meiryo UI" panose="020B0604030504040204" pitchFamily="50" charset="-128"/>
                        </a:rPr>
                        <a:t>項目の適合値変更に対する</a:t>
                      </a:r>
                      <a:endParaRPr kumimoji="1" lang="en-US" altLang="ja-JP" sz="1400">
                        <a:solidFill>
                          <a:schemeClr val="tx1"/>
                        </a:solidFill>
                        <a:latin typeface="Meiryo UI" panose="020B0604030504040204" pitchFamily="50" charset="-128"/>
                        <a:ea typeface="Meiryo UI" panose="020B0604030504040204" pitchFamily="50" charset="-128"/>
                      </a:endParaRPr>
                    </a:p>
                    <a:p>
                      <a:r>
                        <a:rPr kumimoji="1" lang="ja-JP" altLang="en-US" sz="1400">
                          <a:solidFill>
                            <a:schemeClr val="tx1"/>
                          </a:solidFill>
                          <a:latin typeface="Meiryo UI" panose="020B0604030504040204" pitchFamily="50" charset="-128"/>
                          <a:ea typeface="Meiryo UI" panose="020B0604030504040204" pitchFamily="50" charset="-128"/>
                        </a:rPr>
                        <a:t>影響分析と妥当性の確認</a:t>
                      </a:r>
                      <a:endParaRPr kumimoji="1" lang="en-US" altLang="ja-JP" sz="140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400">
                          <a:solidFill>
                            <a:schemeClr val="tx1"/>
                          </a:solidFill>
                          <a:latin typeface="Meiryo UI" panose="020B0604030504040204" pitchFamily="50" charset="-128"/>
                          <a:ea typeface="Meiryo UI" panose="020B0604030504040204" pitchFamily="50" charset="-128"/>
                        </a:rPr>
                        <a:t>OBD</a:t>
                      </a:r>
                      <a:r>
                        <a:rPr kumimoji="1" lang="ja-JP" altLang="en-US" sz="140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Joint</a:t>
                      </a:r>
                      <a:r>
                        <a:rPr kumimoji="1" lang="ja-JP" altLang="en-US" sz="1400">
                          <a:solidFill>
                            <a:schemeClr val="tx1"/>
                          </a:solidFill>
                          <a:latin typeface="Meiryo UI" panose="020B0604030504040204" pitchFamily="50" charset="-128"/>
                          <a:ea typeface="Meiryo UI" panose="020B0604030504040204" pitchFamily="50" charset="-128"/>
                        </a:rPr>
                        <a:t> レヴュー</a:t>
                      </a:r>
                      <a:endParaRPr kumimoji="1" lang="en-US" altLang="ja-JP" sz="1400">
                        <a:solidFill>
                          <a:schemeClr val="tx1"/>
                        </a:solidFill>
                        <a:latin typeface="Meiryo UI" panose="020B0604030504040204" pitchFamily="50" charset="-128"/>
                        <a:ea typeface="Meiryo UI" panose="020B0604030504040204" pitchFamily="50" charset="-128"/>
                      </a:endParaRPr>
                    </a:p>
                    <a:p>
                      <a:r>
                        <a:rPr kumimoji="1" lang="ja-JP" altLang="en-US" sz="1400">
                          <a:solidFill>
                            <a:schemeClr val="tx1"/>
                          </a:solidFill>
                          <a:latin typeface="Meiryo UI" panose="020B0604030504040204" pitchFamily="50" charset="-128"/>
                          <a:ea typeface="Meiryo UI" panose="020B0604030504040204" pitchFamily="50" charset="-128"/>
                        </a:rPr>
                        <a:t>上流適合チームも含めたレビューの実施</a:t>
                      </a:r>
                      <a:endParaRPr kumimoji="1" lang="en-US" altLang="ja-JP" sz="1400">
                        <a:solidFill>
                          <a:schemeClr val="tx1"/>
                        </a:solidFill>
                        <a:latin typeface="Meiryo UI" panose="020B0604030504040204" pitchFamily="50" charset="-128"/>
                        <a:ea typeface="Meiryo UI" panose="020B0604030504040204" pitchFamily="50" charset="-128"/>
                      </a:endParaRPr>
                    </a:p>
                    <a:p>
                      <a:r>
                        <a:rPr kumimoji="1" lang="ja-JP" altLang="en-US" sz="1400">
                          <a:solidFill>
                            <a:schemeClr val="tx1"/>
                          </a:solidFill>
                          <a:latin typeface="Meiryo UI" panose="020B0604030504040204" pitchFamily="50" charset="-128"/>
                          <a:ea typeface="Meiryo UI" panose="020B0604030504040204" pitchFamily="50" charset="-128"/>
                        </a:rPr>
                        <a:t>と変更に伴うリスクの抽出とネガ確認</a:t>
                      </a:r>
                      <a:endParaRPr kumimoji="1" lang="en-US" altLang="ja-JP" sz="140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rPr>
                        <a:t>Expert</a:t>
                      </a:r>
                      <a:r>
                        <a:rPr kumimoji="1" lang="ja-JP" altLang="en-US" sz="1400">
                          <a:solidFill>
                            <a:schemeClr val="tx1"/>
                          </a:solidFill>
                          <a:latin typeface="Meiryo UI" panose="020B0604030504040204" pitchFamily="50" charset="-128"/>
                          <a:ea typeface="Meiryo UI" panose="020B0604030504040204" pitchFamily="50" charset="-128"/>
                        </a:rPr>
                        <a:t> </a:t>
                      </a:r>
                      <a:r>
                        <a:rPr kumimoji="1" lang="en-US" altLang="ja-JP" sz="1400">
                          <a:solidFill>
                            <a:schemeClr val="tx1"/>
                          </a:solidFill>
                          <a:latin typeface="Meiryo UI" panose="020B0604030504040204" pitchFamily="50" charset="-128"/>
                          <a:ea typeface="Meiryo UI" panose="020B0604030504040204" pitchFamily="50" charset="-128"/>
                        </a:rPr>
                        <a:t>meeting</a:t>
                      </a:r>
                      <a:endParaRPr kumimoji="1" lang="ja-JP" altLang="en-US" sz="140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en-US" altLang="ja-JP" sz="1400">
                          <a:solidFill>
                            <a:schemeClr val="tx1"/>
                          </a:solidFill>
                          <a:latin typeface="Meiryo UI" panose="020B0604030504040204" pitchFamily="50" charset="-128"/>
                          <a:ea typeface="Meiryo UI" panose="020B0604030504040204" pitchFamily="50" charset="-128"/>
                        </a:rPr>
                        <a:t>T.B.D.</a:t>
                      </a:r>
                    </a:p>
                    <a:p>
                      <a:r>
                        <a:rPr kumimoji="1" lang="ja-JP" altLang="en-US" sz="1400">
                          <a:solidFill>
                            <a:schemeClr val="tx1"/>
                          </a:solidFill>
                          <a:latin typeface="Meiryo UI" panose="020B0604030504040204" pitchFamily="50" charset="-128"/>
                          <a:ea typeface="Meiryo UI" panose="020B0604030504040204" pitchFamily="50" charset="-128"/>
                        </a:rPr>
                        <a:t>＊新アイテムの為、例題無し</a:t>
                      </a:r>
                    </a:p>
                  </a:txBody>
                  <a:tcPr/>
                </a:tc>
                <a:extLst>
                  <a:ext uri="{0D108BD9-81ED-4DB2-BD59-A6C34878D82A}">
                    <a16:rowId xmlns:a16="http://schemas.microsoft.com/office/drawing/2014/main" val="172324034"/>
                  </a:ext>
                </a:extLst>
              </a:tr>
            </a:tbl>
          </a:graphicData>
        </a:graphic>
      </p:graphicFrame>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(15/31)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4958900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テキスト ボックス 5"/>
          <p:cNvSpPr txBox="1"/>
          <p:nvPr/>
        </p:nvSpPr>
        <p:spPr>
          <a:xfrm>
            <a:off x="159389" y="666933"/>
            <a:ext cx="8803858" cy="3054682"/>
          </a:xfrm>
          <a:prstGeom prst="rect">
            <a:avLst/>
          </a:prstGeom>
          <a:noFill/>
        </p:spPr>
        <p:txBody>
          <a:bodyPr wrap="square" rtlCol="0">
            <a:spAutoFit/>
          </a:bodyPr>
          <a:lstStyle/>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6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Emission Equivalence Report</a:t>
            </a:r>
            <a:r>
              <a:rPr kumimoji="1" lang="en-US" altLang="ja-JP" sz="1600" b="0"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request to issue the “emission equivalence report” if MP2 or later HEX is issued after MP1</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HEX released, which in order to secure the emission equivalence of previous and current HEX.</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If there are many market variant, most critical variant would be sufficient, can be discussed with Honda.</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These items must be included. (minimum items)</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1. Emission result of previous MP-HEX and current MP-HEX</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2. Comparison time</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chart of current and previous model emission,</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CO, THC, NOx, PN, CO2 chart. If there is difference,</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please add analysis</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3. Conclusion, </a:t>
            </a:r>
          </a:p>
          <a:p>
            <a:pPr marL="0" marR="0" lvl="0" indent="0" algn="l" defTabSz="914400" rtl="0" eaLnBrk="1" fontAlgn="base" latinLnBrk="0" hangingPunct="1">
              <a:lnSpc>
                <a:spcPct val="100000"/>
              </a:lnSpc>
              <a:spcBef>
                <a:spcPts val="300"/>
              </a:spcBef>
              <a:spcAft>
                <a:spcPct val="0"/>
              </a:spcAft>
              <a:buClrTx/>
              <a:buSzTx/>
              <a:buFontTx/>
              <a:buNone/>
              <a:tabLst/>
              <a:defRPr/>
            </a:pP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Emission, fuel consumption equivalence can be discussed by</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and Honda</a:t>
            </a:r>
          </a:p>
        </p:txBody>
      </p:sp>
      <p:sp>
        <p:nvSpPr>
          <p:cNvPr id="9" name="テキスト ボックス 8"/>
          <p:cNvSpPr txBox="1"/>
          <p:nvPr/>
        </p:nvSpPr>
        <p:spPr>
          <a:xfrm>
            <a:off x="159388" y="3791547"/>
            <a:ext cx="8803858" cy="2877711"/>
          </a:xfrm>
          <a:prstGeom prst="rect">
            <a:avLst/>
          </a:prstGeom>
          <a:noFill/>
        </p:spPr>
        <p:txBody>
          <a:bodyPr wrap="square" rtlCol="0">
            <a:spAutoFit/>
          </a:bodyPr>
          <a:lstStyle/>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6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エミッション同等証明レポート</a:t>
            </a:r>
            <a:endParaRPr kumimoji="1" lang="en-US" altLang="ja-JP" sz="1600" b="0"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MP1</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HEX</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リリース後、</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MP2</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以降の</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HEX</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を発行する場合、旧</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MP-HEX</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と新</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MP-HEX</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のエミッション同等性を保証するために</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エミッション同等証明レポート</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を要求する。</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仕向けがいくつかある場合、最も厳しい条件での検証結果について</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と議論する</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最低限、下記の項目を入れること</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1.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旧</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MP-HEX</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と新</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MP-HEX</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との</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EM</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結果</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2. EM</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排出の比較（チャートグラフでの比較）</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CO, THC, NOx, PN, CO2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チャート、その他 違いのある項目 解析をつけること</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3.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結論</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p>
          <a:p>
            <a:pPr marL="0" marR="0" lvl="0" indent="0" algn="l" defTabSz="914400" rtl="0" eaLnBrk="1" fontAlgn="base" latinLnBrk="0" hangingPunct="1">
              <a:lnSpc>
                <a:spcPct val="100000"/>
              </a:lnSpc>
              <a:spcBef>
                <a:spcPts val="300"/>
              </a:spcBef>
              <a:spcAft>
                <a:spcPct val="0"/>
              </a:spcAft>
              <a:buClrTx/>
              <a:buSzTx/>
              <a:buFontTx/>
              <a:buNone/>
              <a:tabLst/>
              <a:defRPr/>
            </a:pP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EM</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、燃費同等については </a:t>
            </a:r>
            <a:r>
              <a:rPr kumimoji="1" lang="en-US" altLang="ja-JP"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 </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と</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で議論する</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8" name="Text Box 2"/>
          <p:cNvSpPr txBox="1">
            <a:spLocks noChangeArrowheads="1"/>
          </p:cNvSpPr>
          <p:nvPr/>
        </p:nvSpPr>
        <p:spPr bwMode="auto">
          <a:xfrm>
            <a:off x="250831"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17. </a:t>
            </a:r>
            <a:r>
              <a:rPr lang="en-US" altLang="ja-JP" sz="1800">
                <a:solidFill>
                  <a:srgbClr val="FFFFFF"/>
                </a:solidFill>
                <a:latin typeface="Meiryo UI" panose="020B0604030504040204" pitchFamily="50" charset="-128"/>
                <a:ea typeface="Meiryo UI" panose="020B0604030504040204" pitchFamily="50" charset="-128"/>
                <a:cs typeface="Arial" pitchFamily="34" charset="0"/>
              </a:rPr>
              <a:t>EMS Report Maturity and Quality Verification </a:t>
            </a:r>
            <a:r>
              <a:rPr kumimoji="1" lang="en-US" altLang="ja-JP" sz="18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(16/31)</a:t>
            </a:r>
            <a:endParaRPr kumimoji="1" lang="en-US" altLang="ja-JP" sz="105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06151357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テキスト ボックス 5"/>
          <p:cNvSpPr txBox="1"/>
          <p:nvPr/>
        </p:nvSpPr>
        <p:spPr>
          <a:xfrm>
            <a:off x="146326" y="524870"/>
            <a:ext cx="8749480" cy="838691"/>
          </a:xfrm>
          <a:prstGeom prst="rect">
            <a:avLst/>
          </a:prstGeom>
          <a:noFill/>
        </p:spPr>
        <p:txBody>
          <a:bodyPr wrap="square" rtlCol="0">
            <a:spAutoFit/>
          </a:bodyPr>
          <a:lstStyle/>
          <a:p>
            <a:pPr lvl="0" algn="l">
              <a:spcBef>
                <a:spcPts val="300"/>
              </a:spcBef>
              <a:defRPr/>
            </a:pPr>
            <a:r>
              <a:rPr lang="en-US" altLang="ja-JP" sz="1600" b="1" u="sng">
                <a:solidFill>
                  <a:srgbClr val="000000"/>
                </a:solidFill>
                <a:latin typeface="Meiryo UI" panose="020B0604030504040204" pitchFamily="50" charset="-128"/>
                <a:ea typeface="Meiryo UI" panose="020B0604030504040204" pitchFamily="50" charset="-128"/>
              </a:rPr>
              <a:t>Calibration Data Review Report</a:t>
            </a:r>
            <a:endParaRPr lang="en-US" altLang="ja-JP" sz="1600" baseline="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Non requirement calibration report to be issued with </a:t>
            </a:r>
            <a:r>
              <a:rPr lang="en-US" altLang="ja-JP" sz="1400" err="1">
                <a:solidFill>
                  <a:srgbClr val="000000"/>
                </a:solidFill>
                <a:latin typeface="Meiryo UI" panose="020B0604030504040204" pitchFamily="50" charset="-128"/>
                <a:ea typeface="Meiryo UI" panose="020B0604030504040204" pitchFamily="50" charset="-128"/>
              </a:rPr>
              <a:t>cal</a:t>
            </a:r>
            <a:r>
              <a:rPr lang="en-US" altLang="ja-JP" sz="1400">
                <a:solidFill>
                  <a:srgbClr val="000000"/>
                </a:solidFill>
                <a:latin typeface="Meiryo UI" panose="020B0604030504040204" pitchFamily="50" charset="-128"/>
                <a:ea typeface="Meiryo UI" panose="020B0604030504040204" pitchFamily="50" charset="-128"/>
              </a:rPr>
              <a:t> leader signature at expert meeting to show all calibration was validated and approved by calibration expert of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a:t>
            </a:r>
            <a:endParaRPr lang="en-US" altLang="ja-JP" sz="1400" baseline="0">
              <a:solidFill>
                <a:srgbClr val="000000"/>
              </a:solidFill>
              <a:latin typeface="Meiryo UI" panose="020B0604030504040204" pitchFamily="50" charset="-128"/>
              <a:ea typeface="Meiryo UI" panose="020B0604030504040204" pitchFamily="50" charset="-128"/>
            </a:endParaRPr>
          </a:p>
        </p:txBody>
      </p:sp>
      <p:sp>
        <p:nvSpPr>
          <p:cNvPr id="8" name="テキスト ボックス 7"/>
          <p:cNvSpPr txBox="1"/>
          <p:nvPr/>
        </p:nvSpPr>
        <p:spPr>
          <a:xfrm>
            <a:off x="146326" y="1446873"/>
            <a:ext cx="8749480" cy="877163"/>
          </a:xfrm>
          <a:prstGeom prst="rect">
            <a:avLst/>
          </a:prstGeom>
          <a:noFill/>
        </p:spPr>
        <p:txBody>
          <a:bodyPr wrap="square" rtlCol="0">
            <a:spAutoFit/>
          </a:bodyPr>
          <a:lstStyle/>
          <a:p>
            <a:pPr lvl="0" algn="l">
              <a:spcBef>
                <a:spcPts val="300"/>
              </a:spcBef>
              <a:defRPr/>
            </a:pPr>
            <a:r>
              <a:rPr lang="ja-JP" altLang="en-US" sz="1600" b="1" u="sng">
                <a:solidFill>
                  <a:srgbClr val="000000"/>
                </a:solidFill>
                <a:latin typeface="Meiryo UI" panose="020B0604030504040204" pitchFamily="50" charset="-128"/>
                <a:ea typeface="Meiryo UI" panose="020B0604030504040204" pitchFamily="50" charset="-128"/>
              </a:rPr>
              <a:t>適合データ検証レポート</a:t>
            </a:r>
            <a:endParaRPr lang="en-US" altLang="ja-JP" sz="1600" baseline="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anose="020B0604030504040204" pitchFamily="50" charset="-128"/>
                <a:ea typeface="Meiryo UI" panose="020B0604030504040204" pitchFamily="50" charset="-128"/>
              </a:rPr>
              <a:t>の適合エキスパートにより実証されて承認されてから、エキスパートミーティングで提示された</a:t>
            </a:r>
            <a:endParaRPr lang="en-US" altLang="ja-JP" sz="140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ja-JP" altLang="en-US" sz="1400">
                <a:solidFill>
                  <a:srgbClr val="000000"/>
                </a:solidFill>
                <a:latin typeface="Meiryo UI" panose="020B0604030504040204" pitchFamily="50" charset="-128"/>
                <a:ea typeface="Meiryo UI" panose="020B0604030504040204" pitchFamily="50" charset="-128"/>
              </a:rPr>
              <a:t>「</a:t>
            </a:r>
            <a:r>
              <a:rPr lang="en-US" altLang="ja-JP" sz="1400">
                <a:solidFill>
                  <a:srgbClr val="000000"/>
                </a:solidFill>
                <a:latin typeface="Meiryo UI" panose="020B0604030504040204" pitchFamily="50" charset="-128"/>
                <a:ea typeface="Meiryo UI" panose="020B0604030504040204" pitchFamily="50" charset="-128"/>
              </a:rPr>
              <a:t>Non</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requirement</a:t>
            </a:r>
            <a:r>
              <a:rPr lang="ja-JP" altLang="en-US" sz="1400">
                <a:solidFill>
                  <a:srgbClr val="000000"/>
                </a:solidFill>
                <a:latin typeface="Meiryo UI" panose="020B0604030504040204" pitchFamily="50" charset="-128"/>
                <a:ea typeface="Meiryo UI" panose="020B0604030504040204" pitchFamily="50" charset="-128"/>
              </a:rPr>
              <a:t> 適合レポート」は適合リーダーのサイン入りで発行されること。</a:t>
            </a:r>
            <a:endParaRPr lang="en-US" altLang="ja-JP" sz="1400">
              <a:solidFill>
                <a:srgbClr val="000000"/>
              </a:solidFill>
              <a:latin typeface="Meiryo UI" panose="020B0604030504040204" pitchFamily="50" charset="-128"/>
              <a:ea typeface="Meiryo UI" panose="020B0604030504040204" pitchFamily="50" charset="-128"/>
            </a:endParaRPr>
          </a:p>
        </p:txBody>
      </p:sp>
      <p:sp>
        <p:nvSpPr>
          <p:cNvPr id="13"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(17/31)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11" name="Rectangle 13"/>
          <p:cNvSpPr>
            <a:spLocks noChangeArrowheads="1"/>
          </p:cNvSpPr>
          <p:nvPr/>
        </p:nvSpPr>
        <p:spPr bwMode="auto">
          <a:xfrm>
            <a:off x="34930" y="2963930"/>
            <a:ext cx="910907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Calibration schedule and status report</a:t>
            </a:r>
          </a:p>
          <a:p>
            <a:pPr lvl="0" algn="l">
              <a:spcBef>
                <a:spcPts val="300"/>
              </a:spcBef>
              <a:defRPr/>
            </a:pPr>
            <a:r>
              <a:rPr lang="ja-JP" altLang="en-US" sz="16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a:t>
            </a:r>
            <a:r>
              <a:rPr lang="en-US" altLang="ja-JP" sz="1400" err="1">
                <a:solidFill>
                  <a:srgbClr val="000000"/>
                </a:solidFill>
                <a:latin typeface="Meiryo UI" panose="020B0604030504040204" pitchFamily="50" charset="-128"/>
                <a:ea typeface="Meiryo UI" panose="020B0604030504040204" pitchFamily="50" charset="-128"/>
              </a:rPr>
              <a:t>PjM</a:t>
            </a:r>
            <a:r>
              <a:rPr lang="en-US" altLang="ja-JP" sz="1400">
                <a:solidFill>
                  <a:srgbClr val="000000"/>
                </a:solidFill>
                <a:latin typeface="Meiryo UI" panose="020B0604030504040204" pitchFamily="50" charset="-128"/>
                <a:ea typeface="Meiryo UI" panose="020B0604030504040204" pitchFamily="50" charset="-128"/>
              </a:rPr>
              <a:t> is responsible for calibration schedule.</a:t>
            </a: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 First schedule must be released before </a:t>
            </a:r>
            <a:r>
              <a:rPr lang="en-US" altLang="ja-JP" sz="1400" err="1">
                <a:solidFill>
                  <a:srgbClr val="000000"/>
                </a:solidFill>
                <a:latin typeface="Meiryo UI" panose="020B0604030504040204" pitchFamily="50" charset="-128"/>
                <a:ea typeface="Meiryo UI" panose="020B0604030504040204" pitchFamily="50" charset="-128"/>
              </a:rPr>
              <a:t>cal</a:t>
            </a:r>
            <a:r>
              <a:rPr lang="en-US" altLang="ja-JP" sz="1400">
                <a:solidFill>
                  <a:srgbClr val="000000"/>
                </a:solidFill>
                <a:latin typeface="Meiryo UI" panose="020B0604030504040204" pitchFamily="50" charset="-128"/>
                <a:ea typeface="Meiryo UI" panose="020B0604030504040204" pitchFamily="50" charset="-128"/>
              </a:rPr>
              <a:t> activity starts.</a:t>
            </a: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 It shall be updated continuously, and if it is updated, </a:t>
            </a:r>
            <a:r>
              <a:rPr lang="en-US" altLang="ja-JP" sz="1400" err="1">
                <a:solidFill>
                  <a:srgbClr val="000000"/>
                </a:solidFill>
                <a:latin typeface="Meiryo UI" panose="020B0604030504040204" pitchFamily="50" charset="-128"/>
                <a:ea typeface="Meiryo UI" panose="020B0604030504040204" pitchFamily="50" charset="-128"/>
              </a:rPr>
              <a:t>PjM</a:t>
            </a:r>
            <a:r>
              <a:rPr lang="en-US" altLang="ja-JP" sz="1400">
                <a:solidFill>
                  <a:srgbClr val="000000"/>
                </a:solidFill>
                <a:latin typeface="Meiryo UI" panose="020B0604030504040204" pitchFamily="50" charset="-128"/>
                <a:ea typeface="Meiryo UI" panose="020B0604030504040204" pitchFamily="50" charset="-128"/>
              </a:rPr>
              <a:t> shall inform to Honda.</a:t>
            </a:r>
          </a:p>
          <a:p>
            <a:pPr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Status report must be issued within 2weeks after calibration working package finished. Report content must be same as MP* expert meeting report.</a:t>
            </a:r>
          </a:p>
        </p:txBody>
      </p:sp>
      <p:sp>
        <p:nvSpPr>
          <p:cNvPr id="12" name="Rectangle 13"/>
          <p:cNvSpPr>
            <a:spLocks noChangeArrowheads="1"/>
          </p:cNvSpPr>
          <p:nvPr/>
        </p:nvSpPr>
        <p:spPr bwMode="auto">
          <a:xfrm>
            <a:off x="34925" y="4610414"/>
            <a:ext cx="9109075" cy="1669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適合日程と状況報告</a:t>
            </a:r>
            <a:endParaRPr lang="en-US" altLang="ja-JP" sz="1600" b="1" u="sng">
              <a:solidFill>
                <a:srgbClr val="000000"/>
              </a:solidFill>
              <a:latin typeface="Meiryo UI" panose="020B0604030504040204" pitchFamily="50" charset="-128"/>
              <a:ea typeface="Meiryo UI" panose="020B0604030504040204" pitchFamily="50" charset="-128"/>
              <a:cs typeface="Arial" pitchFamily="34" charset="0"/>
            </a:endParaRPr>
          </a:p>
          <a:p>
            <a:pPr lvl="0" algn="l">
              <a:spcBef>
                <a:spcPts val="300"/>
              </a:spcBef>
              <a:defRPr/>
            </a:pPr>
            <a:r>
              <a:rPr lang="ja-JP" altLang="en-US" sz="16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プロジェクトマネージャーは、適合日程について責任を持つ。</a:t>
            </a:r>
            <a:endParaRPr lang="en-US" altLang="ja-JP" sz="140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初期日程については、適合が始まる前までに発行される必要がある。</a:t>
            </a:r>
            <a:endParaRPr lang="en-US" altLang="ja-JP" sz="140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また継続的に日程は更新され、更新されるごとにプロジェクトマネージャーは</a:t>
            </a:r>
            <a:r>
              <a:rPr lang="en-US" altLang="ja-JP" sz="1400">
                <a:solidFill>
                  <a:srgbClr val="000000"/>
                </a:solidFill>
                <a:latin typeface="Meiryo UI" panose="020B0604030504040204" pitchFamily="50" charset="-128"/>
                <a:ea typeface="Meiryo UI" panose="020B0604030504040204" pitchFamily="50" charset="-128"/>
              </a:rPr>
              <a:t>HONDA</a:t>
            </a:r>
            <a:r>
              <a:rPr lang="ja-JP" altLang="en-US" sz="1400">
                <a:solidFill>
                  <a:srgbClr val="000000"/>
                </a:solidFill>
                <a:latin typeface="Meiryo UI" panose="020B0604030504040204" pitchFamily="50" charset="-128"/>
                <a:ea typeface="Meiryo UI" panose="020B0604030504040204" pitchFamily="50" charset="-128"/>
              </a:rPr>
              <a:t>に対して情報共有を行うこと。</a:t>
            </a:r>
            <a:endParaRPr lang="en-US" altLang="ja-JP" sz="140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ja-JP" altLang="en-US" sz="1400">
                <a:solidFill>
                  <a:srgbClr val="000000"/>
                </a:solidFill>
                <a:latin typeface="Meiryo UI" panose="020B0604030504040204" pitchFamily="50" charset="-128"/>
                <a:ea typeface="Meiryo UI" panose="020B0604030504040204" pitchFamily="50" charset="-128"/>
              </a:rPr>
              <a:t>状況報告 ステータスレポートは、適合ワークパッケージ完了の</a:t>
            </a:r>
            <a:r>
              <a:rPr lang="en-US" altLang="ja-JP" sz="1400">
                <a:solidFill>
                  <a:srgbClr val="000000"/>
                </a:solidFill>
                <a:latin typeface="Meiryo UI" panose="020B0604030504040204" pitchFamily="50" charset="-128"/>
                <a:ea typeface="Meiryo UI" panose="020B0604030504040204" pitchFamily="50" charset="-128"/>
              </a:rPr>
              <a:t>2</a:t>
            </a:r>
            <a:r>
              <a:rPr lang="ja-JP" altLang="en-US" sz="1400">
                <a:solidFill>
                  <a:srgbClr val="000000"/>
                </a:solidFill>
                <a:latin typeface="Meiryo UI" panose="020B0604030504040204" pitchFamily="50" charset="-128"/>
                <a:ea typeface="Meiryo UI" panose="020B0604030504040204" pitchFamily="50" charset="-128"/>
              </a:rPr>
              <a:t>週間以内に発行されること。</a:t>
            </a:r>
            <a:endParaRPr lang="en-US" altLang="ja-JP" sz="1400">
              <a:solidFill>
                <a:srgbClr val="000000"/>
              </a:solidFill>
              <a:latin typeface="Meiryo UI" panose="020B0604030504040204" pitchFamily="50" charset="-128"/>
              <a:ea typeface="Meiryo UI" panose="020B0604030504040204" pitchFamily="50" charset="-128"/>
            </a:endParaRPr>
          </a:p>
          <a:p>
            <a:pPr lvl="0" algn="l">
              <a:spcBef>
                <a:spcPts val="300"/>
              </a:spcBef>
              <a:defRPr/>
            </a:pPr>
            <a:r>
              <a:rPr lang="ja-JP" altLang="en-US" sz="1400">
                <a:solidFill>
                  <a:srgbClr val="000000"/>
                </a:solidFill>
                <a:latin typeface="Meiryo UI" panose="020B0604030504040204" pitchFamily="50" charset="-128"/>
                <a:ea typeface="Meiryo UI" panose="020B0604030504040204" pitchFamily="50" charset="-128"/>
              </a:rPr>
              <a:t>レポートの内容は、</a:t>
            </a:r>
            <a:r>
              <a:rPr lang="en-US" altLang="ja-JP" sz="1400" err="1">
                <a:solidFill>
                  <a:srgbClr val="000000"/>
                </a:solidFill>
                <a:latin typeface="Meiryo UI" panose="020B0604030504040204" pitchFamily="50" charset="-128"/>
                <a:ea typeface="Meiryo UI" panose="020B0604030504040204" pitchFamily="50" charset="-128"/>
              </a:rPr>
              <a:t>MPx</a:t>
            </a:r>
            <a:r>
              <a:rPr lang="ja-JP" altLang="en-US" sz="1400">
                <a:solidFill>
                  <a:srgbClr val="000000"/>
                </a:solidFill>
                <a:latin typeface="Meiryo UI" panose="020B0604030504040204" pitchFamily="50" charset="-128"/>
                <a:ea typeface="Meiryo UI" panose="020B0604030504040204" pitchFamily="50" charset="-128"/>
              </a:rPr>
              <a:t>でのエキスパートミーティングで報告された内容と同じであること。</a:t>
            </a:r>
            <a:endParaRPr lang="en-US" altLang="ja-JP" sz="1400">
              <a:solidFill>
                <a:srgbClr val="000000"/>
              </a:solidFill>
              <a:latin typeface="Meiryo UI" panose="020B0604030504040204" pitchFamily="50" charset="-128"/>
              <a:ea typeface="Meiryo UI" panose="020B0604030504040204" pitchFamily="50" charset="-128"/>
            </a:endParaRPr>
          </a:p>
        </p:txBody>
      </p:sp>
      <p:sp>
        <p:nvSpPr>
          <p:cNvPr id="16" name="コンテンツ プレースホルダー 2">
            <a:extLst>
              <a:ext uri="{FF2B5EF4-FFF2-40B4-BE49-F238E27FC236}">
                <a16:creationId xmlns:a16="http://schemas.microsoft.com/office/drawing/2014/main" id="{26DCBD1E-93AA-4E77-85FD-2143181D2C8D}"/>
              </a:ext>
            </a:extLst>
          </p:cNvPr>
          <p:cNvSpPr txBox="1">
            <a:spLocks/>
          </p:cNvSpPr>
          <p:nvPr>
            <p:custDataLst>
              <p:tags r:id="rId1"/>
            </p:custDataLst>
          </p:nvPr>
        </p:nvSpPr>
        <p:spPr bwMode="auto">
          <a:xfrm>
            <a:off x="4521066" y="6280102"/>
            <a:ext cx="434093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“Calibration schedule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
        <p:nvSpPr>
          <p:cNvPr id="17" name="コンテンツ プレースホルダー 2">
            <a:extLst>
              <a:ext uri="{FF2B5EF4-FFF2-40B4-BE49-F238E27FC236}">
                <a16:creationId xmlns:a16="http://schemas.microsoft.com/office/drawing/2014/main" id="{7EFDFCF8-01BD-4CFE-9C83-2B7697273845}"/>
              </a:ext>
            </a:extLst>
          </p:cNvPr>
          <p:cNvSpPr txBox="1">
            <a:spLocks/>
          </p:cNvSpPr>
          <p:nvPr>
            <p:custDataLst>
              <p:tags r:id="rId2"/>
            </p:custDataLst>
          </p:nvPr>
        </p:nvSpPr>
        <p:spPr bwMode="auto">
          <a:xfrm>
            <a:off x="5242179" y="2346537"/>
            <a:ext cx="3876061"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“Calibration data review”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Tree>
    <p:extLst>
      <p:ext uri="{BB962C8B-B14F-4D97-AF65-F5344CB8AC3E}">
        <p14:creationId xmlns:p14="http://schemas.microsoft.com/office/powerpoint/2010/main" val="406653525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ext Box 2"/>
          <p:cNvSpPr txBox="1">
            <a:spLocks noChangeArrowheads="1"/>
          </p:cNvSpPr>
          <p:nvPr/>
        </p:nvSpPr>
        <p:spPr bwMode="auto">
          <a:xfrm>
            <a:off x="78130" y="496813"/>
            <a:ext cx="3808863"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Meiryo UI" pitchFamily="50" charset="-128"/>
              </a:rPr>
              <a:t>SW Verification and Approval </a:t>
            </a:r>
          </a:p>
        </p:txBody>
      </p:sp>
      <p:sp>
        <p:nvSpPr>
          <p:cNvPr id="13" name="Text Box 2"/>
          <p:cNvSpPr txBox="1">
            <a:spLocks noChangeArrowheads="1"/>
          </p:cNvSpPr>
          <p:nvPr/>
        </p:nvSpPr>
        <p:spPr bwMode="auto">
          <a:xfrm>
            <a:off x="78130" y="896923"/>
            <a:ext cx="906587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a:r>
              <a:rPr lang="en-US" altLang="ja-JP" sz="1400">
                <a:solidFill>
                  <a:srgbClr val="000000"/>
                </a:solidFill>
                <a:latin typeface="Meiryo UI" panose="020B0604030504040204" pitchFamily="50" charset="-128"/>
                <a:ea typeface="Meiryo UI" panose="020B0604030504040204" pitchFamily="50" charset="-128"/>
              </a:rPr>
              <a:t>Verification</a:t>
            </a:r>
            <a:r>
              <a:rPr lang="ja-JP" altLang="en-US" sz="1400">
                <a:solidFill>
                  <a:srgbClr val="000000"/>
                </a:solidFill>
                <a:latin typeface="Meiryo UI" panose="020B0604030504040204" pitchFamily="50" charset="-128"/>
                <a:ea typeface="Meiryo UI" panose="020B0604030504040204" pitchFamily="50" charset="-128"/>
              </a:rPr>
              <a:t>①　</a:t>
            </a:r>
            <a:r>
              <a:rPr lang="en-US" altLang="ja-JP" sz="1400">
                <a:solidFill>
                  <a:srgbClr val="000000"/>
                </a:solidFill>
                <a:latin typeface="Meiryo UI" panose="020B0604030504040204" pitchFamily="50" charset="-128"/>
                <a:ea typeface="Meiryo UI" panose="020B0604030504040204" pitchFamily="50" charset="-128"/>
              </a:rPr>
              <a:t>SW quality check</a:t>
            </a:r>
          </a:p>
          <a:p>
            <a:pPr marL="360363" indent="-360363" algn="l"/>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r>
              <a:rPr lang="en-US" altLang="ja-JP" sz="1400">
                <a:solidFill>
                  <a:srgbClr val="000000"/>
                </a:solidFill>
                <a:latin typeface="Meiryo UI" panose="020B0604030504040204" pitchFamily="50" charset="-128"/>
                <a:ea typeface="Meiryo UI" panose="020B0604030504040204" pitchFamily="50" charset="-128"/>
              </a:rPr>
              <a:t>Basic program structure, system feasibility, programming rule, and development condition</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shall be checked to secure</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rPr>
              <a:t>’s software program quality.</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Verification of check items which are defined in EMS requirement, to be reported to Honda.</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If SW change happen, this quality check must be done the SW for Dan0 lot or later.</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	</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Verification</a:t>
            </a:r>
            <a:r>
              <a:rPr lang="ja-JP" altLang="en-US" sz="1400">
                <a:solidFill>
                  <a:srgbClr val="000000"/>
                </a:solidFill>
                <a:latin typeface="Meiryo UI" panose="020B0604030504040204" pitchFamily="50" charset="-128"/>
                <a:ea typeface="Meiryo UI" panose="020B0604030504040204" pitchFamily="50" charset="-128"/>
              </a:rPr>
              <a:t>②　</a:t>
            </a:r>
            <a:r>
              <a:rPr lang="en-US" altLang="ja-JP" sz="1400">
                <a:solidFill>
                  <a:srgbClr val="000000"/>
                </a:solidFill>
                <a:latin typeface="Meiryo UI" panose="020B0604030504040204" pitchFamily="50" charset="-128"/>
                <a:ea typeface="Meiryo UI" panose="020B0604030504040204" pitchFamily="50" charset="-128"/>
              </a:rPr>
              <a:t>Supplier standard software warranty</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For new functions and changes for Honda</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project, Soft simulation, HILS verification, debug verification, etc. that behaves like the actual vehicle or the actual vehicle are performed, and it is verified that the test contents and results are evaluated within the supplier.</a:t>
            </a:r>
          </a:p>
          <a:p>
            <a:pPr marL="360363" indent="-360363" algn="l"/>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r>
              <a:rPr lang="en-US" altLang="ja-JP" sz="1400">
                <a:solidFill>
                  <a:srgbClr val="000000"/>
                </a:solidFill>
                <a:latin typeface="Meiryo UI" panose="020B0604030504040204" pitchFamily="50" charset="-128"/>
                <a:ea typeface="Meiryo UI" panose="020B0604030504040204" pitchFamily="50" charset="-128"/>
              </a:rPr>
              <a:t>Verification</a:t>
            </a:r>
            <a:r>
              <a:rPr lang="ja-JP" altLang="en-US" sz="1400">
                <a:solidFill>
                  <a:srgbClr val="000000"/>
                </a:solidFill>
                <a:latin typeface="Meiryo UI" panose="020B0604030504040204" pitchFamily="50" charset="-128"/>
                <a:ea typeface="Meiryo UI" panose="020B0604030504040204" pitchFamily="50" charset="-128"/>
              </a:rPr>
              <a:t>③　</a:t>
            </a:r>
            <a:r>
              <a:rPr lang="en-US" altLang="ja-JP" sz="1400">
                <a:solidFill>
                  <a:srgbClr val="000000"/>
                </a:solidFill>
                <a:latin typeface="Meiryo UI" panose="020B0604030504040204" pitchFamily="50" charset="-128"/>
                <a:ea typeface="Meiryo UI" panose="020B0604030504040204" pitchFamily="50" charset="-128"/>
              </a:rPr>
              <a:t>software CR</a:t>
            </a:r>
          </a:p>
          <a:p>
            <a:pPr marL="360363" indent="-360363" algn="l"/>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r>
              <a:rPr lang="en-US" altLang="ja-JP" sz="1400">
                <a:solidFill>
                  <a:srgbClr val="000000"/>
                </a:solidFill>
                <a:latin typeface="Meiryo UI" panose="020B0604030504040204" pitchFamily="50" charset="-128"/>
                <a:ea typeface="Meiryo UI" panose="020B0604030504040204" pitchFamily="50" charset="-128"/>
              </a:rPr>
              <a:t>SW behavior shall be checked after CR items implementation to</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platform SW.</a:t>
            </a:r>
          </a:p>
          <a:p>
            <a:pPr marL="360363" indent="-360363" algn="l"/>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is required to analyze and verify the software. Analysis report shall be submitted to</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Honda.</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HILS or vehicle can be used for debug and verification. The results to be reported to Honda.</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And</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is required to get approve by Honda.</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If</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changed SW which might affect to Honda requirement,</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is required to perform </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debug again and report it to Honda.</a:t>
            </a:r>
          </a:p>
          <a:p>
            <a:pPr marL="360363" indent="-360363" algn="l"/>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r>
              <a:rPr lang="en-US" altLang="ja-JP" sz="1400">
                <a:solidFill>
                  <a:srgbClr val="000000"/>
                </a:solidFill>
                <a:latin typeface="Meiryo UI" panose="020B0604030504040204" pitchFamily="50" charset="-128"/>
                <a:ea typeface="Meiryo UI" panose="020B0604030504040204" pitchFamily="50" charset="-128"/>
              </a:rPr>
              <a:t>Report, timing, verification items is mentioned in below</a:t>
            </a:r>
          </a:p>
          <a:p>
            <a:pPr marL="360363" indent="-360363" algn="l"/>
            <a:r>
              <a:rPr lang="en-US" altLang="ja-JP" sz="1400">
                <a:solidFill>
                  <a:srgbClr val="000000"/>
                </a:solidFill>
                <a:latin typeface="Meiryo UI" panose="020B0604030504040204" pitchFamily="50" charset="-128"/>
                <a:ea typeface="Meiryo UI" panose="020B0604030504040204" pitchFamily="50" charset="-128"/>
              </a:rPr>
              <a:t>	- SW quality check</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Supplier standard software warranty : EMS 6-1-10 ECU software verification</a:t>
            </a:r>
          </a:p>
        </p:txBody>
      </p:sp>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(18/31)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3090201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ext Box 2"/>
          <p:cNvSpPr txBox="1">
            <a:spLocks noChangeArrowheads="1"/>
          </p:cNvSpPr>
          <p:nvPr/>
        </p:nvSpPr>
        <p:spPr bwMode="auto">
          <a:xfrm>
            <a:off x="130381" y="496813"/>
            <a:ext cx="2499402"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ja-JP" altLang="en-US" sz="1600" b="1" u="sng">
                <a:solidFill>
                  <a:srgbClr val="000000"/>
                </a:solidFill>
                <a:latin typeface="Meiryo UI" panose="020B0604030504040204" pitchFamily="50" charset="-128"/>
                <a:ea typeface="Meiryo UI" panose="020B0604030504040204" pitchFamily="50" charset="-128"/>
                <a:cs typeface="Meiryo UI" pitchFamily="50" charset="-128"/>
              </a:rPr>
              <a:t>ソフトウェア検証と承認手法</a:t>
            </a:r>
            <a:endParaRPr lang="en-US" altLang="ja-JP" sz="1600" b="1" u="sng">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3" name="Text Box 2"/>
          <p:cNvSpPr txBox="1">
            <a:spLocks noChangeArrowheads="1"/>
          </p:cNvSpPr>
          <p:nvPr/>
        </p:nvSpPr>
        <p:spPr bwMode="auto">
          <a:xfrm>
            <a:off x="176156" y="896923"/>
            <a:ext cx="8893175" cy="595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a:spcBef>
                <a:spcPts val="300"/>
              </a:spcBef>
            </a:pPr>
            <a:r>
              <a:rPr lang="ja-JP" altLang="en-US" sz="1400">
                <a:latin typeface="Meiryo UI" panose="020B0604030504040204" pitchFamily="50" charset="-128"/>
                <a:ea typeface="Meiryo UI" panose="020B0604030504040204" pitchFamily="50" charset="-128"/>
              </a:rPr>
              <a:t>検証内容①　</a:t>
            </a:r>
            <a:r>
              <a:rPr lang="ja-JP" altLang="en-US" sz="1400">
                <a:latin typeface="Meiryo UI" panose="020B0604030504040204" pitchFamily="50" charset="-128"/>
                <a:ea typeface="Meiryo UI" panose="020B0604030504040204" pitchFamily="50" charset="-128"/>
                <a:cs typeface="Meiryo UI" pitchFamily="50" charset="-128"/>
              </a:rPr>
              <a:t>ソフトウエアの品質検証 ：</a:t>
            </a:r>
            <a:endParaRPr lang="en-US" altLang="ja-JP" sz="1400">
              <a:latin typeface="Meiryo UI" panose="020B0604030504040204" pitchFamily="50" charset="-128"/>
              <a:ea typeface="Meiryo UI" panose="020B0604030504040204" pitchFamily="50" charset="-128"/>
              <a:cs typeface="Meiryo UI"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ソフトウェア プログラムの量産品質を確保する為、プログラム基本構造、システム成立性、プログラミングルール、開発環境を検証する。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で定義された検証項目の検証結果は文書（検収レポート）として</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へ供給される。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cs typeface="Meiryo UI" pitchFamily="50" charset="-128"/>
              </a:rPr>
              <a:t>　　　完成車工場で生産する車両に適用するソフトウェアについては、ソフトウェア変更が発生するごとに本検証を行い、</a:t>
            </a:r>
            <a:br>
              <a:rPr lang="en-US" altLang="ja-JP" sz="1400">
                <a:latin typeface="Meiryo UI" panose="020B0604030504040204" pitchFamily="50" charset="-128"/>
                <a:ea typeface="Meiryo UI" panose="020B0604030504040204" pitchFamily="50" charset="-128"/>
                <a:cs typeface="Meiryo UI" pitchFamily="50" charset="-128"/>
              </a:rPr>
            </a:br>
            <a:r>
              <a:rPr lang="ja-JP" altLang="en-US" sz="1400">
                <a:latin typeface="Meiryo UI" panose="020B0604030504040204" pitchFamily="50" charset="-128"/>
                <a:ea typeface="Meiryo UI" panose="020B0604030504040204" pitchFamily="50" charset="-128"/>
                <a:cs typeface="Meiryo UI" pitchFamily="50" charset="-128"/>
              </a:rPr>
              <a:t>量産品質を保証する。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検証内容②　取引先標準ソフトウエア保証 ：</a:t>
            </a:r>
          </a:p>
          <a:p>
            <a:pPr marL="360363" indent="-360363" algn="l">
              <a:spcBef>
                <a:spcPts val="3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向けに新規に適用する機能、変化点に対し、実車・もしくは実車と等価の振る舞いをする</a:t>
            </a:r>
            <a:r>
              <a:rPr lang="en-US" altLang="ja-JP" sz="1400">
                <a:latin typeface="Meiryo UI" panose="020B0604030504040204" pitchFamily="50" charset="-128"/>
                <a:ea typeface="Meiryo UI" panose="020B0604030504040204" pitchFamily="50" charset="-128"/>
              </a:rPr>
              <a:t>Soft</a:t>
            </a:r>
            <a:r>
              <a:rPr lang="ja-JP" altLang="en-US" sz="1400">
                <a:latin typeface="Meiryo UI" panose="020B0604030504040204" pitchFamily="50" charset="-128"/>
                <a:ea typeface="Meiryo UI" panose="020B0604030504040204" pitchFamily="50" charset="-128"/>
              </a:rPr>
              <a:t>シュミレーションや</a:t>
            </a:r>
            <a:r>
              <a:rPr lang="en-US" altLang="ja-JP" sz="1400">
                <a:latin typeface="Meiryo UI" panose="020B0604030504040204" pitchFamily="50" charset="-128"/>
                <a:ea typeface="Meiryo UI" panose="020B0604030504040204" pitchFamily="50" charset="-128"/>
              </a:rPr>
              <a:t>HILS</a:t>
            </a:r>
            <a:r>
              <a:rPr lang="ja-JP" altLang="en-US" sz="1400">
                <a:latin typeface="Meiryo UI" panose="020B0604030504040204" pitchFamily="50" charset="-128"/>
                <a:ea typeface="Meiryo UI" panose="020B0604030504040204" pitchFamily="50" charset="-128"/>
              </a:rPr>
              <a:t>検証、デバック検証などが行われ、取引先内でテスト内容・結果について評価されていることを検証する。</a:t>
            </a:r>
          </a:p>
          <a:p>
            <a:pPr marL="360363" indent="-360363" algn="l">
              <a:spcBef>
                <a:spcPts val="300"/>
              </a:spcBef>
            </a:pP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ja-JP" altLang="en-US" sz="1400">
                <a:latin typeface="Meiryo UI" panose="020B0604030504040204" pitchFamily="50" charset="-128"/>
                <a:ea typeface="Meiryo UI" panose="020B0604030504040204" pitchFamily="50" charset="-128"/>
              </a:rPr>
              <a:t>検証内容③　</a:t>
            </a:r>
            <a:r>
              <a:rPr lang="ja-JP" altLang="en-US" sz="1400">
                <a:latin typeface="Meiryo UI" panose="020B0604030504040204" pitchFamily="50" charset="-128"/>
                <a:ea typeface="Meiryo UI" panose="020B0604030504040204" pitchFamily="50" charset="-128"/>
                <a:cs typeface="Meiryo UI" pitchFamily="50" charset="-128"/>
              </a:rPr>
              <a:t>ソフトウェア</a:t>
            </a:r>
            <a:r>
              <a:rPr lang="en-US" altLang="ja-JP" sz="1400">
                <a:latin typeface="Meiryo UI" panose="020B0604030504040204" pitchFamily="50" charset="-128"/>
                <a:ea typeface="Meiryo UI" panose="020B0604030504040204" pitchFamily="50" charset="-128"/>
                <a:cs typeface="Meiryo UI" pitchFamily="50" charset="-128"/>
              </a:rPr>
              <a:t>CR</a:t>
            </a:r>
            <a:r>
              <a:rPr lang="ja-JP" altLang="en-US" sz="1400">
                <a:latin typeface="Meiryo UI" panose="020B0604030504040204" pitchFamily="50" charset="-128"/>
                <a:ea typeface="Meiryo UI" panose="020B0604030504040204" pitchFamily="50" charset="-128"/>
                <a:cs typeface="Meiryo UI" pitchFamily="50" charset="-128"/>
              </a:rPr>
              <a:t>項目　：</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Honda</a:t>
            </a:r>
            <a:r>
              <a:rPr lang="ja-JP" altLang="en-US" sz="1400">
                <a:latin typeface="Meiryo UI" panose="020B0604030504040204" pitchFamily="50" charset="-128"/>
                <a:ea typeface="Meiryo UI" panose="020B0604030504040204" pitchFamily="50" charset="-128"/>
              </a:rPr>
              <a:t>が専用で要求した制御要求に於いて、</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標準ソフトウェアへ組み込まれた後、動作振る舞いで異常な制御となっていない事を検証する。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ソフトウェアの変更については、要求を受理した</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側で十分な分析と検証を実施する。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要求分析の結果は、文書（要求分析レポート）として</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へ供給される。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また、検証については、実装後のソフトウェアを用いて</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内部で</a:t>
            </a:r>
            <a:r>
              <a:rPr lang="en-US" altLang="ja-JP" sz="1400">
                <a:latin typeface="Meiryo UI" panose="020B0604030504040204" pitchFamily="50" charset="-128"/>
                <a:ea typeface="Meiryo UI" panose="020B0604030504040204" pitchFamily="50" charset="-128"/>
              </a:rPr>
              <a:t>HILS</a:t>
            </a:r>
            <a:r>
              <a:rPr lang="ja-JP" altLang="en-US" sz="1400">
                <a:latin typeface="Meiryo UI" panose="020B0604030504040204" pitchFamily="50" charset="-128"/>
                <a:ea typeface="Meiryo UI" panose="020B0604030504040204" pitchFamily="50" charset="-128"/>
              </a:rPr>
              <a:t>もしくは実機にてデバック検証を実施し</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、その結果として不具合なき事が文書（検収レポート）として</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へ供給される。</a:t>
            </a:r>
            <a:endParaRPr lang="en-US" altLang="ja-JP" sz="1400">
              <a:latin typeface="Meiryo UI" panose="020B0604030504040204" pitchFamily="50" charset="-128"/>
              <a:ea typeface="Meiryo UI" panose="020B0604030504040204" pitchFamily="50" charset="-128"/>
            </a:endParaRPr>
          </a:p>
          <a:p>
            <a:pPr marL="360363" indent="-360363" algn="l">
              <a:spcBef>
                <a:spcPts val="300"/>
              </a:spcBef>
            </a:pPr>
            <a:r>
              <a:rPr lang="en-US" altLang="ja-JP" sz="1400">
                <a:latin typeface="Meiryo UI" panose="020B0604030504040204" pitchFamily="50" charset="-128"/>
                <a:ea typeface="Meiryo UI" panose="020B0604030504040204" pitchFamily="50" charset="-128"/>
              </a:rPr>
              <a:t>	Honda</a:t>
            </a:r>
            <a:r>
              <a:rPr lang="ja-JP" altLang="en-US" sz="1400">
                <a:latin typeface="Meiryo UI" panose="020B0604030504040204" pitchFamily="50" charset="-128"/>
                <a:ea typeface="Meiryo UI" panose="020B0604030504040204" pitchFamily="50" charset="-128"/>
              </a:rPr>
              <a:t>でこれらの文書の確認を実施した後、承認を行う。</a:t>
            </a:r>
            <a:endParaRPr lang="en-US" altLang="ja-JP" sz="1400">
              <a:latin typeface="Meiryo UI" panose="020B0604030504040204" pitchFamily="50" charset="-128"/>
              <a:ea typeface="Meiryo UI" panose="020B0604030504040204" pitchFamily="50" charset="-128"/>
            </a:endParaRPr>
          </a:p>
          <a:p>
            <a:pPr algn="l" eaLnBrk="1" hangingPunct="1">
              <a:spcBef>
                <a:spcPts val="300"/>
              </a:spcBef>
            </a:pPr>
            <a:r>
              <a:rPr lang="ja-JP" altLang="en-US" sz="1400">
                <a:latin typeface="Meiryo UI" panose="020B0604030504040204" pitchFamily="50" charset="-128"/>
                <a:ea typeface="Meiryo UI" panose="020B0604030504040204" pitchFamily="50" charset="-128"/>
                <a:cs typeface="Meiryo UI" pitchFamily="50" charset="-128"/>
              </a:rPr>
              <a:t>　　　他ソフトウェア変更により既存の制御要求に影響がある場合、検収済みのレポートにおいても</a:t>
            </a:r>
            <a:endParaRPr lang="en-US" altLang="ja-JP" sz="1400">
              <a:latin typeface="Meiryo UI" panose="020B0604030504040204" pitchFamily="50" charset="-128"/>
              <a:ea typeface="Meiryo UI" panose="020B0604030504040204" pitchFamily="50" charset="-128"/>
              <a:cs typeface="Meiryo UI" pitchFamily="50" charset="-128"/>
            </a:endParaRPr>
          </a:p>
          <a:p>
            <a:pPr algn="l" eaLnBrk="1" hangingPunct="1">
              <a:spcBef>
                <a:spcPts val="300"/>
              </a:spcBef>
            </a:pPr>
            <a:r>
              <a:rPr lang="ja-JP" altLang="en-US" sz="1400">
                <a:latin typeface="Meiryo UI" panose="020B0604030504040204" pitchFamily="50" charset="-128"/>
                <a:ea typeface="Meiryo UI" panose="020B0604030504040204" pitchFamily="50" charset="-128"/>
                <a:cs typeface="Meiryo UI" pitchFamily="50" charset="-128"/>
              </a:rPr>
              <a:t>　　　再度デバッグ検証を実施し、</a:t>
            </a:r>
            <a:r>
              <a:rPr lang="ja-JP" altLang="en-US" sz="1400">
                <a:latin typeface="Meiryo UI" panose="020B0604030504040204" pitchFamily="50" charset="-128"/>
                <a:ea typeface="Meiryo UI" panose="020B0604030504040204" pitchFamily="50" charset="-128"/>
              </a:rPr>
              <a:t>文書の結果を改訂して</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へ供給される。</a:t>
            </a:r>
            <a:endParaRPr lang="en-US" altLang="ja-JP" sz="1400">
              <a:latin typeface="Meiryo UI" panose="020B0604030504040204" pitchFamily="50" charset="-128"/>
              <a:ea typeface="Meiryo UI" panose="020B0604030504040204" pitchFamily="50" charset="-128"/>
              <a:cs typeface="Meiryo UI" pitchFamily="50" charset="-128"/>
            </a:endParaRPr>
          </a:p>
          <a:p>
            <a:pPr algn="l" eaLnBrk="1" hangingPunct="1">
              <a:spcBef>
                <a:spcPts val="300"/>
              </a:spcBef>
            </a:pPr>
            <a:endParaRPr lang="en-US" altLang="ja-JP" sz="1400">
              <a:latin typeface="Meiryo UI" panose="020B0604030504040204" pitchFamily="50" charset="-128"/>
              <a:ea typeface="Meiryo UI" panose="020B0604030504040204" pitchFamily="50" charset="-128"/>
              <a:cs typeface="Meiryo UI" pitchFamily="50" charset="-128"/>
            </a:endParaRPr>
          </a:p>
          <a:p>
            <a:pPr algn="l" eaLnBrk="1" hangingPunct="1">
              <a:spcBef>
                <a:spcPts val="300"/>
              </a:spcBef>
            </a:pPr>
            <a:r>
              <a:rPr lang="ja-JP" altLang="en-US" sz="1400">
                <a:latin typeface="Meiryo UI" panose="020B0604030504040204" pitchFamily="50" charset="-128"/>
                <a:ea typeface="Meiryo UI" panose="020B0604030504040204" pitchFamily="50" charset="-128"/>
                <a:cs typeface="Meiryo UI" pitchFamily="50" charset="-128"/>
              </a:rPr>
              <a:t>手法・タイミング・検証項目　：下記の</a:t>
            </a:r>
            <a:r>
              <a:rPr lang="en-US" altLang="ja-JP" sz="1400">
                <a:latin typeface="Meiryo UI" panose="020B0604030504040204" pitchFamily="50" charset="-128"/>
                <a:ea typeface="Meiryo UI" panose="020B0604030504040204" pitchFamily="50" charset="-128"/>
                <a:cs typeface="Meiryo UI" pitchFamily="50" charset="-128"/>
              </a:rPr>
              <a:t>EMS</a:t>
            </a:r>
            <a:r>
              <a:rPr lang="ja-JP" altLang="en-US" sz="1400">
                <a:latin typeface="Meiryo UI" panose="020B0604030504040204" pitchFamily="50" charset="-128"/>
                <a:ea typeface="Meiryo UI" panose="020B0604030504040204" pitchFamily="50" charset="-128"/>
                <a:cs typeface="Meiryo UI" pitchFamily="50" charset="-128"/>
              </a:rPr>
              <a:t>に準じる</a:t>
            </a:r>
            <a:endParaRPr lang="en-US" altLang="ja-JP" sz="1400">
              <a:latin typeface="Meiryo UI" panose="020B0604030504040204" pitchFamily="50" charset="-128"/>
              <a:ea typeface="Meiryo UI" panose="020B0604030504040204" pitchFamily="50" charset="-128"/>
              <a:cs typeface="Meiryo UI" pitchFamily="50" charset="-128"/>
            </a:endParaRPr>
          </a:p>
          <a:p>
            <a:pPr algn="l" eaLnBrk="1" hangingPunct="1">
              <a:spcBef>
                <a:spcPts val="300"/>
              </a:spcBef>
            </a:pPr>
            <a:r>
              <a:rPr lang="en-US" altLang="ja-JP" sz="1400">
                <a:latin typeface="Meiryo UI" panose="020B0604030504040204" pitchFamily="50" charset="-128"/>
                <a:ea typeface="Meiryo UI" panose="020B0604030504040204" pitchFamily="50" charset="-128"/>
                <a:cs typeface="Meiryo UI" pitchFamily="50" charset="-128"/>
              </a:rPr>
              <a:t>       </a:t>
            </a:r>
            <a:r>
              <a:rPr lang="ja-JP" altLang="en-US" sz="1400">
                <a:latin typeface="Meiryo UI" panose="020B0604030504040204" pitchFamily="50" charset="-128"/>
                <a:ea typeface="Meiryo UI" panose="020B0604030504040204" pitchFamily="50" charset="-128"/>
                <a:cs typeface="Meiryo UI" pitchFamily="50" charset="-128"/>
              </a:rPr>
              <a:t>ソフトウエアの品質検証・取引先標準ソフトウエア保証 　：　</a:t>
            </a:r>
            <a:r>
              <a:rPr lang="en-US" altLang="ja-JP" sz="1400">
                <a:latin typeface="Meiryo UI" panose="020B0604030504040204" pitchFamily="50" charset="-128"/>
                <a:ea typeface="Meiryo UI" panose="020B0604030504040204" pitchFamily="50" charset="-128"/>
                <a:cs typeface="Meiryo UI" pitchFamily="50" charset="-128"/>
              </a:rPr>
              <a:t>EMS 6-1-10 ECU software verification</a:t>
            </a:r>
          </a:p>
        </p:txBody>
      </p:sp>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(19/31)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10608075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170953" y="509113"/>
            <a:ext cx="1984133"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HEX File Release</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8" name="Text Box 2"/>
          <p:cNvSpPr txBox="1">
            <a:spLocks noChangeArrowheads="1"/>
          </p:cNvSpPr>
          <p:nvPr/>
        </p:nvSpPr>
        <p:spPr bwMode="auto">
          <a:xfrm>
            <a:off x="350553" y="1265801"/>
            <a:ext cx="8474542" cy="179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Honda </a:t>
            </a:r>
            <a:r>
              <a:rPr lang="en-US" altLang="ja-JP" sz="1400" err="1">
                <a:solidFill>
                  <a:srgbClr val="000000"/>
                </a:solidFill>
                <a:latin typeface="Meiryo UI" panose="020B0604030504040204" pitchFamily="50" charset="-128"/>
                <a:ea typeface="Meiryo UI" panose="020B0604030504040204" pitchFamily="50" charset="-128"/>
                <a:cs typeface="Arial" pitchFamily="34" charset="0"/>
              </a:rPr>
              <a:t>PjM</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shall inform and align the schedule with</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err="1">
                <a:solidFill>
                  <a:srgbClr val="000000"/>
                </a:solidFill>
                <a:latin typeface="Meiryo UI" panose="020B0604030504040204" pitchFamily="50" charset="-128"/>
                <a:ea typeface="Meiryo UI" panose="020B0604030504040204" pitchFamily="50" charset="-128"/>
                <a:cs typeface="Arial" pitchFamily="34" charset="0"/>
              </a:rPr>
              <a:t>PjM</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a:t>
            </a:r>
          </a:p>
          <a:p>
            <a:pPr algn="l" eaLnBrk="1" hangingPunct="1">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PM shall release hex file schedule based on the discussion. In case it is updated, it shall be shared with Honda.</a:t>
            </a:r>
          </a:p>
          <a:p>
            <a:pPr algn="l" eaLnBrk="1" hangingPunct="1">
              <a:spcBef>
                <a:spcPts val="300"/>
              </a:spcBef>
            </a:pPr>
            <a:endParaRPr lang="en-US" altLang="ja-JP" sz="1400">
              <a:solidFill>
                <a:srgbClr val="000000"/>
              </a:solidFill>
              <a:latin typeface="Meiryo UI" panose="020B0604030504040204" pitchFamily="50" charset="-128"/>
              <a:ea typeface="Meiryo UI" panose="020B0604030504040204" pitchFamily="50" charset="-128"/>
              <a:cs typeface="Arial" pitchFamily="34" charset="0"/>
            </a:endParaRPr>
          </a:p>
          <a:p>
            <a:pPr algn="l">
              <a:spcBef>
                <a:spcPts val="300"/>
              </a:spcBef>
            </a:pPr>
            <a:r>
              <a:rPr lang="en-US" altLang="ja-JP" sz="1400">
                <a:latin typeface="Meiryo UI" panose="020B0604030504040204" pitchFamily="50" charset="-128"/>
                <a:ea typeface="Meiryo UI" panose="020B0604030504040204" pitchFamily="50" charset="-128"/>
              </a:rPr>
              <a:t>Honda PM</a:t>
            </a:r>
            <a:r>
              <a:rPr lang="ja-JP" altLang="en-US" sz="1400">
                <a:latin typeface="Meiryo UI" panose="020B0604030504040204" pitchFamily="50" charset="-128"/>
                <a:ea typeface="Meiryo UI" panose="020B0604030504040204" pitchFamily="50" charset="-128"/>
              </a:rPr>
              <a:t>はいつ</a:t>
            </a:r>
            <a:r>
              <a:rPr lang="en-US" altLang="ja-JP" sz="1400">
                <a:latin typeface="Meiryo UI" panose="020B0604030504040204" pitchFamily="50" charset="-128"/>
                <a:ea typeface="Meiryo UI" panose="020B0604030504040204" pitchFamily="50" charset="-128"/>
              </a:rPr>
              <a:t>HEX</a:t>
            </a:r>
            <a:r>
              <a:rPr lang="ja-JP" altLang="en-US" sz="1400">
                <a:latin typeface="Meiryo UI" panose="020B0604030504040204" pitchFamily="50" charset="-128"/>
                <a:ea typeface="Meiryo UI" panose="020B0604030504040204" pitchFamily="50" charset="-128"/>
              </a:rPr>
              <a:t>をリリースして欲しいか連絡し、</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と整合すること。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リクエストに応じて、いつ</a:t>
            </a:r>
            <a:r>
              <a:rPr lang="en-US" altLang="ja-JP" sz="1400">
                <a:latin typeface="Meiryo UI" panose="020B0604030504040204" pitchFamily="50" charset="-128"/>
                <a:ea typeface="Meiryo UI" panose="020B0604030504040204" pitchFamily="50" charset="-128"/>
              </a:rPr>
              <a:t>HEX</a:t>
            </a:r>
            <a:r>
              <a:rPr lang="ja-JP" altLang="en-US" sz="1400">
                <a:latin typeface="Meiryo UI" panose="020B0604030504040204" pitchFamily="50" charset="-128"/>
                <a:ea typeface="Meiryo UI" panose="020B0604030504040204" pitchFamily="50" charset="-128"/>
              </a:rPr>
              <a:t>を出すかを所定のフォーマットで</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に連絡すること。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Update</a:t>
            </a:r>
            <a:r>
              <a:rPr lang="ja-JP" altLang="en-US" sz="1400">
                <a:latin typeface="Meiryo UI" panose="020B0604030504040204" pitchFamily="50" charset="-128"/>
                <a:ea typeface="Meiryo UI" panose="020B0604030504040204" pitchFamily="50" charset="-128"/>
              </a:rPr>
              <a:t>がある場合は連絡すること。</a:t>
            </a:r>
          </a:p>
        </p:txBody>
      </p:sp>
      <p:sp>
        <p:nvSpPr>
          <p:cNvPr id="12" name="Text Box 2"/>
          <p:cNvSpPr txBox="1">
            <a:spLocks noChangeArrowheads="1"/>
          </p:cNvSpPr>
          <p:nvPr/>
        </p:nvSpPr>
        <p:spPr bwMode="auto">
          <a:xfrm>
            <a:off x="350553" y="927760"/>
            <a:ext cx="1657826"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HEX schedule</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3" name="Text Box 2"/>
          <p:cNvSpPr txBox="1">
            <a:spLocks noChangeArrowheads="1"/>
          </p:cNvSpPr>
          <p:nvPr/>
        </p:nvSpPr>
        <p:spPr bwMode="auto">
          <a:xfrm>
            <a:off x="350553" y="3554849"/>
            <a:ext cx="2170787"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HEX release check</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4" name="Text Box 2"/>
          <p:cNvSpPr txBox="1">
            <a:spLocks noChangeArrowheads="1"/>
          </p:cNvSpPr>
          <p:nvPr/>
        </p:nvSpPr>
        <p:spPr bwMode="auto">
          <a:xfrm>
            <a:off x="319219" y="4001443"/>
            <a:ext cx="8474542" cy="1792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shall release hex file based on agreed schedule. Before releasing check items in the attached excel file must be checked and reported with hex file.</a:t>
            </a: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a:t>
            </a:r>
            <a:r>
              <a:rPr lang="en-US" altLang="ja-JP" sz="1400" err="1">
                <a:latin typeface="Meiryo UI" panose="020B0604030504040204" pitchFamily="50" charset="-128"/>
                <a:ea typeface="Meiryo UI" panose="020B0604030504040204" pitchFamily="50" charset="-128"/>
              </a:rPr>
              <a:t>PjM</a:t>
            </a:r>
            <a:r>
              <a:rPr lang="ja-JP" altLang="en-US" sz="1400">
                <a:latin typeface="Meiryo UI" panose="020B0604030504040204" pitchFamily="50" charset="-128"/>
                <a:ea typeface="Meiryo UI" panose="020B0604030504040204" pitchFamily="50" charset="-128"/>
              </a:rPr>
              <a:t>は整合したスケジュールに沿って</a:t>
            </a:r>
            <a:r>
              <a:rPr lang="en-US" altLang="ja-JP" sz="1400">
                <a:latin typeface="Meiryo UI" panose="020B0604030504040204" pitchFamily="50" charset="-128"/>
                <a:ea typeface="Meiryo UI" panose="020B0604030504040204" pitchFamily="50" charset="-128"/>
              </a:rPr>
              <a:t>HEX</a:t>
            </a:r>
            <a:r>
              <a:rPr lang="ja-JP" altLang="en-US" sz="1400">
                <a:latin typeface="Meiryo UI" panose="020B0604030504040204" pitchFamily="50" charset="-128"/>
                <a:ea typeface="Meiryo UI" panose="020B0604030504040204" pitchFamily="50" charset="-128"/>
              </a:rPr>
              <a:t>を払い出すこと。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HEX</a:t>
            </a:r>
            <a:r>
              <a:rPr lang="ja-JP" altLang="en-US" sz="1400">
                <a:latin typeface="Meiryo UI" panose="020B0604030504040204" pitchFamily="50" charset="-128"/>
                <a:ea typeface="Meiryo UI" panose="020B0604030504040204" pitchFamily="50" charset="-128"/>
              </a:rPr>
              <a:t>をリリースする際は、事前に</a:t>
            </a:r>
            <a:r>
              <a:rPr lang="en-US" altLang="ja-JP" sz="1400">
                <a:latin typeface="Meiryo UI" panose="020B0604030504040204" pitchFamily="50" charset="-128"/>
                <a:ea typeface="Meiryo UI" panose="020B0604030504040204" pitchFamily="50" charset="-128"/>
              </a:rPr>
              <a:t>HEX release check list</a:t>
            </a:r>
            <a:r>
              <a:rPr lang="ja-JP" altLang="en-US" sz="1400">
                <a:latin typeface="Meiryo UI" panose="020B0604030504040204" pitchFamily="50" charset="-128"/>
                <a:ea typeface="Meiryo UI" panose="020B0604030504040204" pitchFamily="50" charset="-128"/>
              </a:rPr>
              <a:t>に載っている項目の確認を行い、</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HEX release check list report</a:t>
            </a:r>
            <a:r>
              <a:rPr lang="ja-JP" altLang="en-US" sz="1400">
                <a:latin typeface="Meiryo UI" panose="020B0604030504040204" pitchFamily="50" charset="-128"/>
                <a:ea typeface="Meiryo UI" panose="020B0604030504040204" pitchFamily="50" charset="-128"/>
              </a:rPr>
              <a:t>を</a:t>
            </a:r>
            <a:r>
              <a:rPr lang="en-US" altLang="ja-JP" sz="1400">
                <a:latin typeface="Meiryo UI" panose="020B0604030504040204" pitchFamily="50" charset="-128"/>
                <a:ea typeface="Meiryo UI" panose="020B0604030504040204" pitchFamily="50" charset="-128"/>
              </a:rPr>
              <a:t>Cal leader</a:t>
            </a:r>
            <a:r>
              <a:rPr lang="ja-JP" altLang="en-US" sz="1400">
                <a:latin typeface="Meiryo UI" panose="020B0604030504040204" pitchFamily="50" charset="-128"/>
                <a:ea typeface="Meiryo UI" panose="020B0604030504040204" pitchFamily="50" charset="-128"/>
              </a:rPr>
              <a:t>のサイン入りで発行すること</a:t>
            </a:r>
            <a:endParaRPr lang="en-US" altLang="ja-JP" sz="1400">
              <a:latin typeface="Meiryo UI" panose="020B0604030504040204" pitchFamily="50" charset="-128"/>
              <a:ea typeface="Meiryo UI" panose="020B0604030504040204" pitchFamily="50" charset="-128"/>
            </a:endParaRPr>
          </a:p>
        </p:txBody>
      </p:sp>
      <p:sp>
        <p:nvSpPr>
          <p:cNvPr id="1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(20/31)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16" name="コンテンツ プレースホルダー 2">
            <a:extLst>
              <a:ext uri="{FF2B5EF4-FFF2-40B4-BE49-F238E27FC236}">
                <a16:creationId xmlns:a16="http://schemas.microsoft.com/office/drawing/2014/main" id="{B530B1F3-45E8-47F5-94A8-5FA5DB3A7E54}"/>
              </a:ext>
            </a:extLst>
          </p:cNvPr>
          <p:cNvSpPr txBox="1">
            <a:spLocks/>
          </p:cNvSpPr>
          <p:nvPr>
            <p:custDataLst>
              <p:tags r:id="rId1"/>
            </p:custDataLst>
          </p:nvPr>
        </p:nvSpPr>
        <p:spPr bwMode="auto">
          <a:xfrm>
            <a:off x="4873327" y="5867720"/>
            <a:ext cx="4145366"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“HEX release check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
        <p:nvSpPr>
          <p:cNvPr id="18" name="コンテンツ プレースホルダー 2">
            <a:extLst>
              <a:ext uri="{FF2B5EF4-FFF2-40B4-BE49-F238E27FC236}">
                <a16:creationId xmlns:a16="http://schemas.microsoft.com/office/drawing/2014/main" id="{8A07BB79-53AC-4F2B-B957-D4A0F1188F37}"/>
              </a:ext>
            </a:extLst>
          </p:cNvPr>
          <p:cNvSpPr txBox="1">
            <a:spLocks/>
          </p:cNvSpPr>
          <p:nvPr>
            <p:custDataLst>
              <p:tags r:id="rId2"/>
            </p:custDataLst>
          </p:nvPr>
        </p:nvSpPr>
        <p:spPr bwMode="auto">
          <a:xfrm>
            <a:off x="5244387" y="2928030"/>
            <a:ext cx="3781484"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“HEX Schedule sample”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Tree>
    <p:extLst>
      <p:ext uri="{BB962C8B-B14F-4D97-AF65-F5344CB8AC3E}">
        <p14:creationId xmlns:p14="http://schemas.microsoft.com/office/powerpoint/2010/main" val="9940508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 name="Line 9"/>
          <p:cNvSpPr>
            <a:spLocks noChangeShapeType="1"/>
          </p:cNvSpPr>
          <p:nvPr/>
        </p:nvSpPr>
        <p:spPr bwMode="auto">
          <a:xfrm>
            <a:off x="179392" y="4781386"/>
            <a:ext cx="87852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74" name="Line 14"/>
          <p:cNvSpPr>
            <a:spLocks noChangeShapeType="1"/>
          </p:cNvSpPr>
          <p:nvPr/>
        </p:nvSpPr>
        <p:spPr bwMode="auto">
          <a:xfrm>
            <a:off x="1763718" y="4317799"/>
            <a:ext cx="6483897" cy="8"/>
          </a:xfrm>
          <a:prstGeom prst="line">
            <a:avLst/>
          </a:prstGeom>
          <a:noFill/>
          <a:ln w="5715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79" name="Oval 16"/>
          <p:cNvSpPr>
            <a:spLocks noChangeArrowheads="1"/>
          </p:cNvSpPr>
          <p:nvPr/>
        </p:nvSpPr>
        <p:spPr bwMode="auto">
          <a:xfrm>
            <a:off x="4210835" y="4165482"/>
            <a:ext cx="310342"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F2</a:t>
            </a:r>
          </a:p>
        </p:txBody>
      </p:sp>
      <p:sp>
        <p:nvSpPr>
          <p:cNvPr id="80" name="Oval 18"/>
          <p:cNvSpPr>
            <a:spLocks noChangeArrowheads="1"/>
          </p:cNvSpPr>
          <p:nvPr/>
        </p:nvSpPr>
        <p:spPr bwMode="auto">
          <a:xfrm>
            <a:off x="7821889" y="4129700"/>
            <a:ext cx="268242" cy="36191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360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E2</a:t>
            </a:r>
          </a:p>
        </p:txBody>
      </p:sp>
      <p:sp>
        <p:nvSpPr>
          <p:cNvPr id="82" name="Freeform 19"/>
          <p:cNvSpPr>
            <a:spLocks/>
          </p:cNvSpPr>
          <p:nvPr/>
        </p:nvSpPr>
        <p:spPr bwMode="auto">
          <a:xfrm>
            <a:off x="8190261" y="4089199"/>
            <a:ext cx="736667" cy="381000"/>
          </a:xfrm>
          <a:custGeom>
            <a:avLst/>
            <a:gdLst>
              <a:gd name="T0" fmla="*/ 2147483647 w 624"/>
              <a:gd name="T1" fmla="*/ 0 h 288"/>
              <a:gd name="T2" fmla="*/ 2147483647 w 624"/>
              <a:gd name="T3" fmla="*/ 0 h 288"/>
              <a:gd name="T4" fmla="*/ 2147483647 w 624"/>
              <a:gd name="T5" fmla="*/ 2147483647 h 288"/>
              <a:gd name="T6" fmla="*/ 0 w 624"/>
              <a:gd name="T7" fmla="*/ 2147483647 h 288"/>
              <a:gd name="T8" fmla="*/ 2147483647 w 62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288">
                <a:moveTo>
                  <a:pt x="144" y="0"/>
                </a:moveTo>
                <a:lnTo>
                  <a:pt x="624" y="0"/>
                </a:lnTo>
                <a:lnTo>
                  <a:pt x="624" y="288"/>
                </a:lnTo>
                <a:lnTo>
                  <a:pt x="0" y="288"/>
                </a:lnTo>
                <a:lnTo>
                  <a:pt x="144" y="0"/>
                </a:lnTo>
                <a:close/>
              </a:path>
            </a:pathLst>
          </a:cu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85" name="Text Box 20"/>
          <p:cNvSpPr txBox="1">
            <a:spLocks noChangeArrowheads="1"/>
          </p:cNvSpPr>
          <p:nvPr/>
        </p:nvSpPr>
        <p:spPr bwMode="auto">
          <a:xfrm>
            <a:off x="8365853" y="4165405"/>
            <a:ext cx="4908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200">
                <a:solidFill>
                  <a:srgbClr val="000000"/>
                </a:solidFill>
                <a:latin typeface="Meiryo UI" panose="020B0604030504040204" pitchFamily="50" charset="-128"/>
                <a:ea typeface="Meiryo UI" panose="020B0604030504040204" pitchFamily="50" charset="-128"/>
              </a:rPr>
              <a:t>SOP</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86" name="Line 22"/>
          <p:cNvSpPr>
            <a:spLocks noChangeShapeType="1"/>
          </p:cNvSpPr>
          <p:nvPr/>
        </p:nvSpPr>
        <p:spPr bwMode="auto">
          <a:xfrm flipV="1">
            <a:off x="7705981" y="4380872"/>
            <a:ext cx="0" cy="553119"/>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91" name="Line 24"/>
          <p:cNvSpPr>
            <a:spLocks noChangeShapeType="1"/>
          </p:cNvSpPr>
          <p:nvPr/>
        </p:nvSpPr>
        <p:spPr bwMode="auto">
          <a:xfrm flipH="1" flipV="1">
            <a:off x="8495061" y="4509122"/>
            <a:ext cx="1518" cy="450349"/>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92" name="AutoShape 26"/>
          <p:cNvSpPr>
            <a:spLocks noChangeArrowheads="1"/>
          </p:cNvSpPr>
          <p:nvPr/>
        </p:nvSpPr>
        <p:spPr bwMode="auto">
          <a:xfrm>
            <a:off x="7457103" y="4857219"/>
            <a:ext cx="492996" cy="283389"/>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T</a:t>
            </a:r>
            <a:r>
              <a:rPr lang="ja-JP" altLang="en-US" sz="1200">
                <a:solidFill>
                  <a:srgbClr val="000000"/>
                </a:solidFill>
                <a:latin typeface="Meiryo UI" panose="020B0604030504040204" pitchFamily="50" charset="-128"/>
                <a:ea typeface="Meiryo UI" panose="020B0604030504040204" pitchFamily="50" charset="-128"/>
              </a:rPr>
              <a:t> </a:t>
            </a:r>
            <a:r>
              <a:rPr lang="en-US" altLang="ja-JP" sz="1200">
                <a:solidFill>
                  <a:srgbClr val="000000"/>
                </a:solidFill>
                <a:latin typeface="Meiryo UI" panose="020B0604030504040204" pitchFamily="50" charset="-128"/>
                <a:ea typeface="Meiryo UI" panose="020B0604030504040204" pitchFamily="50" charset="-128"/>
              </a:rPr>
              <a:t>step</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96" name="AutoShape 28"/>
          <p:cNvSpPr>
            <a:spLocks noChangeArrowheads="1"/>
          </p:cNvSpPr>
          <p:nvPr/>
        </p:nvSpPr>
        <p:spPr bwMode="auto">
          <a:xfrm>
            <a:off x="8028384" y="4857219"/>
            <a:ext cx="936391" cy="283389"/>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Authorization</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99" name="Text Box 29"/>
          <p:cNvSpPr txBox="1">
            <a:spLocks noChangeArrowheads="1"/>
          </p:cNvSpPr>
          <p:nvPr/>
        </p:nvSpPr>
        <p:spPr bwMode="auto">
          <a:xfrm>
            <a:off x="250825" y="4965829"/>
            <a:ext cx="1491878" cy="237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400">
                <a:solidFill>
                  <a:srgbClr val="000000"/>
                </a:solidFill>
                <a:latin typeface="Meiryo UI" panose="020B0604030504040204" pitchFamily="50" charset="-128"/>
                <a:ea typeface="Meiryo UI" panose="020B0604030504040204" pitchFamily="50" charset="-128"/>
              </a:rPr>
              <a:t>Evaluation Event</a:t>
            </a:r>
            <a:endParaRPr lang="ja-JP" altLang="en-US" sz="1400">
              <a:solidFill>
                <a:srgbClr val="000000"/>
              </a:solidFill>
              <a:latin typeface="Meiryo UI" panose="020B0604030504040204" pitchFamily="50" charset="-128"/>
              <a:ea typeface="Meiryo UI" panose="020B0604030504040204" pitchFamily="50" charset="-128"/>
            </a:endParaRPr>
          </a:p>
        </p:txBody>
      </p:sp>
      <p:grpSp>
        <p:nvGrpSpPr>
          <p:cNvPr id="100" name="Group 30"/>
          <p:cNvGrpSpPr>
            <a:grpSpLocks/>
          </p:cNvGrpSpPr>
          <p:nvPr/>
        </p:nvGrpSpPr>
        <p:grpSpPr bwMode="auto">
          <a:xfrm>
            <a:off x="5364088" y="4467887"/>
            <a:ext cx="203200" cy="227012"/>
            <a:chOff x="432" y="2592"/>
            <a:chExt cx="128" cy="176"/>
          </a:xfrm>
        </p:grpSpPr>
        <p:sp>
          <p:nvSpPr>
            <p:cNvPr id="107" name="Rectangle 31"/>
            <p:cNvSpPr>
              <a:spLocks noChangeArrowheads="1"/>
            </p:cNvSpPr>
            <p:nvPr/>
          </p:nvSpPr>
          <p:spPr bwMode="auto">
            <a:xfrm>
              <a:off x="464" y="2624"/>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08" name="Rectangle 32"/>
            <p:cNvSpPr>
              <a:spLocks noChangeArrowheads="1"/>
            </p:cNvSpPr>
            <p:nvPr/>
          </p:nvSpPr>
          <p:spPr bwMode="auto">
            <a:xfrm>
              <a:off x="432" y="2592"/>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109" name="Line 42"/>
          <p:cNvSpPr>
            <a:spLocks noChangeShapeType="1"/>
          </p:cNvSpPr>
          <p:nvPr/>
        </p:nvSpPr>
        <p:spPr bwMode="auto">
          <a:xfrm flipV="1">
            <a:off x="5459661" y="4699017"/>
            <a:ext cx="964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10" name="Freeform 43"/>
          <p:cNvSpPr>
            <a:spLocks/>
          </p:cNvSpPr>
          <p:nvPr/>
        </p:nvSpPr>
        <p:spPr bwMode="auto">
          <a:xfrm>
            <a:off x="5967035" y="4470199"/>
            <a:ext cx="457200" cy="228600"/>
          </a:xfrm>
          <a:custGeom>
            <a:avLst/>
            <a:gdLst>
              <a:gd name="T0" fmla="*/ 2147483647 w 624"/>
              <a:gd name="T1" fmla="*/ 0 h 288"/>
              <a:gd name="T2" fmla="*/ 2147483647 w 624"/>
              <a:gd name="T3" fmla="*/ 0 h 288"/>
              <a:gd name="T4" fmla="*/ 2147483647 w 624"/>
              <a:gd name="T5" fmla="*/ 2147483647 h 288"/>
              <a:gd name="T6" fmla="*/ 0 w 624"/>
              <a:gd name="T7" fmla="*/ 2147483647 h 288"/>
              <a:gd name="T8" fmla="*/ 2147483647 w 62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288">
                <a:moveTo>
                  <a:pt x="144" y="0"/>
                </a:moveTo>
                <a:lnTo>
                  <a:pt x="624" y="0"/>
                </a:lnTo>
                <a:lnTo>
                  <a:pt x="624" y="288"/>
                </a:lnTo>
                <a:lnTo>
                  <a:pt x="0" y="288"/>
                </a:lnTo>
                <a:lnTo>
                  <a:pt x="144" y="0"/>
                </a:lnTo>
                <a:close/>
              </a:path>
            </a:pathLst>
          </a:cu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11" name="Text Box 44"/>
          <p:cNvSpPr txBox="1">
            <a:spLocks noChangeArrowheads="1"/>
          </p:cNvSpPr>
          <p:nvPr/>
        </p:nvSpPr>
        <p:spPr bwMode="auto">
          <a:xfrm>
            <a:off x="6064940" y="4523923"/>
            <a:ext cx="46006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000">
                <a:solidFill>
                  <a:srgbClr val="000000"/>
                </a:solidFill>
                <a:latin typeface="Meiryo UI" panose="020B0604030504040204" pitchFamily="50" charset="-128"/>
                <a:ea typeface="Meiryo UI" panose="020B0604030504040204" pitchFamily="50" charset="-128"/>
              </a:rPr>
              <a:t>Shoken</a:t>
            </a:r>
            <a:endParaRPr lang="ja-JP" altLang="en-US" sz="1000">
              <a:solidFill>
                <a:srgbClr val="000000"/>
              </a:solidFill>
              <a:latin typeface="Meiryo UI" panose="020B0604030504040204" pitchFamily="50" charset="-128"/>
              <a:ea typeface="Meiryo UI" panose="020B0604030504040204" pitchFamily="50" charset="-128"/>
            </a:endParaRPr>
          </a:p>
        </p:txBody>
      </p:sp>
      <p:sp>
        <p:nvSpPr>
          <p:cNvPr id="113" name="Line 8"/>
          <p:cNvSpPr>
            <a:spLocks noChangeShapeType="1"/>
          </p:cNvSpPr>
          <p:nvPr/>
        </p:nvSpPr>
        <p:spPr bwMode="auto">
          <a:xfrm>
            <a:off x="179392" y="5374632"/>
            <a:ext cx="8785225" cy="0"/>
          </a:xfrm>
          <a:prstGeom prst="line">
            <a:avLst/>
          </a:prstGeom>
          <a:noFill/>
          <a:ln w="9525">
            <a:solidFill>
              <a:schemeClr val="tx1">
                <a:lumMod val="75000"/>
                <a:lumOff val="2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ja-JP" altLang="en-US">
              <a:solidFill>
                <a:srgbClr val="000000"/>
              </a:solidFill>
              <a:latin typeface="Meiryo UI" panose="020B0604030504040204" pitchFamily="50" charset="-128"/>
              <a:ea typeface="Meiryo UI" panose="020B0604030504040204" pitchFamily="50" charset="-128"/>
            </a:endParaRPr>
          </a:p>
        </p:txBody>
      </p:sp>
      <p:sp>
        <p:nvSpPr>
          <p:cNvPr id="114" name="Line 8"/>
          <p:cNvSpPr>
            <a:spLocks noChangeShapeType="1"/>
          </p:cNvSpPr>
          <p:nvPr/>
        </p:nvSpPr>
        <p:spPr bwMode="auto">
          <a:xfrm>
            <a:off x="179392" y="6268844"/>
            <a:ext cx="8785225" cy="0"/>
          </a:xfrm>
          <a:prstGeom prst="line">
            <a:avLst/>
          </a:prstGeom>
          <a:noFill/>
          <a:ln w="9525">
            <a:solidFill>
              <a:schemeClr val="tx1">
                <a:lumMod val="75000"/>
                <a:lumOff val="2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ja-JP" altLang="en-US">
              <a:solidFill>
                <a:srgbClr val="000000"/>
              </a:solidFill>
              <a:latin typeface="Meiryo UI" panose="020B0604030504040204" pitchFamily="50" charset="-128"/>
              <a:ea typeface="Meiryo UI" panose="020B0604030504040204" pitchFamily="50" charset="-128"/>
            </a:endParaRPr>
          </a:p>
        </p:txBody>
      </p:sp>
      <p:sp>
        <p:nvSpPr>
          <p:cNvPr id="115" name="Text Box 48"/>
          <p:cNvSpPr txBox="1">
            <a:spLocks noChangeArrowheads="1"/>
          </p:cNvSpPr>
          <p:nvPr/>
        </p:nvSpPr>
        <p:spPr bwMode="auto">
          <a:xfrm>
            <a:off x="206214" y="5420524"/>
            <a:ext cx="1413458" cy="575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tIns="10800" rIns="18000" bIns="1080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200">
                <a:solidFill>
                  <a:srgbClr val="000000"/>
                </a:solidFill>
                <a:latin typeface="Meiryo UI" panose="020B0604030504040204" pitchFamily="50" charset="-128"/>
                <a:ea typeface="Meiryo UI" panose="020B0604030504040204" pitchFamily="50" charset="-128"/>
              </a:rPr>
              <a:t>Activities of</a:t>
            </a:r>
          </a:p>
          <a:p>
            <a:pPr algn="l" eaLnBrk="1" hangingPunct="1"/>
            <a:r>
              <a:rPr lang="en-US" altLang="ja-JP" sz="1200">
                <a:solidFill>
                  <a:srgbClr val="000000"/>
                </a:solidFill>
                <a:latin typeface="Meiryo UI" panose="020B0604030504040204" pitchFamily="50" charset="-128"/>
                <a:ea typeface="Meiryo UI" panose="020B0604030504040204" pitchFamily="50" charset="-128"/>
              </a:rPr>
              <a:t>ECU</a:t>
            </a:r>
            <a:r>
              <a:rPr lang="ja-JP" altLang="en-US" sz="1200">
                <a:solidFill>
                  <a:srgbClr val="000000"/>
                </a:solidFill>
                <a:latin typeface="Meiryo UI" panose="020B0604030504040204" pitchFamily="50" charset="-128"/>
                <a:ea typeface="Meiryo UI" panose="020B0604030504040204" pitchFamily="50" charset="-128"/>
              </a:rPr>
              <a:t> </a:t>
            </a:r>
            <a:r>
              <a:rPr lang="en-US" altLang="ja-JP" sz="1200">
                <a:solidFill>
                  <a:srgbClr val="000000"/>
                </a:solidFill>
                <a:latin typeface="Meiryo UI" panose="020B0604030504040204" pitchFamily="50" charset="-128"/>
                <a:ea typeface="Meiryo UI" panose="020B0604030504040204" pitchFamily="50" charset="-128"/>
              </a:rPr>
              <a:t>Quality Guideline</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116" name="Text Box 48"/>
          <p:cNvSpPr txBox="1">
            <a:spLocks noChangeArrowheads="1"/>
          </p:cNvSpPr>
          <p:nvPr/>
        </p:nvSpPr>
        <p:spPr bwMode="auto">
          <a:xfrm>
            <a:off x="192577" y="6309759"/>
            <a:ext cx="897165" cy="391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200">
                <a:solidFill>
                  <a:srgbClr val="000000"/>
                </a:solidFill>
                <a:latin typeface="Meiryo UI" panose="020B0604030504040204" pitchFamily="50" charset="-128"/>
                <a:ea typeface="Meiryo UI" panose="020B0604030504040204" pitchFamily="50" charset="-128"/>
              </a:rPr>
              <a:t>Activities of</a:t>
            </a:r>
          </a:p>
          <a:p>
            <a:pPr algn="l" eaLnBrk="1" hangingPunct="1"/>
            <a:r>
              <a:rPr lang="en-US" altLang="ja-JP" sz="1200">
                <a:solidFill>
                  <a:srgbClr val="000000"/>
                </a:solidFill>
                <a:latin typeface="Meiryo UI" panose="020B0604030504040204" pitchFamily="50" charset="-128"/>
                <a:ea typeface="Meiryo UI" panose="020B0604030504040204" pitchFamily="50" charset="-128"/>
              </a:rPr>
              <a:t>ISO26262</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117" name="Text Box 70"/>
          <p:cNvSpPr txBox="1">
            <a:spLocks noChangeArrowheads="1"/>
          </p:cNvSpPr>
          <p:nvPr/>
        </p:nvSpPr>
        <p:spPr bwMode="auto">
          <a:xfrm>
            <a:off x="2709951" y="5342518"/>
            <a:ext cx="1574018" cy="553998"/>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200">
                <a:solidFill>
                  <a:srgbClr val="000000"/>
                </a:solidFill>
                <a:latin typeface="Meiryo UI" panose="020B0604030504040204" pitchFamily="50" charset="-128"/>
                <a:ea typeface="Meiryo UI" panose="020B0604030504040204" pitchFamily="50" charset="-128"/>
              </a:rPr>
              <a:t>Consensus verification</a:t>
            </a:r>
          </a:p>
          <a:p>
            <a:pPr eaLnBrk="1" hangingPunct="1"/>
            <a:r>
              <a:rPr lang="en-US" altLang="ja-JP" sz="1200">
                <a:solidFill>
                  <a:srgbClr val="000000"/>
                </a:solidFill>
                <a:latin typeface="Meiryo UI" panose="020B0604030504040204" pitchFamily="50" charset="-128"/>
                <a:ea typeface="Meiryo UI" panose="020B0604030504040204" pitchFamily="50" charset="-128"/>
              </a:rPr>
              <a:t>meeting</a:t>
            </a:r>
          </a:p>
        </p:txBody>
      </p:sp>
      <p:sp>
        <p:nvSpPr>
          <p:cNvPr id="118" name="Text Box 70"/>
          <p:cNvSpPr txBox="1">
            <a:spLocks noChangeArrowheads="1"/>
          </p:cNvSpPr>
          <p:nvPr/>
        </p:nvSpPr>
        <p:spPr bwMode="auto">
          <a:xfrm>
            <a:off x="2709951" y="5908920"/>
            <a:ext cx="1572866" cy="369332"/>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200">
                <a:solidFill>
                  <a:srgbClr val="000000"/>
                </a:solidFill>
                <a:latin typeface="Meiryo UI" panose="020B0604030504040204" pitchFamily="50" charset="-128"/>
                <a:ea typeface="Meiryo UI" panose="020B0604030504040204" pitchFamily="50" charset="-128"/>
              </a:rPr>
              <a:t>Transient states</a:t>
            </a:r>
          </a:p>
          <a:p>
            <a:pPr eaLnBrk="1" hangingPunct="1"/>
            <a:r>
              <a:rPr lang="en-US" altLang="ja-JP" sz="1200">
                <a:solidFill>
                  <a:srgbClr val="000000"/>
                </a:solidFill>
                <a:latin typeface="Meiryo UI" panose="020B0604030504040204" pitchFamily="50" charset="-128"/>
                <a:ea typeface="Meiryo UI" panose="020B0604030504040204" pitchFamily="50" charset="-128"/>
              </a:rPr>
              <a:t>Verification meeting</a:t>
            </a:r>
          </a:p>
        </p:txBody>
      </p:sp>
      <p:sp>
        <p:nvSpPr>
          <p:cNvPr id="119" name="Text Box 70"/>
          <p:cNvSpPr txBox="1">
            <a:spLocks noChangeArrowheads="1"/>
          </p:cNvSpPr>
          <p:nvPr/>
        </p:nvSpPr>
        <p:spPr bwMode="auto">
          <a:xfrm>
            <a:off x="4355977" y="5473938"/>
            <a:ext cx="1228522" cy="738664"/>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200">
                <a:solidFill>
                  <a:srgbClr val="000000"/>
                </a:solidFill>
                <a:latin typeface="Meiryo UI" panose="020B0604030504040204" pitchFamily="50" charset="-128"/>
                <a:ea typeface="Meiryo UI" panose="020B0604030504040204" pitchFamily="50" charset="-128"/>
              </a:rPr>
              <a:t>Confirmation meeting</a:t>
            </a:r>
          </a:p>
          <a:p>
            <a:pPr eaLnBrk="1" hangingPunct="1"/>
            <a:r>
              <a:rPr lang="en-US" altLang="ja-JP" sz="1200">
                <a:solidFill>
                  <a:srgbClr val="000000"/>
                </a:solidFill>
                <a:latin typeface="Meiryo UI" panose="020B0604030504040204" pitchFamily="50" charset="-128"/>
                <a:ea typeface="Meiryo UI" panose="020B0604030504040204" pitchFamily="50" charset="-128"/>
              </a:rPr>
              <a:t>Verification results</a:t>
            </a:r>
          </a:p>
        </p:txBody>
      </p:sp>
      <p:sp>
        <p:nvSpPr>
          <p:cNvPr id="120" name="Text Box 70"/>
          <p:cNvSpPr txBox="1">
            <a:spLocks noChangeArrowheads="1"/>
          </p:cNvSpPr>
          <p:nvPr/>
        </p:nvSpPr>
        <p:spPr bwMode="auto">
          <a:xfrm>
            <a:off x="3707905" y="6444218"/>
            <a:ext cx="4104456" cy="184666"/>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200">
                <a:solidFill>
                  <a:srgbClr val="000000"/>
                </a:solidFill>
                <a:latin typeface="Meiryo UI" panose="020B0604030504040204" pitchFamily="50" charset="-128"/>
                <a:ea typeface="Meiryo UI" panose="020B0604030504040204" pitchFamily="50" charset="-128"/>
              </a:rPr>
              <a:t>Confirmation of WP</a:t>
            </a:r>
          </a:p>
        </p:txBody>
      </p:sp>
      <p:sp>
        <p:nvSpPr>
          <p:cNvPr id="121" name="Text Box 70"/>
          <p:cNvSpPr txBox="1">
            <a:spLocks noChangeArrowheads="1"/>
          </p:cNvSpPr>
          <p:nvPr/>
        </p:nvSpPr>
        <p:spPr bwMode="auto">
          <a:xfrm>
            <a:off x="2169480" y="6340852"/>
            <a:ext cx="1466416" cy="338554"/>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100">
                <a:solidFill>
                  <a:srgbClr val="000000"/>
                </a:solidFill>
                <a:latin typeface="Meiryo UI" panose="020B0604030504040204" pitchFamily="50" charset="-128"/>
                <a:ea typeface="Meiryo UI" panose="020B0604030504040204" pitchFamily="50" charset="-128"/>
              </a:rPr>
              <a:t>Requirement</a:t>
            </a:r>
          </a:p>
          <a:p>
            <a:pPr eaLnBrk="1" hangingPunct="1"/>
            <a:r>
              <a:rPr lang="en-US" altLang="ja-JP" sz="1100">
                <a:solidFill>
                  <a:srgbClr val="000000"/>
                </a:solidFill>
                <a:latin typeface="Meiryo UI" panose="020B0604030504040204" pitchFamily="50" charset="-128"/>
                <a:ea typeface="Meiryo UI" panose="020B0604030504040204" pitchFamily="50" charset="-128"/>
              </a:rPr>
              <a:t>release</a:t>
            </a:r>
          </a:p>
        </p:txBody>
      </p:sp>
      <p:grpSp>
        <p:nvGrpSpPr>
          <p:cNvPr id="122" name="グループ化 1"/>
          <p:cNvGrpSpPr>
            <a:grpSpLocks/>
          </p:cNvGrpSpPr>
          <p:nvPr/>
        </p:nvGrpSpPr>
        <p:grpSpPr bwMode="auto">
          <a:xfrm>
            <a:off x="179392" y="4077273"/>
            <a:ext cx="8785225" cy="2664097"/>
            <a:chOff x="179388" y="1125538"/>
            <a:chExt cx="8785225" cy="5618162"/>
          </a:xfrm>
        </p:grpSpPr>
        <p:sp>
          <p:nvSpPr>
            <p:cNvPr id="123" name="Rectangle 15"/>
            <p:cNvSpPr>
              <a:spLocks noChangeArrowheads="1"/>
            </p:cNvSpPr>
            <p:nvPr/>
          </p:nvSpPr>
          <p:spPr bwMode="auto">
            <a:xfrm>
              <a:off x="179388" y="1125538"/>
              <a:ext cx="8785225" cy="5618162"/>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cxnSp>
          <p:nvCxnSpPr>
            <p:cNvPr id="124" name="直線コネクタ 4"/>
            <p:cNvCxnSpPr>
              <a:cxnSpLocks noChangeShapeType="1"/>
            </p:cNvCxnSpPr>
            <p:nvPr/>
          </p:nvCxnSpPr>
          <p:spPr bwMode="auto">
            <a:xfrm>
              <a:off x="1744663" y="1125538"/>
              <a:ext cx="6350" cy="561816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5" name="テキスト ボックス 5"/>
          <p:cNvSpPr txBox="1">
            <a:spLocks noChangeArrowheads="1"/>
          </p:cNvSpPr>
          <p:nvPr/>
        </p:nvSpPr>
        <p:spPr bwMode="auto">
          <a:xfrm>
            <a:off x="35497" y="529405"/>
            <a:ext cx="548099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ECU Quality Assurance, Functional Safety</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26" name="テキスト ボックス 6"/>
          <p:cNvSpPr txBox="1">
            <a:spLocks noChangeArrowheads="1"/>
          </p:cNvSpPr>
          <p:nvPr/>
        </p:nvSpPr>
        <p:spPr bwMode="auto">
          <a:xfrm>
            <a:off x="250825" y="902350"/>
            <a:ext cx="424916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ECU</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Quality Guideline</a:t>
            </a:r>
          </a:p>
          <a:p>
            <a:pPr algn="l" eaLnBrk="1" hangingPunct="1"/>
            <a:r>
              <a:rPr lang="en-US" altLang="ja-JP" sz="1200">
                <a:latin typeface="Meiryo UI" panose="020B0604030504040204" pitchFamily="50" charset="-128"/>
                <a:ea typeface="Meiryo UI" panose="020B0604030504040204" pitchFamily="50" charset="-128"/>
                <a:cs typeface="Arial" pitchFamily="34" charset="0"/>
              </a:rPr>
              <a:t>     Purpose</a:t>
            </a:r>
            <a:r>
              <a:rPr lang="ja-JP" altLang="en-US" sz="1200">
                <a:latin typeface="Meiryo UI" panose="020B0604030504040204" pitchFamily="50" charset="-128"/>
                <a:ea typeface="Meiryo UI" panose="020B0604030504040204" pitchFamily="50" charset="-128"/>
                <a:cs typeface="Arial" pitchFamily="34" charset="0"/>
              </a:rPr>
              <a:t>： </a:t>
            </a:r>
            <a:r>
              <a:rPr lang="en-US" altLang="ja-JP" sz="1200">
                <a:latin typeface="Meiryo UI" panose="020B0604030504040204" pitchFamily="50" charset="-128"/>
                <a:ea typeface="Meiryo UI" panose="020B0604030504040204" pitchFamily="50" charset="-128"/>
                <a:cs typeface="Arial" pitchFamily="34" charset="0"/>
              </a:rPr>
              <a:t>To</a:t>
            </a:r>
            <a:r>
              <a:rPr lang="ja-JP" altLang="en-US" sz="1200">
                <a:latin typeface="Meiryo UI" panose="020B0604030504040204" pitchFamily="50" charset="-128"/>
                <a:ea typeface="Meiryo UI" panose="020B0604030504040204" pitchFamily="50" charset="-128"/>
                <a:cs typeface="Arial" pitchFamily="34" charset="0"/>
              </a:rPr>
              <a:t>　</a:t>
            </a:r>
            <a:r>
              <a:rPr lang="en-US" altLang="ja-JP" sz="1200">
                <a:latin typeface="Meiryo UI" panose="020B0604030504040204" pitchFamily="50" charset="-128"/>
                <a:ea typeface="Meiryo UI" panose="020B0604030504040204" pitchFamily="50" charset="-128"/>
                <a:cs typeface="Arial" pitchFamily="34" charset="0"/>
              </a:rPr>
              <a:t>achieve incomparable ECU quality</a:t>
            </a:r>
          </a:p>
        </p:txBody>
      </p:sp>
      <p:sp>
        <p:nvSpPr>
          <p:cNvPr id="129" name="正方形/長方形 2"/>
          <p:cNvSpPr>
            <a:spLocks noChangeArrowheads="1"/>
          </p:cNvSpPr>
          <p:nvPr/>
        </p:nvSpPr>
        <p:spPr bwMode="auto">
          <a:xfrm>
            <a:off x="250830" y="1771774"/>
            <a:ext cx="4231254" cy="1873250"/>
          </a:xfrm>
          <a:prstGeom prst="rect">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grpSp>
        <p:nvGrpSpPr>
          <p:cNvPr id="130" name="Group 30"/>
          <p:cNvGrpSpPr>
            <a:grpSpLocks/>
          </p:cNvGrpSpPr>
          <p:nvPr/>
        </p:nvGrpSpPr>
        <p:grpSpPr bwMode="auto">
          <a:xfrm>
            <a:off x="2123728" y="4486365"/>
            <a:ext cx="203200" cy="227012"/>
            <a:chOff x="432" y="2592"/>
            <a:chExt cx="128" cy="176"/>
          </a:xfrm>
        </p:grpSpPr>
        <p:sp>
          <p:nvSpPr>
            <p:cNvPr id="131" name="Rectangle 31"/>
            <p:cNvSpPr>
              <a:spLocks noChangeArrowheads="1"/>
            </p:cNvSpPr>
            <p:nvPr/>
          </p:nvSpPr>
          <p:spPr bwMode="auto">
            <a:xfrm>
              <a:off x="464" y="2624"/>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2" name="Rectangle 32"/>
            <p:cNvSpPr>
              <a:spLocks noChangeArrowheads="1"/>
            </p:cNvSpPr>
            <p:nvPr/>
          </p:nvSpPr>
          <p:spPr bwMode="auto">
            <a:xfrm>
              <a:off x="432" y="2592"/>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133" name="Line 21"/>
          <p:cNvSpPr>
            <a:spLocks noChangeShapeType="1"/>
          </p:cNvSpPr>
          <p:nvPr/>
        </p:nvSpPr>
        <p:spPr bwMode="auto">
          <a:xfrm flipV="1">
            <a:off x="4258928" y="4380870"/>
            <a:ext cx="1" cy="553118"/>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4" name="Freeform 43"/>
          <p:cNvSpPr>
            <a:spLocks/>
          </p:cNvSpPr>
          <p:nvPr/>
        </p:nvSpPr>
        <p:spPr bwMode="auto">
          <a:xfrm>
            <a:off x="3694192" y="4477739"/>
            <a:ext cx="457200" cy="228600"/>
          </a:xfrm>
          <a:custGeom>
            <a:avLst/>
            <a:gdLst>
              <a:gd name="T0" fmla="*/ 2147483647 w 624"/>
              <a:gd name="T1" fmla="*/ 0 h 288"/>
              <a:gd name="T2" fmla="*/ 2147483647 w 624"/>
              <a:gd name="T3" fmla="*/ 0 h 288"/>
              <a:gd name="T4" fmla="*/ 2147483647 w 624"/>
              <a:gd name="T5" fmla="*/ 2147483647 h 288"/>
              <a:gd name="T6" fmla="*/ 0 w 624"/>
              <a:gd name="T7" fmla="*/ 2147483647 h 288"/>
              <a:gd name="T8" fmla="*/ 2147483647 w 62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288">
                <a:moveTo>
                  <a:pt x="144" y="0"/>
                </a:moveTo>
                <a:lnTo>
                  <a:pt x="624" y="0"/>
                </a:lnTo>
                <a:lnTo>
                  <a:pt x="624" y="288"/>
                </a:lnTo>
                <a:lnTo>
                  <a:pt x="0" y="288"/>
                </a:lnTo>
                <a:lnTo>
                  <a:pt x="144" y="0"/>
                </a:lnTo>
                <a:close/>
              </a:path>
            </a:pathLst>
          </a:cu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5" name="Text Box 44"/>
          <p:cNvSpPr txBox="1">
            <a:spLocks noChangeArrowheads="1"/>
          </p:cNvSpPr>
          <p:nvPr/>
        </p:nvSpPr>
        <p:spPr bwMode="auto">
          <a:xfrm>
            <a:off x="3885828" y="4531463"/>
            <a:ext cx="15068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000">
                <a:solidFill>
                  <a:srgbClr val="000000"/>
                </a:solidFill>
                <a:latin typeface="Meiryo UI" panose="020B0604030504040204" pitchFamily="50" charset="-128"/>
                <a:ea typeface="Meiryo UI" panose="020B0604030504040204" pitchFamily="50" charset="-128"/>
              </a:rPr>
              <a:t>0x</a:t>
            </a:r>
            <a:endParaRPr lang="ja-JP" altLang="en-US" sz="1000">
              <a:solidFill>
                <a:srgbClr val="000000"/>
              </a:solidFill>
              <a:latin typeface="Meiryo UI" panose="020B0604030504040204" pitchFamily="50" charset="-128"/>
              <a:ea typeface="Meiryo UI" panose="020B0604030504040204" pitchFamily="50" charset="-128"/>
            </a:endParaRPr>
          </a:p>
        </p:txBody>
      </p:sp>
      <p:sp>
        <p:nvSpPr>
          <p:cNvPr id="136" name="Line 42"/>
          <p:cNvSpPr>
            <a:spLocks noChangeShapeType="1"/>
          </p:cNvSpPr>
          <p:nvPr/>
        </p:nvSpPr>
        <p:spPr bwMode="auto">
          <a:xfrm>
            <a:off x="2356519" y="4706339"/>
            <a:ext cx="13513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7" name="Freeform 43"/>
          <p:cNvSpPr>
            <a:spLocks/>
          </p:cNvSpPr>
          <p:nvPr/>
        </p:nvSpPr>
        <p:spPr bwMode="auto">
          <a:xfrm>
            <a:off x="7091298" y="4474925"/>
            <a:ext cx="457200" cy="228600"/>
          </a:xfrm>
          <a:custGeom>
            <a:avLst/>
            <a:gdLst>
              <a:gd name="T0" fmla="*/ 2147483647 w 624"/>
              <a:gd name="T1" fmla="*/ 0 h 288"/>
              <a:gd name="T2" fmla="*/ 2147483647 w 624"/>
              <a:gd name="T3" fmla="*/ 0 h 288"/>
              <a:gd name="T4" fmla="*/ 2147483647 w 624"/>
              <a:gd name="T5" fmla="*/ 2147483647 h 288"/>
              <a:gd name="T6" fmla="*/ 0 w 624"/>
              <a:gd name="T7" fmla="*/ 2147483647 h 288"/>
              <a:gd name="T8" fmla="*/ 2147483647 w 62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288">
                <a:moveTo>
                  <a:pt x="144" y="0"/>
                </a:moveTo>
                <a:lnTo>
                  <a:pt x="624" y="0"/>
                </a:lnTo>
                <a:lnTo>
                  <a:pt x="624" y="288"/>
                </a:lnTo>
                <a:lnTo>
                  <a:pt x="0" y="288"/>
                </a:lnTo>
                <a:lnTo>
                  <a:pt x="144" y="0"/>
                </a:lnTo>
                <a:close/>
              </a:path>
            </a:pathLst>
          </a:cu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38" name="Text Box 44"/>
          <p:cNvSpPr txBox="1">
            <a:spLocks noChangeArrowheads="1"/>
          </p:cNvSpPr>
          <p:nvPr/>
        </p:nvSpPr>
        <p:spPr bwMode="auto">
          <a:xfrm>
            <a:off x="7240848" y="4528649"/>
            <a:ext cx="27732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000">
                <a:solidFill>
                  <a:srgbClr val="000000"/>
                </a:solidFill>
                <a:latin typeface="Meiryo UI" panose="020B0604030504040204" pitchFamily="50" charset="-128"/>
                <a:ea typeface="Meiryo UI" panose="020B0604030504040204" pitchFamily="50" charset="-128"/>
              </a:rPr>
              <a:t>DAN</a:t>
            </a:r>
            <a:endParaRPr lang="ja-JP" altLang="en-US" sz="1000">
              <a:solidFill>
                <a:srgbClr val="000000"/>
              </a:solidFill>
              <a:latin typeface="Meiryo UI" panose="020B0604030504040204" pitchFamily="50" charset="-128"/>
              <a:ea typeface="Meiryo UI" panose="020B0604030504040204" pitchFamily="50" charset="-128"/>
            </a:endParaRPr>
          </a:p>
        </p:txBody>
      </p:sp>
      <p:sp>
        <p:nvSpPr>
          <p:cNvPr id="139" name="Oval 17"/>
          <p:cNvSpPr>
            <a:spLocks noChangeArrowheads="1"/>
          </p:cNvSpPr>
          <p:nvPr/>
        </p:nvSpPr>
        <p:spPr bwMode="auto">
          <a:xfrm>
            <a:off x="6923730" y="4158024"/>
            <a:ext cx="335138"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V3</a:t>
            </a:r>
          </a:p>
        </p:txBody>
      </p:sp>
      <p:sp>
        <p:nvSpPr>
          <p:cNvPr id="140" name="テキスト ボックス 5"/>
          <p:cNvSpPr txBox="1">
            <a:spLocks noChangeArrowheads="1"/>
          </p:cNvSpPr>
          <p:nvPr/>
        </p:nvSpPr>
        <p:spPr bwMode="auto">
          <a:xfrm>
            <a:off x="35497" y="3724663"/>
            <a:ext cx="88931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Schedule Image</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41" name="Rectangle 65"/>
          <p:cNvSpPr>
            <a:spLocks noChangeArrowheads="1"/>
          </p:cNvSpPr>
          <p:nvPr/>
        </p:nvSpPr>
        <p:spPr bwMode="auto">
          <a:xfrm>
            <a:off x="2143216" y="3725689"/>
            <a:ext cx="169148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ja-JP" sz="1600" b="1" u="sng">
                <a:latin typeface="Meiryo UI" panose="020B0604030504040204" pitchFamily="50" charset="-128"/>
                <a:ea typeface="Meiryo UI" panose="020B0604030504040204" pitchFamily="50" charset="-128"/>
              </a:rPr>
              <a:t>展開計画イメージ</a:t>
            </a:r>
            <a:endParaRPr lang="ja-JP" altLang="en-US" sz="1600" b="1" u="sng">
              <a:latin typeface="Meiryo UI" panose="020B0604030504040204" pitchFamily="50" charset="-128"/>
              <a:ea typeface="Meiryo UI" panose="020B0604030504040204" pitchFamily="50" charset="-128"/>
            </a:endParaRPr>
          </a:p>
        </p:txBody>
      </p:sp>
      <p:sp>
        <p:nvSpPr>
          <p:cNvPr id="142" name="テキスト ボックス 5"/>
          <p:cNvSpPr txBox="1">
            <a:spLocks noChangeArrowheads="1"/>
          </p:cNvSpPr>
          <p:nvPr/>
        </p:nvSpPr>
        <p:spPr bwMode="auto">
          <a:xfrm>
            <a:off x="4847107" y="517740"/>
            <a:ext cx="31542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600" b="1" u="sng">
                <a:latin typeface="Meiryo UI" panose="020B0604030504040204" pitchFamily="50" charset="-128"/>
                <a:ea typeface="Meiryo UI" panose="020B0604030504040204" pitchFamily="50" charset="-128"/>
              </a:rPr>
              <a:t>ECU</a:t>
            </a:r>
            <a:r>
              <a:rPr lang="ja-JP" altLang="en-US" sz="1600" b="1" u="sng">
                <a:latin typeface="Meiryo UI" panose="020B0604030504040204" pitchFamily="50" charset="-128"/>
                <a:ea typeface="Meiryo UI" panose="020B0604030504040204" pitchFamily="50" charset="-128"/>
              </a:rPr>
              <a:t>品質保証・機能安全</a:t>
            </a:r>
          </a:p>
        </p:txBody>
      </p:sp>
      <p:sp>
        <p:nvSpPr>
          <p:cNvPr id="143" name="テキスト ボックス 6"/>
          <p:cNvSpPr txBox="1">
            <a:spLocks noChangeArrowheads="1"/>
          </p:cNvSpPr>
          <p:nvPr/>
        </p:nvSpPr>
        <p:spPr bwMode="auto">
          <a:xfrm>
            <a:off x="262906" y="1369987"/>
            <a:ext cx="234551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ja-JP" altLang="en-US" sz="1400">
                <a:solidFill>
                  <a:srgbClr val="FFFFFF">
                    <a:lumMod val="50000"/>
                  </a:srgbClr>
                </a:solidFill>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目的：</a:t>
            </a:r>
            <a:r>
              <a:rPr lang="en-US" altLang="ja-JP" sz="1400">
                <a:latin typeface="Meiryo UI" panose="020B0604030504040204" pitchFamily="50" charset="-128"/>
                <a:ea typeface="Meiryo UI" panose="020B0604030504040204" pitchFamily="50" charset="-128"/>
              </a:rPr>
              <a:t>ECU</a:t>
            </a:r>
            <a:r>
              <a:rPr lang="ja-JP" altLang="en-US" sz="1400">
                <a:latin typeface="Meiryo UI" panose="020B0604030504040204" pitchFamily="50" charset="-128"/>
                <a:ea typeface="Meiryo UI" panose="020B0604030504040204" pitchFamily="50" charset="-128"/>
              </a:rPr>
              <a:t>品質向上項目</a:t>
            </a:r>
            <a:endParaRPr lang="en-US" altLang="ja-JP" sz="1400">
              <a:latin typeface="Meiryo UI" panose="020B0604030504040204" pitchFamily="50" charset="-128"/>
              <a:ea typeface="Meiryo UI" panose="020B0604030504040204" pitchFamily="50" charset="-128"/>
            </a:endParaRPr>
          </a:p>
        </p:txBody>
      </p:sp>
      <p:sp>
        <p:nvSpPr>
          <p:cNvPr id="145" name="AutoShape 25"/>
          <p:cNvSpPr>
            <a:spLocks noChangeArrowheads="1"/>
          </p:cNvSpPr>
          <p:nvPr/>
        </p:nvSpPr>
        <p:spPr bwMode="auto">
          <a:xfrm>
            <a:off x="3340085" y="4854368"/>
            <a:ext cx="242402" cy="298430"/>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F1</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146" name="Line 21"/>
          <p:cNvSpPr>
            <a:spLocks noChangeShapeType="1"/>
          </p:cNvSpPr>
          <p:nvPr/>
        </p:nvSpPr>
        <p:spPr bwMode="auto">
          <a:xfrm flipH="1" flipV="1">
            <a:off x="7040027" y="4371927"/>
            <a:ext cx="0" cy="553399"/>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47" name="AutoShape 25"/>
          <p:cNvSpPr>
            <a:spLocks noChangeArrowheads="1"/>
          </p:cNvSpPr>
          <p:nvPr/>
        </p:nvSpPr>
        <p:spPr bwMode="auto">
          <a:xfrm>
            <a:off x="6853899" y="4852999"/>
            <a:ext cx="361884" cy="290857"/>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V3</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148" name="Text Box 70"/>
          <p:cNvSpPr txBox="1">
            <a:spLocks noChangeArrowheads="1"/>
          </p:cNvSpPr>
          <p:nvPr/>
        </p:nvSpPr>
        <p:spPr bwMode="auto">
          <a:xfrm>
            <a:off x="1331641" y="6340852"/>
            <a:ext cx="801836" cy="338554"/>
          </a:xfrm>
          <a:prstGeom prst="rect">
            <a:avLst/>
          </a:prstGeom>
          <a:solidFill>
            <a:schemeClr val="accent1">
              <a:lumMod val="20000"/>
              <a:lumOff val="80000"/>
            </a:schemeClr>
          </a:solidFill>
          <a:ln>
            <a:solidFill>
              <a:schemeClr val="tx1"/>
            </a:solidFill>
          </a:ln>
          <a:effectLst/>
        </p:spPr>
        <p:txBody>
          <a:bodyPr wrap="square" lIns="0" tIns="0" rIns="0" bIns="0">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100">
                <a:solidFill>
                  <a:srgbClr val="000000"/>
                </a:solidFill>
                <a:latin typeface="Meiryo UI" panose="020B0604030504040204" pitchFamily="50" charset="-128"/>
                <a:ea typeface="Meiryo UI" panose="020B0604030504040204" pitchFamily="50" charset="-128"/>
              </a:rPr>
              <a:t>Exchange </a:t>
            </a:r>
          </a:p>
          <a:p>
            <a:pPr eaLnBrk="1" hangingPunct="1"/>
            <a:r>
              <a:rPr lang="en-US" altLang="ja-JP" sz="1100">
                <a:solidFill>
                  <a:srgbClr val="000000"/>
                </a:solidFill>
                <a:latin typeface="Meiryo UI" panose="020B0604030504040204" pitchFamily="50" charset="-128"/>
                <a:ea typeface="Meiryo UI" panose="020B0604030504040204" pitchFamily="50" charset="-128"/>
              </a:rPr>
              <a:t>of DIA</a:t>
            </a:r>
          </a:p>
        </p:txBody>
      </p:sp>
      <p:sp>
        <p:nvSpPr>
          <p:cNvPr id="149" name="AutoShape 25"/>
          <p:cNvSpPr>
            <a:spLocks noChangeArrowheads="1"/>
          </p:cNvSpPr>
          <p:nvPr/>
        </p:nvSpPr>
        <p:spPr bwMode="auto">
          <a:xfrm>
            <a:off x="4064713" y="4861943"/>
            <a:ext cx="361884" cy="290857"/>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F2</a:t>
            </a:r>
            <a:endParaRPr lang="ja-JP" altLang="en-US" sz="1200">
              <a:solidFill>
                <a:srgbClr val="000000"/>
              </a:solidFill>
              <a:latin typeface="Meiryo UI" panose="020B0604030504040204" pitchFamily="50" charset="-128"/>
              <a:ea typeface="Meiryo UI" panose="020B0604030504040204" pitchFamily="50" charset="-128"/>
            </a:endParaRPr>
          </a:p>
        </p:txBody>
      </p:sp>
      <p:grpSp>
        <p:nvGrpSpPr>
          <p:cNvPr id="150" name="Group 30"/>
          <p:cNvGrpSpPr>
            <a:grpSpLocks/>
          </p:cNvGrpSpPr>
          <p:nvPr/>
        </p:nvGrpSpPr>
        <p:grpSpPr bwMode="auto">
          <a:xfrm>
            <a:off x="6565796" y="4467887"/>
            <a:ext cx="203200" cy="227012"/>
            <a:chOff x="432" y="2592"/>
            <a:chExt cx="128" cy="176"/>
          </a:xfrm>
        </p:grpSpPr>
        <p:sp>
          <p:nvSpPr>
            <p:cNvPr id="151" name="Rectangle 31"/>
            <p:cNvSpPr>
              <a:spLocks noChangeArrowheads="1"/>
            </p:cNvSpPr>
            <p:nvPr/>
          </p:nvSpPr>
          <p:spPr bwMode="auto">
            <a:xfrm>
              <a:off x="464" y="2624"/>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52" name="Rectangle 32"/>
            <p:cNvSpPr>
              <a:spLocks noChangeArrowheads="1"/>
            </p:cNvSpPr>
            <p:nvPr/>
          </p:nvSpPr>
          <p:spPr bwMode="auto">
            <a:xfrm>
              <a:off x="432" y="2592"/>
              <a:ext cx="96" cy="144"/>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153" name="Line 42"/>
          <p:cNvSpPr>
            <a:spLocks noChangeShapeType="1"/>
          </p:cNvSpPr>
          <p:nvPr/>
        </p:nvSpPr>
        <p:spPr bwMode="auto">
          <a:xfrm flipV="1">
            <a:off x="6583924" y="4699017"/>
            <a:ext cx="964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160" name="Oval 16"/>
          <p:cNvSpPr>
            <a:spLocks noChangeArrowheads="1"/>
          </p:cNvSpPr>
          <p:nvPr/>
        </p:nvSpPr>
        <p:spPr bwMode="auto">
          <a:xfrm>
            <a:off x="5606613" y="4159386"/>
            <a:ext cx="335138"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V2</a:t>
            </a:r>
          </a:p>
        </p:txBody>
      </p:sp>
      <p:sp>
        <p:nvSpPr>
          <p:cNvPr id="161" name="Oval 16"/>
          <p:cNvSpPr>
            <a:spLocks noChangeArrowheads="1"/>
          </p:cNvSpPr>
          <p:nvPr/>
        </p:nvSpPr>
        <p:spPr bwMode="auto">
          <a:xfrm>
            <a:off x="5112838" y="4153290"/>
            <a:ext cx="335138"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V1</a:t>
            </a:r>
          </a:p>
        </p:txBody>
      </p:sp>
      <p:sp>
        <p:nvSpPr>
          <p:cNvPr id="162" name="Oval 16"/>
          <p:cNvSpPr>
            <a:spLocks noChangeArrowheads="1"/>
          </p:cNvSpPr>
          <p:nvPr/>
        </p:nvSpPr>
        <p:spPr bwMode="auto">
          <a:xfrm>
            <a:off x="3261959" y="4159386"/>
            <a:ext cx="391491" cy="290346"/>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spAutoFit/>
          </a:bodyPr>
          <a:lstStyle/>
          <a:p>
            <a:r>
              <a:rPr lang="en-US" altLang="ja-JP" sz="1200">
                <a:solidFill>
                  <a:srgbClr val="000000"/>
                </a:solidFill>
                <a:latin typeface="Meiryo UI" panose="020B0604030504040204" pitchFamily="50" charset="-128"/>
                <a:ea typeface="Meiryo UI" panose="020B0604030504040204" pitchFamily="50" charset="-128"/>
              </a:rPr>
              <a:t>F</a:t>
            </a:r>
            <a:r>
              <a:rPr lang="ja-JP" altLang="en-US" sz="1200">
                <a:solidFill>
                  <a:srgbClr val="000000"/>
                </a:solidFill>
                <a:latin typeface="Meiryo UI" panose="020B0604030504040204" pitchFamily="50" charset="-128"/>
                <a:ea typeface="Meiryo UI" panose="020B0604030504040204" pitchFamily="50" charset="-128"/>
              </a:rPr>
              <a:t>１</a:t>
            </a:r>
            <a:endParaRPr lang="en-US" altLang="ja-JP" sz="1200">
              <a:solidFill>
                <a:srgbClr val="000000"/>
              </a:solidFill>
              <a:latin typeface="Meiryo UI" panose="020B0604030504040204" pitchFamily="50" charset="-128"/>
              <a:ea typeface="Meiryo UI" panose="020B0604030504040204" pitchFamily="50" charset="-128"/>
            </a:endParaRPr>
          </a:p>
        </p:txBody>
      </p:sp>
      <p:sp>
        <p:nvSpPr>
          <p:cNvPr id="163" name="AutoShape 25"/>
          <p:cNvSpPr>
            <a:spLocks noChangeArrowheads="1"/>
          </p:cNvSpPr>
          <p:nvPr/>
        </p:nvSpPr>
        <p:spPr bwMode="auto">
          <a:xfrm>
            <a:off x="5617343" y="4859715"/>
            <a:ext cx="361884" cy="290857"/>
          </a:xfrm>
          <a:prstGeom prst="roundRect">
            <a:avLst>
              <a:gd name="adj" fmla="val 16667"/>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noAutofit/>
          </a:bodyPr>
          <a:lstStyle/>
          <a:p>
            <a:r>
              <a:rPr lang="en-US" altLang="ja-JP" sz="1200">
                <a:solidFill>
                  <a:srgbClr val="000000"/>
                </a:solidFill>
                <a:latin typeface="Meiryo UI" panose="020B0604030504040204" pitchFamily="50" charset="-128"/>
                <a:ea typeface="Meiryo UI" panose="020B0604030504040204" pitchFamily="50" charset="-128"/>
              </a:rPr>
              <a:t>V2</a:t>
            </a:r>
            <a:endParaRPr lang="ja-JP" altLang="en-US" sz="1200">
              <a:solidFill>
                <a:srgbClr val="000000"/>
              </a:solidFill>
              <a:latin typeface="Meiryo UI" panose="020B0604030504040204" pitchFamily="50" charset="-128"/>
              <a:ea typeface="Meiryo UI" panose="020B0604030504040204" pitchFamily="50" charset="-128"/>
            </a:endParaRPr>
          </a:p>
        </p:txBody>
      </p:sp>
      <p:sp>
        <p:nvSpPr>
          <p:cNvPr id="94" name="テキスト ボックス 6"/>
          <p:cNvSpPr txBox="1">
            <a:spLocks noChangeArrowheads="1"/>
          </p:cNvSpPr>
          <p:nvPr/>
        </p:nvSpPr>
        <p:spPr bwMode="auto">
          <a:xfrm>
            <a:off x="4757697" y="924007"/>
            <a:ext cx="44275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Functional Safety</a:t>
            </a:r>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ISO26262</a:t>
            </a:r>
            <a:r>
              <a:rPr lang="ja-JP" altLang="en-US" sz="1400">
                <a:latin typeface="Meiryo UI" panose="020B0604030504040204" pitchFamily="50" charset="-128"/>
                <a:ea typeface="Meiryo UI" panose="020B0604030504040204" pitchFamily="50" charset="-128"/>
                <a:cs typeface="Arial" pitchFamily="34" charset="0"/>
              </a:rPr>
              <a:t>）</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r>
              <a:rPr lang="en-US" altLang="ja-JP" sz="1400">
                <a:latin typeface="Meiryo UI" panose="020B0604030504040204" pitchFamily="50" charset="-128"/>
                <a:ea typeface="Meiryo UI" panose="020B0604030504040204" pitchFamily="50" charset="-128"/>
                <a:cs typeface="Arial" pitchFamily="34" charset="0"/>
              </a:rPr>
              <a:t>     Purpose : To apply standard ISO26262:2018</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95" name="正方形/長方形 137"/>
          <p:cNvSpPr>
            <a:spLocks noChangeArrowheads="1"/>
          </p:cNvSpPr>
          <p:nvPr/>
        </p:nvSpPr>
        <p:spPr bwMode="auto">
          <a:xfrm>
            <a:off x="4716466" y="1771774"/>
            <a:ext cx="4176712" cy="1873250"/>
          </a:xfrm>
          <a:prstGeom prst="rect">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97" name="テキスト ボックス 6"/>
          <p:cNvSpPr txBox="1">
            <a:spLocks noChangeArrowheads="1"/>
          </p:cNvSpPr>
          <p:nvPr/>
        </p:nvSpPr>
        <p:spPr bwMode="auto">
          <a:xfrm>
            <a:off x="4757580" y="1367217"/>
            <a:ext cx="29931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ja-JP" altLang="en-US" sz="1400">
                <a:solidFill>
                  <a:srgbClr val="FFFFFF">
                    <a:lumMod val="50000"/>
                  </a:srgbClr>
                </a:solidFill>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目的：</a:t>
            </a:r>
            <a:r>
              <a:rPr lang="en-US" altLang="ja-JP" sz="1400">
                <a:latin typeface="Meiryo UI" panose="020B0604030504040204" pitchFamily="50" charset="-128"/>
                <a:ea typeface="Meiryo UI" panose="020B0604030504040204" pitchFamily="50" charset="-128"/>
              </a:rPr>
              <a:t>ISO26262</a:t>
            </a:r>
            <a:r>
              <a:rPr lang="ja-JP" altLang="en-US" sz="1400">
                <a:latin typeface="Meiryo UI" panose="020B0604030504040204" pitchFamily="50" charset="-128"/>
                <a:ea typeface="Meiryo UI" panose="020B0604030504040204" pitchFamily="50" charset="-128"/>
              </a:rPr>
              <a:t>規約に準ずること</a:t>
            </a:r>
          </a:p>
        </p:txBody>
      </p:sp>
      <p:sp>
        <p:nvSpPr>
          <p:cNvPr id="75"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(21/31)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76" name="コンテンツ プレースホルダー 2">
            <a:extLst>
              <a:ext uri="{FF2B5EF4-FFF2-40B4-BE49-F238E27FC236}">
                <a16:creationId xmlns:a16="http://schemas.microsoft.com/office/drawing/2014/main" id="{BFF557CC-4ED1-419C-9564-332D0E684784}"/>
              </a:ext>
            </a:extLst>
          </p:cNvPr>
          <p:cNvSpPr txBox="1">
            <a:spLocks/>
          </p:cNvSpPr>
          <p:nvPr>
            <p:custDataLst>
              <p:tags r:id="rId1"/>
            </p:custDataLst>
          </p:nvPr>
        </p:nvSpPr>
        <p:spPr bwMode="auto">
          <a:xfrm>
            <a:off x="501333" y="2237199"/>
            <a:ext cx="3781484" cy="811632"/>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a:t>
            </a:r>
          </a:p>
          <a:p>
            <a:pPr marL="0" indent="0">
              <a:lnSpc>
                <a:spcPct val="105000"/>
              </a:lnSpc>
              <a:spcBef>
                <a:spcPts val="600"/>
              </a:spcBef>
              <a:spcAft>
                <a:spcPts val="0"/>
              </a:spcAft>
            </a:pPr>
            <a:r>
              <a:rPr lang="en-US" altLang="ja-JP" sz="1400" b="1" kern="0">
                <a:latin typeface="Meiryo UI" panose="020B0604030504040204" pitchFamily="50" charset="-128"/>
              </a:rPr>
              <a:t>“ECU Quality Guideline.”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
        <p:nvSpPr>
          <p:cNvPr id="77" name="コンテンツ プレースホルダー 2">
            <a:extLst>
              <a:ext uri="{FF2B5EF4-FFF2-40B4-BE49-F238E27FC236}">
                <a16:creationId xmlns:a16="http://schemas.microsoft.com/office/drawing/2014/main" id="{B766F6A2-A4AF-49A7-B3EB-2D776529F9A3}"/>
              </a:ext>
            </a:extLst>
          </p:cNvPr>
          <p:cNvSpPr txBox="1">
            <a:spLocks/>
          </p:cNvSpPr>
          <p:nvPr>
            <p:custDataLst>
              <p:tags r:id="rId2"/>
            </p:custDataLst>
          </p:nvPr>
        </p:nvSpPr>
        <p:spPr bwMode="auto">
          <a:xfrm>
            <a:off x="4897870" y="2830452"/>
            <a:ext cx="3781484" cy="657744"/>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a:t>
            </a:r>
          </a:p>
          <a:p>
            <a:pPr marL="0" indent="0">
              <a:lnSpc>
                <a:spcPct val="105000"/>
              </a:lnSpc>
              <a:spcBef>
                <a:spcPts val="0"/>
              </a:spcBef>
              <a:spcAft>
                <a:spcPts val="0"/>
              </a:spcAft>
            </a:pPr>
            <a:r>
              <a:rPr lang="en-US" altLang="ja-JP" sz="1400" b="1" kern="0">
                <a:latin typeface="Meiryo UI" panose="020B0604030504040204" pitchFamily="50" charset="-128"/>
              </a:rPr>
              <a:t>“DTM-RSS-04F.”</a:t>
            </a:r>
          </a:p>
          <a:p>
            <a:pPr marL="0" indent="0">
              <a:lnSpc>
                <a:spcPct val="105000"/>
              </a:lnSpc>
              <a:spcBef>
                <a:spcPts val="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
        <p:nvSpPr>
          <p:cNvPr id="78" name="コンテンツ プレースホルダー 2">
            <a:extLst>
              <a:ext uri="{FF2B5EF4-FFF2-40B4-BE49-F238E27FC236}">
                <a16:creationId xmlns:a16="http://schemas.microsoft.com/office/drawing/2014/main" id="{7E362D3F-D51A-46AA-84DA-17C7E631DDB7}"/>
              </a:ext>
            </a:extLst>
          </p:cNvPr>
          <p:cNvSpPr txBox="1">
            <a:spLocks/>
          </p:cNvSpPr>
          <p:nvPr>
            <p:custDataLst>
              <p:tags r:id="rId3"/>
            </p:custDataLst>
          </p:nvPr>
        </p:nvSpPr>
        <p:spPr bwMode="auto">
          <a:xfrm>
            <a:off x="4914080" y="1928804"/>
            <a:ext cx="3781484" cy="657744"/>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a:t>
            </a:r>
          </a:p>
          <a:p>
            <a:pPr marL="0" indent="0">
              <a:lnSpc>
                <a:spcPct val="105000"/>
              </a:lnSpc>
              <a:spcBef>
                <a:spcPts val="0"/>
              </a:spcBef>
              <a:spcAft>
                <a:spcPts val="0"/>
              </a:spcAft>
            </a:pPr>
            <a:r>
              <a:rPr lang="en-US" altLang="ja-JP" sz="1400" b="1" kern="0">
                <a:latin typeface="Meiryo UI" panose="020B0604030504040204" pitchFamily="50" charset="-128"/>
              </a:rPr>
              <a:t>“DTM-RSS-04E.”</a:t>
            </a:r>
          </a:p>
          <a:p>
            <a:pPr marL="0" indent="0">
              <a:lnSpc>
                <a:spcPct val="105000"/>
              </a:lnSpc>
              <a:spcBef>
                <a:spcPts val="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 &amp; quality</a:t>
            </a:r>
            <a:r>
              <a:rPr lang="en-US" sz="1400" b="1" kern="0">
                <a:latin typeface="Meiryo UI" panose="020B0604030504040204" pitchFamily="50" charset="-128"/>
              </a:rPr>
              <a:t>”</a:t>
            </a:r>
          </a:p>
        </p:txBody>
      </p:sp>
    </p:spTree>
    <p:extLst>
      <p:ext uri="{BB962C8B-B14F-4D97-AF65-F5344CB8AC3E}">
        <p14:creationId xmlns:p14="http://schemas.microsoft.com/office/powerpoint/2010/main" val="380657796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119372" y="565005"/>
            <a:ext cx="76025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anose="020B0604020202020204" pitchFamily="34" charset="0"/>
              </a:rPr>
              <a:t>HEX Features (Honda proposal for </a:t>
            </a:r>
            <a:r>
              <a:rPr lang="en-US" altLang="ja-JP" sz="1800" b="1" u="sng">
                <a:solidFill>
                  <a:srgbClr val="0000FF"/>
                </a:solidFill>
                <a:latin typeface="Meiryo UI" panose="020B0604030504040204" pitchFamily="50" charset="-128"/>
                <a:ea typeface="Meiryo UI" panose="020B0604030504040204" pitchFamily="50" charset="-128"/>
                <a:cs typeface="Arial" panose="020B0604020202020204" pitchFamily="34" charset="0"/>
              </a:rPr>
              <a:t>BOSCH</a:t>
            </a:r>
            <a:r>
              <a:rPr kumimoji="1" lang="en-US" altLang="ja-JP" sz="1800" b="1"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anose="020B0604020202020204" pitchFamily="34" charset="0"/>
              </a:rPr>
              <a:t>)</a:t>
            </a:r>
            <a:endParaRPr kumimoji="1" lang="ja-JP" altLang="en-US" sz="1800" b="1" i="0" u="sng" strike="noStrike" kern="1200" cap="none" spc="0" normalizeH="0" baseline="0" noProof="0">
              <a:ln>
                <a:noFill/>
              </a:ln>
              <a:effectLst/>
              <a:uLnTx/>
              <a:uFillTx/>
              <a:latin typeface="Meiryo UI" panose="020B0604030504040204" pitchFamily="50" charset="-128"/>
              <a:ea typeface="Meiryo UI" panose="020B0604030504040204" pitchFamily="50" charset="-128"/>
              <a:cs typeface="Arial" panose="020B0604020202020204" pitchFamily="34" charset="0"/>
            </a:endParaRPr>
          </a:p>
        </p:txBody>
      </p:sp>
      <p:graphicFrame>
        <p:nvGraphicFramePr>
          <p:cNvPr id="10" name="表 9"/>
          <p:cNvGraphicFramePr>
            <a:graphicFrameLocks noGrp="1"/>
          </p:cNvGraphicFramePr>
          <p:nvPr/>
        </p:nvGraphicFramePr>
        <p:xfrm>
          <a:off x="98875" y="1082922"/>
          <a:ext cx="8920124" cy="3002873"/>
        </p:xfrm>
        <a:graphic>
          <a:graphicData uri="http://schemas.openxmlformats.org/drawingml/2006/table">
            <a:tbl>
              <a:tblPr/>
              <a:tblGrid>
                <a:gridCol w="886468">
                  <a:extLst>
                    <a:ext uri="{9D8B030D-6E8A-4147-A177-3AD203B41FA5}">
                      <a16:colId xmlns:a16="http://schemas.microsoft.com/office/drawing/2014/main" val="20000"/>
                    </a:ext>
                  </a:extLst>
                </a:gridCol>
                <a:gridCol w="836023">
                  <a:extLst>
                    <a:ext uri="{9D8B030D-6E8A-4147-A177-3AD203B41FA5}">
                      <a16:colId xmlns:a16="http://schemas.microsoft.com/office/drawing/2014/main" val="20001"/>
                    </a:ext>
                  </a:extLst>
                </a:gridCol>
                <a:gridCol w="1196809">
                  <a:extLst>
                    <a:ext uri="{9D8B030D-6E8A-4147-A177-3AD203B41FA5}">
                      <a16:colId xmlns:a16="http://schemas.microsoft.com/office/drawing/2014/main" val="20002"/>
                    </a:ext>
                  </a:extLst>
                </a:gridCol>
                <a:gridCol w="789358">
                  <a:extLst>
                    <a:ext uri="{9D8B030D-6E8A-4147-A177-3AD203B41FA5}">
                      <a16:colId xmlns:a16="http://schemas.microsoft.com/office/drawing/2014/main" val="20003"/>
                    </a:ext>
                  </a:extLst>
                </a:gridCol>
                <a:gridCol w="1158167">
                  <a:extLst>
                    <a:ext uri="{9D8B030D-6E8A-4147-A177-3AD203B41FA5}">
                      <a16:colId xmlns:a16="http://schemas.microsoft.com/office/drawing/2014/main" val="20004"/>
                    </a:ext>
                  </a:extLst>
                </a:gridCol>
                <a:gridCol w="774700">
                  <a:extLst>
                    <a:ext uri="{9D8B030D-6E8A-4147-A177-3AD203B41FA5}">
                      <a16:colId xmlns:a16="http://schemas.microsoft.com/office/drawing/2014/main" val="20005"/>
                    </a:ext>
                  </a:extLst>
                </a:gridCol>
                <a:gridCol w="1092200">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639098">
                  <a:extLst>
                    <a:ext uri="{9D8B030D-6E8A-4147-A177-3AD203B41FA5}">
                      <a16:colId xmlns:a16="http://schemas.microsoft.com/office/drawing/2014/main" val="20008"/>
                    </a:ext>
                  </a:extLst>
                </a:gridCol>
                <a:gridCol w="823401">
                  <a:extLst>
                    <a:ext uri="{9D8B030D-6E8A-4147-A177-3AD203B41FA5}">
                      <a16:colId xmlns:a16="http://schemas.microsoft.com/office/drawing/2014/main" val="20009"/>
                    </a:ext>
                  </a:extLst>
                </a:gridCol>
              </a:tblGrid>
              <a:tr h="411594">
                <a:tc rowSpan="2">
                  <a:txBody>
                    <a:bodyPr/>
                    <a:lstStyle/>
                    <a:p>
                      <a:pPr algn="ctr" fontAlgn="ctr"/>
                      <a:r>
                        <a:rPr lang="ja-JP" altLang="en-US"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Event</a:t>
                      </a:r>
                      <a:endParaRPr lang="ja-JP" altLang="en-US"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Mask</a:t>
                      </a:r>
                      <a:r>
                        <a:rPr lang="ja-JP" altLang="en-US"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8">
                  <a:txBody>
                    <a:bodyPr/>
                    <a:lstStyle/>
                    <a:p>
                      <a:pPr algn="ctr" fontAlgn="ctr"/>
                      <a:r>
                        <a:rPr lang="en-US" sz="16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Features</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600" b="0" i="0" u="none" strike="noStrike">
                        <a:solidFill>
                          <a:srgbClr val="000000"/>
                        </a:solidFill>
                        <a:effectLst/>
                        <a:latin typeface="Arial" panose="020B0604020202020204" pitchFamily="34" charset="0"/>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algn="ctr" fontAlgn="ctr"/>
                      <a:endParaRPr lang="en-US" sz="1600" b="0" i="0" u="none" strike="noStrike">
                        <a:solidFill>
                          <a:srgbClr val="000000"/>
                        </a:solidFill>
                        <a:effectLst/>
                        <a:latin typeface="Arial" panose="020B0604020202020204" pitchFamily="34" charset="0"/>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729359">
                <a:tc vMerge="1">
                  <a:txBody>
                    <a:bodyPr/>
                    <a:lstStyle/>
                    <a:p>
                      <a:endParaRPr kumimoji="1" lang="ja-JP" altLang="en-US"/>
                    </a:p>
                  </a:txBody>
                  <a:tcPr/>
                </a:tc>
                <a:tc vMerge="1">
                  <a:txBody>
                    <a:bodyPr/>
                    <a:lstStyle/>
                    <a:p>
                      <a:endParaRPr kumimoji="1" lang="ja-JP" altLang="en-US"/>
                    </a:p>
                  </a:txBody>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Measurement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Lv2</a:t>
                      </a:r>
                      <a:endPar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ctr" fontAlgn="ctr"/>
                      <a:r>
                        <a:rPr lang="en-US" sz="105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Monitoring</a:t>
                      </a:r>
                      <a:endParaRPr lang="en-US" altLang="ja-JP" sz="105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CCP</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CAN1</a:t>
                      </a:r>
                    </a:p>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or</a:t>
                      </a:r>
                    </a:p>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CCP</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CAN2</a:t>
                      </a:r>
                      <a:endPar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VIN </a:t>
                      </a:r>
                      <a:r>
                        <a:rPr lang="en-US" sz="11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diagnose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Immobilizer</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ROM check</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Tuning protection</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FI-AT</a:t>
                      </a:r>
                    </a:p>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version</a:t>
                      </a:r>
                    </a:p>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check</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411594">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0X</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CCP</a:t>
                      </a:r>
                    </a:p>
                    <a:p>
                      <a:pPr algn="ctr" fontAlgn="ctr"/>
                      <a:r>
                        <a:rPr lang="en-US" altLang="ja-JP"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ON</a:t>
                      </a:r>
                      <a:endParaRPr lang="ja-JP" altLang="en-US"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*1</a:t>
                      </a:r>
                      <a:endParaRPr lang="ja-JP" altLang="en-US"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endPar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Inactive</a:t>
                      </a:r>
                    </a:p>
                    <a:p>
                      <a:pPr algn="ctr" fontAlgn="ctr"/>
                      <a:r>
                        <a:rPr lang="en-US" altLang="ja-JP" sz="12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(Development)</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p>
                      <a:pPr marL="0" marR="0" indent="0" algn="ctr" defTabSz="914400" rtl="0" eaLnBrk="1" fontAlgn="ctr" latinLnBrk="0" hangingPunct="1">
                        <a:lnSpc>
                          <a:spcPct val="100000"/>
                        </a:lnSpc>
                        <a:spcBef>
                          <a:spcPts val="0"/>
                        </a:spcBef>
                        <a:spcAft>
                          <a:spcPts val="0"/>
                        </a:spcAft>
                        <a:buClrTx/>
                        <a:buSzTx/>
                        <a:buFontTx/>
                        <a:buNone/>
                        <a:tabLst/>
                        <a:defRPr/>
                      </a:pPr>
                      <a:endPar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p>
                      <a:pPr marL="0" marR="0" indent="0" algn="ctr" defTabSz="914400" rtl="0" eaLnBrk="1" fontAlgn="ctr" latinLnBrk="0" hangingPunct="1">
                        <a:lnSpc>
                          <a:spcPct val="100000"/>
                        </a:lnSpc>
                        <a:spcBef>
                          <a:spcPts val="0"/>
                        </a:spcBef>
                        <a:spcAft>
                          <a:spcPts val="0"/>
                        </a:spcAft>
                        <a:buClrTx/>
                        <a:buSzTx/>
                        <a:buFontTx/>
                        <a:buNone/>
                        <a:tabLst/>
                        <a:defRPr/>
                      </a:pPr>
                      <a:endPar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cs typeface="Arial" panose="020B0604020202020204" pitchFamily="34" charset="0"/>
                        </a:rPr>
                        <a:t>N/A</a:t>
                      </a:r>
                      <a:endParaRPr lang="ja-JP" altLang="en-US" sz="1400">
                        <a:latin typeface="Meiryo UI" panose="020B0604030504040204" pitchFamily="50" charset="-128"/>
                        <a:cs typeface="Arial" panose="020B0604020202020204" pitchFamily="34" charset="0"/>
                      </a:endParaRPr>
                    </a:p>
                    <a:p>
                      <a:pPr algn="ctr"/>
                      <a:endParaRPr lang="ja-JP" altLang="en-US" sz="1400">
                        <a:latin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1849673"/>
                  </a:ext>
                </a:extLst>
              </a:tr>
              <a:tr h="411594">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DAN0</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MP0</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CCP</a:t>
                      </a:r>
                    </a:p>
                    <a:p>
                      <a:pPr algn="ctr" fontAlgn="ctr"/>
                      <a:r>
                        <a:rPr lang="en-US" altLang="ja-JP"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ON</a:t>
                      </a:r>
                      <a:endParaRPr lang="ja-JP" altLang="en-US"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*1</a:t>
                      </a:r>
                      <a:endParaRPr lang="ja-JP" altLang="en-US"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endPar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endParaRPr lang="en-US"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p>
                    <a:p>
                      <a:pPr algn="ctr" fontAlgn="ctr"/>
                      <a:r>
                        <a:rPr lang="en-US" altLang="ja-JP" sz="12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(Mass production)</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rPr>
                        <a:t>Inactive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cs typeface="Arial" panose="020B0604020202020204" pitchFamily="34" charset="0"/>
                        </a:rPr>
                        <a:t>N/A</a:t>
                      </a:r>
                      <a:endParaRPr lang="ja-JP" altLang="en-US" sz="1400">
                        <a:latin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11594">
                <a:tc>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DAN</a:t>
                      </a:r>
                      <a:endPar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MP1</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*2</a:t>
                      </a:r>
                      <a:endParaRPr lang="ja-JP" altLang="en-US" sz="1400" b="1"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endPar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00B050"/>
                          </a:solidFill>
                          <a:effectLst/>
                          <a:uLnTx/>
                          <a:uFillTx/>
                          <a:latin typeface="Meiryo UI" panose="020B0604030504040204" pitchFamily="50" charset="-128"/>
                          <a:ea typeface="Meiryo UI" panose="020B0604030504040204" pitchFamily="50" charset="-128"/>
                          <a:cs typeface="Arial" panose="020B0604020202020204" pitchFamily="34" charset="0"/>
                        </a:rPr>
                        <a:t>Active</a:t>
                      </a:r>
                    </a:p>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00B050"/>
                          </a:solidFill>
                          <a:effectLst/>
                          <a:uLnTx/>
                          <a:uFillTx/>
                          <a:latin typeface="Meiryo UI" panose="020B0604030504040204" pitchFamily="50" charset="-128"/>
                          <a:ea typeface="Meiryo UI" panose="020B0604030504040204" pitchFamily="50" charset="-128"/>
                          <a:cs typeface="Arial" panose="020B0604020202020204" pitchFamily="34" charset="0"/>
                        </a:rPr>
                        <a:t>(Mass production)</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endParaRPr lang="en-US"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400" b="1" i="0" u="none" strike="noStrike">
                          <a:solidFill>
                            <a:srgbClr val="00B050"/>
                          </a:solidFill>
                          <a:effectLst/>
                          <a:latin typeface="Meiryo UI" panose="020B0604030504040204" pitchFamily="50" charset="-128"/>
                          <a:ea typeface="Meiryo UI" panose="020B0604030504040204" pitchFamily="50" charset="-128"/>
                          <a:cs typeface="Arial" panose="020B0604020202020204" pitchFamily="34" charset="0"/>
                        </a:rPr>
                        <a:t>active</a:t>
                      </a:r>
                      <a:endParaRPr lang="en-US" sz="1400" b="1" i="0" u="none" strike="noStrike">
                        <a:solidFill>
                          <a:srgbClr val="FF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ＭＳ Ｐゴシック"/>
                          <a:cs typeface="Arial" panose="020B0604020202020204" pitchFamily="34" charset="0"/>
                        </a:rPr>
                        <a:t>N/A</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ＭＳ Ｐゴシック"/>
                        <a:cs typeface="Arial" panose="020B0604020202020204" pitchFamily="34" charset="0"/>
                      </a:endParaRP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1" name="テキスト ボックス 10"/>
          <p:cNvSpPr txBox="1"/>
          <p:nvPr/>
        </p:nvSpPr>
        <p:spPr>
          <a:xfrm>
            <a:off x="98875" y="4162635"/>
            <a:ext cx="8886920" cy="523220"/>
          </a:xfrm>
          <a:prstGeom prst="rect">
            <a:avLst/>
          </a:prstGeom>
          <a:noFill/>
        </p:spPr>
        <p:txBody>
          <a:bodyPr wrap="none" rtlCol="0">
            <a:spAutoFit/>
          </a:bodyPr>
          <a:lstStyle/>
          <a:p>
            <a:pPr lvl="0" algn="l" fontAlgn="auto">
              <a:spcBef>
                <a:spcPts val="0"/>
              </a:spcBef>
              <a:spcAft>
                <a:spcPts val="0"/>
              </a:spcAf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*1 Honda doesn’t care this setting. Please set to it by</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a:t>
            </a:r>
          </a:p>
          <a:p>
            <a:pPr lvl="0" algn="l" fontAlgn="auto">
              <a:spcBef>
                <a:spcPts val="0"/>
              </a:spcBef>
              <a:spcAft>
                <a:spcPts val="0"/>
              </a:spcAf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 Honda would like to decide this setting from</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 estimate software changing and influence.</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12" name="テキスト ボックス 8"/>
          <p:cNvSpPr txBox="1"/>
          <p:nvPr/>
        </p:nvSpPr>
        <p:spPr>
          <a:xfrm>
            <a:off x="0" y="5454305"/>
            <a:ext cx="9117874" cy="1306992"/>
          </a:xfrm>
          <a:prstGeom prst="rect">
            <a:avLst/>
          </a:prstGeom>
          <a:solidFill>
            <a:srgbClr val="FFFF00">
              <a:alpha val="70000"/>
            </a:srgbClr>
          </a:solidFill>
        </p:spPr>
        <p:txBody>
          <a:bodyPr wrap="square" rtlCol="0" anchor="ctr">
            <a:noAutofit/>
          </a:bodyPr>
          <a:lstStyle/>
          <a:p>
            <a:pPr algn="l"/>
            <a:r>
              <a:rPr lang="en-US" altLang="ja-JP" sz="1400" b="1">
                <a:latin typeface="Meiryo UI" panose="020B0604030504040204" pitchFamily="34" charset="-128"/>
                <a:ea typeface="Meiryo UI" panose="020B0604030504040204" pitchFamily="34" charset="-128"/>
                <a:cs typeface="Arial" panose="020B0604020202020204" pitchFamily="34" charset="0"/>
              </a:rPr>
              <a:t>Hex Feature List for each Event will be discussed again between HONDA &amp; </a:t>
            </a:r>
            <a:r>
              <a:rPr lang="en-US" altLang="ja-JP" sz="1400" b="1">
                <a:solidFill>
                  <a:schemeClr val="accent2"/>
                </a:solidFill>
                <a:latin typeface="Meiryo UI" panose="020B0604030504040204" pitchFamily="34" charset="-128"/>
                <a:ea typeface="Meiryo UI" panose="020B0604030504040204" pitchFamily="34" charset="-128"/>
                <a:cs typeface="Arial" panose="020B0604020202020204" pitchFamily="34" charset="0"/>
              </a:rPr>
              <a:t>BOSCH</a:t>
            </a:r>
            <a:r>
              <a:rPr lang="en-US" altLang="ja-JP" sz="1400" b="1">
                <a:latin typeface="Meiryo UI" panose="020B0604030504040204" pitchFamily="34" charset="-128"/>
                <a:ea typeface="Meiryo UI" panose="020B0604030504040204" pitchFamily="34" charset="-128"/>
                <a:cs typeface="Arial" panose="020B0604020202020204" pitchFamily="34" charset="0"/>
              </a:rPr>
              <a:t> before Data fix for SW release.</a:t>
            </a:r>
            <a:r>
              <a:rPr lang="ja-JP" altLang="en-US" sz="1400" b="1">
                <a:latin typeface="Meiryo UI" panose="020B0604030504040204" pitchFamily="34" charset="-128"/>
                <a:ea typeface="Meiryo UI" panose="020B0604030504040204" pitchFamily="34" charset="-128"/>
                <a:cs typeface="Arial" panose="020B0604020202020204" pitchFamily="34" charset="0"/>
              </a:rPr>
              <a:t>　</a:t>
            </a:r>
            <a:r>
              <a:rPr lang="en-US" altLang="ja-JP" sz="1400" b="1">
                <a:latin typeface="Meiryo UI" panose="020B0604030504040204" pitchFamily="34" charset="-128"/>
                <a:ea typeface="Meiryo UI" panose="020B0604030504040204" pitchFamily="34" charset="-128"/>
                <a:cs typeface="Arial" panose="020B0604020202020204" pitchFamily="34" charset="0"/>
              </a:rPr>
              <a:t> Discussed result is indicated in “</a:t>
            </a:r>
            <a:r>
              <a:rPr lang="en-US" altLang="ja-JP" sz="1400" b="1" err="1">
                <a:latin typeface="Meiryo UI" panose="020B0604030504040204" pitchFamily="34" charset="-128"/>
                <a:ea typeface="Meiryo UI" panose="020B0604030504040204" pitchFamily="34" charset="-128"/>
                <a:cs typeface="Arial" panose="020B0604020202020204" pitchFamily="34" charset="0"/>
              </a:rPr>
              <a:t>Infosheet</a:t>
            </a:r>
            <a:r>
              <a:rPr lang="en-US" altLang="ja-JP" sz="1400" b="1">
                <a:latin typeface="Meiryo UI" panose="020B0604030504040204" pitchFamily="34" charset="-128"/>
                <a:ea typeface="Meiryo UI" panose="020B0604030504040204" pitchFamily="34" charset="-128"/>
                <a:cs typeface="Arial" panose="020B0604020202020204" pitchFamily="34" charset="0"/>
              </a:rPr>
              <a:t>”</a:t>
            </a:r>
          </a:p>
          <a:p>
            <a:pPr algn="l"/>
            <a:endParaRPr lang="en-US" altLang="ja-JP" sz="1400" b="1">
              <a:latin typeface="Meiryo UI" panose="020B0604030504040204" pitchFamily="34" charset="-128"/>
              <a:ea typeface="Meiryo UI" panose="020B0604030504040204" pitchFamily="34" charset="-128"/>
              <a:cs typeface="Arial" panose="020B0604020202020204" pitchFamily="34" charset="0"/>
            </a:endParaRPr>
          </a:p>
          <a:p>
            <a:pPr algn="l"/>
            <a:r>
              <a:rPr lang="ja-JP" altLang="en-US" sz="1400" b="1">
                <a:latin typeface="Meiryo UI" panose="020B0604030504040204" pitchFamily="34" charset="-128"/>
                <a:ea typeface="Meiryo UI" panose="020B0604030504040204" pitchFamily="34" charset="-128"/>
                <a:cs typeface="Arial" panose="020B0604020202020204" pitchFamily="34" charset="0"/>
              </a:rPr>
              <a:t>各イベントの</a:t>
            </a:r>
            <a:r>
              <a:rPr lang="en-US" altLang="ja-JP" sz="1400" b="1">
                <a:latin typeface="Meiryo UI" panose="020B0604030504040204" pitchFamily="34" charset="-128"/>
                <a:ea typeface="Meiryo UI" panose="020B0604030504040204" pitchFamily="34" charset="-128"/>
                <a:cs typeface="Arial" panose="020B0604020202020204" pitchFamily="34" charset="0"/>
              </a:rPr>
              <a:t>HEX</a:t>
            </a:r>
            <a:r>
              <a:rPr lang="ja-JP" altLang="en-US" sz="1400" b="1">
                <a:latin typeface="Meiryo UI" panose="020B0604030504040204" pitchFamily="34" charset="-128"/>
                <a:ea typeface="Meiryo UI" panose="020B0604030504040204" pitchFamily="34" charset="-128"/>
                <a:cs typeface="Arial" panose="020B0604020202020204" pitchFamily="34" charset="0"/>
              </a:rPr>
              <a:t>装備仕様は、</a:t>
            </a:r>
            <a:r>
              <a:rPr lang="en-US" altLang="ja-JP" sz="1400" b="1">
                <a:latin typeface="Meiryo UI" panose="020B0604030504040204" pitchFamily="34" charset="-128"/>
                <a:ea typeface="Meiryo UI" panose="020B0604030504040204" pitchFamily="34" charset="-128"/>
                <a:cs typeface="Arial" panose="020B0604020202020204" pitchFamily="34" charset="0"/>
              </a:rPr>
              <a:t>SW</a:t>
            </a:r>
            <a:r>
              <a:rPr lang="ja-JP" altLang="en-US" sz="1400" b="1">
                <a:latin typeface="Meiryo UI" panose="020B0604030504040204" pitchFamily="34" charset="-128"/>
                <a:ea typeface="Meiryo UI" panose="020B0604030504040204" pitchFamily="34" charset="-128"/>
                <a:cs typeface="Arial" panose="020B0604020202020204" pitchFamily="34" charset="0"/>
              </a:rPr>
              <a:t>リリースのためのデータ調整の前に</a:t>
            </a:r>
            <a:r>
              <a:rPr lang="en-US" altLang="ja-JP" sz="1400" b="1">
                <a:latin typeface="Meiryo UI" panose="020B0604030504040204" pitchFamily="34" charset="-128"/>
                <a:ea typeface="Meiryo UI" panose="020B0604030504040204" pitchFamily="34" charset="-128"/>
                <a:cs typeface="Arial" panose="020B0604020202020204" pitchFamily="34" charset="0"/>
              </a:rPr>
              <a:t>HONDA</a:t>
            </a:r>
            <a:r>
              <a:rPr lang="ja-JP" altLang="en-US" sz="1400" b="1">
                <a:latin typeface="Meiryo UI" panose="020B0604030504040204" pitchFamily="34" charset="-128"/>
                <a:ea typeface="Meiryo UI" panose="020B0604030504040204" pitchFamily="34" charset="-128"/>
                <a:cs typeface="Arial" panose="020B0604020202020204" pitchFamily="34" charset="0"/>
              </a:rPr>
              <a:t>と</a:t>
            </a:r>
            <a:r>
              <a:rPr lang="en-US" altLang="ja-JP" sz="1400" b="1">
                <a:solidFill>
                  <a:schemeClr val="accent2"/>
                </a:solidFill>
                <a:latin typeface="Meiryo UI" panose="020B0604030504040204" pitchFamily="34" charset="-128"/>
                <a:ea typeface="Meiryo UI" panose="020B0604030504040204" pitchFamily="34" charset="-128"/>
                <a:cs typeface="Arial" panose="020B0604020202020204" pitchFamily="34" charset="0"/>
              </a:rPr>
              <a:t>BOSCH</a:t>
            </a:r>
            <a:r>
              <a:rPr lang="ja-JP" altLang="en-US" sz="1400" b="1">
                <a:latin typeface="Meiryo UI" panose="020B0604030504040204" pitchFamily="34" charset="-128"/>
                <a:ea typeface="Meiryo UI" panose="020B0604030504040204" pitchFamily="34" charset="-128"/>
                <a:cs typeface="Arial" panose="020B0604020202020204" pitchFamily="34" charset="0"/>
              </a:rPr>
              <a:t>の間で再度議論される。</a:t>
            </a:r>
            <a:endParaRPr lang="en-US" altLang="ja-JP" sz="1400" b="1">
              <a:latin typeface="Meiryo UI" panose="020B0604030504040204" pitchFamily="34" charset="-128"/>
              <a:ea typeface="Meiryo UI" panose="020B0604030504040204" pitchFamily="34" charset="-128"/>
              <a:cs typeface="Arial" panose="020B0604020202020204" pitchFamily="34" charset="0"/>
            </a:endParaRPr>
          </a:p>
          <a:p>
            <a:pPr algn="l"/>
            <a:r>
              <a:rPr lang="ja-JP" altLang="en-US" sz="1400" b="1">
                <a:latin typeface="Meiryo UI" panose="020B0604030504040204" pitchFamily="34" charset="-128"/>
                <a:ea typeface="Meiryo UI" panose="020B0604030504040204" pitchFamily="34" charset="-128"/>
                <a:cs typeface="Arial" panose="020B0604020202020204" pitchFamily="34" charset="0"/>
              </a:rPr>
              <a:t>決定事項については「</a:t>
            </a:r>
            <a:r>
              <a:rPr lang="en-US" altLang="ja-JP" sz="1400" b="1" err="1">
                <a:latin typeface="Meiryo UI" panose="020B0604030504040204" pitchFamily="34" charset="-128"/>
                <a:ea typeface="Meiryo UI" panose="020B0604030504040204" pitchFamily="34" charset="-128"/>
                <a:cs typeface="Arial" panose="020B0604020202020204" pitchFamily="34" charset="0"/>
              </a:rPr>
              <a:t>infosheet</a:t>
            </a:r>
            <a:r>
              <a:rPr lang="ja-JP" altLang="en-US" sz="1400" b="1">
                <a:latin typeface="Meiryo UI" panose="020B0604030504040204" pitchFamily="34" charset="-128"/>
                <a:ea typeface="Meiryo UI" panose="020B0604030504040204" pitchFamily="34" charset="-128"/>
                <a:cs typeface="Arial" panose="020B0604020202020204" pitchFamily="34" charset="0"/>
              </a:rPr>
              <a:t>」に記述される</a:t>
            </a:r>
            <a:endParaRPr lang="en-US" altLang="ja-JP" sz="1400" b="1">
              <a:latin typeface="Meiryo UI" panose="020B0604030504040204" pitchFamily="34" charset="-128"/>
              <a:ea typeface="Meiryo UI" panose="020B0604030504040204" pitchFamily="34" charset="-128"/>
              <a:cs typeface="Arial" panose="020B0604020202020204" pitchFamily="34" charset="0"/>
            </a:endParaRPr>
          </a:p>
        </p:txBody>
      </p:sp>
      <p:sp>
        <p:nvSpPr>
          <p:cNvPr id="13" name="テキスト ボックス 12"/>
          <p:cNvSpPr txBox="1"/>
          <p:nvPr/>
        </p:nvSpPr>
        <p:spPr>
          <a:xfrm>
            <a:off x="78378" y="4808470"/>
            <a:ext cx="6200736" cy="523220"/>
          </a:xfrm>
          <a:prstGeom prst="rect">
            <a:avLst/>
          </a:prstGeom>
          <a:noFill/>
        </p:spPr>
        <p:txBody>
          <a:bodyPr wrap="none" rtlCol="0">
            <a:spAutoFit/>
          </a:bodyPr>
          <a:lstStyle/>
          <a:p>
            <a:pPr lvl="0" algn="l" fontAlgn="auto">
              <a:spcBef>
                <a:spcPts val="0"/>
              </a:spcBef>
              <a:spcAft>
                <a:spcPts val="0"/>
              </a:spcAf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*1 Honda</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はこの適合について関与しない</a:t>
            </a:r>
            <a:r>
              <a:rPr lang="ja-JP" altLang="en-US" sz="1400">
                <a:solidFill>
                  <a:srgbClr val="000000"/>
                </a:solidFill>
                <a:latin typeface="Meiryo UI" panose="020B0604030504040204" pitchFamily="50" charset="-128"/>
                <a:ea typeface="Meiryo UI" panose="020B0604030504040204" pitchFamily="50" charset="-128"/>
                <a:cs typeface="Arial" panose="020B0604020202020204" pitchFamily="34" charset="0"/>
              </a:rPr>
              <a:t>、</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solidFill>
                  <a:srgbClr val="000000"/>
                </a:solidFill>
                <a:latin typeface="Meiryo UI" panose="020B0604030504040204" pitchFamily="50" charset="-128"/>
                <a:ea typeface="Meiryo UI" panose="020B0604030504040204" pitchFamily="50" charset="-128"/>
                <a:cs typeface="Arial" panose="020B0604020202020204" pitchFamily="34" charset="0"/>
              </a:rPr>
              <a:t>で適合すること。</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lvl="0" algn="l" fontAlgn="auto">
              <a:spcBef>
                <a:spcPts val="0"/>
              </a:spcBef>
              <a:spcAft>
                <a:spcPts val="0"/>
              </a:spcAf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*2 </a:t>
            </a:r>
            <a:r>
              <a:rPr lang="en-US" altLang="ja-JP" sz="1400">
                <a:solidFill>
                  <a:srgbClr val="000000"/>
                </a:solidFill>
                <a:latin typeface="Meiryo UI" panose="020B0604030504040204" pitchFamily="50" charset="-128"/>
                <a:ea typeface="Meiryo UI" panose="020B0604030504040204" pitchFamily="50" charset="-128"/>
                <a:cs typeface="Arial" panose="020B0604020202020204" pitchFamily="34" charset="0"/>
              </a:rPr>
              <a:t>Honda</a:t>
            </a:r>
            <a:r>
              <a:rPr lang="ja-JP" altLang="en-US" sz="1400">
                <a:solidFill>
                  <a:srgbClr val="000000"/>
                </a:solidFill>
                <a:latin typeface="Meiryo UI" panose="020B0604030504040204" pitchFamily="50" charset="-128"/>
                <a:ea typeface="Meiryo UI" panose="020B0604030504040204" pitchFamily="50" charset="-128"/>
                <a:cs typeface="Arial" panose="020B0604020202020204" pitchFamily="34" charset="0"/>
              </a:rPr>
              <a:t>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ja-JP" altLang="en-US" sz="1400">
                <a:solidFill>
                  <a:srgbClr val="000000"/>
                </a:solidFill>
                <a:latin typeface="Meiryo UI" panose="020B0604030504040204" pitchFamily="50" charset="-128"/>
                <a:ea typeface="Meiryo UI" panose="020B0604030504040204" pitchFamily="50" charset="-128"/>
                <a:cs typeface="Arial" panose="020B0604020202020204" pitchFamily="34" charset="0"/>
              </a:rPr>
              <a:t>のソフトウェア変更および影響についての見積りを決定したい </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p:txBody>
      </p:sp>
      <p:sp>
        <p:nvSpPr>
          <p:cNvPr id="9"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(22/31)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65276576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テキスト ボックス 4"/>
          <p:cNvSpPr txBox="1"/>
          <p:nvPr/>
        </p:nvSpPr>
        <p:spPr>
          <a:xfrm>
            <a:off x="250829" y="2474549"/>
            <a:ext cx="8569235" cy="1577355"/>
          </a:xfrm>
          <a:prstGeom prst="rect">
            <a:avLst/>
          </a:prstGeom>
          <a:noFill/>
        </p:spPr>
        <p:txBody>
          <a:bodyPr wrap="square" rtlCol="0">
            <a:spAutoFit/>
          </a:bodyPr>
          <a:lstStyle/>
          <a:p>
            <a:pPr algn="l" fontAlgn="auto">
              <a:spcBef>
                <a:spcPts val="300"/>
              </a:spcBef>
              <a:spcAft>
                <a:spcPts val="0"/>
              </a:spcAft>
            </a:pPr>
            <a:r>
              <a:rPr lang="ja-JP" altLang="en-US" sz="1400">
                <a:solidFill>
                  <a:prstClr val="black"/>
                </a:solidFill>
                <a:latin typeface="Meiryo UI" panose="020B0604030504040204" pitchFamily="50" charset="-128"/>
                <a:ea typeface="Meiryo UI" panose="020B0604030504040204" pitchFamily="50" charset="-128"/>
              </a:rPr>
              <a:t>ソフトウェアを発行において、事前に</a:t>
            </a:r>
            <a:r>
              <a:rPr lang="en-US" altLang="ja-JP" sz="1400">
                <a:solidFill>
                  <a:prstClr val="black"/>
                </a:solidFill>
                <a:latin typeface="Meiryo UI" panose="020B0604030504040204" pitchFamily="50" charset="-128"/>
                <a:ea typeface="Meiryo UI" panose="020B0604030504040204" pitchFamily="50" charset="-128"/>
              </a:rPr>
              <a:t>CDFX</a:t>
            </a:r>
            <a:r>
              <a:rPr lang="ja-JP" altLang="en-US" sz="1400">
                <a:solidFill>
                  <a:prstClr val="black"/>
                </a:solidFill>
                <a:latin typeface="Meiryo UI" panose="020B0604030504040204" pitchFamily="50" charset="-128"/>
                <a:ea typeface="Meiryo UI" panose="020B0604030504040204" pitchFamily="50" charset="-128"/>
              </a:rPr>
              <a:t>ファイルにて指定された</a:t>
            </a: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役責データを、発行するソフトウェアに</a:t>
            </a: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ja-JP" altLang="en-US" sz="1400">
                <a:solidFill>
                  <a:prstClr val="black"/>
                </a:solidFill>
                <a:latin typeface="Meiryo UI" panose="020B0604030504040204" pitchFamily="50" charset="-128"/>
                <a:ea typeface="Meiryo UI" panose="020B0604030504040204" pitchFamily="50" charset="-128"/>
              </a:rPr>
              <a:t>反映して納入する。</a:t>
            </a: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役責データは</a:t>
            </a:r>
            <a:r>
              <a:rPr lang="en-US" altLang="ja-JP" sz="1400">
                <a:solidFill>
                  <a:prstClr val="black"/>
                </a:solidFill>
                <a:latin typeface="Meiryo UI" panose="020B0604030504040204" pitchFamily="50" charset="-128"/>
                <a:ea typeface="Meiryo UI" panose="020B0604030504040204" pitchFamily="50" charset="-128"/>
              </a:rPr>
              <a:t>PAL list</a:t>
            </a:r>
            <a:r>
              <a:rPr lang="ja-JP" altLang="en-US" sz="1400">
                <a:solidFill>
                  <a:prstClr val="black"/>
                </a:solidFill>
                <a:latin typeface="Meiryo UI" panose="020B0604030504040204" pitchFamily="50" charset="-128"/>
                <a:ea typeface="Meiryo UI" panose="020B0604030504040204" pitchFamily="50" charset="-128"/>
              </a:rPr>
              <a:t>によって指定される</a:t>
            </a:r>
            <a:r>
              <a:rPr lang="en-US" altLang="ja-JP" sz="1400">
                <a:solidFill>
                  <a:prstClr val="black"/>
                </a:solidFill>
                <a:latin typeface="Meiryo UI" panose="020B0604030504040204" pitchFamily="50" charset="-128"/>
                <a:ea typeface="Meiryo UI" panose="020B0604030504040204" pitchFamily="50" charset="-128"/>
              </a:rPr>
              <a:t>.</a:t>
            </a:r>
          </a:p>
          <a:p>
            <a:pPr algn="l" fontAlgn="auto">
              <a:spcBef>
                <a:spcPts val="300"/>
              </a:spcBef>
              <a:spcAft>
                <a:spcPts val="0"/>
              </a:spcAft>
            </a:pP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prstClr val="black"/>
                </a:solidFill>
                <a:latin typeface="Meiryo UI" panose="020B0604030504040204" pitchFamily="50" charset="-128"/>
                <a:ea typeface="Meiryo UI" panose="020B0604030504040204" pitchFamily="50" charset="-128"/>
              </a:rPr>
              <a:t>は、</a:t>
            </a: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からの</a:t>
            </a:r>
            <a:r>
              <a:rPr lang="en-US" altLang="ja-JP" sz="1400">
                <a:solidFill>
                  <a:prstClr val="black"/>
                </a:solidFill>
                <a:latin typeface="Meiryo UI" panose="020B0604030504040204" pitchFamily="50" charset="-128"/>
                <a:ea typeface="Meiryo UI" panose="020B0604030504040204" pitchFamily="50" charset="-128"/>
              </a:rPr>
              <a:t>CDFX</a:t>
            </a:r>
            <a:r>
              <a:rPr lang="ja-JP" altLang="en-US" sz="1400">
                <a:solidFill>
                  <a:prstClr val="black"/>
                </a:solidFill>
                <a:latin typeface="Meiryo UI" panose="020B0604030504040204" pitchFamily="50" charset="-128"/>
                <a:ea typeface="Meiryo UI" panose="020B0604030504040204" pitchFamily="50" charset="-128"/>
              </a:rPr>
              <a:t>ファイル発行日と、それに先行する</a:t>
            </a:r>
            <a:r>
              <a:rPr lang="en-US" altLang="ja-JP" sz="1400">
                <a:solidFill>
                  <a:prstClr val="black"/>
                </a:solidFill>
                <a:latin typeface="Meiryo UI" panose="020B0604030504040204" pitchFamily="50" charset="-128"/>
                <a:ea typeface="Meiryo UI" panose="020B0604030504040204" pitchFamily="50" charset="-128"/>
              </a:rPr>
              <a:t>PAL list</a:t>
            </a:r>
            <a:r>
              <a:rPr lang="ja-JP" altLang="en-US" sz="1400">
                <a:solidFill>
                  <a:prstClr val="black"/>
                </a:solidFill>
                <a:latin typeface="Meiryo UI" panose="020B0604030504040204" pitchFamily="50" charset="-128"/>
                <a:ea typeface="Meiryo UI" panose="020B0604030504040204" pitchFamily="50" charset="-128"/>
              </a:rPr>
              <a:t>発行日を</a:t>
            </a: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に提示し</a:t>
            </a: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ja-JP" altLang="en-US" sz="1400">
                <a:solidFill>
                  <a:prstClr val="black"/>
                </a:solidFill>
                <a:latin typeface="Meiryo UI" panose="020B0604030504040204" pitchFamily="50" charset="-128"/>
                <a:ea typeface="Meiryo UI" panose="020B0604030504040204" pitchFamily="50" charset="-128"/>
              </a:rPr>
              <a:t>日程整合を行う</a:t>
            </a:r>
          </a:p>
        </p:txBody>
      </p:sp>
      <p:sp>
        <p:nvSpPr>
          <p:cNvPr id="7" name="テキスト ボックス 6"/>
          <p:cNvSpPr txBox="1"/>
          <p:nvPr/>
        </p:nvSpPr>
        <p:spPr>
          <a:xfrm>
            <a:off x="250829" y="496813"/>
            <a:ext cx="8438607" cy="1346522"/>
          </a:xfrm>
          <a:prstGeom prst="rect">
            <a:avLst/>
          </a:prstGeom>
          <a:noFill/>
        </p:spPr>
        <p:txBody>
          <a:bodyPr wrap="square" rtlCol="0">
            <a:spAutoFit/>
          </a:bodyPr>
          <a:lstStyle/>
          <a:p>
            <a:pPr algn="l"/>
            <a:r>
              <a:rPr lang="en-US" altLang="ja-JP" sz="1800" b="1" u="sng">
                <a:latin typeface="Meiryo UI" panose="020B0604030504040204" pitchFamily="50" charset="-128"/>
                <a:ea typeface="+mj-ea"/>
                <a:cs typeface="Arial" panose="020B0604020202020204" pitchFamily="34" charset="0"/>
              </a:rPr>
              <a:t>PAL List Release at Same Time of New SW Releasing</a:t>
            </a:r>
          </a:p>
          <a:p>
            <a:pPr algn="l"/>
            <a:endParaRPr lang="en-US" altLang="ja-JP" sz="1400">
              <a:latin typeface="Meiryo UI" panose="020B0604030504040204" pitchFamily="50" charset="-128"/>
              <a:ea typeface="+mj-ea"/>
              <a:cs typeface="Arial" panose="020B0604020202020204" pitchFamily="34" charset="0"/>
            </a:endParaRPr>
          </a:p>
          <a:p>
            <a:pPr algn="l">
              <a:spcBef>
                <a:spcPts val="300"/>
              </a:spcBef>
            </a:pPr>
            <a:r>
              <a:rPr lang="en-US" altLang="ja-JP" sz="1400">
                <a:latin typeface="Meiryo UI" panose="020B0604030504040204" pitchFamily="50" charset="-128"/>
                <a:ea typeface="+mj-ea"/>
                <a:cs typeface="Arial" panose="020B0604020202020204" pitchFamily="34" charset="0"/>
              </a:rPr>
              <a:t>Honda responsibility data shall be included in the hex file.</a:t>
            </a:r>
          </a:p>
          <a:p>
            <a:pPr algn="l">
              <a:spcBef>
                <a:spcPts val="300"/>
              </a:spcBef>
            </a:pPr>
            <a:r>
              <a:rPr lang="en-US" altLang="ja-JP" sz="1400">
                <a:latin typeface="Meiryo UI" panose="020B0604030504040204" pitchFamily="50" charset="-128"/>
                <a:ea typeface="+mj-ea"/>
                <a:cs typeface="Arial" panose="020B0604020202020204" pitchFamily="34" charset="0"/>
              </a:rPr>
              <a:t>This date is handled by </a:t>
            </a:r>
            <a:r>
              <a:rPr lang="en-US" altLang="ja-JP" sz="1400" err="1">
                <a:latin typeface="Meiryo UI" panose="020B0604030504040204" pitchFamily="50" charset="-128"/>
                <a:ea typeface="+mj-ea"/>
                <a:cs typeface="Arial" panose="020B0604020202020204" pitchFamily="34" charset="0"/>
              </a:rPr>
              <a:t>cdfx</a:t>
            </a:r>
            <a:r>
              <a:rPr lang="en-US" altLang="ja-JP" sz="1400">
                <a:latin typeface="Meiryo UI" panose="020B0604030504040204" pitchFamily="50" charset="-128"/>
                <a:ea typeface="+mj-ea"/>
                <a:cs typeface="Arial" panose="020B0604020202020204" pitchFamily="34" charset="0"/>
              </a:rPr>
              <a:t> file. Honda responsibility data is defined by PAL List.</a:t>
            </a: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j-ea"/>
                <a:cs typeface="Arial" panose="020B0604020202020204" pitchFamily="34" charset="0"/>
              </a:rPr>
              <a:t> shall inform the PAL List releasing day and due date of </a:t>
            </a:r>
            <a:r>
              <a:rPr lang="en-US" altLang="ja-JP" sz="1400" err="1">
                <a:latin typeface="Meiryo UI" panose="020B0604030504040204" pitchFamily="50" charset="-128"/>
                <a:ea typeface="+mj-ea"/>
                <a:cs typeface="Arial" panose="020B0604020202020204" pitchFamily="34" charset="0"/>
              </a:rPr>
              <a:t>cdfx</a:t>
            </a:r>
            <a:r>
              <a:rPr lang="en-US" altLang="ja-JP" sz="1400">
                <a:latin typeface="Meiryo UI" panose="020B0604030504040204" pitchFamily="50" charset="-128"/>
                <a:ea typeface="+mj-ea"/>
                <a:cs typeface="Arial" panose="020B0604020202020204" pitchFamily="34" charset="0"/>
              </a:rPr>
              <a:t> providing by Honda.</a:t>
            </a:r>
          </a:p>
        </p:txBody>
      </p:sp>
      <p:sp>
        <p:nvSpPr>
          <p:cNvPr id="8"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(23/31)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11" name="コンテンツ プレースホルダー 2">
            <a:extLst>
              <a:ext uri="{FF2B5EF4-FFF2-40B4-BE49-F238E27FC236}">
                <a16:creationId xmlns:a16="http://schemas.microsoft.com/office/drawing/2014/main" id="{346AF6FE-590F-4347-8E38-347627D01B9E}"/>
              </a:ext>
            </a:extLst>
          </p:cNvPr>
          <p:cNvSpPr txBox="1">
            <a:spLocks/>
          </p:cNvSpPr>
          <p:nvPr>
            <p:custDataLst>
              <p:tags r:id="rId1"/>
            </p:custDataLst>
          </p:nvPr>
        </p:nvSpPr>
        <p:spPr bwMode="auto">
          <a:xfrm>
            <a:off x="4845872" y="4494738"/>
            <a:ext cx="4164602"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“PAL_CR_6SAA_MMC” excel file.</a:t>
            </a:r>
          </a:p>
          <a:p>
            <a:pPr marL="0" indent="0">
              <a:lnSpc>
                <a:spcPct val="105000"/>
              </a:lnSpc>
              <a:spcBef>
                <a:spcPts val="600"/>
              </a:spcBef>
              <a:spcAft>
                <a:spcPts val="0"/>
              </a:spcAft>
            </a:pPr>
            <a:r>
              <a:rPr lang="en-US" altLang="ja-JP" sz="1400" b="1" kern="0">
                <a:latin typeface="Meiryo UI" panose="020B0604030504040204" pitchFamily="50" charset="-128"/>
              </a:rPr>
              <a:t>In “17.EMS maturity &amp; quality” holder</a:t>
            </a:r>
          </a:p>
        </p:txBody>
      </p:sp>
    </p:spTree>
    <p:extLst>
      <p:ext uri="{BB962C8B-B14F-4D97-AF65-F5344CB8AC3E}">
        <p14:creationId xmlns:p14="http://schemas.microsoft.com/office/powerpoint/2010/main" val="344116419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テキスト ボックス 9"/>
          <p:cNvSpPr txBox="1"/>
          <p:nvPr/>
        </p:nvSpPr>
        <p:spPr>
          <a:xfrm>
            <a:off x="237766" y="4133409"/>
            <a:ext cx="8906234" cy="2654573"/>
          </a:xfrm>
          <a:prstGeom prst="rect">
            <a:avLst/>
          </a:prstGeom>
          <a:noFill/>
        </p:spPr>
        <p:txBody>
          <a:bodyPr wrap="square" rtlCol="0">
            <a:spAutoFit/>
          </a:bodyPr>
          <a:lstStyle/>
          <a:p>
            <a:pPr algn="l" fontAlgn="auto">
              <a:spcBef>
                <a:spcPts val="300"/>
              </a:spcBef>
              <a:spcAft>
                <a:spcPts val="0"/>
              </a:spcAft>
            </a:pPr>
            <a:r>
              <a:rPr lang="en-US" altLang="ja-JP" sz="1800" b="1" u="sng">
                <a:solidFill>
                  <a:prstClr val="black"/>
                </a:solidFill>
                <a:latin typeface="Meiryo UI" panose="020B0604030504040204" pitchFamily="50" charset="-128"/>
                <a:ea typeface="Meiryo UI" panose="020B0604030504040204" pitchFamily="50" charset="-128"/>
              </a:rPr>
              <a:t>PAL</a:t>
            </a:r>
            <a:r>
              <a:rPr lang="ja-JP" altLang="en-US" sz="1800" b="1" u="sng">
                <a:solidFill>
                  <a:prstClr val="black"/>
                </a:solidFill>
                <a:latin typeface="Meiryo UI" panose="020B0604030504040204" pitchFamily="50" charset="-128"/>
                <a:ea typeface="Meiryo UI" panose="020B0604030504040204" pitchFamily="50" charset="-128"/>
              </a:rPr>
              <a:t>の役責変更方法</a:t>
            </a:r>
          </a:p>
          <a:p>
            <a:pPr algn="l" fontAlgn="auto">
              <a:spcBef>
                <a:spcPts val="300"/>
              </a:spcBef>
              <a:spcAft>
                <a:spcPts val="0"/>
              </a:spcAft>
            </a:pPr>
            <a:r>
              <a:rPr lang="en-US" altLang="ja-JP" sz="1400">
                <a:solidFill>
                  <a:prstClr val="black"/>
                </a:solidFill>
                <a:latin typeface="Meiryo UI" panose="020B0604030504040204" pitchFamily="50" charset="-128"/>
                <a:ea typeface="Meiryo UI" panose="020B0604030504040204" pitchFamily="50" charset="-128"/>
              </a:rPr>
              <a:t>&lt;Honda</a:t>
            </a:r>
            <a:r>
              <a:rPr lang="ja-JP" altLang="en-US" sz="1400">
                <a:solidFill>
                  <a:prstClr val="black"/>
                </a:solidFill>
                <a:latin typeface="Meiryo UI" panose="020B0604030504040204" pitchFamily="50" charset="-128"/>
                <a:ea typeface="Meiryo UI" panose="020B0604030504040204" pitchFamily="50" charset="-128"/>
              </a:rPr>
              <a:t>から</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prstClr val="black"/>
                </a:solidFill>
                <a:latin typeface="Meiryo UI" panose="020B0604030504040204" pitchFamily="50" charset="-128"/>
                <a:ea typeface="Meiryo UI" panose="020B0604030504040204" pitchFamily="50" charset="-128"/>
              </a:rPr>
              <a:t>へ依頼する場合</a:t>
            </a:r>
            <a:r>
              <a:rPr lang="en-US" altLang="ja-JP" sz="1400">
                <a:solidFill>
                  <a:prstClr val="black"/>
                </a:solidFill>
                <a:latin typeface="Meiryo UI" panose="020B0604030504040204" pitchFamily="50" charset="-128"/>
                <a:ea typeface="Meiryo UI" panose="020B0604030504040204" pitchFamily="50" charset="-128"/>
              </a:rPr>
              <a:t>&gt;</a:t>
            </a:r>
          </a:p>
          <a:p>
            <a:pPr algn="l" fontAlgn="auto">
              <a:spcBef>
                <a:spcPts val="300"/>
              </a:spcBef>
              <a:spcAft>
                <a:spcPts val="0"/>
              </a:spcAft>
            </a:pP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は所定の変更依頼書</a:t>
            </a:r>
            <a:r>
              <a:rPr lang="en-US" altLang="ja-JP" sz="1400">
                <a:solidFill>
                  <a:prstClr val="black"/>
                </a:solidFill>
                <a:latin typeface="Meiryo UI" panose="020B0604030504040204" pitchFamily="50" charset="-128"/>
                <a:ea typeface="Meiryo UI" panose="020B0604030504040204" pitchFamily="50" charset="-128"/>
              </a:rPr>
              <a:t>FORMAT</a:t>
            </a:r>
            <a:r>
              <a:rPr lang="ja-JP" altLang="en-US" sz="1400">
                <a:solidFill>
                  <a:prstClr val="black"/>
                </a:solidFill>
                <a:latin typeface="Meiryo UI" panose="020B0604030504040204" pitchFamily="50" charset="-128"/>
                <a:ea typeface="Meiryo UI" panose="020B0604030504040204" pitchFamily="50" charset="-128"/>
              </a:rPr>
              <a:t>を起票し、</a:t>
            </a: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窓口担当より</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prstClr val="black"/>
                </a:solidFill>
                <a:latin typeface="Meiryo UI" panose="020B0604030504040204" pitchFamily="50" charset="-128"/>
                <a:ea typeface="Meiryo UI" panose="020B0604030504040204" pitchFamily="50" charset="-128"/>
              </a:rPr>
              <a:t>へ依頼する。</a:t>
            </a: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prstClr val="black"/>
                </a:solidFill>
                <a:latin typeface="Meiryo UI" panose="020B0604030504040204" pitchFamily="50" charset="-128"/>
                <a:ea typeface="Meiryo UI" panose="020B0604030504040204" pitchFamily="50" charset="-128"/>
              </a:rPr>
              <a:t>は変更依頼書を確認し、問題無ければ変更依頼書に合意の記載を行い、</a:t>
            </a: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へ返送する。</a:t>
            </a: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ja-JP" altLang="en-US" sz="1400">
                <a:solidFill>
                  <a:prstClr val="black"/>
                </a:solidFill>
                <a:latin typeface="Meiryo UI" panose="020B0604030504040204" pitchFamily="50" charset="-128"/>
                <a:ea typeface="Meiryo UI" panose="020B0604030504040204" pitchFamily="50" charset="-128"/>
              </a:rPr>
              <a:t>問題ある場合は協議を行い、協議結果に基づき</a:t>
            </a: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が変更依頼書を再発行する。</a:t>
            </a: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a:solidFill>
                  <a:prstClr val="black"/>
                </a:solidFill>
                <a:latin typeface="Meiryo UI" panose="020B0604030504040204" pitchFamily="50" charset="-128"/>
                <a:ea typeface="Meiryo UI" panose="020B0604030504040204" pitchFamily="50" charset="-128"/>
              </a:rPr>
              <a:t>&lt;</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prstClr val="black"/>
                </a:solidFill>
                <a:latin typeface="Meiryo UI" panose="020B0604030504040204" pitchFamily="50" charset="-128"/>
                <a:ea typeface="Meiryo UI" panose="020B0604030504040204" pitchFamily="50" charset="-128"/>
              </a:rPr>
              <a:t>から</a:t>
            </a: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へ依頼する場合</a:t>
            </a:r>
            <a:r>
              <a:rPr lang="en-US" altLang="ja-JP" sz="1400">
                <a:solidFill>
                  <a:prstClr val="black"/>
                </a:solidFill>
                <a:latin typeface="Meiryo UI" panose="020B0604030504040204" pitchFamily="50" charset="-128"/>
                <a:ea typeface="Meiryo UI" panose="020B0604030504040204" pitchFamily="50" charset="-128"/>
              </a:rPr>
              <a:t>&gt;</a:t>
            </a:r>
          </a:p>
          <a:p>
            <a:pPr algn="l" fontAlgn="auto">
              <a:spcBef>
                <a:spcPts val="300"/>
              </a:spcBef>
              <a:spcAft>
                <a:spcPts val="0"/>
              </a:spcAft>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prstClr val="black"/>
                </a:solidFill>
                <a:latin typeface="Meiryo UI" panose="020B0604030504040204" pitchFamily="50" charset="-128"/>
                <a:ea typeface="Meiryo UI" panose="020B0604030504040204" pitchFamily="50" charset="-128"/>
              </a:rPr>
              <a:t>は所定の変更依頼書</a:t>
            </a:r>
            <a:r>
              <a:rPr lang="en-US" altLang="ja-JP" sz="1400">
                <a:solidFill>
                  <a:prstClr val="black"/>
                </a:solidFill>
                <a:latin typeface="Meiryo UI" panose="020B0604030504040204" pitchFamily="50" charset="-128"/>
                <a:ea typeface="Meiryo UI" panose="020B0604030504040204" pitchFamily="50" charset="-128"/>
              </a:rPr>
              <a:t>FORMAT</a:t>
            </a:r>
            <a:r>
              <a:rPr lang="ja-JP" altLang="en-US" sz="1400">
                <a:solidFill>
                  <a:prstClr val="black"/>
                </a:solidFill>
                <a:latin typeface="Meiryo UI" panose="020B0604030504040204" pitchFamily="50" charset="-128"/>
                <a:ea typeface="Meiryo UI" panose="020B0604030504040204" pitchFamily="50" charset="-128"/>
              </a:rPr>
              <a:t>を起票し、</a:t>
            </a: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窓口担当へ依頼する。</a:t>
            </a: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en-US" altLang="ja-JP" sz="1400">
                <a:solidFill>
                  <a:prstClr val="black"/>
                </a:solidFill>
                <a:latin typeface="Meiryo UI" panose="020B0604030504040204" pitchFamily="50" charset="-128"/>
                <a:ea typeface="Meiryo UI" panose="020B0604030504040204" pitchFamily="50" charset="-128"/>
              </a:rPr>
              <a:t>Honda</a:t>
            </a:r>
            <a:r>
              <a:rPr lang="ja-JP" altLang="en-US" sz="1400">
                <a:solidFill>
                  <a:prstClr val="black"/>
                </a:solidFill>
                <a:latin typeface="Meiryo UI" panose="020B0604030504040204" pitchFamily="50" charset="-128"/>
                <a:ea typeface="Meiryo UI" panose="020B0604030504040204" pitchFamily="50" charset="-128"/>
              </a:rPr>
              <a:t>は変更依頼書を確認し、問題無ければ変更依頼書に合意の記載を行い、</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prstClr val="black"/>
                </a:solidFill>
                <a:latin typeface="Meiryo UI" panose="020B0604030504040204" pitchFamily="50" charset="-128"/>
                <a:ea typeface="Meiryo UI" panose="020B0604030504040204" pitchFamily="50" charset="-128"/>
              </a:rPr>
              <a:t>へ返送する。</a:t>
            </a:r>
            <a:endParaRPr lang="en-US" altLang="ja-JP" sz="1400">
              <a:solidFill>
                <a:prstClr val="black"/>
              </a:solidFill>
              <a:latin typeface="Meiryo UI" panose="020B0604030504040204" pitchFamily="50" charset="-128"/>
              <a:ea typeface="Meiryo UI" panose="020B0604030504040204" pitchFamily="50" charset="-128"/>
            </a:endParaRPr>
          </a:p>
          <a:p>
            <a:pPr algn="l" fontAlgn="auto">
              <a:spcBef>
                <a:spcPts val="300"/>
              </a:spcBef>
              <a:spcAft>
                <a:spcPts val="0"/>
              </a:spcAft>
            </a:pPr>
            <a:r>
              <a:rPr lang="ja-JP" altLang="en-US" sz="1400">
                <a:solidFill>
                  <a:prstClr val="black"/>
                </a:solidFill>
                <a:latin typeface="Meiryo UI" panose="020B0604030504040204" pitchFamily="50" charset="-128"/>
                <a:ea typeface="Meiryo UI" panose="020B0604030504040204" pitchFamily="50" charset="-128"/>
              </a:rPr>
              <a:t>問題ある場合は協議を行い、協議結果に基づき</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prstClr val="black"/>
                </a:solidFill>
                <a:latin typeface="Meiryo UI" panose="020B0604030504040204" pitchFamily="50" charset="-128"/>
                <a:ea typeface="Meiryo UI" panose="020B0604030504040204" pitchFamily="50" charset="-128"/>
              </a:rPr>
              <a:t>が変更依頼書を再発行する</a:t>
            </a:r>
            <a:endParaRPr lang="en-US" altLang="ja-JP" sz="1400">
              <a:solidFill>
                <a:prstClr val="black"/>
              </a:solidFill>
              <a:latin typeface="Meiryo UI" panose="020B0604030504040204" pitchFamily="50" charset="-128"/>
              <a:ea typeface="Meiryo UI" panose="020B0604030504040204" pitchFamily="50" charset="-128"/>
            </a:endParaRPr>
          </a:p>
        </p:txBody>
      </p:sp>
      <p:sp>
        <p:nvSpPr>
          <p:cNvPr id="9" name="テキスト ボックス 8"/>
          <p:cNvSpPr txBox="1"/>
          <p:nvPr/>
        </p:nvSpPr>
        <p:spPr>
          <a:xfrm>
            <a:off x="237766" y="490370"/>
            <a:ext cx="8906234" cy="3485570"/>
          </a:xfrm>
          <a:prstGeom prst="rect">
            <a:avLst/>
          </a:prstGeom>
          <a:noFill/>
        </p:spPr>
        <p:txBody>
          <a:bodyPr wrap="square" rtlCol="0">
            <a:spAutoFit/>
          </a:bodyPr>
          <a:lstStyle/>
          <a:p>
            <a:pPr algn="l">
              <a:spcBef>
                <a:spcPts val="300"/>
              </a:spcBef>
            </a:pPr>
            <a:r>
              <a:rPr lang="en-US" altLang="ja-JP" sz="1800" b="1" u="sng">
                <a:latin typeface="Meiryo UI" panose="020B0604030504040204" pitchFamily="50" charset="-128"/>
                <a:ea typeface="+mj-ea"/>
                <a:cs typeface="Arial" panose="020B0604020202020204" pitchFamily="34" charset="0"/>
              </a:rPr>
              <a:t>How to Update PAL List</a:t>
            </a:r>
          </a:p>
          <a:p>
            <a:pPr algn="l">
              <a:spcBef>
                <a:spcPts val="300"/>
              </a:spcBef>
            </a:pPr>
            <a:r>
              <a:rPr lang="en-US" altLang="ja-JP" sz="1400">
                <a:latin typeface="Meiryo UI" panose="020B0604030504040204" pitchFamily="50" charset="-128"/>
                <a:ea typeface="+mj-ea"/>
                <a:cs typeface="Arial" panose="020B0604020202020204" pitchFamily="34" charset="0"/>
              </a:rPr>
              <a:t>&lt;In case of Honda requests&gt; </a:t>
            </a:r>
          </a:p>
          <a:p>
            <a:pPr algn="l">
              <a:spcBef>
                <a:spcPts val="300"/>
              </a:spcBef>
            </a:pPr>
            <a:r>
              <a:rPr lang="en-US" altLang="ja-JP" sz="1400">
                <a:latin typeface="Meiryo UI" panose="020B0604030504040204" pitchFamily="50" charset="-128"/>
                <a:ea typeface="+mj-ea"/>
                <a:cs typeface="Arial" panose="020B0604020202020204" pitchFamily="34" charset="0"/>
              </a:rPr>
              <a:t>Honda is required to issue PAL change request using attached file.</a:t>
            </a: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j-ea"/>
                <a:cs typeface="Arial" panose="020B0604020202020204" pitchFamily="34" charset="0"/>
              </a:rPr>
              <a:t> needs to check it and if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cs typeface="Arial" panose="020B0604020202020204" pitchFamily="34" charset="0"/>
              </a:rPr>
              <a:t> </a:t>
            </a:r>
            <a:r>
              <a:rPr lang="en-US" altLang="ja-JP" sz="1400">
                <a:latin typeface="Meiryo UI" panose="020B0604030504040204" pitchFamily="50" charset="-128"/>
                <a:ea typeface="+mj-ea"/>
                <a:cs typeface="Arial" panose="020B0604020202020204" pitchFamily="34" charset="0"/>
              </a:rPr>
              <a:t>agrees on it,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cs typeface="Arial" panose="020B0604020202020204" pitchFamily="34" charset="0"/>
              </a:rPr>
              <a:t> </a:t>
            </a:r>
            <a:r>
              <a:rPr lang="en-US" altLang="ja-JP" sz="1400">
                <a:latin typeface="Meiryo UI" panose="020B0604030504040204" pitchFamily="50" charset="-128"/>
                <a:ea typeface="+mj-ea"/>
                <a:cs typeface="Arial" panose="020B0604020202020204" pitchFamily="34" charset="0"/>
              </a:rPr>
              <a:t>is required to sign up the document and send back to Honda.</a:t>
            </a:r>
          </a:p>
          <a:p>
            <a:pPr algn="l">
              <a:spcBef>
                <a:spcPts val="300"/>
              </a:spcBef>
            </a:pPr>
            <a:r>
              <a:rPr lang="en-US" altLang="ja-JP" sz="1400">
                <a:latin typeface="Meiryo UI" panose="020B0604030504040204" pitchFamily="50" charset="-128"/>
                <a:ea typeface="+mj-ea"/>
                <a:cs typeface="Arial" panose="020B0604020202020204" pitchFamily="34" charset="0"/>
              </a:rPr>
              <a:t>If not, Honda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cs typeface="Arial" panose="020B0604020202020204" pitchFamily="34" charset="0"/>
              </a:rPr>
              <a:t> </a:t>
            </a:r>
            <a:r>
              <a:rPr lang="en-US" altLang="ja-JP" sz="1400">
                <a:latin typeface="Meiryo UI" panose="020B0604030504040204" pitchFamily="50" charset="-128"/>
                <a:ea typeface="+mj-ea"/>
                <a:cs typeface="Arial" panose="020B0604020202020204" pitchFamily="34" charset="0"/>
              </a:rPr>
              <a:t>shall have discussion and after agreement, Honda is required to issue PAL change request.</a:t>
            </a:r>
          </a:p>
          <a:p>
            <a:pPr algn="l">
              <a:spcBef>
                <a:spcPts val="300"/>
              </a:spcBef>
            </a:pPr>
            <a:endParaRPr lang="en-US" altLang="ja-JP" sz="1400">
              <a:latin typeface="Meiryo UI" panose="020B0604030504040204" pitchFamily="50" charset="-128"/>
              <a:ea typeface="+mj-ea"/>
              <a:cs typeface="Arial" panose="020B0604020202020204" pitchFamily="34" charset="0"/>
            </a:endParaRPr>
          </a:p>
          <a:p>
            <a:pPr algn="l">
              <a:spcBef>
                <a:spcPts val="300"/>
              </a:spcBef>
            </a:pPr>
            <a:r>
              <a:rPr lang="en-US" altLang="ja-JP" sz="1400">
                <a:latin typeface="Meiryo UI" panose="020B0604030504040204" pitchFamily="50" charset="-128"/>
                <a:ea typeface="+mj-ea"/>
                <a:cs typeface="Arial" panose="020B0604020202020204" pitchFamily="34" charset="0"/>
              </a:rPr>
              <a:t>&lt;In case of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FF0000"/>
                </a:solidFill>
                <a:latin typeface="Meiryo UI" panose="020B0604030504040204" pitchFamily="50" charset="-128"/>
                <a:ea typeface="+mj-ea"/>
                <a:cs typeface="Arial" panose="020B0604020202020204" pitchFamily="34" charset="0"/>
              </a:rPr>
              <a:t> </a:t>
            </a:r>
            <a:r>
              <a:rPr lang="en-US" altLang="ja-JP" sz="1400">
                <a:latin typeface="Meiryo UI" panose="020B0604030504040204" pitchFamily="50" charset="-128"/>
                <a:ea typeface="+mj-ea"/>
                <a:cs typeface="Arial" panose="020B0604020202020204" pitchFamily="34" charset="0"/>
              </a:rPr>
              <a:t>requests&gt; </a:t>
            </a: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j-ea"/>
                <a:cs typeface="Arial" panose="020B0604020202020204" pitchFamily="34" charset="0"/>
              </a:rPr>
              <a:t> </a:t>
            </a:r>
            <a:r>
              <a:rPr lang="en-US" altLang="ja-JP" sz="1400">
                <a:latin typeface="Meiryo UI" panose="020B0604030504040204" pitchFamily="50" charset="-128"/>
                <a:ea typeface="Meiryo UI" panose="020B0604030504040204" pitchFamily="50" charset="-128"/>
                <a:cs typeface="Arial" panose="020B0604020202020204" pitchFamily="34" charset="0"/>
              </a:rPr>
              <a:t>is required to issue PAL change request using attached file.</a:t>
            </a:r>
          </a:p>
          <a:p>
            <a:pPr algn="l">
              <a:spcBef>
                <a:spcPts val="300"/>
              </a:spcBef>
            </a:pPr>
            <a:r>
              <a:rPr lang="en-US" altLang="ja-JP" sz="1400">
                <a:latin typeface="Meiryo UI" panose="020B0604030504040204" pitchFamily="50" charset="-128"/>
                <a:ea typeface="Meiryo UI" panose="020B0604030504040204" pitchFamily="50" charset="-128"/>
                <a:cs typeface="Arial" panose="020B0604020202020204" pitchFamily="34" charset="0"/>
              </a:rPr>
              <a:t>Honda needs to check it and if Honda agrees on it, Honda is required to sign up the document and send back to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cs typeface="Arial" panose="020B0604020202020204" pitchFamily="34" charset="0"/>
              </a:rPr>
              <a:t> </a:t>
            </a:r>
            <a:r>
              <a:rPr lang="en-US" altLang="ja-JP" sz="1400">
                <a:latin typeface="Meiryo UI" panose="020B0604030504040204" pitchFamily="50" charset="-128"/>
                <a:ea typeface="Meiryo UI" panose="020B0604030504040204" pitchFamily="50" charset="-128"/>
                <a:cs typeface="Arial" panose="020B0604020202020204" pitchFamily="34" charset="0"/>
              </a:rPr>
              <a:t>.</a:t>
            </a:r>
          </a:p>
          <a:p>
            <a:pPr algn="l">
              <a:spcBef>
                <a:spcPts val="300"/>
              </a:spcBef>
            </a:pPr>
            <a:r>
              <a:rPr lang="en-US" altLang="ja-JP" sz="1400">
                <a:latin typeface="Meiryo UI" panose="020B0604030504040204" pitchFamily="50" charset="-128"/>
                <a:ea typeface="Meiryo UI" panose="020B0604030504040204" pitchFamily="50" charset="-128"/>
                <a:cs typeface="Arial" panose="020B0604020202020204" pitchFamily="34" charset="0"/>
              </a:rPr>
              <a:t>If not, Honda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FF0000"/>
                </a:solidFill>
                <a:latin typeface="Meiryo UI" panose="020B0604030504040204" pitchFamily="50" charset="-128"/>
                <a:ea typeface="Meiryo UI" panose="020B0604030504040204" pitchFamily="50" charset="-128"/>
                <a:cs typeface="Arial" panose="020B0604020202020204" pitchFamily="34" charset="0"/>
              </a:rPr>
              <a:t> </a:t>
            </a:r>
            <a:r>
              <a:rPr lang="en-US" altLang="ja-JP" sz="1400">
                <a:latin typeface="Meiryo UI" panose="020B0604030504040204" pitchFamily="50" charset="-128"/>
                <a:ea typeface="Meiryo UI" panose="020B0604030504040204" pitchFamily="50" charset="-128"/>
                <a:cs typeface="Arial" panose="020B0604020202020204" pitchFamily="34" charset="0"/>
              </a:rPr>
              <a:t>shall have discussion and after agreement, </a:t>
            </a:r>
            <a:r>
              <a:rPr lang="en-US" altLang="ja-JP" sz="1400">
                <a:solidFill>
                  <a:srgbClr val="0000FF"/>
                </a:solidFill>
                <a:latin typeface="Meiryo UI" panose="020B0604030504040204" pitchFamily="50" charset="-128"/>
                <a:ea typeface="Meiryo UI" panose="020B0604030504040204" pitchFamily="50" charset="-128"/>
                <a:cs typeface="Arial" panose="020B0604020202020204" pitchFamily="34" charset="0"/>
              </a:rPr>
              <a:t>Bosch</a:t>
            </a:r>
            <a:r>
              <a:rPr lang="en-US" altLang="ja-JP" sz="1400">
                <a:latin typeface="Meiryo UI" panose="020B0604030504040204" pitchFamily="50" charset="-128"/>
                <a:ea typeface="Meiryo UI" panose="020B0604030504040204" pitchFamily="50" charset="-128"/>
                <a:cs typeface="Arial" panose="020B0604020202020204" pitchFamily="34" charset="0"/>
              </a:rPr>
              <a:t> is required to issue PAL change request.</a:t>
            </a:r>
          </a:p>
        </p:txBody>
      </p:sp>
      <p:sp>
        <p:nvSpPr>
          <p:cNvPr id="11"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(24/31)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1733552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6" name="表 15"/>
          <p:cNvGraphicFramePr>
            <a:graphicFrameLocks noGrp="1"/>
          </p:cNvGraphicFramePr>
          <p:nvPr>
            <p:extLst>
              <p:ext uri="{D42A27DB-BD31-4B8C-83A1-F6EECF244321}">
                <p14:modId xmlns:p14="http://schemas.microsoft.com/office/powerpoint/2010/main" val="2554827513"/>
              </p:ext>
            </p:extLst>
          </p:nvPr>
        </p:nvGraphicFramePr>
        <p:xfrm>
          <a:off x="107575" y="1460141"/>
          <a:ext cx="8847888" cy="4852706"/>
        </p:xfrm>
        <a:graphic>
          <a:graphicData uri="http://schemas.openxmlformats.org/drawingml/2006/table">
            <a:tbl>
              <a:tblPr firstRow="1" bandRow="1">
                <a:tableStyleId>{5940675A-B579-460E-94D1-54222C63F5DA}</a:tableStyleId>
              </a:tblPr>
              <a:tblGrid>
                <a:gridCol w="295808">
                  <a:extLst>
                    <a:ext uri="{9D8B030D-6E8A-4147-A177-3AD203B41FA5}">
                      <a16:colId xmlns:a16="http://schemas.microsoft.com/office/drawing/2014/main" val="20000"/>
                    </a:ext>
                  </a:extLst>
                </a:gridCol>
                <a:gridCol w="5096080">
                  <a:extLst>
                    <a:ext uri="{9D8B030D-6E8A-4147-A177-3AD203B41FA5}">
                      <a16:colId xmlns:a16="http://schemas.microsoft.com/office/drawing/2014/main" val="20001"/>
                    </a:ext>
                  </a:extLst>
                </a:gridCol>
                <a:gridCol w="864000">
                  <a:extLst>
                    <a:ext uri="{9D8B030D-6E8A-4147-A177-3AD203B41FA5}">
                      <a16:colId xmlns:a16="http://schemas.microsoft.com/office/drawing/2014/main" val="20002"/>
                    </a:ext>
                  </a:extLst>
                </a:gridCol>
                <a:gridCol w="864000">
                  <a:extLst>
                    <a:ext uri="{9D8B030D-6E8A-4147-A177-3AD203B41FA5}">
                      <a16:colId xmlns:a16="http://schemas.microsoft.com/office/drawing/2014/main" val="20003"/>
                    </a:ext>
                  </a:extLst>
                </a:gridCol>
                <a:gridCol w="864000">
                  <a:extLst>
                    <a:ext uri="{9D8B030D-6E8A-4147-A177-3AD203B41FA5}">
                      <a16:colId xmlns:a16="http://schemas.microsoft.com/office/drawing/2014/main" val="20004"/>
                    </a:ext>
                  </a:extLst>
                </a:gridCol>
                <a:gridCol w="864000">
                  <a:extLst>
                    <a:ext uri="{9D8B030D-6E8A-4147-A177-3AD203B41FA5}">
                      <a16:colId xmlns:a16="http://schemas.microsoft.com/office/drawing/2014/main" val="20005"/>
                    </a:ext>
                  </a:extLst>
                </a:gridCol>
              </a:tblGrid>
              <a:tr h="307993">
                <a:tc rowSpan="3" gridSpan="2">
                  <a:txBody>
                    <a:bodyPr/>
                    <a:lstStyle/>
                    <a:p>
                      <a:endParaRPr kumimoji="1" lang="ja-JP" altLang="en-US" sz="1400">
                        <a:latin typeface="Meiryo UI" panose="020B0604030504040204" pitchFamily="50" charset="-128"/>
                      </a:endParaRPr>
                    </a:p>
                  </a:txBody>
                  <a:tcPr>
                    <a:lnL w="12700" cap="flat" cmpd="sng" algn="ctr">
                      <a:noFill/>
                      <a:prstDash val="solid"/>
                      <a:round/>
                      <a:headEnd type="none" w="med" len="med"/>
                      <a:tailEnd type="none" w="med" len="med"/>
                    </a:lnL>
                    <a:lnT w="12700" cmpd="sng">
                      <a:noFill/>
                    </a:lnT>
                    <a:lnB w="12700" cap="flat" cmpd="sng" algn="ctr">
                      <a:solidFill>
                        <a:schemeClr val="tx1"/>
                      </a:solidFill>
                      <a:prstDash val="solid"/>
                      <a:round/>
                      <a:headEnd type="none" w="med" len="med"/>
                      <a:tailEnd type="none" w="med" len="med"/>
                    </a:lnB>
                  </a:tcPr>
                </a:tc>
                <a:tc rowSpan="3" hMerge="1">
                  <a:txBody>
                    <a:bodyPr/>
                    <a:lstStyle/>
                    <a:p>
                      <a:endParaRPr kumimoji="1" lang="ja-JP" altLang="en-US" sz="1400"/>
                    </a:p>
                  </a:txBody>
                  <a:tcPr>
                    <a:lnT w="12700" cmpd="sng">
                      <a:noFill/>
                    </a:lnT>
                    <a:lnB w="12700" cap="flat" cmpd="sng" algn="ctr">
                      <a:solidFill>
                        <a:schemeClr val="tx1"/>
                      </a:solidFill>
                      <a:prstDash val="solid"/>
                      <a:round/>
                      <a:headEnd type="none" w="med" len="med"/>
                      <a:tailEnd type="none" w="med" len="med"/>
                    </a:lnB>
                  </a:tcPr>
                </a:tc>
                <a:tc gridSpan="4">
                  <a:txBody>
                    <a:bodyPr/>
                    <a:lstStyle/>
                    <a:p>
                      <a:pPr algn="ctr"/>
                      <a:r>
                        <a:rPr kumimoji="1" lang="en-US" altLang="ja-JP" sz="1400">
                          <a:latin typeface="Meiryo UI" panose="020B0604030504040204" pitchFamily="50" charset="-128"/>
                        </a:rPr>
                        <a:t>To be released by every</a:t>
                      </a:r>
                      <a:endParaRPr kumimoji="1" lang="ja-JP" altLang="en-US" sz="1400">
                        <a:latin typeface="Meiryo UI" panose="020B0604030504040204" pitchFamily="50" charset="-128"/>
                      </a:endParaRPr>
                    </a:p>
                  </a:txBody>
                  <a:tcPr>
                    <a:solidFill>
                      <a:srgbClr val="FFFFCC"/>
                    </a:solidFill>
                  </a:tcPr>
                </a:tc>
                <a:tc hMerge="1">
                  <a:txBody>
                    <a:bodyPr/>
                    <a:lstStyle/>
                    <a:p>
                      <a:pPr algn="ctr"/>
                      <a:endParaRPr kumimoji="1" lang="ja-JP" altLang="en-US" sz="1400"/>
                    </a:p>
                  </a:txBody>
                  <a:tcP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307993">
                <a:tc gridSpan="2" vMerge="1">
                  <a:txBody>
                    <a:bodyPr/>
                    <a:lstStyle/>
                    <a:p>
                      <a:endParaRPr kumimoji="1" lang="ja-JP" altLang="en-US"/>
                    </a:p>
                  </a:txBody>
                  <a:tcPr/>
                </a:tc>
                <a:tc hMerge="1" vMerge="1">
                  <a:txBody>
                    <a:bodyPr/>
                    <a:lstStyle/>
                    <a:p>
                      <a:endParaRPr kumimoji="1" lang="ja-JP" altLang="en-US"/>
                    </a:p>
                  </a:txBody>
                  <a:tcPr/>
                </a:tc>
                <a:tc gridSpan="2">
                  <a:txBody>
                    <a:bodyPr/>
                    <a:lstStyle/>
                    <a:p>
                      <a:pPr algn="ctr"/>
                      <a:r>
                        <a:rPr kumimoji="1" lang="en-US" altLang="ja-JP" sz="1400">
                          <a:latin typeface="Meiryo UI" panose="020B0604030504040204" pitchFamily="50" charset="-128"/>
                        </a:rPr>
                        <a:t>Software </a:t>
                      </a:r>
                      <a:endParaRPr kumimoji="1" lang="ja-JP" altLang="en-US" sz="1400">
                        <a:latin typeface="Meiryo UI" panose="020B0604030504040204" pitchFamily="50" charset="-128"/>
                      </a:endParaRPr>
                    </a:p>
                  </a:txBody>
                  <a:tcPr anchor="ctr">
                    <a:lnB w="12700" cap="flat" cmpd="sng" algn="ctr">
                      <a:solidFill>
                        <a:schemeClr val="tx1"/>
                      </a:solidFill>
                      <a:prstDash val="solid"/>
                      <a:round/>
                      <a:headEnd type="none" w="med" len="med"/>
                      <a:tailEnd type="none" w="med" len="med"/>
                    </a:lnB>
                    <a:solidFill>
                      <a:srgbClr val="FFFFCC"/>
                    </a:solidFill>
                  </a:tcPr>
                </a:tc>
                <a:tc hMerge="1">
                  <a:txBody>
                    <a:bodyPr/>
                    <a:lstStyle/>
                    <a:p>
                      <a:pPr algn="ctr"/>
                      <a:endParaRPr kumimoji="1" lang="ja-JP" altLang="en-US" sz="1400"/>
                    </a:p>
                  </a:txBody>
                  <a:tcPr anchor="ctr">
                    <a:lnB w="12700" cap="flat" cmpd="sng" algn="ctr">
                      <a:solidFill>
                        <a:schemeClr val="tx1"/>
                      </a:solidFill>
                      <a:prstDash val="solid"/>
                      <a:round/>
                      <a:headEnd type="none" w="med" len="med"/>
                      <a:tailEnd type="none" w="med" len="med"/>
                    </a:lnB>
                    <a:solidFill>
                      <a:srgbClr val="FFFFCC"/>
                    </a:solidFill>
                  </a:tcPr>
                </a:tc>
                <a:tc gridSpan="2">
                  <a:txBody>
                    <a:bodyPr/>
                    <a:lstStyle/>
                    <a:p>
                      <a:pPr algn="ctr"/>
                      <a:r>
                        <a:rPr kumimoji="1" lang="en-US" altLang="ja-JP" sz="1400">
                          <a:latin typeface="Meiryo UI" panose="020B0604030504040204" pitchFamily="50" charset="-128"/>
                        </a:rPr>
                        <a:t>CAL dataset</a:t>
                      </a:r>
                      <a:endParaRPr kumimoji="1" lang="ja-JP" altLang="en-US" sz="1400">
                        <a:latin typeface="Meiryo UI" panose="020B0604030504040204" pitchFamily="50" charset="-128"/>
                      </a:endParaRPr>
                    </a:p>
                  </a:txBody>
                  <a:tcPr>
                    <a:solidFill>
                      <a:srgbClr val="FFFFCC"/>
                    </a:solidFill>
                  </a:tcPr>
                </a:tc>
                <a:tc hMerge="1">
                  <a:txBody>
                    <a:bodyPr/>
                    <a:lstStyle/>
                    <a:p>
                      <a:endParaRPr kumimoji="1" lang="ja-JP" altLang="en-US"/>
                    </a:p>
                  </a:txBody>
                  <a:tcPr/>
                </a:tc>
                <a:extLst>
                  <a:ext uri="{0D108BD9-81ED-4DB2-BD59-A6C34878D82A}">
                    <a16:rowId xmlns:a16="http://schemas.microsoft.com/office/drawing/2014/main" val="10001"/>
                  </a:ext>
                </a:extLst>
              </a:tr>
              <a:tr h="349214">
                <a:tc gridSpan="2" vMerge="1">
                  <a:txBody>
                    <a:bodyPr/>
                    <a:lstStyle/>
                    <a:p>
                      <a:endParaRPr kumimoji="1" lang="ja-JP" altLang="en-US"/>
                    </a:p>
                  </a:txBody>
                  <a:tcPr/>
                </a:tc>
                <a:tc hMerge="1" vMerge="1">
                  <a:txBody>
                    <a:bodyPr/>
                    <a:lstStyle/>
                    <a:p>
                      <a:endParaRPr kumimoji="1" lang="ja-JP" altLang="en-US" sz="1400"/>
                    </a:p>
                  </a:txBody>
                  <a:tcPr/>
                </a:tc>
                <a:tc rowSpan="2">
                  <a:txBody>
                    <a:bodyPr/>
                    <a:lstStyle/>
                    <a:p>
                      <a:pPr algn="ctr"/>
                      <a:r>
                        <a:rPr kumimoji="1" lang="en-US" altLang="ja-JP" sz="1400">
                          <a:latin typeface="Meiryo UI" panose="020B0604030504040204" pitchFamily="50" charset="-128"/>
                        </a:rPr>
                        <a:t>Prior</a:t>
                      </a:r>
                      <a:r>
                        <a:rPr kumimoji="1" lang="en-US" altLang="ja-JP" sz="1400" baseline="0">
                          <a:latin typeface="Meiryo UI" panose="020B0604030504040204" pitchFamily="50" charset="-128"/>
                        </a:rPr>
                        <a:t> to </a:t>
                      </a:r>
                    </a:p>
                    <a:p>
                      <a:pPr algn="ctr"/>
                      <a:r>
                        <a:rPr kumimoji="1" lang="en-US" altLang="ja-JP" sz="1400" baseline="0">
                          <a:latin typeface="Meiryo UI" panose="020B0604030504040204" pitchFamily="50" charset="-128"/>
                        </a:rPr>
                        <a:t>release</a:t>
                      </a:r>
                      <a:endParaRPr kumimoji="1" lang="ja-JP" altLang="en-US" sz="1400">
                        <a:latin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rgbClr val="FFFFCC"/>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rPr>
                        <a:t>PVER</a:t>
                      </a:r>
                      <a:endParaRPr kumimoji="1" lang="ja-JP" altLang="en-US" sz="1400">
                        <a:latin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rgbClr val="FFFFCC"/>
                    </a:solidFill>
                  </a:tcPr>
                </a:tc>
                <a:tc rowSpan="2">
                  <a:txBody>
                    <a:bodyPr/>
                    <a:lstStyle/>
                    <a:p>
                      <a:pPr algn="ctr"/>
                      <a:r>
                        <a:rPr kumimoji="1" lang="en-US" altLang="ja-JP" sz="1200">
                          <a:latin typeface="Meiryo UI" panose="020B0604030504040204" pitchFamily="50" charset="-128"/>
                        </a:rPr>
                        <a:t>Official</a:t>
                      </a:r>
                    </a:p>
                    <a:p>
                      <a:pPr algn="ctr"/>
                      <a:r>
                        <a:rPr kumimoji="1" lang="en-US" altLang="ja-JP" sz="1200">
                          <a:latin typeface="Meiryo UI" panose="020B0604030504040204" pitchFamily="50" charset="-128"/>
                        </a:rPr>
                        <a:t>(monthly and MPx )</a:t>
                      </a:r>
                      <a:endParaRPr kumimoji="1" lang="ja-JP" altLang="en-US" sz="1200">
                        <a:latin typeface="Meiryo UI" panose="020B0604030504040204" pitchFamily="50" charset="-128"/>
                      </a:endParaRPr>
                    </a:p>
                  </a:txBody>
                  <a:tcPr anchor="ctr">
                    <a:lnR w="12700" cap="flat" cmpd="sng" algn="ctr">
                      <a:solidFill>
                        <a:schemeClr val="tx1"/>
                      </a:solidFill>
                      <a:prstDash val="solid"/>
                      <a:round/>
                      <a:headEnd type="none" w="med" len="med"/>
                      <a:tailEnd type="none" w="med" len="med"/>
                    </a:lnR>
                    <a:solidFill>
                      <a:srgbClr val="FFFFCC"/>
                    </a:solidFill>
                  </a:tcPr>
                </a:tc>
                <a:tc rowSpan="2">
                  <a:txBody>
                    <a:bodyPr/>
                    <a:lstStyle/>
                    <a:p>
                      <a:pPr algn="ctr"/>
                      <a:r>
                        <a:rPr kumimoji="1" lang="en-US" altLang="ja-JP" sz="1200">
                          <a:latin typeface="Meiryo UI" panose="020B0604030504040204" pitchFamily="50" charset="-128"/>
                        </a:rPr>
                        <a:t>Emergency</a:t>
                      </a:r>
                    </a:p>
                    <a:p>
                      <a:pPr algn="ctr"/>
                      <a:r>
                        <a:rPr kumimoji="1" lang="en-US" altLang="ja-JP" sz="1200">
                          <a:latin typeface="Meiryo UI" panose="020B0604030504040204" pitchFamily="50" charset="-128"/>
                        </a:rPr>
                        <a:t>case</a:t>
                      </a:r>
                      <a:endParaRPr kumimoji="1" lang="ja-JP" altLang="en-US" sz="12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CC"/>
                    </a:solidFill>
                  </a:tcPr>
                </a:tc>
                <a:extLst>
                  <a:ext uri="{0D108BD9-81ED-4DB2-BD59-A6C34878D82A}">
                    <a16:rowId xmlns:a16="http://schemas.microsoft.com/office/drawing/2014/main" val="10002"/>
                  </a:ext>
                </a:extLst>
              </a:tr>
              <a:tr h="0">
                <a:tc>
                  <a:txBody>
                    <a:bodyPr/>
                    <a:lstStyle/>
                    <a:p>
                      <a:pPr algn="ctr"/>
                      <a:endParaRPr kumimoji="1" lang="ja-JP" altLang="en-US" sz="1400">
                        <a:latin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CC"/>
                    </a:solidFill>
                  </a:tcPr>
                </a:tc>
                <a:tc>
                  <a:txBody>
                    <a:bodyPr/>
                    <a:lstStyle/>
                    <a:p>
                      <a:pPr algn="ctr"/>
                      <a:r>
                        <a:rPr kumimoji="1" lang="en-US" altLang="ja-JP" sz="1400">
                          <a:latin typeface="Meiryo UI" panose="020B0604030504040204" pitchFamily="50" charset="-128"/>
                        </a:rPr>
                        <a:t>Required</a:t>
                      </a:r>
                      <a:r>
                        <a:rPr kumimoji="1" lang="en-US" altLang="ja-JP" sz="1400" baseline="0">
                          <a:latin typeface="Meiryo UI" panose="020B0604030504040204" pitchFamily="50" charset="-128"/>
                        </a:rPr>
                        <a:t> release document, some of sample files</a:t>
                      </a:r>
                      <a:endParaRPr kumimoji="1" lang="ja-JP" altLang="en-US" sz="14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CC"/>
                    </a:solid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0003"/>
                  </a:ext>
                </a:extLst>
              </a:tr>
              <a:tr h="822960">
                <a:tc>
                  <a:txBody>
                    <a:bodyPr/>
                    <a:lstStyle/>
                    <a:p>
                      <a:r>
                        <a:rPr kumimoji="1" lang="en-US" altLang="ja-JP" sz="1400">
                          <a:latin typeface="Meiryo UI" panose="020B0604030504040204" pitchFamily="50" charset="-128"/>
                        </a:rPr>
                        <a:t>1</a:t>
                      </a:r>
                      <a:endParaRPr kumimoji="1" lang="ja-JP" altLang="en-US" sz="14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Change</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announcement(SRS)</a:t>
                      </a:r>
                    </a:p>
                    <a:p>
                      <a:pPr algn="l"/>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Honda CR and modification proposal</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Design review</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algn="l"/>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Label List</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Q&amp;A Sheet</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Acceptance Criteria</a:t>
                      </a:r>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    </a:t>
                      </a:r>
                      <a:endPar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endParaRPr>
                    </a:p>
                    <a:p>
                      <a:pPr algn="l"/>
                      <a:r>
                        <a:rPr kumimoji="1" lang="ja-JP" altLang="en-US" sz="1400" b="0" i="0" u="none" strike="noStrike" kern="1200" baseline="0">
                          <a:solidFill>
                            <a:schemeClr val="tx1"/>
                          </a:solidFill>
                          <a:latin typeface="Meiryo UI" panose="020B0604030504040204" pitchFamily="50" charset="-128"/>
                          <a:ea typeface="Meiryo UI" panose="020B0604030504040204" pitchFamily="50" charset="-128"/>
                          <a:cs typeface="+mn-cs"/>
                        </a:rPr>
                        <a:t>・</a:t>
                      </a:r>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Software detail review (for reference)</a:t>
                      </a:r>
                      <a:endParaRPr kumimoji="1" lang="ja-JP" altLang="en-US" sz="1400" b="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822960">
                <a:tc>
                  <a:txBody>
                    <a:bodyPr/>
                    <a:lstStyle/>
                    <a:p>
                      <a:r>
                        <a:rPr kumimoji="1" lang="en-US" altLang="ja-JP" sz="1400">
                          <a:latin typeface="Meiryo UI" panose="020B0604030504040204" pitchFamily="50" charset="-128"/>
                        </a:rPr>
                        <a:t>2</a:t>
                      </a:r>
                      <a:endParaRPr kumimoji="1" lang="ja-JP" altLang="en-US" sz="1400">
                        <a:latin typeface="Meiryo UI" panose="020B0604030504040204" pitchFamily="50" charset="-128"/>
                      </a:endParaRPr>
                    </a:p>
                  </a:txBody>
                  <a:tcPr anchor="ctr"/>
                </a:tc>
                <a:tc>
                  <a:txBody>
                    <a:bodyPr/>
                    <a:lstStyle/>
                    <a:p>
                      <a:pPr algn="l"/>
                      <a:r>
                        <a:rPr kumimoji="1" lang="en-US" altLang="ja-JP" sz="1400" b="0" i="0" u="none" strike="noStrike" kern="1200" baseline="0">
                          <a:solidFill>
                            <a:schemeClr val="tx1"/>
                          </a:solidFill>
                          <a:latin typeface="Meiryo UI" panose="020B0604030504040204" pitchFamily="50" charset="-128"/>
                          <a:ea typeface="Meiryo UI" panose="020B0604030504040204" pitchFamily="50" charset="-128"/>
                          <a:cs typeface="+mn-cs"/>
                        </a:rPr>
                        <a:t>Software verification document</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822960">
                <a:tc rowSpan="2">
                  <a:txBody>
                    <a:bodyPr/>
                    <a:lstStyle/>
                    <a:p>
                      <a:r>
                        <a:rPr kumimoji="1" lang="en-US" altLang="ja-JP" sz="1400">
                          <a:latin typeface="Meiryo UI" panose="020B0604030504040204" pitchFamily="50" charset="-128"/>
                        </a:rPr>
                        <a:t>3</a:t>
                      </a:r>
                      <a:endParaRPr kumimoji="1" lang="ja-JP" altLang="en-US" sz="1400">
                        <a:latin typeface="Meiryo UI" panose="020B0604030504040204" pitchFamily="50" charset="-128"/>
                      </a:endParaRPr>
                    </a:p>
                  </a:txBody>
                  <a:tcPr anchor="ctr"/>
                </a:tc>
                <a:tc>
                  <a:txBody>
                    <a:bodyPr/>
                    <a:lstStyle/>
                    <a:p>
                      <a:pPr algn="l"/>
                      <a:r>
                        <a:rPr kumimoji="1" lang="en-US" altLang="ja-JP" sz="1400" b="0">
                          <a:latin typeface="Meiryo UI" panose="020B0604030504040204" pitchFamily="50" charset="-128"/>
                          <a:ea typeface="Meiryo UI" panose="020B0604030504040204" pitchFamily="50" charset="-128"/>
                        </a:rPr>
                        <a:t>SoftWare(HEX) &amp; supplementary files(A2L) &amp; Prof file</a:t>
                      </a:r>
                    </a:p>
                    <a:p>
                      <a:pPr algn="l"/>
                      <a:r>
                        <a:rPr kumimoji="1" lang="en-US" altLang="ja-JP" sz="1400" b="0">
                          <a:latin typeface="Meiryo UI" panose="020B0604030504040204" pitchFamily="50" charset="-128"/>
                          <a:ea typeface="Meiryo UI" panose="020B0604030504040204" pitchFamily="50" charset="-128"/>
                        </a:rPr>
                        <a:t>Software documentation</a:t>
                      </a:r>
                      <a:r>
                        <a:rPr kumimoji="1" lang="ja-JP" altLang="en-US" sz="1400" b="0">
                          <a:latin typeface="Meiryo UI" panose="020B0604030504040204" pitchFamily="50" charset="-128"/>
                          <a:ea typeface="Meiryo UI" panose="020B0604030504040204" pitchFamily="50" charset="-128"/>
                        </a:rPr>
                        <a:t> 、</a:t>
                      </a:r>
                      <a:r>
                        <a:rPr kumimoji="1" lang="en-US" altLang="ja-JP" sz="1400" b="0">
                          <a:latin typeface="Meiryo UI" panose="020B0604030504040204" pitchFamily="50" charset="-128"/>
                          <a:ea typeface="Meiryo UI" panose="020B0604030504040204" pitchFamily="50" charset="-128"/>
                        </a:rPr>
                        <a:t>Software Delivery content</a:t>
                      </a:r>
                    </a:p>
                    <a:p>
                      <a:pPr algn="l"/>
                      <a:r>
                        <a:rPr kumimoji="1" lang="en-US" altLang="ja-JP" sz="1400" b="0">
                          <a:latin typeface="Meiryo UI" panose="020B0604030504040204" pitchFamily="50" charset="-128"/>
                          <a:ea typeface="Meiryo UI" panose="020B0604030504040204" pitchFamily="50" charset="-128"/>
                        </a:rPr>
                        <a:t>Software History</a:t>
                      </a:r>
                      <a:r>
                        <a:rPr kumimoji="1" lang="ja-JP" altLang="en-US" sz="1400" b="0">
                          <a:latin typeface="Meiryo UI" panose="020B0604030504040204" pitchFamily="50" charset="-128"/>
                          <a:ea typeface="Meiryo UI" panose="020B0604030504040204" pitchFamily="50" charset="-128"/>
                        </a:rPr>
                        <a:t>、 </a:t>
                      </a:r>
                      <a:r>
                        <a:rPr kumimoji="1" lang="en-US" altLang="ja-JP" sz="1400" b="0">
                          <a:latin typeface="Meiryo UI" panose="020B0604030504040204" pitchFamily="50" charset="-128"/>
                          <a:ea typeface="Meiryo UI" panose="020B0604030504040204" pitchFamily="50" charset="-128"/>
                        </a:rPr>
                        <a:t>SW Function difference list</a:t>
                      </a:r>
                      <a:endParaRPr kumimoji="1" lang="ja-JP" altLang="en-US" sz="1400" b="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822960">
                <a:tc vMerge="1">
                  <a:txBody>
                    <a:bodyPr/>
                    <a:lstStyle/>
                    <a:p>
                      <a:endParaRPr kumimoji="1" lang="ja-JP" altLang="en-US" sz="14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a:latin typeface="Meiryo UI" panose="020B0604030504040204" pitchFamily="50" charset="-128"/>
                          <a:ea typeface="Meiryo UI" panose="020B0604030504040204" pitchFamily="50" charset="-128"/>
                        </a:rPr>
                        <a:t>Trouble</a:t>
                      </a:r>
                      <a:r>
                        <a:rPr kumimoji="1" lang="ja-JP" altLang="en-US" sz="1400" b="0">
                          <a:latin typeface="Meiryo UI" panose="020B0604030504040204" pitchFamily="50" charset="-128"/>
                          <a:ea typeface="Meiryo UI" panose="020B0604030504040204" pitchFamily="50" charset="-128"/>
                        </a:rPr>
                        <a:t> </a:t>
                      </a:r>
                      <a:r>
                        <a:rPr kumimoji="1" lang="en-US" altLang="ja-JP" sz="1400" b="0">
                          <a:latin typeface="Meiryo UI" panose="020B0604030504040204" pitchFamily="50" charset="-128"/>
                          <a:ea typeface="Meiryo UI" panose="020B0604030504040204" pitchFamily="50" charset="-128"/>
                        </a:rPr>
                        <a:t>Code</a:t>
                      </a:r>
                      <a:r>
                        <a:rPr kumimoji="1" lang="en-US" altLang="ja-JP" sz="1400" b="0" baseline="0">
                          <a:latin typeface="Meiryo UI" panose="020B0604030504040204" pitchFamily="50" charset="-128"/>
                          <a:ea typeface="Meiryo UI" panose="020B0604030504040204" pitchFamily="50" charset="-128"/>
                        </a:rPr>
                        <a:t> Information(</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kern="1200">
                          <a:solidFill>
                            <a:schemeClr val="tx1"/>
                          </a:solidFill>
                          <a:latin typeface="Meiryo UI" panose="020B0604030504040204" pitchFamily="50" charset="-128"/>
                          <a:ea typeface="Meiryo UI" panose="020B0604030504040204" pitchFamily="50" charset="-128"/>
                          <a:cs typeface="Arial" panose="020B0604020202020204" pitchFamily="34" charset="0"/>
                        </a:rPr>
                        <a:t> </a:t>
                      </a:r>
                      <a:r>
                        <a:rPr kumimoji="1" lang="en-US" altLang="ja-JP" sz="1400" b="0" baseline="0">
                          <a:latin typeface="Meiryo UI" panose="020B0604030504040204" pitchFamily="50" charset="-128"/>
                          <a:ea typeface="Meiryo UI" panose="020B0604030504040204" pitchFamily="50" charset="-128"/>
                        </a:rPr>
                        <a:t> standard format)</a:t>
                      </a:r>
                      <a:endParaRPr kumimoji="1" lang="ja-JP" altLang="en-US" sz="1400" b="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bl>
          </a:graphicData>
        </a:graphic>
      </p:graphicFrame>
      <p:sp>
        <p:nvSpPr>
          <p:cNvPr id="17" name="テキスト ボックス 16"/>
          <p:cNvSpPr txBox="1"/>
          <p:nvPr/>
        </p:nvSpPr>
        <p:spPr>
          <a:xfrm>
            <a:off x="80764" y="539763"/>
            <a:ext cx="3754636" cy="338554"/>
          </a:xfrm>
          <a:prstGeom prst="rect">
            <a:avLst/>
          </a:prstGeom>
          <a:noFill/>
        </p:spPr>
        <p:txBody>
          <a:bodyPr wrap="square" rtlCol="0">
            <a:spAutoFit/>
          </a:bodyPr>
          <a:lstStyle/>
          <a:p>
            <a:pPr algn="l" fontAlgn="auto">
              <a:spcBef>
                <a:spcPts val="0"/>
              </a:spcBef>
              <a:spcAft>
                <a:spcPts val="0"/>
              </a:spcAft>
            </a:pPr>
            <a:r>
              <a:rPr lang="en-US" altLang="ja-JP" sz="1600" b="1" u="sng">
                <a:solidFill>
                  <a:srgbClr val="000000"/>
                </a:solidFill>
                <a:latin typeface="Meiryo UI" pitchFamily="50" charset="-128"/>
                <a:ea typeface="Meiryo UI" pitchFamily="50" charset="-128"/>
                <a:cs typeface="Meiryo UI" pitchFamily="50" charset="-128"/>
              </a:rPr>
              <a:t>SW and CAL Dataset Tracking</a:t>
            </a:r>
            <a:endParaRPr lang="ja-JP" altLang="en-US" sz="1600" b="1" u="sng">
              <a:solidFill>
                <a:srgbClr val="000000"/>
              </a:solidFill>
              <a:latin typeface="Meiryo UI" pitchFamily="50" charset="-128"/>
              <a:ea typeface="Meiryo UI" pitchFamily="50" charset="-128"/>
              <a:cs typeface="Meiryo UI" pitchFamily="50" charset="-128"/>
            </a:endParaRPr>
          </a:p>
        </p:txBody>
      </p:sp>
      <p:sp>
        <p:nvSpPr>
          <p:cNvPr id="18" name="テキスト ボックス 17"/>
          <p:cNvSpPr txBox="1"/>
          <p:nvPr/>
        </p:nvSpPr>
        <p:spPr>
          <a:xfrm>
            <a:off x="107575" y="842599"/>
            <a:ext cx="5311772" cy="1600438"/>
          </a:xfrm>
          <a:prstGeom prst="rect">
            <a:avLst/>
          </a:prstGeom>
          <a:noFill/>
        </p:spPr>
        <p:txBody>
          <a:bodyPr wrap="square" rtlCol="0">
            <a:spAutoFit/>
          </a:bodyPr>
          <a:lstStyle/>
          <a:p>
            <a:pPr algn="l" fontAlgn="auto">
              <a:spcBef>
                <a:spcPts val="0"/>
              </a:spcBef>
              <a:spcAft>
                <a:spcPts val="0"/>
              </a:spcAft>
            </a:pPr>
            <a:r>
              <a:rPr lang="en-US" altLang="ja-JP" sz="1400">
                <a:solidFill>
                  <a:srgbClr val="000000"/>
                </a:solidFill>
                <a:latin typeface="Meiryo UI" pitchFamily="50" charset="-128"/>
                <a:ea typeface="Meiryo UI" pitchFamily="50" charset="-128"/>
                <a:cs typeface="Meiryo UI" pitchFamily="50" charset="-128"/>
              </a:rPr>
              <a:t>Following working level document during on going Honda-</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cs typeface="Arial" panose="020B0604020202020204" pitchFamily="34" charset="0"/>
              </a:rPr>
              <a:t> </a:t>
            </a:r>
            <a:r>
              <a:rPr lang="en-US" altLang="ja-JP" sz="1400">
                <a:solidFill>
                  <a:srgbClr val="000000"/>
                </a:solidFill>
                <a:latin typeface="Meiryo UI" pitchFamily="50" charset="-128"/>
                <a:ea typeface="Meiryo UI" pitchFamily="50" charset="-128"/>
                <a:cs typeface="Meiryo UI" pitchFamily="50" charset="-128"/>
              </a:rPr>
              <a:t>turn key project, shall be used as official tracking document for SW and calibration dataset maturation.</a:t>
            </a:r>
          </a:p>
          <a:p>
            <a:pPr algn="l" fontAlgn="auto">
              <a:spcBef>
                <a:spcPts val="0"/>
              </a:spcBef>
              <a:spcAft>
                <a:spcPts val="0"/>
              </a:spcAft>
            </a:pPr>
            <a:endParaRPr lang="en-US" altLang="ja-JP" sz="1400">
              <a:solidFill>
                <a:srgbClr val="000000"/>
              </a:solidFill>
              <a:latin typeface="Meiryo UI" pitchFamily="50" charset="-128"/>
              <a:ea typeface="Meiryo UI" pitchFamily="50" charset="-128"/>
              <a:cs typeface="Meiryo UI" pitchFamily="50" charset="-128"/>
            </a:endParaRPr>
          </a:p>
          <a:p>
            <a:pPr algn="l" fontAlgn="auto">
              <a:spcBef>
                <a:spcPts val="0"/>
              </a:spcBef>
              <a:spcAft>
                <a:spcPts val="0"/>
              </a:spcAft>
            </a:pPr>
            <a:r>
              <a:rPr lang="en-US" altLang="ja-JP" sz="1400">
                <a:solidFill>
                  <a:srgbClr val="000000"/>
                </a:solidFill>
                <a:latin typeface="Meiryo UI" pitchFamily="50" charset="-128"/>
                <a:ea typeface="Meiryo UI" pitchFamily="50" charset="-128"/>
                <a:cs typeface="Meiryo UI" pitchFamily="50" charset="-128"/>
              </a:rPr>
              <a:t>Honda-</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itchFamily="50" charset="-128"/>
                <a:ea typeface="Meiryo UI" pitchFamily="50" charset="-128"/>
                <a:cs typeface="Meiryo UI" pitchFamily="50" charset="-128"/>
              </a:rPr>
              <a:t>プロジェクトにおいてワーキングレベルで運用中の下記ドキュメントを、ソフトウェア、キャリブレーションデータセットの変化点・熟成度管理の正式文書と定める。</a:t>
            </a:r>
            <a:endParaRPr lang="en-US" altLang="ja-JP" sz="1400">
              <a:solidFill>
                <a:srgbClr val="000000"/>
              </a:solidFill>
              <a:latin typeface="Meiryo UI" pitchFamily="50" charset="-128"/>
              <a:ea typeface="Meiryo UI" pitchFamily="50" charset="-128"/>
              <a:cs typeface="Meiryo UI" pitchFamily="50" charset="-128"/>
            </a:endParaRPr>
          </a:p>
        </p:txBody>
      </p:sp>
      <p:sp>
        <p:nvSpPr>
          <p:cNvPr id="25" name="テキスト ボックス 24"/>
          <p:cNvSpPr txBox="1"/>
          <p:nvPr/>
        </p:nvSpPr>
        <p:spPr>
          <a:xfrm>
            <a:off x="5407029" y="1178739"/>
            <a:ext cx="3660771" cy="276999"/>
          </a:xfrm>
          <a:prstGeom prst="rect">
            <a:avLst/>
          </a:prstGeom>
          <a:noFill/>
        </p:spPr>
        <p:txBody>
          <a:bodyPr wrap="square" rtlCol="0">
            <a:spAutoFit/>
          </a:bodyPr>
          <a:lstStyle/>
          <a:p>
            <a:pPr algn="l" fontAlgn="auto">
              <a:spcBef>
                <a:spcPts val="0"/>
              </a:spcBef>
              <a:spcAft>
                <a:spcPts val="0"/>
              </a:spcAft>
            </a:pPr>
            <a:r>
              <a:rPr lang="ja-JP" altLang="en-US" sz="1200">
                <a:solidFill>
                  <a:srgbClr val="000000"/>
                </a:solidFill>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Mandatory  </a:t>
            </a:r>
            <a:r>
              <a:rPr lang="ja-JP" altLang="en-US" sz="1200">
                <a:solidFill>
                  <a:srgbClr val="000000"/>
                </a:solidFill>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to be discussed each case</a:t>
            </a:r>
            <a:endParaRPr lang="ja-JP" altLang="en-US" sz="1200">
              <a:solidFill>
                <a:srgbClr val="000000"/>
              </a:solidFill>
              <a:latin typeface="Meiryo UI" pitchFamily="50" charset="-128"/>
              <a:ea typeface="Meiryo UI" pitchFamily="50" charset="-128"/>
              <a:cs typeface="Meiryo UI" pitchFamily="50" charset="-128"/>
            </a:endParaRPr>
          </a:p>
        </p:txBody>
      </p:sp>
      <p:sp>
        <p:nvSpPr>
          <p:cNvPr id="11"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(25/31)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10" name="コンテンツ プレースホルダー 2"/>
          <p:cNvSpPr txBox="1">
            <a:spLocks/>
          </p:cNvSpPr>
          <p:nvPr>
            <p:custDataLst>
              <p:tags r:id="rId1"/>
            </p:custDataLst>
          </p:nvPr>
        </p:nvSpPr>
        <p:spPr bwMode="auto">
          <a:xfrm>
            <a:off x="379397" y="6332725"/>
            <a:ext cx="8576066"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“Change announcement sample” “Function difference check sample” excel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Tree>
    <p:extLst>
      <p:ext uri="{BB962C8B-B14F-4D97-AF65-F5344CB8AC3E}">
        <p14:creationId xmlns:p14="http://schemas.microsoft.com/office/powerpoint/2010/main" val="407888025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6" name="表 15"/>
          <p:cNvGraphicFramePr>
            <a:graphicFrameLocks noGrp="1"/>
          </p:cNvGraphicFramePr>
          <p:nvPr>
            <p:extLst>
              <p:ext uri="{D42A27DB-BD31-4B8C-83A1-F6EECF244321}">
                <p14:modId xmlns:p14="http://schemas.microsoft.com/office/powerpoint/2010/main" val="4132032002"/>
              </p:ext>
            </p:extLst>
          </p:nvPr>
        </p:nvGraphicFramePr>
        <p:xfrm>
          <a:off x="107575" y="1525457"/>
          <a:ext cx="8960224" cy="4561840"/>
        </p:xfrm>
        <a:graphic>
          <a:graphicData uri="http://schemas.openxmlformats.org/drawingml/2006/table">
            <a:tbl>
              <a:tblPr firstRow="1" bandRow="1">
                <a:tableStyleId>{5940675A-B579-460E-94D1-54222C63F5DA}</a:tableStyleId>
              </a:tblPr>
              <a:tblGrid>
                <a:gridCol w="295808">
                  <a:extLst>
                    <a:ext uri="{9D8B030D-6E8A-4147-A177-3AD203B41FA5}">
                      <a16:colId xmlns:a16="http://schemas.microsoft.com/office/drawing/2014/main" val="20000"/>
                    </a:ext>
                  </a:extLst>
                </a:gridCol>
                <a:gridCol w="5096080">
                  <a:extLst>
                    <a:ext uri="{9D8B030D-6E8A-4147-A177-3AD203B41FA5}">
                      <a16:colId xmlns:a16="http://schemas.microsoft.com/office/drawing/2014/main" val="20001"/>
                    </a:ext>
                  </a:extLst>
                </a:gridCol>
                <a:gridCol w="875211">
                  <a:extLst>
                    <a:ext uri="{9D8B030D-6E8A-4147-A177-3AD203B41FA5}">
                      <a16:colId xmlns:a16="http://schemas.microsoft.com/office/drawing/2014/main" val="20002"/>
                    </a:ext>
                  </a:extLst>
                </a:gridCol>
                <a:gridCol w="862149">
                  <a:extLst>
                    <a:ext uri="{9D8B030D-6E8A-4147-A177-3AD203B41FA5}">
                      <a16:colId xmlns:a16="http://schemas.microsoft.com/office/drawing/2014/main" val="20003"/>
                    </a:ext>
                  </a:extLst>
                </a:gridCol>
                <a:gridCol w="940526">
                  <a:extLst>
                    <a:ext uri="{9D8B030D-6E8A-4147-A177-3AD203B41FA5}">
                      <a16:colId xmlns:a16="http://schemas.microsoft.com/office/drawing/2014/main" val="20004"/>
                    </a:ext>
                  </a:extLst>
                </a:gridCol>
                <a:gridCol w="890450">
                  <a:extLst>
                    <a:ext uri="{9D8B030D-6E8A-4147-A177-3AD203B41FA5}">
                      <a16:colId xmlns:a16="http://schemas.microsoft.com/office/drawing/2014/main" val="20005"/>
                    </a:ext>
                  </a:extLst>
                </a:gridCol>
              </a:tblGrid>
              <a:tr h="307993">
                <a:tc rowSpan="3" gridSpan="2">
                  <a:txBody>
                    <a:bodyPr/>
                    <a:lstStyle/>
                    <a:p>
                      <a:endParaRPr kumimoji="1" lang="ja-JP" altLang="en-US" sz="1400">
                        <a:latin typeface="Meiryo UI" panose="020B0604030504040204" pitchFamily="50" charset="-128"/>
                      </a:endParaRPr>
                    </a:p>
                  </a:txBody>
                  <a:tcPr>
                    <a:lnL w="12700" cap="flat" cmpd="sng" algn="ctr">
                      <a:noFill/>
                      <a:prstDash val="solid"/>
                      <a:round/>
                      <a:headEnd type="none" w="med" len="med"/>
                      <a:tailEnd type="none" w="med" len="med"/>
                    </a:lnL>
                    <a:lnT w="12700" cmpd="sng">
                      <a:noFill/>
                    </a:lnT>
                    <a:lnB w="12700" cap="flat" cmpd="sng" algn="ctr">
                      <a:solidFill>
                        <a:schemeClr val="tx1"/>
                      </a:solidFill>
                      <a:prstDash val="solid"/>
                      <a:round/>
                      <a:headEnd type="none" w="med" len="med"/>
                      <a:tailEnd type="none" w="med" len="med"/>
                    </a:lnB>
                  </a:tcPr>
                </a:tc>
                <a:tc rowSpan="3" hMerge="1">
                  <a:txBody>
                    <a:bodyPr/>
                    <a:lstStyle/>
                    <a:p>
                      <a:endParaRPr kumimoji="1" lang="ja-JP" altLang="en-US" sz="1400"/>
                    </a:p>
                  </a:txBody>
                  <a:tcPr>
                    <a:lnT w="12700" cmpd="sng">
                      <a:noFill/>
                    </a:lnT>
                    <a:lnB w="12700" cap="flat" cmpd="sng" algn="ctr">
                      <a:solidFill>
                        <a:schemeClr val="tx1"/>
                      </a:solidFill>
                      <a:prstDash val="solid"/>
                      <a:round/>
                      <a:headEnd type="none" w="med" len="med"/>
                      <a:tailEnd type="none" w="med" len="med"/>
                    </a:lnB>
                  </a:tcPr>
                </a:tc>
                <a:tc gridSpan="4">
                  <a:txBody>
                    <a:bodyPr/>
                    <a:lstStyle/>
                    <a:p>
                      <a:pPr algn="ctr"/>
                      <a:r>
                        <a:rPr kumimoji="1" lang="en-US" altLang="ja-JP" sz="1400">
                          <a:latin typeface="Meiryo UI" panose="020B0604030504040204" pitchFamily="50" charset="-128"/>
                        </a:rPr>
                        <a:t>To be released by every</a:t>
                      </a:r>
                      <a:endParaRPr kumimoji="1" lang="ja-JP" altLang="en-US" sz="1400">
                        <a:latin typeface="Meiryo UI" panose="020B0604030504040204" pitchFamily="50" charset="-128"/>
                      </a:endParaRPr>
                    </a:p>
                  </a:txBody>
                  <a:tcPr>
                    <a:solidFill>
                      <a:srgbClr val="FFFFCC"/>
                    </a:solidFill>
                  </a:tcPr>
                </a:tc>
                <a:tc hMerge="1">
                  <a:txBody>
                    <a:bodyPr/>
                    <a:lstStyle/>
                    <a:p>
                      <a:pPr algn="ctr"/>
                      <a:endParaRPr kumimoji="1" lang="ja-JP" altLang="en-US" sz="1400"/>
                    </a:p>
                  </a:txBody>
                  <a:tcP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307993">
                <a:tc gridSpan="2" vMerge="1">
                  <a:txBody>
                    <a:bodyPr/>
                    <a:lstStyle/>
                    <a:p>
                      <a:endParaRPr kumimoji="1" lang="ja-JP" altLang="en-US"/>
                    </a:p>
                  </a:txBody>
                  <a:tcPr/>
                </a:tc>
                <a:tc hMerge="1" vMerge="1">
                  <a:txBody>
                    <a:bodyPr/>
                    <a:lstStyle/>
                    <a:p>
                      <a:endParaRPr kumimoji="1" lang="ja-JP" altLang="en-US"/>
                    </a:p>
                  </a:txBody>
                  <a:tcPr/>
                </a:tc>
                <a:tc gridSpan="2">
                  <a:txBody>
                    <a:bodyPr/>
                    <a:lstStyle/>
                    <a:p>
                      <a:pPr algn="ctr"/>
                      <a:r>
                        <a:rPr kumimoji="1" lang="en-US" altLang="ja-JP" sz="1400">
                          <a:latin typeface="Meiryo UI" panose="020B0604030504040204" pitchFamily="50" charset="-128"/>
                        </a:rPr>
                        <a:t>Software </a:t>
                      </a:r>
                      <a:endParaRPr kumimoji="1" lang="ja-JP" altLang="en-US" sz="1400">
                        <a:latin typeface="Meiryo UI" panose="020B0604030504040204" pitchFamily="50" charset="-128"/>
                      </a:endParaRPr>
                    </a:p>
                  </a:txBody>
                  <a:tcPr anchor="ctr">
                    <a:lnB w="12700" cap="flat" cmpd="sng" algn="ctr">
                      <a:solidFill>
                        <a:schemeClr val="tx1"/>
                      </a:solidFill>
                      <a:prstDash val="solid"/>
                      <a:round/>
                      <a:headEnd type="none" w="med" len="med"/>
                      <a:tailEnd type="none" w="med" len="med"/>
                    </a:lnB>
                    <a:solidFill>
                      <a:srgbClr val="FFFFCC"/>
                    </a:solidFill>
                  </a:tcPr>
                </a:tc>
                <a:tc hMerge="1">
                  <a:txBody>
                    <a:bodyPr/>
                    <a:lstStyle/>
                    <a:p>
                      <a:pPr algn="ctr"/>
                      <a:endParaRPr kumimoji="1" lang="ja-JP" altLang="en-US" sz="1400"/>
                    </a:p>
                  </a:txBody>
                  <a:tcPr anchor="ctr">
                    <a:lnB w="12700" cap="flat" cmpd="sng" algn="ctr">
                      <a:solidFill>
                        <a:schemeClr val="tx1"/>
                      </a:solidFill>
                      <a:prstDash val="solid"/>
                      <a:round/>
                      <a:headEnd type="none" w="med" len="med"/>
                      <a:tailEnd type="none" w="med" len="med"/>
                    </a:lnB>
                    <a:solidFill>
                      <a:srgbClr val="FFFFCC"/>
                    </a:solidFill>
                  </a:tcPr>
                </a:tc>
                <a:tc gridSpan="2">
                  <a:txBody>
                    <a:bodyPr/>
                    <a:lstStyle/>
                    <a:p>
                      <a:pPr algn="ctr"/>
                      <a:r>
                        <a:rPr kumimoji="1" lang="en-US" altLang="ja-JP" sz="1400">
                          <a:latin typeface="Meiryo UI" panose="020B0604030504040204" pitchFamily="50" charset="-128"/>
                        </a:rPr>
                        <a:t>CAL dataset</a:t>
                      </a:r>
                      <a:endParaRPr kumimoji="1" lang="ja-JP" altLang="en-US" sz="1400">
                        <a:latin typeface="Meiryo UI" panose="020B0604030504040204" pitchFamily="50" charset="-128"/>
                      </a:endParaRPr>
                    </a:p>
                  </a:txBody>
                  <a:tcPr>
                    <a:solidFill>
                      <a:srgbClr val="FFFFCC"/>
                    </a:solidFill>
                  </a:tcPr>
                </a:tc>
                <a:tc hMerge="1">
                  <a:txBody>
                    <a:bodyPr/>
                    <a:lstStyle/>
                    <a:p>
                      <a:endParaRPr kumimoji="1" lang="ja-JP" altLang="en-US"/>
                    </a:p>
                  </a:txBody>
                  <a:tcPr/>
                </a:tc>
                <a:extLst>
                  <a:ext uri="{0D108BD9-81ED-4DB2-BD59-A6C34878D82A}">
                    <a16:rowId xmlns:a16="http://schemas.microsoft.com/office/drawing/2014/main" val="10001"/>
                  </a:ext>
                </a:extLst>
              </a:tr>
              <a:tr h="349214">
                <a:tc gridSpan="2" vMerge="1">
                  <a:txBody>
                    <a:bodyPr/>
                    <a:lstStyle/>
                    <a:p>
                      <a:endParaRPr kumimoji="1" lang="ja-JP" altLang="en-US"/>
                    </a:p>
                  </a:txBody>
                  <a:tcPr/>
                </a:tc>
                <a:tc hMerge="1" vMerge="1">
                  <a:txBody>
                    <a:bodyPr/>
                    <a:lstStyle/>
                    <a:p>
                      <a:endParaRPr kumimoji="1" lang="ja-JP" altLang="en-US" sz="1400"/>
                    </a:p>
                  </a:txBody>
                  <a:tcPr/>
                </a:tc>
                <a:tc rowSpan="2">
                  <a:txBody>
                    <a:bodyPr/>
                    <a:lstStyle/>
                    <a:p>
                      <a:pPr algn="ctr"/>
                      <a:r>
                        <a:rPr kumimoji="1" lang="en-US" altLang="ja-JP" sz="1400">
                          <a:latin typeface="Meiryo UI" panose="020B0604030504040204" pitchFamily="50" charset="-128"/>
                        </a:rPr>
                        <a:t>Prior</a:t>
                      </a:r>
                      <a:r>
                        <a:rPr kumimoji="1" lang="en-US" altLang="ja-JP" sz="1400" baseline="0">
                          <a:latin typeface="Meiryo UI" panose="020B0604030504040204" pitchFamily="50" charset="-128"/>
                        </a:rPr>
                        <a:t> to </a:t>
                      </a:r>
                    </a:p>
                    <a:p>
                      <a:pPr algn="ctr"/>
                      <a:r>
                        <a:rPr kumimoji="1" lang="en-US" altLang="ja-JP" sz="1400" baseline="0">
                          <a:latin typeface="Meiryo UI" panose="020B0604030504040204" pitchFamily="50" charset="-128"/>
                        </a:rPr>
                        <a:t>release</a:t>
                      </a:r>
                      <a:endParaRPr kumimoji="1" lang="ja-JP" altLang="en-US" sz="1400">
                        <a:latin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rgbClr val="FFFFCC"/>
                    </a:solidFill>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rPr>
                        <a:t>PVER</a:t>
                      </a:r>
                      <a:endParaRPr kumimoji="1" lang="ja-JP" altLang="en-US" sz="1400">
                        <a:latin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rgbClr val="FFFFCC"/>
                    </a:solidFill>
                  </a:tcPr>
                </a:tc>
                <a:tc rowSpan="2">
                  <a:txBody>
                    <a:bodyPr/>
                    <a:lstStyle/>
                    <a:p>
                      <a:pPr algn="ctr"/>
                      <a:r>
                        <a:rPr kumimoji="1" lang="en-US" altLang="ja-JP" sz="1200">
                          <a:latin typeface="Meiryo UI" panose="020B0604030504040204" pitchFamily="50" charset="-128"/>
                        </a:rPr>
                        <a:t>Official</a:t>
                      </a:r>
                    </a:p>
                    <a:p>
                      <a:pPr algn="ctr"/>
                      <a:r>
                        <a:rPr kumimoji="1" lang="en-US" altLang="ja-JP" sz="1200">
                          <a:latin typeface="Meiryo UI" panose="020B0604030504040204" pitchFamily="50" charset="-128"/>
                        </a:rPr>
                        <a:t>(monthly and MPx )</a:t>
                      </a:r>
                      <a:endParaRPr kumimoji="1" lang="ja-JP" altLang="en-US" sz="1200">
                        <a:latin typeface="Meiryo UI" panose="020B0604030504040204" pitchFamily="50" charset="-128"/>
                      </a:endParaRPr>
                    </a:p>
                  </a:txBody>
                  <a:tcPr anchor="ctr">
                    <a:lnR w="12700" cap="flat" cmpd="sng" algn="ctr">
                      <a:solidFill>
                        <a:schemeClr val="tx1"/>
                      </a:solidFill>
                      <a:prstDash val="solid"/>
                      <a:round/>
                      <a:headEnd type="none" w="med" len="med"/>
                      <a:tailEnd type="none" w="med" len="med"/>
                    </a:lnR>
                    <a:solidFill>
                      <a:srgbClr val="FFFFCC"/>
                    </a:solidFill>
                  </a:tcPr>
                </a:tc>
                <a:tc rowSpan="2">
                  <a:txBody>
                    <a:bodyPr/>
                    <a:lstStyle/>
                    <a:p>
                      <a:pPr algn="ctr"/>
                      <a:r>
                        <a:rPr kumimoji="1" lang="en-US" altLang="ja-JP" sz="1200">
                          <a:latin typeface="Meiryo UI" panose="020B0604030504040204" pitchFamily="50" charset="-128"/>
                        </a:rPr>
                        <a:t>Emergency</a:t>
                      </a:r>
                    </a:p>
                    <a:p>
                      <a:pPr algn="ctr"/>
                      <a:r>
                        <a:rPr kumimoji="1" lang="en-US" altLang="ja-JP" sz="1200">
                          <a:latin typeface="Meiryo UI" panose="020B0604030504040204" pitchFamily="50" charset="-128"/>
                        </a:rPr>
                        <a:t>case</a:t>
                      </a:r>
                      <a:endParaRPr kumimoji="1" lang="ja-JP" altLang="en-US" sz="12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FFCC"/>
                    </a:solidFill>
                  </a:tcPr>
                </a:tc>
                <a:extLst>
                  <a:ext uri="{0D108BD9-81ED-4DB2-BD59-A6C34878D82A}">
                    <a16:rowId xmlns:a16="http://schemas.microsoft.com/office/drawing/2014/main" val="10002"/>
                  </a:ext>
                </a:extLst>
              </a:tr>
              <a:tr h="0">
                <a:tc>
                  <a:txBody>
                    <a:bodyPr/>
                    <a:lstStyle/>
                    <a:p>
                      <a:pPr algn="ctr"/>
                      <a:endParaRPr kumimoji="1" lang="ja-JP" altLang="en-US" sz="1400">
                        <a:latin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CC"/>
                    </a:solidFill>
                  </a:tcPr>
                </a:tc>
                <a:tc>
                  <a:txBody>
                    <a:bodyPr/>
                    <a:lstStyle/>
                    <a:p>
                      <a:pPr algn="ctr"/>
                      <a:r>
                        <a:rPr kumimoji="1" lang="en-US" altLang="ja-JP" sz="1400">
                          <a:latin typeface="Meiryo UI" panose="020B0604030504040204" pitchFamily="50" charset="-128"/>
                        </a:rPr>
                        <a:t>Required</a:t>
                      </a:r>
                      <a:r>
                        <a:rPr kumimoji="1" lang="en-US" altLang="ja-JP" sz="1400" baseline="0">
                          <a:latin typeface="Meiryo UI" panose="020B0604030504040204" pitchFamily="50" charset="-128"/>
                        </a:rPr>
                        <a:t> release document, some of sample files</a:t>
                      </a:r>
                      <a:endParaRPr kumimoji="1" lang="ja-JP" altLang="en-US" sz="1400">
                        <a:latin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FFCC"/>
                    </a:solid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0003"/>
                  </a:ext>
                </a:extLst>
              </a:tr>
              <a:tr h="822960">
                <a:tc rowSpan="4">
                  <a:txBody>
                    <a:bodyPr/>
                    <a:lstStyle/>
                    <a:p>
                      <a:r>
                        <a:rPr kumimoji="1" lang="en-US" altLang="ja-JP" sz="1400">
                          <a:latin typeface="Meiryo UI" panose="020B0604030504040204" pitchFamily="50" charset="-128"/>
                        </a:rPr>
                        <a:t>4</a:t>
                      </a:r>
                      <a:endParaRPr kumimoji="1" lang="ja-JP" altLang="en-US" sz="1400">
                        <a:latin typeface="Meiryo UI"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baseline="0">
                          <a:solidFill>
                            <a:schemeClr val="tx1"/>
                          </a:solidFill>
                          <a:latin typeface="Meiryo UI" panose="020B0604030504040204" pitchFamily="50" charset="-128"/>
                          <a:ea typeface="+mn-ea"/>
                          <a:cs typeface="+mn-cs"/>
                        </a:rPr>
                        <a:t>Calibration responsibility list(PAL)</a:t>
                      </a:r>
                      <a:endParaRPr kumimoji="1" lang="ja-JP" altLang="en-US" sz="1400" b="0">
                        <a:latin typeface="Meiryo UI" panose="020B0604030504040204" pitchFamily="50" charset="-128"/>
                      </a:endParaRPr>
                    </a:p>
                  </a:txBody>
                  <a:tcP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822960">
                <a:tc vMerge="1">
                  <a:txBody>
                    <a:bodyPr/>
                    <a:lstStyle/>
                    <a:p>
                      <a:endParaRPr kumimoji="1" lang="ja-JP" altLang="en-US" sz="1400"/>
                    </a:p>
                  </a:txBody>
                  <a:tcPr/>
                </a:tc>
                <a:tc>
                  <a:txBody>
                    <a:bodyPr/>
                    <a:lstStyle/>
                    <a:p>
                      <a:pPr algn="l"/>
                      <a:r>
                        <a:rPr kumimoji="1" lang="en-US" altLang="ja-JP" sz="1400" b="0">
                          <a:latin typeface="Meiryo UI" panose="020B0604030504040204" pitchFamily="50" charset="-128"/>
                        </a:rPr>
                        <a:t>Change</a:t>
                      </a:r>
                      <a:r>
                        <a:rPr kumimoji="1" lang="en-US" altLang="ja-JP" sz="1400" b="0" baseline="0">
                          <a:latin typeface="Meiryo UI" panose="020B0604030504040204" pitchFamily="50" charset="-128"/>
                        </a:rPr>
                        <a:t> Request (CR) List</a:t>
                      </a:r>
                      <a:endParaRPr kumimoji="1" lang="ja-JP" altLang="en-US" sz="1400" b="0">
                        <a:latin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822960">
                <a:tc vMerge="1">
                  <a:txBody>
                    <a:bodyPr/>
                    <a:lstStyle/>
                    <a:p>
                      <a:endParaRPr kumimoji="1" lang="ja-JP" altLang="en-US" sz="14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baseline="0">
                          <a:solidFill>
                            <a:schemeClr val="tx1"/>
                          </a:solidFill>
                          <a:latin typeface="Meiryo UI" panose="020B0604030504040204" pitchFamily="50" charset="-128"/>
                          <a:ea typeface="+mn-ea"/>
                          <a:cs typeface="+mn-cs"/>
                        </a:rPr>
                        <a:t>Calibration maturity list</a:t>
                      </a:r>
                    </a:p>
                    <a:p>
                      <a:pPr algn="l"/>
                      <a:r>
                        <a:rPr kumimoji="1" lang="en-US" altLang="ja-JP" sz="1400" b="0" i="0" u="none" strike="noStrike" kern="1200" baseline="0">
                          <a:solidFill>
                            <a:schemeClr val="tx1"/>
                          </a:solidFill>
                          <a:latin typeface="Meiryo UI" panose="020B0604030504040204" pitchFamily="50" charset="-128"/>
                          <a:ea typeface="+mn-ea"/>
                          <a:cs typeface="+mn-cs"/>
                        </a:rPr>
                        <a:t>Operational test report</a:t>
                      </a: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82296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b="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baseline="0">
                          <a:solidFill>
                            <a:schemeClr val="tx1"/>
                          </a:solidFill>
                          <a:latin typeface="Meiryo UI" panose="020B0604030504040204" pitchFamily="50" charset="-128"/>
                          <a:ea typeface="+mn-ea"/>
                          <a:cs typeface="+mn-cs"/>
                        </a:rPr>
                        <a:t>SW-CAL delivery list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baseline="0">
                          <a:solidFill>
                            <a:schemeClr val="tx1"/>
                          </a:solidFill>
                          <a:latin typeface="Meiryo UI" panose="020B0604030504040204" pitchFamily="50" charset="-128"/>
                          <a:ea typeface="+mn-ea"/>
                          <a:cs typeface="+mn-cs"/>
                        </a:rPr>
                        <a:t>Calibration data change list</a:t>
                      </a:r>
                      <a:endParaRPr kumimoji="1" lang="en-US" altLang="ja-JP" sz="1400" b="0">
                        <a:latin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0">
                          <a:latin typeface="Meiryo UI" panose="020B0604030504040204" pitchFamily="50" charset="-128"/>
                        </a:rPr>
                        <a:t>CR related calibration data comparison list for all variant</a:t>
                      </a:r>
                      <a:endParaRPr kumimoji="1" lang="ja-JP" altLang="en-US" sz="1400" b="0">
                        <a:latin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endParaRPr kumimoji="1" lang="ja-JP" altLang="en-US"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R w="12700" cap="flat" cmpd="sng" algn="ctr">
                      <a:solidFill>
                        <a:schemeClr val="tx1"/>
                      </a:solidFill>
                      <a:prstDash val="solid"/>
                      <a:round/>
                      <a:headEnd type="none" w="med" len="med"/>
                      <a:tailEnd type="none" w="med" len="med"/>
                    </a:lnR>
                  </a:tcPr>
                </a:tc>
                <a:tc>
                  <a:txBody>
                    <a:bodyPr/>
                    <a:lstStyle/>
                    <a:p>
                      <a:pPr algn="ctr"/>
                      <a:r>
                        <a:rPr kumimoji="1" lang="ja-JP" altLang="en-US" sz="1400">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1"/>
                  </a:ext>
                </a:extLst>
              </a:tr>
            </a:tbl>
          </a:graphicData>
        </a:graphic>
      </p:graphicFrame>
      <p:sp>
        <p:nvSpPr>
          <p:cNvPr id="17" name="テキスト ボックス 16"/>
          <p:cNvSpPr txBox="1"/>
          <p:nvPr/>
        </p:nvSpPr>
        <p:spPr>
          <a:xfrm>
            <a:off x="80764" y="546532"/>
            <a:ext cx="3754636" cy="338554"/>
          </a:xfrm>
          <a:prstGeom prst="rect">
            <a:avLst/>
          </a:prstGeom>
          <a:noFill/>
        </p:spPr>
        <p:txBody>
          <a:bodyPr wrap="square" rtlCol="0">
            <a:spAutoFit/>
          </a:bodyPr>
          <a:lstStyle/>
          <a:p>
            <a:pPr algn="l" fontAlgn="auto">
              <a:spcBef>
                <a:spcPts val="0"/>
              </a:spcBef>
              <a:spcAft>
                <a:spcPts val="0"/>
              </a:spcAft>
            </a:pPr>
            <a:r>
              <a:rPr lang="en-US" altLang="ja-JP" sz="1600" b="1" u="sng">
                <a:solidFill>
                  <a:srgbClr val="000000"/>
                </a:solidFill>
                <a:latin typeface="Meiryo UI" pitchFamily="50" charset="-128"/>
                <a:ea typeface="Meiryo UI" pitchFamily="50" charset="-128"/>
                <a:cs typeface="Meiryo UI" pitchFamily="50" charset="-128"/>
              </a:rPr>
              <a:t>SW and CAL Dataset Tracking</a:t>
            </a:r>
            <a:endParaRPr lang="ja-JP" altLang="en-US" sz="1600" b="1" u="sng">
              <a:solidFill>
                <a:srgbClr val="000000"/>
              </a:solidFill>
              <a:latin typeface="Meiryo UI" pitchFamily="50" charset="-128"/>
              <a:ea typeface="Meiryo UI" pitchFamily="50" charset="-128"/>
              <a:cs typeface="Meiryo UI" pitchFamily="50" charset="-128"/>
            </a:endParaRPr>
          </a:p>
        </p:txBody>
      </p:sp>
      <p:sp>
        <p:nvSpPr>
          <p:cNvPr id="18" name="テキスト ボックス 17"/>
          <p:cNvSpPr txBox="1"/>
          <p:nvPr/>
        </p:nvSpPr>
        <p:spPr>
          <a:xfrm>
            <a:off x="80764" y="905190"/>
            <a:ext cx="5311772" cy="1600438"/>
          </a:xfrm>
          <a:prstGeom prst="rect">
            <a:avLst/>
          </a:prstGeom>
          <a:noFill/>
        </p:spPr>
        <p:txBody>
          <a:bodyPr wrap="square" rtlCol="0">
            <a:spAutoFit/>
          </a:bodyPr>
          <a:lstStyle/>
          <a:p>
            <a:pPr algn="l" fontAlgn="auto">
              <a:spcBef>
                <a:spcPts val="0"/>
              </a:spcBef>
              <a:spcAft>
                <a:spcPts val="0"/>
              </a:spcAft>
            </a:pPr>
            <a:r>
              <a:rPr lang="en-US" altLang="ja-JP" sz="1400">
                <a:solidFill>
                  <a:srgbClr val="000000"/>
                </a:solidFill>
                <a:latin typeface="Meiryo UI" pitchFamily="50" charset="-128"/>
                <a:ea typeface="Meiryo UI" pitchFamily="50" charset="-128"/>
                <a:cs typeface="Meiryo UI" pitchFamily="50" charset="-128"/>
              </a:rPr>
              <a:t>Following working level document during on going Honda-</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itchFamily="50" charset="-128"/>
                <a:ea typeface="Meiryo UI" pitchFamily="50" charset="-128"/>
                <a:cs typeface="Meiryo UI" pitchFamily="50" charset="-128"/>
              </a:rPr>
              <a:t> turn key project, shall be used as official tracking document for SW and calibration dataset maturation.</a:t>
            </a:r>
          </a:p>
          <a:p>
            <a:pPr algn="l" fontAlgn="auto">
              <a:spcBef>
                <a:spcPts val="0"/>
              </a:spcBef>
              <a:spcAft>
                <a:spcPts val="0"/>
              </a:spcAft>
            </a:pPr>
            <a:endParaRPr lang="en-US" altLang="ja-JP" sz="1400">
              <a:solidFill>
                <a:srgbClr val="000000"/>
              </a:solidFill>
              <a:latin typeface="Meiryo UI" pitchFamily="50" charset="-128"/>
              <a:ea typeface="Meiryo UI" pitchFamily="50" charset="-128"/>
              <a:cs typeface="Meiryo UI" pitchFamily="50" charset="-128"/>
            </a:endParaRPr>
          </a:p>
          <a:p>
            <a:pPr algn="l" fontAlgn="auto">
              <a:spcBef>
                <a:spcPts val="0"/>
              </a:spcBef>
              <a:spcAft>
                <a:spcPts val="0"/>
              </a:spcAft>
            </a:pPr>
            <a:r>
              <a:rPr lang="en-US" altLang="ja-JP" sz="1400">
                <a:solidFill>
                  <a:srgbClr val="000000"/>
                </a:solidFill>
                <a:latin typeface="Meiryo UI" pitchFamily="50" charset="-128"/>
                <a:ea typeface="Meiryo UI" pitchFamily="50" charset="-128"/>
                <a:cs typeface="Meiryo UI" pitchFamily="50" charset="-128"/>
              </a:rPr>
              <a:t>Honda-</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itchFamily="50" charset="-128"/>
                <a:ea typeface="Meiryo UI" pitchFamily="50" charset="-128"/>
                <a:cs typeface="Meiryo UI" pitchFamily="50" charset="-128"/>
              </a:rPr>
              <a:t>プロジェクトにおいてワーキングレベルで運用中の下記ドキュメントを、ソフトウェア、キャリブレーションデータセットの変化点・熟成度管理の正式文書と定める。</a:t>
            </a:r>
            <a:endParaRPr lang="en-US" altLang="ja-JP" sz="1400">
              <a:solidFill>
                <a:srgbClr val="000000"/>
              </a:solidFill>
              <a:latin typeface="Meiryo UI" pitchFamily="50" charset="-128"/>
              <a:ea typeface="Meiryo UI" pitchFamily="50" charset="-128"/>
              <a:cs typeface="Meiryo UI" pitchFamily="50" charset="-128"/>
            </a:endParaRPr>
          </a:p>
        </p:txBody>
      </p:sp>
      <p:sp>
        <p:nvSpPr>
          <p:cNvPr id="25" name="テキスト ボックス 24"/>
          <p:cNvSpPr txBox="1"/>
          <p:nvPr/>
        </p:nvSpPr>
        <p:spPr>
          <a:xfrm>
            <a:off x="5407029" y="1230992"/>
            <a:ext cx="3660771" cy="276999"/>
          </a:xfrm>
          <a:prstGeom prst="rect">
            <a:avLst/>
          </a:prstGeom>
          <a:noFill/>
        </p:spPr>
        <p:txBody>
          <a:bodyPr wrap="square" rtlCol="0">
            <a:spAutoFit/>
          </a:bodyPr>
          <a:lstStyle/>
          <a:p>
            <a:pPr algn="l" fontAlgn="auto">
              <a:spcBef>
                <a:spcPts val="0"/>
              </a:spcBef>
              <a:spcAft>
                <a:spcPts val="0"/>
              </a:spcAft>
            </a:pPr>
            <a:r>
              <a:rPr lang="ja-JP" altLang="en-US" sz="1200">
                <a:solidFill>
                  <a:srgbClr val="000000"/>
                </a:solidFill>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Mandatory  </a:t>
            </a:r>
            <a:r>
              <a:rPr lang="ja-JP" altLang="en-US" sz="1200">
                <a:solidFill>
                  <a:srgbClr val="000000"/>
                </a:solidFill>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to be discussed each case</a:t>
            </a:r>
            <a:endParaRPr lang="ja-JP" altLang="en-US" sz="1200">
              <a:solidFill>
                <a:srgbClr val="000000"/>
              </a:solidFill>
              <a:latin typeface="Meiryo UI" pitchFamily="50" charset="-128"/>
              <a:ea typeface="Meiryo UI" pitchFamily="50" charset="-128"/>
              <a:cs typeface="Meiryo UI" pitchFamily="50" charset="-128"/>
            </a:endParaRPr>
          </a:p>
        </p:txBody>
      </p:sp>
      <p:sp>
        <p:nvSpPr>
          <p:cNvPr id="19"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(26/31)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14" name="コンテンツ プレースホルダー 2"/>
          <p:cNvSpPr txBox="1">
            <a:spLocks/>
          </p:cNvSpPr>
          <p:nvPr>
            <p:custDataLst>
              <p:tags r:id="rId1"/>
            </p:custDataLst>
          </p:nvPr>
        </p:nvSpPr>
        <p:spPr bwMode="auto">
          <a:xfrm>
            <a:off x="1571790" y="3091028"/>
            <a:ext cx="3808735"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“CAL responsivity” excel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
        <p:nvSpPr>
          <p:cNvPr id="22" name="コンテンツ プレースホルダー 2">
            <a:extLst>
              <a:ext uri="{FF2B5EF4-FFF2-40B4-BE49-F238E27FC236}">
                <a16:creationId xmlns:a16="http://schemas.microsoft.com/office/drawing/2014/main" id="{7485E82E-7C94-492F-B683-906541705F1A}"/>
              </a:ext>
            </a:extLst>
          </p:cNvPr>
          <p:cNvSpPr txBox="1">
            <a:spLocks/>
          </p:cNvSpPr>
          <p:nvPr>
            <p:custDataLst>
              <p:tags r:id="rId2"/>
            </p:custDataLst>
          </p:nvPr>
        </p:nvSpPr>
        <p:spPr bwMode="auto">
          <a:xfrm>
            <a:off x="2564122" y="4628145"/>
            <a:ext cx="4626266"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“CAL Maturity” “HEX release list”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
        <p:nvSpPr>
          <p:cNvPr id="26" name="コンテンツ プレースホルダー 2">
            <a:extLst>
              <a:ext uri="{FF2B5EF4-FFF2-40B4-BE49-F238E27FC236}">
                <a16:creationId xmlns:a16="http://schemas.microsoft.com/office/drawing/2014/main" id="{50776044-14FA-479E-A692-9E8DAC759EC5}"/>
              </a:ext>
            </a:extLst>
          </p:cNvPr>
          <p:cNvSpPr txBox="1">
            <a:spLocks/>
          </p:cNvSpPr>
          <p:nvPr>
            <p:custDataLst>
              <p:tags r:id="rId3"/>
            </p:custDataLst>
          </p:nvPr>
        </p:nvSpPr>
        <p:spPr bwMode="auto">
          <a:xfrm>
            <a:off x="3688121" y="6173712"/>
            <a:ext cx="5379678"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“SW CAL delivery” “Calibration data change” </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Tree>
    <p:extLst>
      <p:ext uri="{BB962C8B-B14F-4D97-AF65-F5344CB8AC3E}">
        <p14:creationId xmlns:p14="http://schemas.microsoft.com/office/powerpoint/2010/main" val="34205510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146327" y="545066"/>
            <a:ext cx="49481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800" b="1" u="sng">
                <a:latin typeface="Meiryo UI" panose="020B0604030504040204" pitchFamily="50" charset="-128"/>
                <a:ea typeface="Meiryo UI" panose="020B0604030504040204" pitchFamily="50" charset="-128"/>
                <a:cs typeface="Arial" pitchFamily="34" charset="0"/>
              </a:rPr>
              <a:t>Failure List</a:t>
            </a:r>
            <a:endParaRPr lang="en-US" altLang="ja-JP" sz="1050" b="1" u="sng">
              <a:latin typeface="HGPｺﾞｼｯｸE" pitchFamily="50" charset="-128"/>
              <a:ea typeface="HGPｺﾞｼｯｸE" pitchFamily="50" charset="-128"/>
              <a:cs typeface="Arial" pitchFamily="34" charset="0"/>
            </a:endParaRPr>
          </a:p>
        </p:txBody>
      </p:sp>
      <p:sp>
        <p:nvSpPr>
          <p:cNvPr id="2" name="テキスト ボックス 1"/>
          <p:cNvSpPr txBox="1"/>
          <p:nvPr/>
        </p:nvSpPr>
        <p:spPr>
          <a:xfrm>
            <a:off x="250829" y="861554"/>
            <a:ext cx="8438607" cy="1284967"/>
          </a:xfrm>
          <a:prstGeom prst="rect">
            <a:avLst/>
          </a:prstGeom>
          <a:noFill/>
        </p:spPr>
        <p:txBody>
          <a:bodyPr wrap="square" rtlCol="0">
            <a:spAutoFit/>
          </a:bodyPr>
          <a:lstStyle/>
          <a:p>
            <a:pPr algn="l">
              <a:spcBef>
                <a:spcPts val="300"/>
              </a:spcBef>
            </a:pPr>
            <a:r>
              <a:rPr lang="en-US" altLang="ja-JP" sz="1400">
                <a:latin typeface="Meiryo UI" panose="020B0604030504040204" pitchFamily="50" charset="-128"/>
                <a:ea typeface="Meiryo UI" panose="020B0604030504040204" pitchFamily="50" charset="-128"/>
                <a:cs typeface="Arial" panose="020B0604020202020204" pitchFamily="34" charset="0"/>
              </a:rPr>
              <a:t>Software and calibration issue(s) must be listed in failure list.</a:t>
            </a:r>
          </a:p>
          <a:p>
            <a:pPr algn="l">
              <a:spcBef>
                <a:spcPts val="300"/>
              </a:spcBef>
            </a:pPr>
            <a:r>
              <a:rPr lang="en-US" altLang="ja-JP" sz="1400">
                <a:latin typeface="Meiryo UI" panose="020B0604030504040204" pitchFamily="50" charset="-128"/>
                <a:ea typeface="Meiryo UI" panose="020B0604030504040204" pitchFamily="50" charset="-128"/>
                <a:cs typeface="Arial" panose="020B0604020202020204" pitchFamily="34" charset="0"/>
              </a:rPr>
              <a:t>Once issue come out,</a:t>
            </a:r>
            <a:r>
              <a:rPr lang="ja-JP" altLang="en-US" sz="1400">
                <a:latin typeface="Meiryo UI" panose="020B0604030504040204" pitchFamily="50" charset="-128"/>
                <a:ea typeface="Meiryo UI" panose="020B0604030504040204" pitchFamily="50" charset="-128"/>
                <a:cs typeface="Arial" panose="020B0604020202020204"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anose="020B0604020202020204" pitchFamily="34" charset="0"/>
              </a:rPr>
              <a:t>is required to check if same issue would happen in the other past/ongoing projects.(So called, Yoko-ten).</a:t>
            </a:r>
          </a:p>
          <a:p>
            <a:pPr algn="l">
              <a:spcBef>
                <a:spcPts val="300"/>
              </a:spcBef>
            </a:pPr>
            <a:r>
              <a:rPr lang="en-US" altLang="ja-JP" sz="1400">
                <a:latin typeface="Meiryo UI" panose="020B0604030504040204" pitchFamily="50" charset="-128"/>
                <a:ea typeface="Meiryo UI" panose="020B0604030504040204" pitchFamily="50" charset="-128"/>
                <a:cs typeface="Arial" panose="020B0604020202020204" pitchFamily="34" charset="0"/>
              </a:rPr>
              <a:t>It must be handled and shared with Honda by</a:t>
            </a:r>
            <a:r>
              <a:rPr lang="ja-JP" altLang="en-US" sz="1400">
                <a:latin typeface="Meiryo UI" panose="020B0604030504040204" pitchFamily="50" charset="-128"/>
                <a:ea typeface="Meiryo UI" panose="020B0604030504040204" pitchFamily="50" charset="-128"/>
                <a:cs typeface="Arial" panose="020B0604020202020204"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anose="020B0604020202020204" pitchFamily="34" charset="0"/>
              </a:rPr>
              <a:t>.</a:t>
            </a:r>
          </a:p>
          <a:p>
            <a:pPr algn="l">
              <a:spcBef>
                <a:spcPts val="300"/>
              </a:spcBef>
            </a:pPr>
            <a:r>
              <a:rPr kumimoji="1" lang="en-US" altLang="ja-JP" sz="1400">
                <a:latin typeface="Meiryo UI" panose="020B0604030504040204" pitchFamily="50" charset="-128"/>
                <a:ea typeface="Meiryo UI" panose="020B0604030504040204" pitchFamily="50" charset="-128"/>
                <a:cs typeface="Arial" panose="020B0604020202020204" pitchFamily="34" charset="0"/>
              </a:rPr>
              <a:t>It must be updated at least monthly and when </a:t>
            </a:r>
            <a:r>
              <a:rPr lang="en-US" altLang="ja-JP" sz="1400">
                <a:latin typeface="Meiryo UI" panose="020B0604030504040204" pitchFamily="50" charset="-128"/>
                <a:ea typeface="Meiryo UI" panose="020B0604030504040204" pitchFamily="50" charset="-128"/>
                <a:cs typeface="Arial" panose="020B0604020202020204" pitchFamily="34" charset="0"/>
              </a:rPr>
              <a:t>an</a:t>
            </a:r>
            <a:r>
              <a:rPr kumimoji="1" lang="en-US" altLang="ja-JP" sz="1400">
                <a:latin typeface="Meiryo UI" panose="020B0604030504040204" pitchFamily="50" charset="-128"/>
                <a:ea typeface="Meiryo UI" panose="020B0604030504040204" pitchFamily="50" charset="-128"/>
                <a:cs typeface="Arial" panose="020B0604020202020204" pitchFamily="34" charset="0"/>
              </a:rPr>
              <a:t> issue happens.</a:t>
            </a:r>
          </a:p>
        </p:txBody>
      </p:sp>
      <p:sp>
        <p:nvSpPr>
          <p:cNvPr id="10" name="テキスト ボックス 9"/>
          <p:cNvSpPr txBox="1"/>
          <p:nvPr/>
        </p:nvSpPr>
        <p:spPr>
          <a:xfrm>
            <a:off x="250829" y="2400888"/>
            <a:ext cx="8610145" cy="1184940"/>
          </a:xfrm>
          <a:prstGeom prst="rect">
            <a:avLst/>
          </a:prstGeom>
          <a:noFill/>
        </p:spPr>
        <p:txBody>
          <a:bodyPr wrap="square" rtlCol="0">
            <a:spAutoFit/>
          </a:bodyPr>
          <a:lstStyle/>
          <a:p>
            <a:pPr algn="l">
              <a:spcBef>
                <a:spcPts val="600"/>
              </a:spcBef>
            </a:pPr>
            <a:r>
              <a:rPr lang="ja-JP" altLang="en-US" sz="1400">
                <a:latin typeface="Meiryo UI" panose="020B0604030504040204" pitchFamily="50" charset="-128"/>
                <a:ea typeface="Meiryo UI" panose="020B0604030504040204" pitchFamily="50" charset="-128"/>
                <a:cs typeface="Arial" panose="020B0604020202020204" pitchFamily="34" charset="0"/>
              </a:rPr>
              <a:t>ソフトウェアと適合項目での不具合状況は、必ず「</a:t>
            </a:r>
            <a:r>
              <a:rPr lang="en-US" altLang="ja-JP" sz="1400">
                <a:latin typeface="Meiryo UI" panose="020B0604030504040204" pitchFamily="50" charset="-128"/>
                <a:ea typeface="Meiryo UI" panose="020B0604030504040204" pitchFamily="50" charset="-128"/>
                <a:cs typeface="Arial" panose="020B0604020202020204" pitchFamily="34" charset="0"/>
              </a:rPr>
              <a:t>Failure</a:t>
            </a:r>
            <a:r>
              <a:rPr lang="ja-JP" altLang="en-US" sz="1400">
                <a:latin typeface="Meiryo UI" panose="020B0604030504040204" pitchFamily="50" charset="-128"/>
                <a:ea typeface="Meiryo UI" panose="020B0604030504040204" pitchFamily="50" charset="-128"/>
                <a:cs typeface="Arial" panose="020B0604020202020204" pitchFamily="34" charset="0"/>
              </a:rPr>
              <a:t> </a:t>
            </a:r>
            <a:r>
              <a:rPr lang="en-US" altLang="ja-JP" sz="1400">
                <a:latin typeface="Meiryo UI" panose="020B0604030504040204" pitchFamily="50" charset="-128"/>
                <a:ea typeface="Meiryo UI" panose="020B0604030504040204" pitchFamily="50" charset="-128"/>
                <a:cs typeface="Arial" panose="020B0604020202020204" pitchFamily="34" charset="0"/>
              </a:rPr>
              <a:t>list</a:t>
            </a:r>
            <a:r>
              <a:rPr lang="ja-JP" altLang="en-US" sz="1400">
                <a:latin typeface="Meiryo UI" panose="020B0604030504040204" pitchFamily="50" charset="-128"/>
                <a:ea typeface="Meiryo UI" panose="020B0604030504040204" pitchFamily="50" charset="-128"/>
                <a:cs typeface="Arial" panose="020B0604020202020204" pitchFamily="34" charset="0"/>
              </a:rPr>
              <a:t>」に掲載すること。</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p>
            <a:pPr algn="l">
              <a:spcBef>
                <a:spcPts val="600"/>
              </a:spcBef>
            </a:pPr>
            <a:r>
              <a:rPr lang="ja-JP" altLang="en-US" sz="1400">
                <a:latin typeface="Meiryo UI" panose="020B0604030504040204" pitchFamily="50" charset="-128"/>
                <a:ea typeface="Meiryo UI" panose="020B0604030504040204" pitchFamily="50" charset="-128"/>
                <a:cs typeface="Arial" panose="020B0604020202020204" pitchFamily="34" charset="0"/>
              </a:rPr>
              <a:t>一度発生した項目について、</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anose="020B0604020202020204" pitchFamily="34" charset="0"/>
              </a:rPr>
              <a:t>は同様の事象が他部品・機種で発生しているか確認すること</a:t>
            </a:r>
            <a:r>
              <a:rPr lang="en-US" altLang="ja-JP" sz="1400">
                <a:latin typeface="Meiryo UI" panose="020B0604030504040204" pitchFamily="50" charset="-128"/>
                <a:ea typeface="Meiryo UI" panose="020B0604030504040204" pitchFamily="50" charset="-128"/>
                <a:cs typeface="Arial" panose="020B0604020202020204" pitchFamily="34" charset="0"/>
              </a:rPr>
              <a:t>(</a:t>
            </a:r>
            <a:r>
              <a:rPr lang="ja-JP" altLang="en-US" sz="1400">
                <a:latin typeface="Meiryo UI" panose="020B0604030504040204" pitchFamily="50" charset="-128"/>
                <a:ea typeface="Meiryo UI" panose="020B0604030504040204" pitchFamily="50" charset="-128"/>
                <a:cs typeface="Arial" panose="020B0604020202020204" pitchFamily="34" charset="0"/>
              </a:rPr>
              <a:t>横展開と呼ぶ</a:t>
            </a:r>
            <a:r>
              <a:rPr lang="en-US" altLang="ja-JP" sz="1400">
                <a:latin typeface="Meiryo UI" panose="020B0604030504040204" pitchFamily="50" charset="-128"/>
                <a:ea typeface="Meiryo UI" panose="020B0604030504040204" pitchFamily="50" charset="-128"/>
                <a:cs typeface="Arial" panose="020B0604020202020204" pitchFamily="34" charset="0"/>
              </a:rPr>
              <a:t>).</a:t>
            </a:r>
          </a:p>
          <a:p>
            <a:pPr algn="l">
              <a:spcBef>
                <a:spcPts val="600"/>
              </a:spcBef>
            </a:pPr>
            <a:r>
              <a:rPr lang="ja-JP" altLang="en-US" sz="1400">
                <a:latin typeface="Meiryo UI" panose="020B0604030504040204" pitchFamily="50" charset="-128"/>
                <a:ea typeface="Meiryo UI" panose="020B0604030504040204" pitchFamily="50" charset="-128"/>
                <a:cs typeface="Arial" panose="020B0604020202020204" pitchFamily="34" charset="0"/>
              </a:rPr>
              <a:t>展開手法については、</a:t>
            </a:r>
            <a:r>
              <a:rPr lang="en-US" altLang="ja-JP" sz="1400">
                <a:latin typeface="Meiryo UI" panose="020B0604030504040204" pitchFamily="50" charset="-128"/>
                <a:ea typeface="Meiryo UI" panose="020B0604030504040204" pitchFamily="50" charset="-128"/>
                <a:cs typeface="Arial" panose="020B0604020202020204" pitchFamily="34" charset="0"/>
              </a:rPr>
              <a:t>Honda</a:t>
            </a:r>
            <a:r>
              <a:rPr lang="ja-JP" altLang="en-US" sz="1400">
                <a:latin typeface="Meiryo UI" panose="020B0604030504040204" pitchFamily="50" charset="-128"/>
                <a:ea typeface="Meiryo UI" panose="020B0604030504040204" pitchFamily="50" charset="-128"/>
                <a:cs typeface="Arial" panose="020B0604020202020204" pitchFamily="34" charset="0"/>
              </a:rPr>
              <a:t>と</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anose="020B0604020202020204" pitchFamily="34" charset="0"/>
              </a:rPr>
              <a:t>で情報を共有すること。</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p>
            <a:pPr algn="l">
              <a:spcBef>
                <a:spcPts val="600"/>
              </a:spcBef>
            </a:pPr>
            <a:r>
              <a:rPr kumimoji="1" lang="ja-JP" altLang="en-US" sz="1400">
                <a:latin typeface="Meiryo UI" panose="020B0604030504040204" pitchFamily="50" charset="-128"/>
                <a:ea typeface="Meiryo UI" panose="020B0604030504040204" pitchFamily="50" charset="-128"/>
                <a:cs typeface="Arial" panose="020B0604020202020204" pitchFamily="34" charset="0"/>
              </a:rPr>
              <a:t>月ごとに最新情報を更新すること。</a:t>
            </a:r>
            <a:endParaRPr kumimoji="1" lang="en-US" altLang="ja-JP" sz="1400">
              <a:latin typeface="Meiryo UI" panose="020B0604030504040204" pitchFamily="50" charset="-128"/>
              <a:ea typeface="Meiryo UI" panose="020B0604030504040204" pitchFamily="50" charset="-128"/>
              <a:cs typeface="Arial" panose="020B0604020202020204" pitchFamily="34" charset="0"/>
            </a:endParaRPr>
          </a:p>
        </p:txBody>
      </p:sp>
      <p:sp>
        <p:nvSpPr>
          <p:cNvPr id="8"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(27/31)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7" name="コンテンツ プレースホルダー 2"/>
          <p:cNvSpPr txBox="1">
            <a:spLocks/>
          </p:cNvSpPr>
          <p:nvPr>
            <p:custDataLst>
              <p:tags r:id="rId1"/>
            </p:custDataLst>
          </p:nvPr>
        </p:nvSpPr>
        <p:spPr bwMode="auto">
          <a:xfrm>
            <a:off x="5462187" y="5802678"/>
            <a:ext cx="3210815"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“Failure</a:t>
            </a:r>
            <a:r>
              <a:rPr lang="ja-JP" altLang="en-US" sz="1400" b="1" kern="0">
                <a:latin typeface="Meiryo UI" panose="020B0604030504040204" pitchFamily="50" charset="-128"/>
              </a:rPr>
              <a:t> </a:t>
            </a:r>
            <a:r>
              <a:rPr lang="en-US" altLang="ja-JP" sz="1400" b="1" kern="0">
                <a:latin typeface="Meiryo UI" panose="020B0604030504040204" pitchFamily="50" charset="-128"/>
              </a:rPr>
              <a:t>list” excel file.</a:t>
            </a:r>
          </a:p>
          <a:p>
            <a:pPr marL="0" indent="0">
              <a:lnSpc>
                <a:spcPct val="105000"/>
              </a:lnSpc>
              <a:spcBef>
                <a:spcPts val="600"/>
              </a:spcBef>
              <a:spcAft>
                <a:spcPts val="0"/>
              </a:spcAft>
            </a:pPr>
            <a:r>
              <a:rPr lang="en-US" sz="1400" b="1" kern="0">
                <a:latin typeface="Meiryo UI" panose="020B0604030504040204" pitchFamily="50" charset="-128"/>
              </a:rPr>
              <a:t>In folder : “</a:t>
            </a:r>
            <a:r>
              <a:rPr lang="en-US" altLang="ja-JP" sz="1400" b="1" kern="0">
                <a:latin typeface="Meiryo UI" panose="020B0604030504040204" pitchFamily="50" charset="-128"/>
              </a:rPr>
              <a:t>17</a:t>
            </a:r>
            <a:r>
              <a:rPr lang="en-US" sz="1400" b="1" kern="0">
                <a:latin typeface="Meiryo UI" panose="020B0604030504040204" pitchFamily="50" charset="-128"/>
              </a:rPr>
              <a:t>. </a:t>
            </a:r>
            <a:r>
              <a:rPr lang="en-US" altLang="ja-JP" sz="1400" b="1" kern="0">
                <a:latin typeface="Meiryo UI" panose="020B0604030504040204" pitchFamily="50" charset="-128"/>
              </a:rPr>
              <a:t>EMS</a:t>
            </a:r>
            <a:r>
              <a:rPr lang="ja-JP" altLang="en-US" sz="1400" b="1" kern="0">
                <a:latin typeface="Meiryo UI" panose="020B0604030504040204" pitchFamily="50" charset="-128"/>
              </a:rPr>
              <a:t> </a:t>
            </a:r>
            <a:r>
              <a:rPr lang="en-US" altLang="ja-JP" sz="1400" b="1" kern="0">
                <a:latin typeface="Meiryo UI" panose="020B0604030504040204" pitchFamily="50" charset="-128"/>
              </a:rPr>
              <a:t>maturity</a:t>
            </a:r>
            <a:r>
              <a:rPr lang="en-US" sz="1400" b="1" kern="0">
                <a:latin typeface="Meiryo UI" panose="020B0604030504040204" pitchFamily="50" charset="-128"/>
              </a:rPr>
              <a:t>”</a:t>
            </a:r>
          </a:p>
        </p:txBody>
      </p:sp>
    </p:spTree>
    <p:extLst>
      <p:ext uri="{BB962C8B-B14F-4D97-AF65-F5344CB8AC3E}">
        <p14:creationId xmlns:p14="http://schemas.microsoft.com/office/powerpoint/2010/main" val="323945280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ext Box 2"/>
          <p:cNvSpPr txBox="1">
            <a:spLocks noChangeArrowheads="1"/>
          </p:cNvSpPr>
          <p:nvPr/>
        </p:nvSpPr>
        <p:spPr bwMode="auto">
          <a:xfrm>
            <a:off x="78130" y="532798"/>
            <a:ext cx="3793859"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Meiryo UI" panose="020B0604030504040204" pitchFamily="50" charset="-128"/>
              </a:rPr>
              <a:t>Rewrite Verification and Approval</a:t>
            </a:r>
          </a:p>
        </p:txBody>
      </p:sp>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(28/31)</a:t>
            </a:r>
            <a:endParaRPr lang="en-US" altLang="ja-JP" sz="1050">
              <a:solidFill>
                <a:srgbClr val="FFFFFF"/>
              </a:solidFill>
              <a:latin typeface="HGPｺﾞｼｯｸE" pitchFamily="50" charset="-128"/>
              <a:ea typeface="HGPｺﾞｼｯｸE" pitchFamily="50" charset="-128"/>
              <a:cs typeface="Arial" pitchFamily="34" charset="0"/>
            </a:endParaRPr>
          </a:p>
        </p:txBody>
      </p:sp>
      <p:sp>
        <p:nvSpPr>
          <p:cNvPr id="8" name="Text Box 2"/>
          <p:cNvSpPr txBox="1">
            <a:spLocks noChangeArrowheads="1"/>
          </p:cNvSpPr>
          <p:nvPr/>
        </p:nvSpPr>
        <p:spPr bwMode="auto">
          <a:xfrm>
            <a:off x="7849" y="925182"/>
            <a:ext cx="9274629"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Method</a:t>
            </a: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After agreement with Honda on software and data sets (MP data) to be applied to mass production, </a:t>
            </a: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performs necessary mass production processing on the MP data before applying it</a:t>
            </a:r>
          </a:p>
          <a:p>
            <a:pPr marL="360363" indent="-360363" algn="l">
              <a:spcBef>
                <a:spcPts val="600"/>
              </a:spcBef>
            </a:pP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 to ECU manufacturing plant.</a:t>
            </a: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The final MP data is used to verify that the mass production rewrite function in</a:t>
            </a:r>
          </a:p>
          <a:p>
            <a:pPr marL="360363" indent="-360363" algn="l">
              <a:spcBef>
                <a:spcPts val="600"/>
              </a:spcBef>
            </a:pP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 market works properly.</a:t>
            </a: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As a result of the verification,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provides the following deliverables to Honda.</a:t>
            </a: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-MP</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data </a:t>
            </a:r>
            <a:r>
              <a:rPr lang="ja-JP" altLang="en-US" sz="1400">
                <a:solidFill>
                  <a:srgbClr val="000000"/>
                </a:solidFill>
                <a:latin typeface="Meiryo UI" panose="020B0604030504040204" pitchFamily="50" charset="-128"/>
                <a:ea typeface="Meiryo UI" panose="020B0604030504040204" pitchFamily="50" charset="-128"/>
              </a:rPr>
              <a:t>（</a:t>
            </a:r>
            <a:r>
              <a:rPr lang="en-US" altLang="ja-JP" sz="1400" err="1">
                <a:solidFill>
                  <a:srgbClr val="000000"/>
                </a:solidFill>
                <a:latin typeface="Meiryo UI" panose="020B0604030504040204" pitchFamily="50" charset="-128"/>
                <a:ea typeface="Meiryo UI" panose="020B0604030504040204" pitchFamily="50" charset="-128"/>
              </a:rPr>
              <a:t>Clean.hex</a:t>
            </a:r>
            <a:r>
              <a:rPr lang="ja-JP" altLang="en-US" sz="1400">
                <a:solidFill>
                  <a:srgbClr val="000000"/>
                </a:solidFill>
                <a:latin typeface="Meiryo UI" panose="020B0604030504040204" pitchFamily="50" charset="-128"/>
                <a:ea typeface="Meiryo UI" panose="020B0604030504040204" pitchFamily="50" charset="-128"/>
              </a:rPr>
              <a:t>）</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-result of rewrite verification </a:t>
            </a: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-output confirmation result of such as ECU</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ID</a:t>
            </a: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Honda confirms and approves that the mass production rewrite function is guaranteed from</a:t>
            </a:r>
          </a:p>
          <a:p>
            <a:pPr marL="360363" indent="-360363" algn="l">
              <a:spcBef>
                <a:spcPts val="600"/>
              </a:spcBef>
            </a:pP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 result of rewrite verification, signs the approval on Form-B, and provides it to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a:t>
            </a: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After receiving Form-B,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applies MP data to the ECU manufacturing plant.</a:t>
            </a:r>
          </a:p>
          <a:p>
            <a:pPr marL="360363" indent="-360363" algn="l">
              <a:spcBef>
                <a:spcPts val="600"/>
              </a:spcBef>
            </a:pPr>
            <a:endParaRPr lang="en-US" altLang="ja-JP" sz="1400">
              <a:solidFill>
                <a:srgbClr val="000000"/>
              </a:solidFill>
              <a:latin typeface="Meiryo UI" panose="020B0604030504040204" pitchFamily="50" charset="-128"/>
              <a:ea typeface="Meiryo UI" panose="020B0604030504040204" pitchFamily="50" charset="-128"/>
              <a:cs typeface="Meiryo UI" pitchFamily="50" charset="-128"/>
            </a:endParaRP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cs typeface="Meiryo UI" pitchFamily="50" charset="-128"/>
              </a:rPr>
              <a:t>Method / timing / verification item</a:t>
            </a:r>
            <a:r>
              <a:rPr lang="ja-JP" altLang="en-US" sz="1400">
                <a:solidFill>
                  <a:srgbClr val="000000"/>
                </a:solidFill>
                <a:latin typeface="Meiryo UI" panose="020B0604030504040204" pitchFamily="50" charset="-128"/>
                <a:ea typeface="Meiryo UI" panose="020B0604030504040204" pitchFamily="50" charset="-128"/>
                <a:cs typeface="Meiryo UI" pitchFamily="50" charset="-128"/>
              </a:rPr>
              <a:t>　</a:t>
            </a:r>
            <a:br>
              <a:rPr lang="en-US" altLang="ja-JP" sz="1400">
                <a:solidFill>
                  <a:srgbClr val="000000"/>
                </a:solidFill>
                <a:latin typeface="Meiryo UI" panose="020B0604030504040204" pitchFamily="50" charset="-128"/>
                <a:ea typeface="Meiryo UI" panose="020B0604030504040204" pitchFamily="50" charset="-128"/>
                <a:cs typeface="Meiryo UI" pitchFamily="50" charset="-128"/>
              </a:rPr>
            </a:br>
            <a:r>
              <a:rPr lang="ja-JP" altLang="en-US" sz="1400">
                <a:solidFill>
                  <a:srgbClr val="000000"/>
                </a:solidFill>
                <a:latin typeface="Meiryo UI" panose="020B0604030504040204" pitchFamily="50" charset="-128"/>
                <a:ea typeface="Meiryo UI" panose="020B0604030504040204" pitchFamily="50" charset="-128"/>
                <a:cs typeface="Meiryo UI" pitchFamily="50" charset="-128"/>
              </a:rPr>
              <a:t>：</a:t>
            </a:r>
            <a:r>
              <a:rPr lang="en-US" altLang="ja-JP" sz="1400">
                <a:solidFill>
                  <a:srgbClr val="000000"/>
                </a:solidFill>
                <a:latin typeface="Meiryo UI" panose="020B0604030504040204" pitchFamily="50" charset="-128"/>
                <a:ea typeface="Meiryo UI" panose="020B0604030504040204" pitchFamily="50" charset="-128"/>
                <a:cs typeface="Meiryo UI" pitchFamily="50" charset="-128"/>
              </a:rPr>
              <a:t>According to the following EMS: EMS36-4-1-22-4</a:t>
            </a:r>
            <a:r>
              <a:rPr lang="ja-JP" altLang="en-US" sz="1400">
                <a:solidFill>
                  <a:srgbClr val="000000"/>
                </a:solidFill>
                <a:latin typeface="Meiryo UI" panose="020B0604030504040204" pitchFamily="50" charset="-128"/>
                <a:ea typeface="Meiryo UI" panose="020B0604030504040204" pitchFamily="50" charset="-128"/>
                <a:cs typeface="Meiryo UI" pitchFamily="50" charset="-128"/>
              </a:rPr>
              <a:t>　</a:t>
            </a:r>
            <a:r>
              <a:rPr lang="en-US" altLang="ja-JP" sz="1400">
                <a:solidFill>
                  <a:srgbClr val="000000"/>
                </a:solidFill>
                <a:latin typeface="Meiryo UI" panose="020B0604030504040204" pitchFamily="50" charset="-128"/>
                <a:ea typeface="Meiryo UI" panose="020B0604030504040204" pitchFamily="50" charset="-128"/>
                <a:cs typeface="Meiryo UI" pitchFamily="50" charset="-128"/>
              </a:rPr>
              <a:t>ECU rewrite verification</a:t>
            </a:r>
          </a:p>
        </p:txBody>
      </p:sp>
    </p:spTree>
    <p:extLst>
      <p:ext uri="{BB962C8B-B14F-4D97-AF65-F5344CB8AC3E}">
        <p14:creationId xmlns:p14="http://schemas.microsoft.com/office/powerpoint/2010/main" val="269572457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52251" y="522939"/>
            <a:ext cx="2382383"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ja-JP" altLang="en-US" sz="1600" b="1" u="sng">
                <a:solidFill>
                  <a:srgbClr val="000000"/>
                </a:solidFill>
                <a:latin typeface="Meiryo UI" panose="020B0604030504040204" pitchFamily="50" charset="-128"/>
                <a:ea typeface="Meiryo UI" panose="020B0604030504040204" pitchFamily="50" charset="-128"/>
                <a:cs typeface="Meiryo UI" pitchFamily="50" charset="-128"/>
              </a:rPr>
              <a:t>書換機能検証と承認手法</a:t>
            </a:r>
            <a:endParaRPr lang="en-US" altLang="ja-JP" sz="1600" b="1" u="sng">
              <a:solidFill>
                <a:srgbClr val="000000"/>
              </a:solidFill>
              <a:latin typeface="Meiryo UI" panose="020B0604030504040204" pitchFamily="50" charset="-128"/>
              <a:ea typeface="Meiryo UI" panose="020B0604030504040204" pitchFamily="50" charset="-128"/>
              <a:cs typeface="Meiryo UI" pitchFamily="50" charset="-128"/>
            </a:endParaRPr>
          </a:p>
        </p:txBody>
      </p:sp>
      <p:sp>
        <p:nvSpPr>
          <p:cNvPr id="10" name="Text Box 2"/>
          <p:cNvSpPr txBox="1">
            <a:spLocks noChangeArrowheads="1"/>
          </p:cNvSpPr>
          <p:nvPr/>
        </p:nvSpPr>
        <p:spPr bwMode="auto">
          <a:xfrm>
            <a:off x="52251" y="896923"/>
            <a:ext cx="8566601"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60363" indent="-360363" algn="l">
              <a:spcBef>
                <a:spcPts val="600"/>
              </a:spcBef>
            </a:pPr>
            <a:r>
              <a:rPr lang="ja-JP" altLang="en-US" sz="1400">
                <a:solidFill>
                  <a:srgbClr val="000000"/>
                </a:solidFill>
                <a:latin typeface="Meiryo UI" panose="020B0604030504040204" pitchFamily="50" charset="-128"/>
                <a:ea typeface="Meiryo UI" panose="020B0604030504040204" pitchFamily="50" charset="-128"/>
              </a:rPr>
              <a:t>検証内容</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量産に適用するソフトウェアとデータセット（</a:t>
            </a:r>
            <a:r>
              <a:rPr lang="en-US" altLang="ja-JP" sz="1400">
                <a:solidFill>
                  <a:srgbClr val="000000"/>
                </a:solidFill>
                <a:latin typeface="Meiryo UI" panose="020B0604030504040204" pitchFamily="50" charset="-128"/>
                <a:ea typeface="Meiryo UI" panose="020B0604030504040204" pitchFamily="50" charset="-128"/>
              </a:rPr>
              <a:t>MP</a:t>
            </a:r>
            <a:r>
              <a:rPr lang="ja-JP" altLang="en-US" sz="1400">
                <a:solidFill>
                  <a:srgbClr val="000000"/>
                </a:solidFill>
                <a:latin typeface="Meiryo UI" panose="020B0604030504040204" pitchFamily="50" charset="-128"/>
                <a:ea typeface="Meiryo UI" panose="020B0604030504040204" pitchFamily="50" charset="-128"/>
              </a:rPr>
              <a:t>データ）を </a:t>
            </a:r>
            <a:r>
              <a:rPr lang="en-US" altLang="ja-JP" sz="1400">
                <a:solidFill>
                  <a:srgbClr val="000000"/>
                </a:solidFill>
                <a:latin typeface="Meiryo UI" panose="020B0604030504040204" pitchFamily="50" charset="-128"/>
                <a:ea typeface="Meiryo UI" panose="020B0604030504040204" pitchFamily="50" charset="-128"/>
              </a:rPr>
              <a:t>Honda</a:t>
            </a:r>
            <a:r>
              <a:rPr lang="ja-JP" altLang="en-US" sz="1400">
                <a:solidFill>
                  <a:srgbClr val="000000"/>
                </a:solidFill>
                <a:latin typeface="Meiryo UI" panose="020B0604030504040204" pitchFamily="50" charset="-128"/>
                <a:ea typeface="Meiryo UI" panose="020B0604030504040204" pitchFamily="50" charset="-128"/>
              </a:rPr>
              <a:t>と合意後、</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anose="020B0604030504040204" pitchFamily="50" charset="-128"/>
                <a:ea typeface="Meiryo UI" panose="020B0604030504040204" pitchFamily="50" charset="-128"/>
              </a:rPr>
              <a:t>は</a:t>
            </a:r>
            <a:r>
              <a:rPr lang="en-US" altLang="ja-JP" sz="1400">
                <a:solidFill>
                  <a:srgbClr val="000000"/>
                </a:solidFill>
                <a:latin typeface="Meiryo UI" panose="020B0604030504040204" pitchFamily="50" charset="-128"/>
                <a:ea typeface="Meiryo UI" panose="020B0604030504040204" pitchFamily="50" charset="-128"/>
              </a:rPr>
              <a:t>MP</a:t>
            </a:r>
            <a:r>
              <a:rPr lang="ja-JP" altLang="en-US" sz="1400">
                <a:solidFill>
                  <a:srgbClr val="000000"/>
                </a:solidFill>
                <a:latin typeface="Meiryo UI" panose="020B0604030504040204" pitchFamily="50" charset="-128"/>
                <a:ea typeface="Meiryo UI" panose="020B0604030504040204" pitchFamily="50" charset="-128"/>
              </a:rPr>
              <a:t>データに対して</a:t>
            </a:r>
            <a:r>
              <a:rPr lang="en-US" altLang="ja-JP" sz="1400">
                <a:solidFill>
                  <a:srgbClr val="000000"/>
                </a:solidFill>
                <a:latin typeface="Meiryo UI" panose="020B0604030504040204" pitchFamily="50" charset="-128"/>
                <a:ea typeface="Meiryo UI" panose="020B0604030504040204" pitchFamily="50" charset="-128"/>
              </a:rPr>
              <a:t>ECU</a:t>
            </a:r>
            <a:r>
              <a:rPr lang="ja-JP" altLang="en-US" sz="1400">
                <a:solidFill>
                  <a:srgbClr val="000000"/>
                </a:solidFill>
                <a:latin typeface="Meiryo UI" panose="020B0604030504040204" pitchFamily="50" charset="-128"/>
                <a:ea typeface="Meiryo UI" panose="020B0604030504040204" pitchFamily="50" charset="-128"/>
              </a:rPr>
              <a:t>製造工場に適用する前に必要な量産化処理を行う。</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ja-JP" altLang="en-US" sz="1400">
                <a:solidFill>
                  <a:srgbClr val="000000"/>
                </a:solidFill>
                <a:latin typeface="Meiryo UI" panose="020B0604030504040204" pitchFamily="50" charset="-128"/>
                <a:ea typeface="Meiryo UI" panose="020B0604030504040204" pitchFamily="50" charset="-128"/>
              </a:rPr>
              <a:t>　　　その最終的な</a:t>
            </a:r>
            <a:r>
              <a:rPr lang="en-US" altLang="ja-JP" sz="1400">
                <a:solidFill>
                  <a:srgbClr val="000000"/>
                </a:solidFill>
                <a:latin typeface="Meiryo UI" panose="020B0604030504040204" pitchFamily="50" charset="-128"/>
                <a:ea typeface="Meiryo UI" panose="020B0604030504040204" pitchFamily="50" charset="-128"/>
              </a:rPr>
              <a:t>MP</a:t>
            </a:r>
            <a:r>
              <a:rPr lang="ja-JP" altLang="en-US" sz="1400">
                <a:solidFill>
                  <a:srgbClr val="000000"/>
                </a:solidFill>
                <a:latin typeface="Meiryo UI" panose="020B0604030504040204" pitchFamily="50" charset="-128"/>
                <a:ea typeface="Meiryo UI" panose="020B0604030504040204" pitchFamily="50" charset="-128"/>
              </a:rPr>
              <a:t>データを用いて、市場での量産書換機能が適切に機能することを検証する。</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検証結果として</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anose="020B0604030504040204" pitchFamily="50" charset="-128"/>
                <a:ea typeface="Meiryo UI" panose="020B0604030504040204" pitchFamily="50" charset="-128"/>
              </a:rPr>
              <a:t>は次の成果物を </a:t>
            </a:r>
            <a:r>
              <a:rPr lang="en-US" altLang="ja-JP" sz="1400">
                <a:solidFill>
                  <a:srgbClr val="000000"/>
                </a:solidFill>
                <a:latin typeface="Meiryo UI" panose="020B0604030504040204" pitchFamily="50" charset="-128"/>
                <a:ea typeface="Meiryo UI" panose="020B0604030504040204" pitchFamily="50" charset="-128"/>
              </a:rPr>
              <a:t>Honda</a:t>
            </a:r>
            <a:r>
              <a:rPr lang="ja-JP" altLang="en-US" sz="1400">
                <a:solidFill>
                  <a:srgbClr val="000000"/>
                </a:solidFill>
                <a:latin typeface="Meiryo UI" panose="020B0604030504040204" pitchFamily="50" charset="-128"/>
                <a:ea typeface="Meiryo UI" panose="020B0604030504040204" pitchFamily="50" charset="-128"/>
              </a:rPr>
              <a:t>へ供給する。</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-MP</a:t>
            </a:r>
            <a:r>
              <a:rPr lang="ja-JP" altLang="en-US" sz="1400">
                <a:solidFill>
                  <a:srgbClr val="000000"/>
                </a:solidFill>
                <a:latin typeface="Meiryo UI" panose="020B0604030504040204" pitchFamily="50" charset="-128"/>
                <a:ea typeface="Meiryo UI" panose="020B0604030504040204" pitchFamily="50" charset="-128"/>
              </a:rPr>
              <a:t>データ（</a:t>
            </a:r>
            <a:r>
              <a:rPr lang="en-US" altLang="ja-JP" sz="1400" err="1">
                <a:solidFill>
                  <a:srgbClr val="000000"/>
                </a:solidFill>
                <a:latin typeface="Meiryo UI" panose="020B0604030504040204" pitchFamily="50" charset="-128"/>
                <a:ea typeface="Meiryo UI" panose="020B0604030504040204" pitchFamily="50" charset="-128"/>
              </a:rPr>
              <a:t>Clean.hex</a:t>
            </a:r>
            <a:r>
              <a:rPr lang="ja-JP" altLang="en-US" sz="1400">
                <a:solidFill>
                  <a:srgbClr val="000000"/>
                </a:solidFill>
                <a:latin typeface="Meiryo UI" panose="020B0604030504040204" pitchFamily="50" charset="-128"/>
                <a:ea typeface="Meiryo UI" panose="020B0604030504040204" pitchFamily="50" charset="-128"/>
              </a:rPr>
              <a:t>）</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a:t>
            </a:r>
            <a:r>
              <a:rPr lang="ja-JP" altLang="en-US" sz="1400">
                <a:solidFill>
                  <a:srgbClr val="000000"/>
                </a:solidFill>
                <a:latin typeface="Meiryo UI" panose="020B0604030504040204" pitchFamily="50" charset="-128"/>
                <a:ea typeface="Meiryo UI" panose="020B0604030504040204" pitchFamily="50" charset="-128"/>
              </a:rPr>
              <a:t>書換検証結果</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-ECU ID</a:t>
            </a:r>
            <a:r>
              <a:rPr lang="ja-JP" altLang="en-US" sz="1400">
                <a:solidFill>
                  <a:srgbClr val="000000"/>
                </a:solidFill>
                <a:latin typeface="Meiryo UI" panose="020B0604030504040204" pitchFamily="50" charset="-128"/>
                <a:ea typeface="Meiryo UI" panose="020B0604030504040204" pitchFamily="50" charset="-128"/>
              </a:rPr>
              <a:t>等の出力確認結果</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Honda</a:t>
            </a:r>
            <a:r>
              <a:rPr lang="ja-JP" altLang="en-US" sz="1400">
                <a:solidFill>
                  <a:srgbClr val="000000"/>
                </a:solidFill>
                <a:latin typeface="Meiryo UI" panose="020B0604030504040204" pitchFamily="50" charset="-128"/>
                <a:ea typeface="Meiryo UI" panose="020B0604030504040204" pitchFamily="50" charset="-128"/>
              </a:rPr>
              <a:t>は書換検証結果から量産書換機能が保証されていることを確認・承認し、</a:t>
            </a:r>
            <a:r>
              <a:rPr lang="en-US" altLang="ja-JP" sz="1400">
                <a:solidFill>
                  <a:srgbClr val="000000"/>
                </a:solidFill>
                <a:latin typeface="Meiryo UI" panose="020B0604030504040204" pitchFamily="50" charset="-128"/>
                <a:ea typeface="Meiryo UI" panose="020B0604030504040204" pitchFamily="50" charset="-128"/>
              </a:rPr>
              <a:t>Form-B</a:t>
            </a:r>
            <a:r>
              <a:rPr lang="ja-JP" altLang="en-US" sz="1400">
                <a:solidFill>
                  <a:srgbClr val="000000"/>
                </a:solidFill>
                <a:latin typeface="Meiryo UI" panose="020B0604030504040204" pitchFamily="50" charset="-128"/>
                <a:ea typeface="Meiryo UI" panose="020B0604030504040204" pitchFamily="50" charset="-128"/>
              </a:rPr>
              <a:t>に承認サインを入れ、</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anose="020B0604030504040204" pitchFamily="50" charset="-128"/>
                <a:ea typeface="Meiryo UI" panose="020B0604030504040204" pitchFamily="50" charset="-128"/>
              </a:rPr>
              <a:t>へ供給する。</a:t>
            </a:r>
            <a:endParaRPr lang="en-US" altLang="ja-JP" sz="1400">
              <a:solidFill>
                <a:srgbClr val="000000"/>
              </a:solidFill>
              <a:latin typeface="Meiryo UI" panose="020B0604030504040204" pitchFamily="50" charset="-128"/>
              <a:ea typeface="Meiryo UI" panose="020B0604030504040204" pitchFamily="50" charset="-128"/>
            </a:endParaRPr>
          </a:p>
          <a:p>
            <a:pPr marL="360363" indent="-360363" algn="l">
              <a:spcBef>
                <a:spcPts val="600"/>
              </a:spcBef>
            </a:pPr>
            <a:r>
              <a:rPr lang="en-US" altLang="ja-JP" sz="140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anose="020B0604030504040204" pitchFamily="50" charset="-128"/>
                <a:ea typeface="Meiryo UI" panose="020B0604030504040204" pitchFamily="50" charset="-128"/>
              </a:rPr>
              <a:t>は</a:t>
            </a:r>
            <a:r>
              <a:rPr lang="en-US" altLang="ja-JP" sz="1400">
                <a:solidFill>
                  <a:srgbClr val="000000"/>
                </a:solidFill>
                <a:latin typeface="Meiryo UI" panose="020B0604030504040204" pitchFamily="50" charset="-128"/>
                <a:ea typeface="Meiryo UI" panose="020B0604030504040204" pitchFamily="50" charset="-128"/>
              </a:rPr>
              <a:t>Form-B</a:t>
            </a:r>
            <a:r>
              <a:rPr lang="ja-JP" altLang="en-US" sz="1400">
                <a:solidFill>
                  <a:srgbClr val="000000"/>
                </a:solidFill>
                <a:latin typeface="Meiryo UI" panose="020B0604030504040204" pitchFamily="50" charset="-128"/>
                <a:ea typeface="Meiryo UI" panose="020B0604030504040204" pitchFamily="50" charset="-128"/>
              </a:rPr>
              <a:t>の受領をもって、</a:t>
            </a:r>
            <a:r>
              <a:rPr lang="en-US" altLang="ja-JP" sz="1400">
                <a:solidFill>
                  <a:srgbClr val="000000"/>
                </a:solidFill>
                <a:latin typeface="Meiryo UI" panose="020B0604030504040204" pitchFamily="50" charset="-128"/>
                <a:ea typeface="Meiryo UI" panose="020B0604030504040204" pitchFamily="50" charset="-128"/>
              </a:rPr>
              <a:t>MP</a:t>
            </a:r>
            <a:r>
              <a:rPr lang="ja-JP" altLang="en-US" sz="1400">
                <a:solidFill>
                  <a:srgbClr val="000000"/>
                </a:solidFill>
                <a:latin typeface="Meiryo UI" panose="020B0604030504040204" pitchFamily="50" charset="-128"/>
                <a:ea typeface="Meiryo UI" panose="020B0604030504040204" pitchFamily="50" charset="-128"/>
              </a:rPr>
              <a:t>データを</a:t>
            </a:r>
            <a:r>
              <a:rPr lang="en-US" altLang="ja-JP" sz="1400">
                <a:solidFill>
                  <a:srgbClr val="000000"/>
                </a:solidFill>
                <a:latin typeface="Meiryo UI" panose="020B0604030504040204" pitchFamily="50" charset="-128"/>
                <a:ea typeface="Meiryo UI" panose="020B0604030504040204" pitchFamily="50" charset="-128"/>
              </a:rPr>
              <a:t>ECU</a:t>
            </a:r>
            <a:r>
              <a:rPr lang="ja-JP" altLang="en-US" sz="1400">
                <a:solidFill>
                  <a:srgbClr val="000000"/>
                </a:solidFill>
                <a:latin typeface="Meiryo UI" panose="020B0604030504040204" pitchFamily="50" charset="-128"/>
                <a:ea typeface="Meiryo UI" panose="020B0604030504040204" pitchFamily="50" charset="-128"/>
              </a:rPr>
              <a:t>製造工場に適用する。</a:t>
            </a:r>
            <a:endParaRPr lang="en-US" altLang="ja-JP" sz="1400">
              <a:solidFill>
                <a:srgbClr val="000000"/>
              </a:solidFill>
              <a:latin typeface="Meiryo UI" panose="020B0604030504040204" pitchFamily="50" charset="-128"/>
              <a:ea typeface="Meiryo UI" panose="020B0604030504040204" pitchFamily="50" charset="-128"/>
            </a:endParaRPr>
          </a:p>
          <a:p>
            <a:pPr algn="l" eaLnBrk="1" hangingPunct="1">
              <a:spcBef>
                <a:spcPts val="600"/>
              </a:spcBef>
            </a:pPr>
            <a:endParaRPr lang="en-US" altLang="ja-JP" sz="1400">
              <a:solidFill>
                <a:srgbClr val="000000"/>
              </a:solidFill>
              <a:latin typeface="Meiryo UI" panose="020B0604030504040204" pitchFamily="50" charset="-128"/>
              <a:ea typeface="Meiryo UI" panose="020B0604030504040204" pitchFamily="50" charset="-128"/>
              <a:cs typeface="Meiryo UI" pitchFamily="50" charset="-128"/>
            </a:endParaRPr>
          </a:p>
          <a:p>
            <a:pPr algn="l" eaLnBrk="1" hangingPunct="1">
              <a:spcBef>
                <a:spcPts val="600"/>
              </a:spcBef>
            </a:pPr>
            <a:r>
              <a:rPr lang="ja-JP" altLang="en-US" sz="1400">
                <a:solidFill>
                  <a:srgbClr val="000000"/>
                </a:solidFill>
                <a:latin typeface="Meiryo UI" panose="020B0604030504040204" pitchFamily="50" charset="-128"/>
                <a:ea typeface="Meiryo UI" panose="020B0604030504040204" pitchFamily="50" charset="-128"/>
                <a:cs typeface="Meiryo UI" pitchFamily="50" charset="-128"/>
              </a:rPr>
              <a:t>手法・タイミング・検証項目　：下記の</a:t>
            </a:r>
            <a:r>
              <a:rPr lang="en-US" altLang="ja-JP" sz="1400">
                <a:solidFill>
                  <a:srgbClr val="000000"/>
                </a:solidFill>
                <a:latin typeface="Meiryo UI" panose="020B0604030504040204" pitchFamily="50" charset="-128"/>
                <a:ea typeface="Meiryo UI" panose="020B0604030504040204" pitchFamily="50" charset="-128"/>
                <a:cs typeface="Meiryo UI" pitchFamily="50" charset="-128"/>
              </a:rPr>
              <a:t>EMS</a:t>
            </a:r>
            <a:r>
              <a:rPr lang="ja-JP" altLang="en-US" sz="1400">
                <a:solidFill>
                  <a:srgbClr val="000000"/>
                </a:solidFill>
                <a:latin typeface="Meiryo UI" panose="020B0604030504040204" pitchFamily="50" charset="-128"/>
                <a:ea typeface="Meiryo UI" panose="020B0604030504040204" pitchFamily="50" charset="-128"/>
                <a:cs typeface="Meiryo UI" pitchFamily="50" charset="-128"/>
              </a:rPr>
              <a:t>に準じる</a:t>
            </a:r>
            <a:r>
              <a:rPr lang="en-US" altLang="ja-JP" sz="1400">
                <a:solidFill>
                  <a:srgbClr val="000000"/>
                </a:solidFill>
                <a:latin typeface="Meiryo UI" panose="020B0604030504040204" pitchFamily="50" charset="-128"/>
                <a:ea typeface="Meiryo UI" panose="020B0604030504040204" pitchFamily="50" charset="-128"/>
                <a:cs typeface="Meiryo UI" pitchFamily="50" charset="-128"/>
              </a:rPr>
              <a:t> EMS36-4-1-22-4</a:t>
            </a:r>
            <a:r>
              <a:rPr lang="ja-JP" altLang="en-US" sz="1400">
                <a:solidFill>
                  <a:srgbClr val="000000"/>
                </a:solidFill>
                <a:latin typeface="Meiryo UI" panose="020B0604030504040204" pitchFamily="50" charset="-128"/>
                <a:ea typeface="Meiryo UI" panose="020B0604030504040204" pitchFamily="50" charset="-128"/>
                <a:cs typeface="Meiryo UI" pitchFamily="50" charset="-128"/>
              </a:rPr>
              <a:t>　</a:t>
            </a:r>
            <a:r>
              <a:rPr lang="en-US" altLang="ja-JP" sz="1400">
                <a:solidFill>
                  <a:srgbClr val="000000"/>
                </a:solidFill>
                <a:latin typeface="Meiryo UI" panose="020B0604030504040204" pitchFamily="50" charset="-128"/>
                <a:ea typeface="Meiryo UI" panose="020B0604030504040204" pitchFamily="50" charset="-128"/>
                <a:cs typeface="Meiryo UI" pitchFamily="50" charset="-128"/>
              </a:rPr>
              <a:t>ECU rewrite verification</a:t>
            </a:r>
          </a:p>
        </p:txBody>
      </p:sp>
      <p:sp>
        <p:nvSpPr>
          <p:cNvPr id="7"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(30/31)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2426764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146327" y="558422"/>
            <a:ext cx="49481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r>
              <a:rPr lang="en-US" altLang="ja-JP" sz="1800" b="1" u="sng">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800" b="1" u="sng">
                <a:latin typeface="Meiryo UI" panose="020B0604030504040204" pitchFamily="50" charset="-128"/>
                <a:ea typeface="Meiryo UI" panose="020B0604030504040204" pitchFamily="50" charset="-128"/>
                <a:cs typeface="Arial" pitchFamily="34" charset="0"/>
              </a:rPr>
              <a:t> Internal Test Trip Report</a:t>
            </a:r>
            <a:endParaRPr lang="en-US" altLang="ja-JP" sz="1050" b="1" u="sng">
              <a:latin typeface="HGPｺﾞｼｯｸE" pitchFamily="50" charset="-128"/>
              <a:ea typeface="HGPｺﾞｼｯｸE" pitchFamily="50" charset="-128"/>
              <a:cs typeface="Arial" pitchFamily="34" charset="0"/>
            </a:endParaRPr>
          </a:p>
        </p:txBody>
      </p:sp>
      <p:sp>
        <p:nvSpPr>
          <p:cNvPr id="2" name="テキスト ボックス 1"/>
          <p:cNvSpPr txBox="1"/>
          <p:nvPr/>
        </p:nvSpPr>
        <p:spPr>
          <a:xfrm>
            <a:off x="250829" y="894124"/>
            <a:ext cx="8438607" cy="3323987"/>
          </a:xfrm>
          <a:prstGeom prst="rect">
            <a:avLst/>
          </a:prstGeom>
          <a:noFill/>
        </p:spPr>
        <p:txBody>
          <a:bodyPr wrap="square" rtlCol="0">
            <a:spAutoFit/>
          </a:bodyPr>
          <a:lstStyle/>
          <a:p>
            <a:pPr algn="l"/>
            <a:r>
              <a:rPr lang="en-US" altLang="ja-JP" sz="1400">
                <a:latin typeface="Meiryo UI" panose="020B0604030504040204" pitchFamily="50" charset="-128"/>
                <a:ea typeface="+mj-ea"/>
                <a:cs typeface="Arial" panose="020B0604020202020204" pitchFamily="34" charset="0"/>
              </a:rPr>
              <a:t>&lt;Before test trip&gt;</a:t>
            </a:r>
          </a:p>
          <a:p>
            <a:pPr algn="l"/>
            <a:r>
              <a:rPr lang="en-US" altLang="ja-JP" sz="1400">
                <a:latin typeface="Meiryo UI" panose="020B0604030504040204" pitchFamily="50" charset="-128"/>
                <a:ea typeface="+mj-ea"/>
                <a:cs typeface="Arial" panose="020B0604020202020204" pitchFamily="34" charset="0"/>
              </a:rPr>
              <a:t>   Due date : one week before</a:t>
            </a:r>
            <a:endParaRPr lang="ja-JP" altLang="en-US" sz="1400">
              <a:latin typeface="Meiryo UI" panose="020B0604030504040204" pitchFamily="50" charset="-128"/>
              <a:ea typeface="+mj-ea"/>
              <a:cs typeface="Arial" panose="020B0604020202020204" pitchFamily="34" charset="0"/>
            </a:endParaRPr>
          </a:p>
          <a:p>
            <a:pPr algn="l"/>
            <a:r>
              <a:rPr lang="en-US" altLang="ja-JP" sz="1400">
                <a:latin typeface="Meiryo UI" panose="020B0604030504040204" pitchFamily="50" charset="-128"/>
                <a:ea typeface="+mj-ea"/>
                <a:cs typeface="Arial" panose="020B0604020202020204" pitchFamily="34" charset="0"/>
              </a:rPr>
              <a:t>    1. Purpose</a:t>
            </a:r>
            <a:endParaRPr lang="ja-JP" altLang="en-US" sz="1400">
              <a:latin typeface="Meiryo UI" panose="020B0604030504040204" pitchFamily="50" charset="-128"/>
              <a:ea typeface="+mj-ea"/>
              <a:cs typeface="Arial" panose="020B0604020202020204" pitchFamily="34" charset="0"/>
            </a:endParaRPr>
          </a:p>
          <a:p>
            <a:pPr algn="l"/>
            <a:r>
              <a:rPr lang="en-US" altLang="ja-JP" sz="1400">
                <a:latin typeface="Meiryo UI" panose="020B0604030504040204" pitchFamily="50" charset="-128"/>
                <a:ea typeface="+mj-ea"/>
                <a:cs typeface="Arial" panose="020B0604020202020204" pitchFamily="34" charset="0"/>
              </a:rPr>
              <a:t>    2. Test schedule, member, vehicles and course(open/close)</a:t>
            </a:r>
            <a:endParaRPr lang="ja-JP" altLang="en-US" sz="1400">
              <a:latin typeface="Meiryo UI" panose="020B0604030504040204" pitchFamily="50" charset="-128"/>
              <a:ea typeface="+mj-ea"/>
              <a:cs typeface="Arial" panose="020B0604020202020204" pitchFamily="34" charset="0"/>
            </a:endParaRPr>
          </a:p>
          <a:p>
            <a:pPr algn="l"/>
            <a:r>
              <a:rPr lang="en-US" altLang="ja-JP" sz="1400">
                <a:latin typeface="Meiryo UI" panose="020B0604030504040204" pitchFamily="50" charset="-128"/>
                <a:ea typeface="+mj-ea"/>
                <a:cs typeface="Arial" panose="020B0604020202020204" pitchFamily="34" charset="0"/>
              </a:rPr>
              <a:t>    3. Calibration / Verification planned working packages</a:t>
            </a:r>
          </a:p>
          <a:p>
            <a:pPr algn="l"/>
            <a:r>
              <a:rPr lang="en-US" altLang="ja-JP" sz="1400">
                <a:latin typeface="Meiryo UI" panose="020B0604030504040204" pitchFamily="50" charset="-128"/>
                <a:ea typeface="+mj-ea"/>
                <a:cs typeface="Arial" panose="020B0604020202020204" pitchFamily="34" charset="0"/>
              </a:rPr>
              <a:t>&lt;After test trip&gt;</a:t>
            </a:r>
            <a:r>
              <a:rPr lang="ja-JP" altLang="en-US" sz="1400">
                <a:latin typeface="Meiryo UI" panose="020B0604030504040204" pitchFamily="50" charset="-128"/>
                <a:ea typeface="+mj-ea"/>
                <a:cs typeface="Arial" panose="020B0604020202020204" pitchFamily="34" charset="0"/>
              </a:rPr>
              <a:t> </a:t>
            </a:r>
            <a:endParaRPr lang="en-US" altLang="ja-JP" sz="1400">
              <a:latin typeface="Meiryo UI" panose="020B0604030504040204" pitchFamily="50" charset="-128"/>
              <a:ea typeface="+mj-ea"/>
              <a:cs typeface="Arial" panose="020B0604020202020204" pitchFamily="34" charset="0"/>
            </a:endParaRPr>
          </a:p>
          <a:p>
            <a:pPr algn="l"/>
            <a:r>
              <a:rPr lang="en-US" altLang="ja-JP" sz="1400">
                <a:latin typeface="Meiryo UI" panose="020B0604030504040204" pitchFamily="50" charset="-128"/>
                <a:ea typeface="+mj-ea"/>
                <a:cs typeface="Arial" panose="020B0604020202020204" pitchFamily="34" charset="0"/>
              </a:rPr>
              <a:t>   Due date : two weeks after the test trip</a:t>
            </a:r>
          </a:p>
          <a:p>
            <a:pPr algn="l"/>
            <a:r>
              <a:rPr lang="en-US" altLang="ja-JP" sz="1400">
                <a:latin typeface="Meiryo UI" panose="020B0604030504040204" pitchFamily="50" charset="-128"/>
                <a:ea typeface="+mj-ea"/>
                <a:cs typeface="Arial" panose="020B0604020202020204" pitchFamily="34" charset="0"/>
              </a:rPr>
              <a:t>    1. Purpose</a:t>
            </a:r>
            <a:endParaRPr lang="ja-JP" altLang="en-US" sz="1400">
              <a:latin typeface="Meiryo UI" panose="020B0604030504040204" pitchFamily="50" charset="-128"/>
              <a:ea typeface="+mj-ea"/>
              <a:cs typeface="Arial" panose="020B0604020202020204" pitchFamily="34" charset="0"/>
            </a:endParaRPr>
          </a:p>
          <a:p>
            <a:pPr algn="l"/>
            <a:r>
              <a:rPr lang="en-US" altLang="ja-JP" sz="1400">
                <a:latin typeface="Meiryo UI" panose="020B0604030504040204" pitchFamily="50" charset="-128"/>
                <a:ea typeface="+mj-ea"/>
                <a:cs typeface="Arial" panose="020B0604020202020204" pitchFamily="34" charset="0"/>
              </a:rPr>
              <a:t>    2. Test schedule, member, vehicles and course(open/close)</a:t>
            </a:r>
            <a:endParaRPr lang="ja-JP" altLang="en-US" sz="1400">
              <a:latin typeface="Meiryo UI" panose="020B0604030504040204" pitchFamily="50" charset="-128"/>
              <a:ea typeface="+mj-ea"/>
              <a:cs typeface="Arial" panose="020B0604020202020204" pitchFamily="34" charset="0"/>
            </a:endParaRPr>
          </a:p>
          <a:p>
            <a:pPr algn="l"/>
            <a:r>
              <a:rPr lang="en-US" altLang="ja-JP" sz="1400">
                <a:latin typeface="Meiryo UI" panose="020B0604030504040204" pitchFamily="50" charset="-128"/>
                <a:ea typeface="+mj-ea"/>
                <a:cs typeface="Arial" panose="020B0604020202020204" pitchFamily="34" charset="0"/>
              </a:rPr>
              <a:t>    3. Test condition (temperature, altitude, ….)</a:t>
            </a:r>
            <a:endParaRPr lang="ja-JP" altLang="en-US" sz="1400">
              <a:latin typeface="Meiryo UI" panose="020B0604030504040204" pitchFamily="50" charset="-128"/>
              <a:ea typeface="+mj-ea"/>
              <a:cs typeface="Arial" panose="020B0604020202020204" pitchFamily="34" charset="0"/>
            </a:endParaRPr>
          </a:p>
          <a:p>
            <a:pPr algn="l"/>
            <a:r>
              <a:rPr lang="en-US" altLang="ja-JP" sz="1400">
                <a:latin typeface="Meiryo UI" panose="020B0604030504040204" pitchFamily="50" charset="-128"/>
                <a:ea typeface="+mj-ea"/>
                <a:cs typeface="Arial" panose="020B0604020202020204" pitchFamily="34" charset="0"/>
              </a:rPr>
              <a:t>    4. Based on planned working packages</a:t>
            </a:r>
          </a:p>
          <a:p>
            <a:pPr algn="l"/>
            <a:r>
              <a:rPr lang="en-US" altLang="ja-JP" sz="1400">
                <a:latin typeface="Meiryo UI" panose="020B0604030504040204" pitchFamily="50" charset="-128"/>
                <a:ea typeface="+mj-ea"/>
                <a:cs typeface="Arial" panose="020B0604020202020204" pitchFamily="34" charset="0"/>
              </a:rPr>
              <a:t>	what was done</a:t>
            </a:r>
          </a:p>
          <a:p>
            <a:pPr algn="l"/>
            <a:r>
              <a:rPr lang="en-US" altLang="ja-JP" sz="1400">
                <a:latin typeface="Meiryo UI" panose="020B0604030504040204" pitchFamily="50" charset="-128"/>
                <a:ea typeface="+mj-ea"/>
                <a:cs typeface="Arial" panose="020B0604020202020204" pitchFamily="34" charset="0"/>
              </a:rPr>
              <a:t>	what was decided</a:t>
            </a:r>
          </a:p>
          <a:p>
            <a:pPr algn="l"/>
            <a:r>
              <a:rPr lang="en-US" altLang="ja-JP" sz="1400">
                <a:latin typeface="Meiryo UI" panose="020B0604030504040204" pitchFamily="50" charset="-128"/>
                <a:ea typeface="+mj-ea"/>
                <a:cs typeface="Arial" panose="020B0604020202020204" pitchFamily="34" charset="0"/>
              </a:rPr>
              <a:t>	what is open items	</a:t>
            </a:r>
          </a:p>
          <a:p>
            <a:pPr algn="l"/>
            <a:r>
              <a:rPr kumimoji="1" lang="en-US" altLang="ja-JP" sz="1400">
                <a:latin typeface="Meiryo UI" panose="020B0604030504040204" pitchFamily="50" charset="-128"/>
                <a:ea typeface="+mj-ea"/>
                <a:cs typeface="Arial" panose="020B0604020202020204" pitchFamily="34" charset="0"/>
              </a:rPr>
              <a:t>	open items: what will be done until when</a:t>
            </a:r>
          </a:p>
        </p:txBody>
      </p:sp>
      <p:sp>
        <p:nvSpPr>
          <p:cNvPr id="10" name="テキスト ボックス 9"/>
          <p:cNvSpPr txBox="1"/>
          <p:nvPr/>
        </p:nvSpPr>
        <p:spPr>
          <a:xfrm>
            <a:off x="250828" y="4218111"/>
            <a:ext cx="8438607" cy="2462213"/>
          </a:xfrm>
          <a:prstGeom prst="rect">
            <a:avLst/>
          </a:prstGeom>
          <a:noFill/>
        </p:spPr>
        <p:txBody>
          <a:bodyPr wrap="square" rtlCol="0">
            <a:spAutoFit/>
          </a:bodyPr>
          <a:lstStyle/>
          <a:p>
            <a:pPr algn="l"/>
            <a:r>
              <a:rPr lang="en-US" altLang="ja-JP" sz="1400">
                <a:latin typeface="Meiryo UI" panose="020B0604030504040204" pitchFamily="50" charset="-128"/>
                <a:ea typeface="Meiryo UI" panose="020B0604030504040204" pitchFamily="50" charset="-128"/>
                <a:cs typeface="Arial" panose="020B0604020202020204" pitchFamily="34" charset="0"/>
              </a:rPr>
              <a:t>&lt;</a:t>
            </a:r>
            <a:r>
              <a:rPr lang="ja-JP" altLang="en-US" sz="1400">
                <a:latin typeface="Meiryo UI" panose="020B0604030504040204" pitchFamily="50" charset="-128"/>
                <a:ea typeface="Meiryo UI" panose="020B0604030504040204" pitchFamily="50" charset="-128"/>
                <a:cs typeface="Arial" panose="020B0604020202020204" pitchFamily="34" charset="0"/>
              </a:rPr>
              <a:t>テスト</a:t>
            </a:r>
            <a:r>
              <a:rPr lang="en-US" altLang="ja-JP" sz="1400">
                <a:latin typeface="Meiryo UI" panose="020B0604030504040204" pitchFamily="50" charset="-128"/>
                <a:ea typeface="Meiryo UI" panose="020B0604030504040204" pitchFamily="50" charset="-128"/>
                <a:cs typeface="Arial" panose="020B0604020202020204" pitchFamily="34" charset="0"/>
              </a:rPr>
              <a:t>Trip</a:t>
            </a:r>
            <a:r>
              <a:rPr lang="ja-JP" altLang="en-US" sz="1400">
                <a:latin typeface="Meiryo UI" panose="020B0604030504040204" pitchFamily="50" charset="-128"/>
                <a:ea typeface="Meiryo UI" panose="020B0604030504040204" pitchFamily="50" charset="-128"/>
                <a:cs typeface="Arial" panose="020B0604020202020204" pitchFamily="34" charset="0"/>
              </a:rPr>
              <a:t>前</a:t>
            </a:r>
            <a:r>
              <a:rPr lang="en-US" altLang="ja-JP" sz="1400">
                <a:latin typeface="Meiryo UI" panose="020B0604030504040204" pitchFamily="50" charset="-128"/>
                <a:ea typeface="Meiryo UI" panose="020B0604030504040204" pitchFamily="50" charset="-128"/>
                <a:cs typeface="Arial" panose="020B0604020202020204" pitchFamily="34" charset="0"/>
              </a:rPr>
              <a:t>&gt;</a:t>
            </a:r>
          </a:p>
          <a:p>
            <a:pPr algn="l"/>
            <a:r>
              <a:rPr lang="ja-JP" altLang="en-US" sz="1400">
                <a:latin typeface="Meiryo UI" panose="020B0604030504040204" pitchFamily="50" charset="-128"/>
                <a:ea typeface="Meiryo UI" panose="020B0604030504040204" pitchFamily="50" charset="-128"/>
                <a:cs typeface="Arial" panose="020B0604020202020204" pitchFamily="34" charset="0"/>
              </a:rPr>
              <a:t>  期日：テスト</a:t>
            </a:r>
            <a:r>
              <a:rPr lang="en-US" altLang="ja-JP" sz="1400">
                <a:latin typeface="Meiryo UI" panose="020B0604030504040204" pitchFamily="50" charset="-128"/>
                <a:ea typeface="Meiryo UI" panose="020B0604030504040204" pitchFamily="50" charset="-128"/>
                <a:cs typeface="Arial" panose="020B0604020202020204" pitchFamily="34" charset="0"/>
              </a:rPr>
              <a:t>1</a:t>
            </a:r>
            <a:r>
              <a:rPr lang="ja-JP" altLang="en-US" sz="1400">
                <a:latin typeface="Meiryo UI" panose="020B0604030504040204" pitchFamily="50" charset="-128"/>
                <a:ea typeface="Meiryo UI" panose="020B0604030504040204" pitchFamily="50" charset="-128"/>
                <a:cs typeface="Arial" panose="020B0604020202020204" pitchFamily="34" charset="0"/>
              </a:rPr>
              <a:t>週間前</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1. </a:t>
            </a:r>
            <a:r>
              <a:rPr lang="ja-JP" altLang="en-US" sz="1400">
                <a:latin typeface="Meiryo UI" panose="020B0604030504040204" pitchFamily="50" charset="-128"/>
                <a:ea typeface="Meiryo UI" panose="020B0604030504040204" pitchFamily="50" charset="-128"/>
                <a:cs typeface="Arial" panose="020B0604020202020204" pitchFamily="34" charset="0"/>
              </a:rPr>
              <a:t>目的</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2. </a:t>
            </a:r>
            <a:r>
              <a:rPr lang="ja-JP" altLang="en-US" sz="1400">
                <a:latin typeface="Meiryo UI" panose="020B0604030504040204" pitchFamily="50" charset="-128"/>
                <a:ea typeface="Meiryo UI" panose="020B0604030504040204" pitchFamily="50" charset="-128"/>
                <a:cs typeface="Arial" panose="020B0604020202020204" pitchFamily="34" charset="0"/>
              </a:rPr>
              <a:t>日程、メンバー、車両とコースの情報</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3. </a:t>
            </a:r>
            <a:r>
              <a:rPr lang="ja-JP" altLang="en-US" sz="1400">
                <a:latin typeface="Meiryo UI" panose="020B0604030504040204" pitchFamily="50" charset="-128"/>
                <a:ea typeface="Meiryo UI" panose="020B0604030504040204" pitchFamily="50" charset="-128"/>
                <a:cs typeface="Arial" panose="020B0604020202020204" pitchFamily="34" charset="0"/>
              </a:rPr>
              <a:t>適合、検証の時系列計画</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&lt;</a:t>
            </a:r>
            <a:r>
              <a:rPr lang="ja-JP" altLang="en-US" sz="1400">
                <a:latin typeface="Meiryo UI" panose="020B0604030504040204" pitchFamily="50" charset="-128"/>
                <a:ea typeface="Meiryo UI" panose="020B0604030504040204" pitchFamily="50" charset="-128"/>
                <a:cs typeface="Arial" panose="020B0604020202020204" pitchFamily="34" charset="0"/>
              </a:rPr>
              <a:t>テスト</a:t>
            </a:r>
            <a:r>
              <a:rPr lang="en-US" altLang="ja-JP" sz="1400">
                <a:latin typeface="Meiryo UI" panose="020B0604030504040204" pitchFamily="50" charset="-128"/>
                <a:ea typeface="Meiryo UI" panose="020B0604030504040204" pitchFamily="50" charset="-128"/>
                <a:cs typeface="Arial" panose="020B0604020202020204" pitchFamily="34" charset="0"/>
              </a:rPr>
              <a:t>Trip</a:t>
            </a:r>
            <a:r>
              <a:rPr lang="ja-JP" altLang="en-US" sz="1400">
                <a:latin typeface="Meiryo UI" panose="020B0604030504040204" pitchFamily="50" charset="-128"/>
                <a:ea typeface="Meiryo UI" panose="020B0604030504040204" pitchFamily="50" charset="-128"/>
                <a:cs typeface="Arial" panose="020B0604020202020204" pitchFamily="34" charset="0"/>
              </a:rPr>
              <a:t>後</a:t>
            </a:r>
            <a:r>
              <a:rPr lang="en-US" altLang="ja-JP" sz="1400">
                <a:latin typeface="Meiryo UI" panose="020B0604030504040204" pitchFamily="50" charset="-128"/>
                <a:ea typeface="Meiryo UI" panose="020B0604030504040204" pitchFamily="50" charset="-128"/>
                <a:cs typeface="Arial" panose="020B0604020202020204" pitchFamily="34" charset="0"/>
              </a:rPr>
              <a:t>&gt;</a:t>
            </a:r>
            <a:r>
              <a:rPr lang="ja-JP" altLang="en-US" sz="1400">
                <a:latin typeface="Meiryo UI" panose="020B0604030504040204" pitchFamily="50" charset="-128"/>
                <a:ea typeface="Meiryo UI" panose="020B0604030504040204" pitchFamily="50" charset="-128"/>
                <a:cs typeface="Arial" panose="020B0604020202020204" pitchFamily="34" charset="0"/>
              </a:rPr>
              <a:t> </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p>
            <a:pPr algn="l"/>
            <a:r>
              <a:rPr lang="ja-JP" altLang="en-US" sz="1400">
                <a:latin typeface="Meiryo UI" panose="020B0604030504040204" pitchFamily="50" charset="-128"/>
                <a:ea typeface="Meiryo UI" panose="020B0604030504040204" pitchFamily="50" charset="-128"/>
                <a:cs typeface="Arial" panose="020B0604020202020204" pitchFamily="34" charset="0"/>
              </a:rPr>
              <a:t>  期日：テスト終了後</a:t>
            </a:r>
            <a:r>
              <a:rPr lang="en-US" altLang="ja-JP" sz="1400">
                <a:latin typeface="Meiryo UI" panose="020B0604030504040204" pitchFamily="50" charset="-128"/>
                <a:ea typeface="Meiryo UI" panose="020B0604030504040204" pitchFamily="50" charset="-128"/>
                <a:cs typeface="Arial" panose="020B0604020202020204" pitchFamily="34" charset="0"/>
              </a:rPr>
              <a:t>2</a:t>
            </a:r>
            <a:r>
              <a:rPr lang="ja-JP" altLang="en-US" sz="1400">
                <a:latin typeface="Meiryo UI" panose="020B0604030504040204" pitchFamily="50" charset="-128"/>
                <a:ea typeface="Meiryo UI" panose="020B0604030504040204" pitchFamily="50" charset="-128"/>
                <a:cs typeface="Arial" panose="020B0604020202020204" pitchFamily="34" charset="0"/>
              </a:rPr>
              <a:t>週間以内</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1. </a:t>
            </a:r>
            <a:r>
              <a:rPr lang="ja-JP" altLang="en-US" sz="1400">
                <a:latin typeface="Meiryo UI" panose="020B0604030504040204" pitchFamily="50" charset="-128"/>
                <a:ea typeface="Meiryo UI" panose="020B0604030504040204" pitchFamily="50" charset="-128"/>
                <a:cs typeface="Arial" panose="020B0604020202020204" pitchFamily="34" charset="0"/>
              </a:rPr>
              <a:t>目的</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2.</a:t>
            </a:r>
            <a:r>
              <a:rPr lang="ja-JP" altLang="en-US" sz="1400">
                <a:latin typeface="Meiryo UI" panose="020B0604030504040204" pitchFamily="50" charset="-128"/>
                <a:ea typeface="Meiryo UI" panose="020B0604030504040204" pitchFamily="50" charset="-128"/>
                <a:cs typeface="Arial" panose="020B0604020202020204" pitchFamily="34" charset="0"/>
              </a:rPr>
              <a:t> 日程、メンバー、車両とコースの情報</a:t>
            </a: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3. </a:t>
            </a:r>
            <a:r>
              <a:rPr lang="ja-JP" altLang="en-US" sz="1400">
                <a:latin typeface="Meiryo UI" panose="020B0604030504040204" pitchFamily="50" charset="-128"/>
                <a:ea typeface="Meiryo UI" panose="020B0604030504040204" pitchFamily="50" charset="-128"/>
                <a:cs typeface="Arial" panose="020B0604020202020204" pitchFamily="34" charset="0"/>
              </a:rPr>
              <a:t>テスト時の環境状況</a:t>
            </a:r>
            <a:r>
              <a:rPr lang="en-US" altLang="ja-JP" sz="1400">
                <a:latin typeface="Meiryo UI" panose="020B0604030504040204" pitchFamily="50" charset="-128"/>
                <a:ea typeface="Meiryo UI" panose="020B0604030504040204" pitchFamily="50" charset="-128"/>
                <a:cs typeface="Arial" panose="020B0604020202020204" pitchFamily="34" charset="0"/>
              </a:rPr>
              <a:t> (</a:t>
            </a:r>
            <a:r>
              <a:rPr lang="ja-JP" altLang="en-US" sz="1400">
                <a:latin typeface="Meiryo UI" panose="020B0604030504040204" pitchFamily="50" charset="-128"/>
                <a:ea typeface="Meiryo UI" panose="020B0604030504040204" pitchFamily="50" charset="-128"/>
                <a:cs typeface="Arial" panose="020B0604020202020204" pitchFamily="34" charset="0"/>
              </a:rPr>
              <a:t>気温、高度など</a:t>
            </a:r>
            <a:r>
              <a:rPr lang="en-US" altLang="ja-JP" sz="1400">
                <a:latin typeface="Meiryo UI" panose="020B0604030504040204" pitchFamily="50" charset="-128"/>
                <a:ea typeface="Meiryo UI" panose="020B0604030504040204" pitchFamily="50" charset="-128"/>
                <a:cs typeface="Arial" panose="020B0604020202020204" pitchFamily="34" charset="0"/>
              </a:rPr>
              <a:t>)</a:t>
            </a:r>
            <a:endParaRPr lang="ja-JP" altLang="en-US" sz="1400">
              <a:latin typeface="Meiryo UI" panose="020B0604030504040204" pitchFamily="50" charset="-128"/>
              <a:ea typeface="Meiryo UI" panose="020B0604030504040204" pitchFamily="50" charset="-128"/>
              <a:cs typeface="Arial" panose="020B0604020202020204" pitchFamily="34" charset="0"/>
            </a:endParaRPr>
          </a:p>
          <a:p>
            <a:pPr algn="l"/>
            <a:r>
              <a:rPr lang="en-US" altLang="ja-JP" sz="1400">
                <a:latin typeface="Meiryo UI" panose="020B0604030504040204" pitchFamily="50" charset="-128"/>
                <a:ea typeface="Meiryo UI" panose="020B0604030504040204" pitchFamily="50" charset="-128"/>
                <a:cs typeface="Arial" panose="020B0604020202020204" pitchFamily="34" charset="0"/>
              </a:rPr>
              <a:t>    4. </a:t>
            </a:r>
            <a:r>
              <a:rPr lang="ja-JP" altLang="en-US" sz="1400">
                <a:latin typeface="Meiryo UI" panose="020B0604030504040204" pitchFamily="50" charset="-128"/>
                <a:ea typeface="Meiryo UI" panose="020B0604030504040204" pitchFamily="50" charset="-128"/>
                <a:cs typeface="Arial" panose="020B0604020202020204" pitchFamily="34" charset="0"/>
              </a:rPr>
              <a:t>適合、検証の計画に対して「完了項目」「決定事項」「</a:t>
            </a:r>
            <a:r>
              <a:rPr lang="en-US" altLang="ja-JP" sz="1400">
                <a:latin typeface="Meiryo UI" panose="020B0604030504040204" pitchFamily="50" charset="-128"/>
                <a:ea typeface="Meiryo UI" panose="020B0604030504040204" pitchFamily="50" charset="-128"/>
                <a:cs typeface="Arial" panose="020B0604020202020204" pitchFamily="34" charset="0"/>
              </a:rPr>
              <a:t>OPEN</a:t>
            </a:r>
            <a:r>
              <a:rPr lang="ja-JP" altLang="en-US" sz="1400">
                <a:latin typeface="Meiryo UI" panose="020B0604030504040204" pitchFamily="50" charset="-128"/>
                <a:ea typeface="Meiryo UI" panose="020B0604030504040204" pitchFamily="50" charset="-128"/>
                <a:cs typeface="Arial" panose="020B0604020202020204" pitchFamily="34" charset="0"/>
              </a:rPr>
              <a:t>項目またいつまでに解決するか展開」</a:t>
            </a:r>
            <a:endParaRPr lang="en-US" altLang="ja-JP" sz="1400">
              <a:latin typeface="Meiryo UI" panose="020B0604030504040204" pitchFamily="50" charset="-128"/>
              <a:ea typeface="Meiryo UI" panose="020B0604030504040204" pitchFamily="50" charset="-128"/>
              <a:cs typeface="Arial" panose="020B0604020202020204" pitchFamily="34" charset="0"/>
            </a:endParaRPr>
          </a:p>
        </p:txBody>
      </p:sp>
      <p:sp>
        <p:nvSpPr>
          <p:cNvPr id="11" name="Text Box 2"/>
          <p:cNvSpPr txBox="1">
            <a:spLocks noChangeArrowheads="1"/>
          </p:cNvSpPr>
          <p:nvPr/>
        </p:nvSpPr>
        <p:spPr bwMode="auto">
          <a:xfrm>
            <a:off x="250829" y="96703"/>
            <a:ext cx="88931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1800">
                <a:solidFill>
                  <a:srgbClr val="FFFFFF"/>
                </a:solidFill>
                <a:latin typeface="Meiryo UI" panose="020B0604030504040204" pitchFamily="50" charset="-128"/>
                <a:ea typeface="Meiryo UI" panose="020B0604030504040204" pitchFamily="50" charset="-128"/>
                <a:cs typeface="Arial" pitchFamily="34" charset="0"/>
              </a:rPr>
              <a:t>17. EMS Report Maturity and Quality Verification (31/31)</a:t>
            </a:r>
            <a:endParaRPr lang="en-US" altLang="ja-JP" sz="105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6140639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78755114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93651" y="517160"/>
            <a:ext cx="4854278" cy="373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EMS</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Sheet Result</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Verification</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and</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Approval</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9" name="Text Box 2"/>
          <p:cNvSpPr txBox="1">
            <a:spLocks noChangeArrowheads="1"/>
          </p:cNvSpPr>
          <p:nvPr/>
        </p:nvSpPr>
        <p:spPr bwMode="auto">
          <a:xfrm>
            <a:off x="78130" y="897517"/>
            <a:ext cx="9050349" cy="439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Method 		: Face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face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or</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Telecon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Joint Evaluation</a:t>
            </a: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Just issuing report is not accepted. Meeting to explain the contents</a:t>
            </a: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must be held.</a:t>
            </a:r>
          </a:p>
          <a:p>
            <a:pPr algn="l" eaLnBrk="1" hangingPunct="1">
              <a:lnSpc>
                <a:spcPct val="110000"/>
              </a:lnSpc>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Timing		: When technical evaluation is held (See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development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schedule)</a:t>
            </a:r>
            <a:r>
              <a:rPr lang="ja-JP" altLang="en-US" sz="1400">
                <a:latin typeface="Meiryo UI" panose="020B0604030504040204" pitchFamily="50" charset="-128"/>
                <a:ea typeface="Meiryo UI" panose="020B0604030504040204" pitchFamily="50" charset="-128"/>
                <a:cs typeface="Arial" pitchFamily="34" charset="0"/>
              </a:rPr>
              <a:t> 　</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(additional joint evaluation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will</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be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held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needed) </a:t>
            </a: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Honda </a:t>
            </a:r>
            <a:r>
              <a:rPr lang="en-US" altLang="ja-JP" sz="1400" err="1">
                <a:latin typeface="Meiryo UI" panose="020B0604030504040204" pitchFamily="50" charset="-128"/>
                <a:ea typeface="Meiryo UI" panose="020B0604030504040204" pitchFamily="50" charset="-128"/>
              </a:rPr>
              <a:t>PjM</a:t>
            </a:r>
            <a:r>
              <a:rPr lang="en-US" altLang="ja-JP" sz="1400">
                <a:latin typeface="Meiryo UI" panose="020B0604030504040204" pitchFamily="50" charset="-128"/>
                <a:ea typeface="Meiryo UI" panose="020B0604030504040204" pitchFamily="50" charset="-128"/>
              </a:rPr>
              <a:t> is required to announce the due date and to make </a:t>
            </a: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rPr>
              <a:t>		 alignment of due date with</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a:t>
            </a: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		Only if Honda PIC accepts cancellation, explanation meeting can be cancelled.</a:t>
            </a:r>
          </a:p>
          <a:p>
            <a:pPr algn="l" eaLnBrk="1" hangingPunct="1">
              <a:lnSpc>
                <a:spcPct val="110000"/>
              </a:lnSpc>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Evaluation item	: EMS sheets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which are required for certain timing in the EMS sheet index.</a:t>
            </a:r>
          </a:p>
          <a:p>
            <a:pPr algn="l">
              <a:spcBef>
                <a:spcPts val="300"/>
              </a:spcBef>
            </a:pPr>
            <a:r>
              <a:rPr lang="en-US" altLang="ja-JP"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is responsible to release EMS report before due date.</a:t>
            </a:r>
          </a:p>
          <a:p>
            <a:pPr algn="l">
              <a:spcBef>
                <a:spcPts val="300"/>
              </a:spcBef>
            </a:pPr>
            <a:r>
              <a:rPr lang="en-US" altLang="ja-JP" sz="1400">
                <a:latin typeface="Meiryo UI" panose="020B0604030504040204" pitchFamily="50" charset="-128"/>
                <a:ea typeface="Meiryo UI" panose="020B0604030504040204" pitchFamily="50" charset="-128"/>
              </a:rPr>
              <a:t>		Before releasing EMS report, contents to be explained by</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PIC to</a:t>
            </a:r>
          </a:p>
          <a:p>
            <a:pPr algn="l">
              <a:spcBef>
                <a:spcPts val="300"/>
              </a:spcBef>
            </a:pPr>
            <a:r>
              <a:rPr lang="en-US" altLang="ja-JP" sz="1400">
                <a:latin typeface="Meiryo UI" panose="020B0604030504040204" pitchFamily="50" charset="-128"/>
                <a:ea typeface="Meiryo UI" panose="020B0604030504040204" pitchFamily="50" charset="-128"/>
              </a:rPr>
              <a:t>		Honda PIC.</a:t>
            </a: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endParaRPr lang="en-US" altLang="ja-JP" sz="1400">
              <a:latin typeface="Meiryo UI" panose="020B0604030504040204" pitchFamily="50" charset="-128"/>
              <a:ea typeface="Meiryo UI" panose="020B0604030504040204" pitchFamily="50" charset="-128"/>
              <a:cs typeface="Arial" pitchFamily="34" charset="0"/>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cs typeface="Arial" pitchFamily="34" charset="0"/>
              </a:rPr>
              <a:t>Place/period	:It can be discussed with both PIC. Face to face, telecon is OK.</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12"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33379658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78130" y="556137"/>
            <a:ext cx="2969083" cy="412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600" b="1" u="sng">
                <a:solidFill>
                  <a:srgbClr val="000000"/>
                </a:solidFill>
                <a:latin typeface="Meiryo UI" panose="020B0604030504040204" pitchFamily="50" charset="-128"/>
                <a:ea typeface="Meiryo UI" panose="020B0604030504040204" pitchFamily="50" charset="-128"/>
              </a:rPr>
              <a:t>EMS</a:t>
            </a:r>
            <a:r>
              <a:rPr lang="ja-JP" altLang="en-US" sz="1600" b="1" u="sng">
                <a:solidFill>
                  <a:srgbClr val="000000"/>
                </a:solidFill>
                <a:latin typeface="Meiryo UI" panose="020B0604030504040204" pitchFamily="50" charset="-128"/>
                <a:ea typeface="Meiryo UI" panose="020B0604030504040204" pitchFamily="50" charset="-128"/>
              </a:rPr>
              <a:t>シート結果検証と承認手法</a:t>
            </a:r>
            <a:endParaRPr lang="en-US" altLang="ja-JP" sz="1600" b="1" u="sng">
              <a:solidFill>
                <a:srgbClr val="000000"/>
              </a:solidFill>
              <a:latin typeface="Meiryo UI" panose="020B0604030504040204" pitchFamily="50" charset="-128"/>
              <a:ea typeface="Meiryo UI" panose="020B0604030504040204" pitchFamily="50" charset="-128"/>
            </a:endParaRPr>
          </a:p>
        </p:txBody>
      </p:sp>
      <p:sp>
        <p:nvSpPr>
          <p:cNvPr id="8" name="Text Box 2"/>
          <p:cNvSpPr txBox="1">
            <a:spLocks noChangeArrowheads="1"/>
          </p:cNvSpPr>
          <p:nvPr/>
        </p:nvSpPr>
        <p:spPr bwMode="auto">
          <a:xfrm>
            <a:off x="93650" y="903126"/>
            <a:ext cx="7835503" cy="39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rPr>
              <a:t>手法</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Face</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to</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face</a:t>
            </a:r>
            <a:r>
              <a:rPr lang="ja-JP" altLang="en-US" sz="1400">
                <a:latin typeface="Meiryo UI" panose="020B0604030504040204" pitchFamily="50" charset="-128"/>
                <a:ea typeface="Meiryo UI" panose="020B0604030504040204" pitchFamily="50" charset="-128"/>
              </a:rPr>
              <a:t>もしくは電話会議による合同検証</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レポートを送付するだけでなく、説明のための打ち合わせを持つこと</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rPr>
              <a:t>タイミング</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：開発スケジュールを参照のこと　</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（必要に応じて追加実施する）</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の担当者が不必要とした場合のみ、打ち合わせをやらなくても良い。</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 </a:t>
            </a:r>
            <a:r>
              <a:rPr lang="en-US" altLang="ja-JP" sz="1400" err="1">
                <a:latin typeface="Meiryo UI" panose="020B0604030504040204" pitchFamily="50" charset="-128"/>
                <a:ea typeface="Meiryo UI" panose="020B0604030504040204" pitchFamily="50" charset="-128"/>
              </a:rPr>
              <a:t>PjM</a:t>
            </a:r>
            <a:r>
              <a:rPr lang="ja-JP" altLang="en-US" sz="1400">
                <a:latin typeface="Meiryo UI" panose="020B0604030504040204" pitchFamily="50" charset="-128"/>
                <a:ea typeface="Meiryo UI" panose="020B0604030504040204" pitchFamily="50" charset="-128"/>
              </a:rPr>
              <a:t>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に提出〆切りを連絡し、</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と整合する。</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rPr>
              <a:t>検証項目</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：各検証タイミングに対し、</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シートインデックスで要求している項目</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 EMS</a:t>
            </a:r>
            <a:r>
              <a:rPr lang="ja-JP" altLang="en-US" sz="1400">
                <a:latin typeface="Meiryo UI" panose="020B0604030504040204" pitchFamily="50" charset="-128"/>
                <a:ea typeface="Meiryo UI" panose="020B0604030504040204" pitchFamily="50" charset="-128"/>
              </a:rPr>
              <a:t>検証は、</a:t>
            </a:r>
            <a:r>
              <a:rPr lang="en-US" altLang="ja-JP" sz="1400">
                <a:latin typeface="Meiryo UI" panose="020B0604030504040204" pitchFamily="50" charset="-128"/>
                <a:ea typeface="Meiryo UI" panose="020B0604030504040204" pitchFamily="50" charset="-128"/>
              </a:rPr>
              <a:t>Report</a:t>
            </a:r>
            <a:r>
              <a:rPr lang="ja-JP" altLang="en-US" sz="1400">
                <a:latin typeface="Meiryo UI" panose="020B0604030504040204" pitchFamily="50" charset="-128"/>
                <a:ea typeface="Meiryo UI" panose="020B0604030504040204" pitchFamily="50" charset="-128"/>
              </a:rPr>
              <a:t>記載基準を満足し、グラフ・データを提示の事</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は期限内にレポートを提出のこと。</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レポート提出前に</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担当者に内容を説明すること</a:t>
            </a: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endParaRPr lang="en-US" altLang="ja-JP" sz="1400">
              <a:latin typeface="Meiryo UI" panose="020B0604030504040204" pitchFamily="50" charset="-128"/>
              <a:ea typeface="Meiryo UI" panose="020B0604030504040204" pitchFamily="50" charset="-128"/>
            </a:endParaRPr>
          </a:p>
          <a:p>
            <a:pPr algn="l" eaLnBrk="1" hangingPunct="1">
              <a:lnSpc>
                <a:spcPct val="110000"/>
              </a:lnSpc>
              <a:spcBef>
                <a:spcPts val="300"/>
              </a:spcBef>
            </a:pPr>
            <a:r>
              <a:rPr lang="ja-JP" altLang="en-US" sz="1400">
                <a:latin typeface="Meiryo UI" panose="020B0604030504040204" pitchFamily="50" charset="-128"/>
                <a:ea typeface="Meiryo UI" panose="020B0604030504040204" pitchFamily="50" charset="-128"/>
              </a:rPr>
              <a:t>場所</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期間</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：担当者間で協議。直接会って説明、テレコンなど。</a:t>
            </a:r>
          </a:p>
        </p:txBody>
      </p:sp>
      <p:sp>
        <p:nvSpPr>
          <p:cNvPr id="11"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(2/6)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23301349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2077280" y="2539568"/>
            <a:ext cx="2749471" cy="338554"/>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ja-JP" sz="1600">
                <a:solidFill>
                  <a:srgbClr val="000000"/>
                </a:solidFill>
                <a:latin typeface="Meiryo UI" panose="020B0604030504040204" pitchFamily="50" charset="-128"/>
                <a:ea typeface="Meiryo UI" panose="020B0604030504040204" pitchFamily="50" charset="-128"/>
                <a:cs typeface="Arial" pitchFamily="34" charset="0"/>
              </a:rPr>
              <a:t>EMS sheet index</a:t>
            </a:r>
            <a:r>
              <a:rPr lang="ja-JP" altLang="en-US" sz="16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a:solidFill>
                  <a:srgbClr val="000000"/>
                </a:solidFill>
                <a:latin typeface="Meiryo UI" panose="020B0604030504040204" pitchFamily="50" charset="-128"/>
                <a:ea typeface="Meiryo UI" panose="020B0604030504040204" pitchFamily="50" charset="-128"/>
                <a:cs typeface="Arial" pitchFamily="34" charset="0"/>
              </a:rPr>
              <a:t>example</a:t>
            </a:r>
          </a:p>
        </p:txBody>
      </p:sp>
      <p:sp>
        <p:nvSpPr>
          <p:cNvPr id="10" name="Rectangle 13"/>
          <p:cNvSpPr>
            <a:spLocks noChangeArrowheads="1"/>
          </p:cNvSpPr>
          <p:nvPr/>
        </p:nvSpPr>
        <p:spPr bwMode="auto">
          <a:xfrm>
            <a:off x="142879" y="530565"/>
            <a:ext cx="826960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600" b="1" u="sng">
                <a:latin typeface="Meiryo UI" panose="020B0604030504040204" pitchFamily="50" charset="-128"/>
                <a:ea typeface="Meiryo UI" panose="020B0604030504040204" pitchFamily="50" charset="-128"/>
                <a:cs typeface="Arial" pitchFamily="34" charset="0"/>
              </a:rPr>
              <a:t>EMS</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Sheet</a:t>
            </a:r>
            <a:r>
              <a:rPr lang="ja-JP" altLang="en-US" sz="1600" b="1" u="sng">
                <a:latin typeface="Meiryo UI" panose="020B0604030504040204" pitchFamily="50" charset="-128"/>
                <a:ea typeface="Meiryo UI" panose="020B0604030504040204" pitchFamily="50" charset="-128"/>
                <a:cs typeface="Arial" pitchFamily="34" charset="0"/>
              </a:rPr>
              <a:t> </a:t>
            </a:r>
            <a:r>
              <a:rPr lang="en-US" altLang="ja-JP" sz="1600" b="1" u="sng">
                <a:latin typeface="Meiryo UI" panose="020B0604030504040204" pitchFamily="50" charset="-128"/>
                <a:ea typeface="Meiryo UI" panose="020B0604030504040204" pitchFamily="50" charset="-128"/>
                <a:cs typeface="Arial" pitchFamily="34" charset="0"/>
              </a:rPr>
              <a:t>Index</a:t>
            </a:r>
            <a:endParaRPr lang="ja-JP" altLang="en-US" sz="1600" b="1" u="sng">
              <a:latin typeface="Meiryo UI" panose="020B0604030504040204" pitchFamily="50" charset="-128"/>
              <a:ea typeface="Meiryo UI" panose="020B0604030504040204" pitchFamily="50" charset="-128"/>
              <a:cs typeface="Arial" pitchFamily="34" charset="0"/>
            </a:endParaRPr>
          </a:p>
          <a:p>
            <a:pPr marL="552450" lvl="1" indent="-285750" algn="l">
              <a:buFontTx/>
              <a:buChar char="-"/>
            </a:pPr>
            <a:r>
              <a:rPr lang="en-US" altLang="ja-JP" sz="1400">
                <a:latin typeface="Meiryo UI" panose="020B0604030504040204" pitchFamily="50" charset="-128"/>
                <a:ea typeface="Meiryo UI" panose="020B0604030504040204" pitchFamily="50" charset="-128"/>
                <a:cs typeface="Arial" pitchFamily="34" charset="0"/>
              </a:rPr>
              <a:t>Report documents shall be issued according to the EMS sheet index.</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8" name="Rectangle 13"/>
          <p:cNvSpPr>
            <a:spLocks noChangeArrowheads="1"/>
          </p:cNvSpPr>
          <p:nvPr/>
        </p:nvSpPr>
        <p:spPr bwMode="auto">
          <a:xfrm>
            <a:off x="142878" y="1512317"/>
            <a:ext cx="842635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600" b="1" u="sng">
                <a:latin typeface="+mn-ea"/>
                <a:ea typeface="+mn-ea"/>
              </a:rPr>
              <a:t>EMS</a:t>
            </a:r>
            <a:r>
              <a:rPr lang="ja-JP" altLang="en-US" sz="1600" b="1" u="sng">
                <a:latin typeface="+mn-ea"/>
                <a:ea typeface="+mn-ea"/>
              </a:rPr>
              <a:t>シートインデックス</a:t>
            </a:r>
            <a:endParaRPr lang="en-US" altLang="ja-JP" sz="1600" b="1">
              <a:latin typeface="+mn-ea"/>
              <a:ea typeface="+mn-ea"/>
            </a:endParaRPr>
          </a:p>
          <a:p>
            <a:pPr marL="534988" lvl="1" indent="-285750" algn="l">
              <a:buFontTx/>
              <a:buChar char="-"/>
            </a:pPr>
            <a:r>
              <a:rPr lang="ja-JP" altLang="en-US" sz="1400">
                <a:latin typeface="+mn-ea"/>
                <a:ea typeface="+mn-ea"/>
              </a:rPr>
              <a:t>このインデックスに於いて、評価イベントに必要な項目有無を一元管理するものである。</a:t>
            </a:r>
            <a:endParaRPr lang="en-US" altLang="ja-JP" sz="1400">
              <a:latin typeface="+mn-ea"/>
              <a:ea typeface="+mn-ea"/>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186" y="2878122"/>
            <a:ext cx="5560562" cy="35794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4"/>
          <p:cNvSpPr>
            <a:spLocks noChangeArrowheads="1"/>
          </p:cNvSpPr>
          <p:nvPr/>
        </p:nvSpPr>
        <p:spPr bwMode="auto">
          <a:xfrm>
            <a:off x="4932042" y="2539568"/>
            <a:ext cx="2185214" cy="338554"/>
          </a:xfrm>
          <a:prstGeom prst="rect">
            <a:avLst/>
          </a:prstGeom>
          <a:noFill/>
          <a:ln>
            <a:noFill/>
          </a:ln>
          <a:effectLst/>
        </p:spPr>
        <p:txBody>
          <a:bodyPr wrap="none">
            <a:spAutoFit/>
          </a:bodyPr>
          <a:lstStyle/>
          <a:p>
            <a:pPr algn="l"/>
            <a:r>
              <a:rPr lang="en-US" altLang="ja-JP" sz="1600">
                <a:latin typeface="Meiryo UI" panose="020B0604030504040204" pitchFamily="50" charset="-128"/>
                <a:ea typeface="Meiryo UI" panose="020B0604030504040204" pitchFamily="50" charset="-128"/>
              </a:rPr>
              <a:t>EMS</a:t>
            </a:r>
            <a:r>
              <a:rPr lang="ja-JP" altLang="en-US" sz="1600">
                <a:latin typeface="Meiryo UI" panose="020B0604030504040204" pitchFamily="50" charset="-128"/>
                <a:ea typeface="Meiryo UI" panose="020B0604030504040204" pitchFamily="50" charset="-128"/>
              </a:rPr>
              <a:t>シートｲﾝﾃﾞｯｸｽの例</a:t>
            </a:r>
            <a:endParaRPr lang="en-US" altLang="ja-JP" sz="1600">
              <a:latin typeface="Meiryo UI" panose="020B0604030504040204" pitchFamily="50" charset="-128"/>
              <a:ea typeface="Meiryo UI" panose="020B0604030504040204" pitchFamily="50" charset="-128"/>
            </a:endParaRPr>
          </a:p>
        </p:txBody>
      </p:sp>
      <p:sp>
        <p:nvSpPr>
          <p:cNvPr id="12"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(3/6)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80897683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9"/>
          <p:cNvSpPr>
            <a:spLocks noChangeArrowheads="1"/>
          </p:cNvSpPr>
          <p:nvPr/>
        </p:nvSpPr>
        <p:spPr bwMode="auto">
          <a:xfrm>
            <a:off x="5922" y="-13529"/>
            <a:ext cx="1476375" cy="549275"/>
          </a:xfrm>
          <a:prstGeom prst="rect">
            <a:avLst/>
          </a:prstGeom>
          <a:noFill/>
          <a:ln w="25400" algn="ctr">
            <a:solidFill>
              <a:srgbClr val="1F497D"/>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r>
              <a:rPr lang="en-US" altLang="ja-JP" sz="1400">
                <a:solidFill>
                  <a:srgbClr val="FFFFFF"/>
                </a:solidFill>
                <a:latin typeface="Meiryo UI" panose="020B0604030504040204" pitchFamily="50" charset="-128"/>
                <a:ea typeface="Meiryo UI" panose="020B0604030504040204" pitchFamily="50" charset="-128"/>
              </a:rPr>
              <a:t>Bosch-Honda</a:t>
            </a:r>
          </a:p>
          <a:p>
            <a:r>
              <a:rPr lang="en-US" altLang="ja-JP" sz="1100">
                <a:solidFill>
                  <a:srgbClr val="FFFFFF"/>
                </a:solidFill>
                <a:latin typeface="Meiryo UI" panose="020B0604030504040204" pitchFamily="50" charset="-128"/>
                <a:ea typeface="Meiryo UI" panose="020B0604030504040204" pitchFamily="50" charset="-128"/>
              </a:rPr>
              <a:t>Kick-Off</a:t>
            </a:r>
            <a:r>
              <a:rPr lang="ja-JP" altLang="en-US" sz="1100">
                <a:solidFill>
                  <a:srgbClr val="FFFFFF"/>
                </a:solidFill>
                <a:latin typeface="Meiryo UI" panose="020B0604030504040204" pitchFamily="50" charset="-128"/>
                <a:ea typeface="Meiryo UI" panose="020B0604030504040204" pitchFamily="50" charset="-128"/>
              </a:rPr>
              <a:t> </a:t>
            </a:r>
            <a:r>
              <a:rPr lang="en-US" altLang="ja-JP" sz="1100">
                <a:solidFill>
                  <a:srgbClr val="FFFFFF"/>
                </a:solidFill>
                <a:latin typeface="Meiryo UI" panose="020B0604030504040204" pitchFamily="50" charset="-128"/>
                <a:ea typeface="Meiryo UI" panose="020B0604030504040204" pitchFamily="50" charset="-128"/>
              </a:rPr>
              <a:t>MTG</a:t>
            </a:r>
            <a:endParaRPr lang="ja-JP" altLang="en-US" sz="1100">
              <a:solidFill>
                <a:srgbClr val="FFFFFF"/>
              </a:solidFill>
              <a:latin typeface="Meiryo UI" panose="020B0604030504040204" pitchFamily="50" charset="-128"/>
              <a:ea typeface="Meiryo UI" panose="020B0604030504040204" pitchFamily="50" charset="-128"/>
            </a:endParaRPr>
          </a:p>
        </p:txBody>
      </p:sp>
      <p:sp>
        <p:nvSpPr>
          <p:cNvPr id="8" name="Text Box 2"/>
          <p:cNvSpPr txBox="1">
            <a:spLocks noChangeArrowheads="1"/>
          </p:cNvSpPr>
          <p:nvPr/>
        </p:nvSpPr>
        <p:spPr bwMode="auto">
          <a:xfrm>
            <a:off x="109970" y="489270"/>
            <a:ext cx="3575594" cy="35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kumimoji="1" sz="2400">
                <a:solidFill>
                  <a:schemeClr val="tx1"/>
                </a:solidFill>
                <a:latin typeface="Times New Roman" pitchFamily="18" charset="0"/>
                <a:ea typeface="ＭＳ Ｐゴシック" pitchFamily="50" charset="-128"/>
              </a:defRPr>
            </a:lvl1pPr>
            <a:lvl2pPr marL="742950" indent="-285750" eaLnBrk="0" hangingPunct="0">
              <a:defRPr kumimoji="1" sz="2400">
                <a:solidFill>
                  <a:schemeClr val="tx1"/>
                </a:solidFill>
                <a:latin typeface="Times New Roman" pitchFamily="18" charset="0"/>
                <a:ea typeface="ＭＳ Ｐゴシック" pitchFamily="50" charset="-128"/>
              </a:defRPr>
            </a:lvl2pPr>
            <a:lvl3pPr marL="1143000" indent="-228600" eaLnBrk="0" hangingPunct="0">
              <a:defRPr kumimoji="1" sz="2400">
                <a:solidFill>
                  <a:schemeClr val="tx1"/>
                </a:solidFill>
                <a:latin typeface="Times New Roman" pitchFamily="18" charset="0"/>
                <a:ea typeface="ＭＳ Ｐゴシック" pitchFamily="50" charset="-128"/>
              </a:defRPr>
            </a:lvl3pPr>
            <a:lvl4pPr marL="1600200" indent="-228600" eaLnBrk="0" hangingPunct="0">
              <a:defRPr kumimoji="1" sz="2400">
                <a:solidFill>
                  <a:schemeClr val="tx1"/>
                </a:solidFill>
                <a:latin typeface="Times New Roman" pitchFamily="18" charset="0"/>
                <a:ea typeface="ＭＳ Ｐゴシック" pitchFamily="50" charset="-128"/>
              </a:defRPr>
            </a:lvl4pPr>
            <a:lvl5pPr marL="2057400" indent="-228600" eaLnBrk="0" hangingPunct="0">
              <a:defRPr kumimoji="1" sz="2400">
                <a:solidFill>
                  <a:schemeClr val="tx1"/>
                </a:solidFill>
                <a:latin typeface="Times New Roman" pitchFamily="18" charset="0"/>
                <a:ea typeface="ＭＳ Ｐゴシック" pitchFamily="50"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pitchFamily="50" charset="-128"/>
              </a:defRPr>
            </a:lvl9pPr>
          </a:lstStyle>
          <a:p>
            <a:pPr marL="442913" indent="-442913" algn="l" eaLnBrk="1" hangingPunct="1">
              <a:lnSpc>
                <a:spcPct val="120000"/>
              </a:lnSpc>
              <a:defRPr/>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EMS Report Submission Timing</a:t>
            </a:r>
            <a:endParaRPr lang="en-US" altLang="ja-JP" sz="1400" b="1">
              <a:solidFill>
                <a:srgbClr val="000000"/>
              </a:solidFill>
              <a:latin typeface="Meiryo UI" panose="020B0604030504040204" pitchFamily="50" charset="-128"/>
              <a:ea typeface="Meiryo UI" panose="020B0604030504040204" pitchFamily="50" charset="-128"/>
              <a:cs typeface="Arial" pitchFamily="34" charset="0"/>
            </a:endParaRPr>
          </a:p>
        </p:txBody>
      </p:sp>
      <p:graphicFrame>
        <p:nvGraphicFramePr>
          <p:cNvPr id="10" name="表 9"/>
          <p:cNvGraphicFramePr>
            <a:graphicFrameLocks noGrp="1"/>
          </p:cNvGraphicFramePr>
          <p:nvPr>
            <p:extLst>
              <p:ext uri="{D42A27DB-BD31-4B8C-83A1-F6EECF244321}">
                <p14:modId xmlns:p14="http://schemas.microsoft.com/office/powerpoint/2010/main" val="2278575268"/>
              </p:ext>
            </p:extLst>
          </p:nvPr>
        </p:nvGraphicFramePr>
        <p:xfrm>
          <a:off x="107504" y="1445272"/>
          <a:ext cx="8928986" cy="4752528"/>
        </p:xfrm>
        <a:graphic>
          <a:graphicData uri="http://schemas.openxmlformats.org/drawingml/2006/table">
            <a:tbl>
              <a:tblPr firstRow="1" bandRow="1">
                <a:tableStyleId>{5C22544A-7EE6-4342-B048-85BDC9FD1C3A}</a:tableStyleId>
              </a:tblPr>
              <a:tblGrid>
                <a:gridCol w="405863">
                  <a:extLst>
                    <a:ext uri="{9D8B030D-6E8A-4147-A177-3AD203B41FA5}">
                      <a16:colId xmlns:a16="http://schemas.microsoft.com/office/drawing/2014/main" val="20000"/>
                    </a:ext>
                  </a:extLst>
                </a:gridCol>
                <a:gridCol w="405863">
                  <a:extLst>
                    <a:ext uri="{9D8B030D-6E8A-4147-A177-3AD203B41FA5}">
                      <a16:colId xmlns:a16="http://schemas.microsoft.com/office/drawing/2014/main" val="20001"/>
                    </a:ext>
                  </a:extLst>
                </a:gridCol>
                <a:gridCol w="405863">
                  <a:extLst>
                    <a:ext uri="{9D8B030D-6E8A-4147-A177-3AD203B41FA5}">
                      <a16:colId xmlns:a16="http://schemas.microsoft.com/office/drawing/2014/main" val="20002"/>
                    </a:ext>
                  </a:extLst>
                </a:gridCol>
                <a:gridCol w="405863">
                  <a:extLst>
                    <a:ext uri="{9D8B030D-6E8A-4147-A177-3AD203B41FA5}">
                      <a16:colId xmlns:a16="http://schemas.microsoft.com/office/drawing/2014/main" val="20003"/>
                    </a:ext>
                  </a:extLst>
                </a:gridCol>
                <a:gridCol w="405863">
                  <a:extLst>
                    <a:ext uri="{9D8B030D-6E8A-4147-A177-3AD203B41FA5}">
                      <a16:colId xmlns:a16="http://schemas.microsoft.com/office/drawing/2014/main" val="20004"/>
                    </a:ext>
                  </a:extLst>
                </a:gridCol>
                <a:gridCol w="405863">
                  <a:extLst>
                    <a:ext uri="{9D8B030D-6E8A-4147-A177-3AD203B41FA5}">
                      <a16:colId xmlns:a16="http://schemas.microsoft.com/office/drawing/2014/main" val="20005"/>
                    </a:ext>
                  </a:extLst>
                </a:gridCol>
                <a:gridCol w="405863">
                  <a:extLst>
                    <a:ext uri="{9D8B030D-6E8A-4147-A177-3AD203B41FA5}">
                      <a16:colId xmlns:a16="http://schemas.microsoft.com/office/drawing/2014/main" val="20006"/>
                    </a:ext>
                  </a:extLst>
                </a:gridCol>
                <a:gridCol w="405863">
                  <a:extLst>
                    <a:ext uri="{9D8B030D-6E8A-4147-A177-3AD203B41FA5}">
                      <a16:colId xmlns:a16="http://schemas.microsoft.com/office/drawing/2014/main" val="20007"/>
                    </a:ext>
                  </a:extLst>
                </a:gridCol>
                <a:gridCol w="405863">
                  <a:extLst>
                    <a:ext uri="{9D8B030D-6E8A-4147-A177-3AD203B41FA5}">
                      <a16:colId xmlns:a16="http://schemas.microsoft.com/office/drawing/2014/main" val="20008"/>
                    </a:ext>
                  </a:extLst>
                </a:gridCol>
                <a:gridCol w="405863">
                  <a:extLst>
                    <a:ext uri="{9D8B030D-6E8A-4147-A177-3AD203B41FA5}">
                      <a16:colId xmlns:a16="http://schemas.microsoft.com/office/drawing/2014/main" val="20009"/>
                    </a:ext>
                  </a:extLst>
                </a:gridCol>
                <a:gridCol w="405863">
                  <a:extLst>
                    <a:ext uri="{9D8B030D-6E8A-4147-A177-3AD203B41FA5}">
                      <a16:colId xmlns:a16="http://schemas.microsoft.com/office/drawing/2014/main" val="20010"/>
                    </a:ext>
                  </a:extLst>
                </a:gridCol>
                <a:gridCol w="405863">
                  <a:extLst>
                    <a:ext uri="{9D8B030D-6E8A-4147-A177-3AD203B41FA5}">
                      <a16:colId xmlns:a16="http://schemas.microsoft.com/office/drawing/2014/main" val="20011"/>
                    </a:ext>
                  </a:extLst>
                </a:gridCol>
                <a:gridCol w="405863">
                  <a:extLst>
                    <a:ext uri="{9D8B030D-6E8A-4147-A177-3AD203B41FA5}">
                      <a16:colId xmlns:a16="http://schemas.microsoft.com/office/drawing/2014/main" val="20012"/>
                    </a:ext>
                  </a:extLst>
                </a:gridCol>
                <a:gridCol w="405863">
                  <a:extLst>
                    <a:ext uri="{9D8B030D-6E8A-4147-A177-3AD203B41FA5}">
                      <a16:colId xmlns:a16="http://schemas.microsoft.com/office/drawing/2014/main" val="20013"/>
                    </a:ext>
                  </a:extLst>
                </a:gridCol>
                <a:gridCol w="405863">
                  <a:extLst>
                    <a:ext uri="{9D8B030D-6E8A-4147-A177-3AD203B41FA5}">
                      <a16:colId xmlns:a16="http://schemas.microsoft.com/office/drawing/2014/main" val="20014"/>
                    </a:ext>
                  </a:extLst>
                </a:gridCol>
                <a:gridCol w="405863">
                  <a:extLst>
                    <a:ext uri="{9D8B030D-6E8A-4147-A177-3AD203B41FA5}">
                      <a16:colId xmlns:a16="http://schemas.microsoft.com/office/drawing/2014/main" val="20015"/>
                    </a:ext>
                  </a:extLst>
                </a:gridCol>
                <a:gridCol w="405863">
                  <a:extLst>
                    <a:ext uri="{9D8B030D-6E8A-4147-A177-3AD203B41FA5}">
                      <a16:colId xmlns:a16="http://schemas.microsoft.com/office/drawing/2014/main" val="20016"/>
                    </a:ext>
                  </a:extLst>
                </a:gridCol>
                <a:gridCol w="405863">
                  <a:extLst>
                    <a:ext uri="{9D8B030D-6E8A-4147-A177-3AD203B41FA5}">
                      <a16:colId xmlns:a16="http://schemas.microsoft.com/office/drawing/2014/main" val="20017"/>
                    </a:ext>
                  </a:extLst>
                </a:gridCol>
                <a:gridCol w="405863">
                  <a:extLst>
                    <a:ext uri="{9D8B030D-6E8A-4147-A177-3AD203B41FA5}">
                      <a16:colId xmlns:a16="http://schemas.microsoft.com/office/drawing/2014/main" val="20018"/>
                    </a:ext>
                  </a:extLst>
                </a:gridCol>
                <a:gridCol w="405863">
                  <a:extLst>
                    <a:ext uri="{9D8B030D-6E8A-4147-A177-3AD203B41FA5}">
                      <a16:colId xmlns:a16="http://schemas.microsoft.com/office/drawing/2014/main" val="20019"/>
                    </a:ext>
                  </a:extLst>
                </a:gridCol>
                <a:gridCol w="405863">
                  <a:extLst>
                    <a:ext uri="{9D8B030D-6E8A-4147-A177-3AD203B41FA5}">
                      <a16:colId xmlns:a16="http://schemas.microsoft.com/office/drawing/2014/main" val="20020"/>
                    </a:ext>
                  </a:extLst>
                </a:gridCol>
                <a:gridCol w="405863">
                  <a:extLst>
                    <a:ext uri="{9D8B030D-6E8A-4147-A177-3AD203B41FA5}">
                      <a16:colId xmlns:a16="http://schemas.microsoft.com/office/drawing/2014/main" val="20021"/>
                    </a:ext>
                  </a:extLst>
                </a:gridCol>
              </a:tblGrid>
              <a:tr h="432048">
                <a:tc gridSpan="22">
                  <a:txBody>
                    <a:bodyPr/>
                    <a:lstStyle/>
                    <a:p>
                      <a:pPr algn="ctr"/>
                      <a:r>
                        <a:rPr kumimoji="1" lang="en-US" altLang="ja-JP" sz="1600" b="0">
                          <a:solidFill>
                            <a:schemeClr val="tx1"/>
                          </a:solidFill>
                          <a:latin typeface="Meiryo UI" panose="020B0604030504040204" pitchFamily="50" charset="-128"/>
                          <a:ea typeface="Meiryo UI" pitchFamily="50" charset="-128"/>
                          <a:cs typeface="Arial" pitchFamily="34" charset="0"/>
                        </a:rPr>
                        <a:t>Work days before technical evaluation</a:t>
                      </a:r>
                      <a:endParaRPr kumimoji="1" lang="ja-JP" altLang="en-US" sz="1600" b="0">
                        <a:solidFill>
                          <a:schemeClr val="tx1"/>
                        </a:solidFill>
                        <a:latin typeface="Meiryo UI" panose="020B0604030504040204" pitchFamily="50" charset="-128"/>
                        <a:ea typeface="Meiryo UI" pitchFamily="50" charset="-128"/>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tc hMerge="1">
                  <a:txBody>
                    <a:bodyPr/>
                    <a:lstStyle/>
                    <a:p>
                      <a:endParaRPr kumimoji="1" lang="ja-JP" altLang="en-US" sz="1400" b="0">
                        <a:latin typeface="Meiryo UI" pitchFamily="50" charset="-128"/>
                        <a:ea typeface="Meiryo UI" pitchFamily="50" charset="-128"/>
                        <a:cs typeface="Meiryo UI" pitchFamily="50" charset="-128"/>
                      </a:endParaRPr>
                    </a:p>
                  </a:txBody>
                  <a:tcPr/>
                </a:tc>
                <a:extLst>
                  <a:ext uri="{0D108BD9-81ED-4DB2-BD59-A6C34878D82A}">
                    <a16:rowId xmlns:a16="http://schemas.microsoft.com/office/drawing/2014/main" val="10000"/>
                  </a:ext>
                </a:extLst>
              </a:tr>
              <a:tr h="432048">
                <a:tc gridSpan="2">
                  <a:txBody>
                    <a:bodyPr/>
                    <a:lstStyle/>
                    <a:p>
                      <a:pPr algn="ctr"/>
                      <a:r>
                        <a:rPr kumimoji="1" lang="ja-JP" altLang="en-US" sz="1400" b="0">
                          <a:latin typeface="Meiryo UI" panose="020B0604030504040204" pitchFamily="50" charset="-128"/>
                          <a:ea typeface="Meiryo UI" pitchFamily="50" charset="-128"/>
                          <a:cs typeface="Arial" pitchFamily="34" charset="0"/>
                        </a:rPr>
                        <a:t>・・・</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hMerge="1">
                  <a:txBody>
                    <a:bodyPr/>
                    <a:lstStyle/>
                    <a:p>
                      <a:endParaRPr kumimoji="1" lang="ja-JP" altLang="en-US" sz="1400" b="0">
                        <a:latin typeface="Meiryo UI" pitchFamily="50" charset="-128"/>
                        <a:ea typeface="Meiryo UI" pitchFamily="50" charset="-128"/>
                        <a:cs typeface="Meiryo UI" pitchFamily="50" charset="-128"/>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kumimoji="1" lang="en-US" altLang="ja-JP" sz="1600" b="0">
                          <a:latin typeface="Arial Narrow" pitchFamily="34" charset="0"/>
                          <a:ea typeface="Meiryo UI" pitchFamily="50" charset="-128"/>
                          <a:cs typeface="Arial" pitchFamily="34" charset="0"/>
                        </a:rPr>
                        <a:t>19</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18</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17</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16</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15</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14</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13</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12</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11</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10</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9</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8</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7</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6</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5</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4</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3</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2</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r>
                        <a:rPr kumimoji="1" lang="en-US" altLang="ja-JP" sz="1600" b="0">
                          <a:latin typeface="Arial Narrow" pitchFamily="34" charset="0"/>
                          <a:ea typeface="Meiryo UI" pitchFamily="50" charset="-128"/>
                          <a:cs typeface="Arial" pitchFamily="34" charset="0"/>
                        </a:rPr>
                        <a:t>1</a:t>
                      </a:r>
                      <a:endParaRPr kumimoji="1" lang="ja-JP" altLang="en-US" sz="1600" b="0">
                        <a:latin typeface="Arial Narrow" pitchFamily="34" charset="0"/>
                        <a:ea typeface="Meiryo UI" pitchFamily="50" charset="-128"/>
                        <a:cs typeface="Arial" pitchFamily="34" charset="0"/>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tc>
                  <a:txBody>
                    <a:bodyPr/>
                    <a:lstStyle/>
                    <a:p>
                      <a:pPr algn="ctr"/>
                      <a:endParaRPr kumimoji="1" lang="ja-JP" altLang="en-US" sz="1200" b="0">
                        <a:latin typeface="Arial Narrow" pitchFamily="34" charset="0"/>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2A7"/>
                    </a:solidFill>
                  </a:tcPr>
                </a:tc>
                <a:extLst>
                  <a:ext uri="{0D108BD9-81ED-4DB2-BD59-A6C34878D82A}">
                    <a16:rowId xmlns:a16="http://schemas.microsoft.com/office/drawing/2014/main" val="10001"/>
                  </a:ext>
                </a:extLst>
              </a:tr>
              <a:tr h="3888432">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28575"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kumimoji="1" lang="ja-JP" altLang="en-US" sz="1400">
                        <a:latin typeface="Meiryo UI" panose="020B0604030504040204" pitchFamily="50" charset="-128"/>
                        <a:ea typeface="Meiryo UI" pitchFamily="50" charset="-128"/>
                        <a:cs typeface="Arial" pitchFamily="34" charset="0"/>
                      </a:endParaRPr>
                    </a:p>
                  </a:txBody>
                  <a:tcPr>
                    <a:lnL w="12700" cap="flat" cmpd="sng" algn="ctr">
                      <a:solidFill>
                        <a:schemeClr val="bg1">
                          <a:lumMod val="65000"/>
                        </a:schemeClr>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11" name="星 5 10"/>
          <p:cNvSpPr>
            <a:spLocks noChangeAspect="1"/>
          </p:cNvSpPr>
          <p:nvPr/>
        </p:nvSpPr>
        <p:spPr bwMode="auto">
          <a:xfrm>
            <a:off x="8620490" y="2384109"/>
            <a:ext cx="411886" cy="411886"/>
          </a:xfrm>
          <a:prstGeom prst="star5">
            <a:avLst/>
          </a:prstGeom>
          <a:solidFill>
            <a:srgbClr val="00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2" name="テキスト ボックス 11"/>
          <p:cNvSpPr txBox="1"/>
          <p:nvPr/>
        </p:nvSpPr>
        <p:spPr>
          <a:xfrm>
            <a:off x="8360715" y="2781742"/>
            <a:ext cx="826753" cy="369332"/>
          </a:xfrm>
          <a:prstGeom prst="rect">
            <a:avLst/>
          </a:prstGeom>
          <a:noFill/>
        </p:spPr>
        <p:txBody>
          <a:bodyPr wrap="square" rtlCol="0">
            <a:spAutoFit/>
          </a:bodyPr>
          <a:lstStyle/>
          <a:p>
            <a:r>
              <a:rPr lang="en-US" altLang="ja-JP" sz="1800" b="1">
                <a:solidFill>
                  <a:srgbClr val="0000FF"/>
                </a:solidFill>
                <a:latin typeface="Meiryo UI" panose="020B0604030504040204" pitchFamily="50" charset="-128"/>
                <a:ea typeface="Meiryo UI" pitchFamily="50" charset="-128"/>
                <a:cs typeface="Arial" pitchFamily="34" charset="0"/>
              </a:rPr>
              <a:t>T/E</a:t>
            </a:r>
            <a:endParaRPr lang="ja-JP" altLang="en-US" sz="1800" b="1">
              <a:solidFill>
                <a:srgbClr val="0000FF"/>
              </a:solidFill>
              <a:latin typeface="Meiryo UI" panose="020B0604030504040204" pitchFamily="50" charset="-128"/>
              <a:ea typeface="Meiryo UI" pitchFamily="50" charset="-128"/>
              <a:cs typeface="Arial" pitchFamily="34" charset="0"/>
            </a:endParaRPr>
          </a:p>
        </p:txBody>
      </p:sp>
      <p:cxnSp>
        <p:nvCxnSpPr>
          <p:cNvPr id="13" name="直線矢印コネクタ 12"/>
          <p:cNvCxnSpPr/>
          <p:nvPr/>
        </p:nvCxnSpPr>
        <p:spPr bwMode="auto">
          <a:xfrm>
            <a:off x="5120640" y="3029448"/>
            <a:ext cx="3377135"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テキスト ボックス 13"/>
          <p:cNvSpPr txBox="1"/>
          <p:nvPr/>
        </p:nvSpPr>
        <p:spPr>
          <a:xfrm>
            <a:off x="5890853" y="2531423"/>
            <a:ext cx="1836708" cy="523220"/>
          </a:xfrm>
          <a:prstGeom prst="rect">
            <a:avLst/>
          </a:prstGeom>
          <a:noFill/>
        </p:spPr>
        <p:txBody>
          <a:bodyPr wrap="square" rtlCol="0">
            <a:spAutoFit/>
          </a:bodyPr>
          <a:lstStyle/>
          <a:p>
            <a:r>
              <a:rPr lang="en-US" altLang="ja-JP" sz="1400">
                <a:solidFill>
                  <a:srgbClr val="000000"/>
                </a:solidFill>
                <a:latin typeface="Meiryo UI" panose="020B0604030504040204" pitchFamily="50" charset="-128"/>
                <a:ea typeface="Meiryo UI" pitchFamily="50" charset="-128"/>
                <a:cs typeface="Arial" pitchFamily="34" charset="0"/>
              </a:rPr>
              <a:t>Final preparation</a:t>
            </a:r>
          </a:p>
          <a:p>
            <a:r>
              <a:rPr lang="en-US" altLang="ja-JP" sz="1400">
                <a:solidFill>
                  <a:srgbClr val="000000"/>
                </a:solidFill>
                <a:latin typeface="Meiryo UI" panose="020B0604030504040204" pitchFamily="50" charset="-128"/>
                <a:ea typeface="Meiryo UI" pitchFamily="50" charset="-128"/>
                <a:cs typeface="Arial" pitchFamily="34" charset="0"/>
              </a:rPr>
              <a:t>By vehicle team</a:t>
            </a:r>
            <a:endParaRPr lang="ja-JP" altLang="en-US" sz="1400">
              <a:solidFill>
                <a:srgbClr val="000000"/>
              </a:solidFill>
              <a:latin typeface="Meiryo UI" panose="020B0604030504040204" pitchFamily="50" charset="-128"/>
              <a:ea typeface="Meiryo UI" pitchFamily="50" charset="-128"/>
              <a:cs typeface="Arial" pitchFamily="34" charset="0"/>
            </a:endParaRPr>
          </a:p>
        </p:txBody>
      </p:sp>
      <p:cxnSp>
        <p:nvCxnSpPr>
          <p:cNvPr id="15" name="直線矢印コネクタ 14"/>
          <p:cNvCxnSpPr/>
          <p:nvPr/>
        </p:nvCxnSpPr>
        <p:spPr bwMode="auto">
          <a:xfrm>
            <a:off x="3453829" y="3732628"/>
            <a:ext cx="1280587"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テキスト ボックス 15"/>
          <p:cNvSpPr txBox="1"/>
          <p:nvPr/>
        </p:nvSpPr>
        <p:spPr>
          <a:xfrm>
            <a:off x="2759593" y="3205650"/>
            <a:ext cx="1836708" cy="523220"/>
          </a:xfrm>
          <a:prstGeom prst="rect">
            <a:avLst/>
          </a:prstGeom>
          <a:noFill/>
        </p:spPr>
        <p:txBody>
          <a:bodyPr wrap="square" rtlCol="0">
            <a:spAutoFit/>
          </a:bodyPr>
          <a:lstStyle/>
          <a:p>
            <a:r>
              <a:rPr lang="en-US" altLang="ja-JP" sz="1400">
                <a:solidFill>
                  <a:srgbClr val="000000"/>
                </a:solidFill>
                <a:latin typeface="Meiryo UI" panose="020B0604030504040204" pitchFamily="50" charset="-128"/>
                <a:ea typeface="Meiryo UI" pitchFamily="50" charset="-128"/>
                <a:cs typeface="Arial" pitchFamily="34" charset="0"/>
              </a:rPr>
              <a:t>Preparation by engine department</a:t>
            </a:r>
            <a:endParaRPr lang="ja-JP" altLang="en-US" sz="1400">
              <a:solidFill>
                <a:srgbClr val="000000"/>
              </a:solidFill>
              <a:latin typeface="Meiryo UI" panose="020B0604030504040204" pitchFamily="50" charset="-128"/>
              <a:ea typeface="Meiryo UI" pitchFamily="50" charset="-128"/>
              <a:cs typeface="Arial" pitchFamily="34" charset="0"/>
            </a:endParaRPr>
          </a:p>
        </p:txBody>
      </p:sp>
      <p:sp>
        <p:nvSpPr>
          <p:cNvPr id="17" name="星 5 16"/>
          <p:cNvSpPr>
            <a:spLocks noChangeAspect="1"/>
          </p:cNvSpPr>
          <p:nvPr/>
        </p:nvSpPr>
        <p:spPr bwMode="auto">
          <a:xfrm>
            <a:off x="4639713" y="3248008"/>
            <a:ext cx="259229" cy="259229"/>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8" name="テキスト ボックス 17"/>
          <p:cNvSpPr txBox="1"/>
          <p:nvPr/>
        </p:nvSpPr>
        <p:spPr>
          <a:xfrm>
            <a:off x="4772550" y="3097928"/>
            <a:ext cx="1584177" cy="738664"/>
          </a:xfrm>
          <a:prstGeom prst="rect">
            <a:avLst/>
          </a:prstGeom>
          <a:noFill/>
        </p:spPr>
        <p:txBody>
          <a:bodyPr wrap="square" rtlCol="0">
            <a:spAutoFit/>
          </a:bodyPr>
          <a:lstStyle/>
          <a:p>
            <a:r>
              <a:rPr lang="en-US" altLang="ja-JP" sz="1400" b="1">
                <a:solidFill>
                  <a:srgbClr val="000000"/>
                </a:solidFill>
                <a:latin typeface="Meiryo UI" panose="020B0604030504040204" pitchFamily="50" charset="-128"/>
                <a:ea typeface="Meiryo UI" pitchFamily="50" charset="-128"/>
                <a:cs typeface="Arial" pitchFamily="34" charset="0"/>
              </a:rPr>
              <a:t>Honda</a:t>
            </a:r>
          </a:p>
          <a:p>
            <a:r>
              <a:rPr lang="en-US" altLang="ja-JP" sz="1400" b="1">
                <a:solidFill>
                  <a:srgbClr val="000000"/>
                </a:solidFill>
                <a:latin typeface="Meiryo UI" panose="020B0604030504040204" pitchFamily="50" charset="-128"/>
                <a:ea typeface="Meiryo UI" pitchFamily="50" charset="-128"/>
                <a:cs typeface="Arial" pitchFamily="34" charset="0"/>
              </a:rPr>
              <a:t>Department</a:t>
            </a:r>
          </a:p>
          <a:p>
            <a:r>
              <a:rPr lang="en-US" altLang="ja-JP" sz="1400" b="1">
                <a:solidFill>
                  <a:srgbClr val="000000"/>
                </a:solidFill>
                <a:latin typeface="Meiryo UI" panose="020B0604030504040204" pitchFamily="50" charset="-128"/>
                <a:ea typeface="Meiryo UI" pitchFamily="50" charset="-128"/>
                <a:cs typeface="Arial" pitchFamily="34" charset="0"/>
              </a:rPr>
              <a:t>evaluation</a:t>
            </a:r>
          </a:p>
        </p:txBody>
      </p:sp>
      <p:cxnSp>
        <p:nvCxnSpPr>
          <p:cNvPr id="19" name="直線矢印コネクタ 18"/>
          <p:cNvCxnSpPr/>
          <p:nvPr/>
        </p:nvCxnSpPr>
        <p:spPr bwMode="auto">
          <a:xfrm>
            <a:off x="1710750" y="4384625"/>
            <a:ext cx="1700022"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テキスト ボックス 19"/>
          <p:cNvSpPr txBox="1"/>
          <p:nvPr/>
        </p:nvSpPr>
        <p:spPr>
          <a:xfrm>
            <a:off x="1767444" y="3881064"/>
            <a:ext cx="1836708" cy="523220"/>
          </a:xfrm>
          <a:prstGeom prst="rect">
            <a:avLst/>
          </a:prstGeom>
          <a:noFill/>
        </p:spPr>
        <p:txBody>
          <a:bodyPr wrap="square" rtlCol="0">
            <a:spAutoFit/>
          </a:bodyPr>
          <a:lstStyle/>
          <a:p>
            <a:r>
              <a:rPr lang="en-US" altLang="ja-JP" sz="1400">
                <a:solidFill>
                  <a:srgbClr val="000000"/>
                </a:solidFill>
                <a:latin typeface="Meiryo UI" panose="020B0604030504040204" pitchFamily="50" charset="-128"/>
                <a:ea typeface="Meiryo UI" pitchFamily="50" charset="-128"/>
                <a:cs typeface="Arial" pitchFamily="34" charset="0"/>
              </a:rPr>
              <a:t>Q&amp;A and EMS sheet update</a:t>
            </a:r>
            <a:endParaRPr lang="ja-JP" altLang="en-US" sz="1400">
              <a:solidFill>
                <a:srgbClr val="000000"/>
              </a:solidFill>
              <a:latin typeface="Meiryo UI" panose="020B0604030504040204" pitchFamily="50" charset="-128"/>
              <a:ea typeface="Meiryo UI" pitchFamily="50" charset="-128"/>
              <a:cs typeface="Arial" pitchFamily="34" charset="0"/>
            </a:endParaRPr>
          </a:p>
        </p:txBody>
      </p:sp>
      <p:sp>
        <p:nvSpPr>
          <p:cNvPr id="21" name="星 5 20"/>
          <p:cNvSpPr>
            <a:spLocks noChangeAspect="1"/>
          </p:cNvSpPr>
          <p:nvPr/>
        </p:nvSpPr>
        <p:spPr bwMode="auto">
          <a:xfrm>
            <a:off x="3366588" y="3952107"/>
            <a:ext cx="259229" cy="259229"/>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22" name="テキスト ボックス 21"/>
          <p:cNvSpPr txBox="1"/>
          <p:nvPr/>
        </p:nvSpPr>
        <p:spPr>
          <a:xfrm>
            <a:off x="3413604" y="3933164"/>
            <a:ext cx="1584177" cy="523220"/>
          </a:xfrm>
          <a:prstGeom prst="rect">
            <a:avLst/>
          </a:prstGeom>
          <a:noFill/>
        </p:spPr>
        <p:txBody>
          <a:bodyPr wrap="square" rtlCol="0">
            <a:spAutoFit/>
          </a:bodyPr>
          <a:lstStyle/>
          <a:p>
            <a:r>
              <a:rPr lang="en-US" altLang="ja-JP" sz="1400" b="1">
                <a:solidFill>
                  <a:srgbClr val="000000"/>
                </a:solidFill>
                <a:latin typeface="Meiryo UI" panose="020B0604030504040204" pitchFamily="50" charset="-128"/>
                <a:ea typeface="Meiryo UI" pitchFamily="50" charset="-128"/>
                <a:cs typeface="Arial" pitchFamily="34" charset="0"/>
              </a:rPr>
              <a:t>EMS sheet </a:t>
            </a:r>
          </a:p>
          <a:p>
            <a:r>
              <a:rPr lang="en-US" altLang="ja-JP" sz="1400" b="1">
                <a:solidFill>
                  <a:srgbClr val="000000"/>
                </a:solidFill>
                <a:latin typeface="Meiryo UI" panose="020B0604030504040204" pitchFamily="50" charset="-128"/>
                <a:ea typeface="Meiryo UI" pitchFamily="50" charset="-128"/>
                <a:cs typeface="Arial" pitchFamily="34" charset="0"/>
              </a:rPr>
              <a:t>completion</a:t>
            </a:r>
            <a:endParaRPr lang="ja-JP" altLang="en-US" sz="1400" b="1">
              <a:solidFill>
                <a:srgbClr val="000000"/>
              </a:solidFill>
              <a:latin typeface="Meiryo UI" panose="020B0604030504040204" pitchFamily="50" charset="-128"/>
              <a:ea typeface="Meiryo UI" pitchFamily="50" charset="-128"/>
              <a:cs typeface="Arial" pitchFamily="34" charset="0"/>
            </a:endParaRPr>
          </a:p>
        </p:txBody>
      </p:sp>
      <p:sp>
        <p:nvSpPr>
          <p:cNvPr id="23" name="星 5 22"/>
          <p:cNvSpPr>
            <a:spLocks noChangeAspect="1"/>
          </p:cNvSpPr>
          <p:nvPr/>
        </p:nvSpPr>
        <p:spPr bwMode="auto">
          <a:xfrm>
            <a:off x="1325522" y="4821575"/>
            <a:ext cx="259229" cy="259229"/>
          </a:xfrm>
          <a:prstGeom prst="star5">
            <a:avLst/>
          </a:prstGeom>
          <a:solidFill>
            <a:srgbClr val="FFFF00"/>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24" name="テキスト ボックス 23"/>
          <p:cNvSpPr txBox="1"/>
          <p:nvPr/>
        </p:nvSpPr>
        <p:spPr>
          <a:xfrm>
            <a:off x="1495054" y="4986446"/>
            <a:ext cx="2464869" cy="523220"/>
          </a:xfrm>
          <a:prstGeom prst="rect">
            <a:avLst/>
          </a:prstGeom>
          <a:noFill/>
        </p:spPr>
        <p:txBody>
          <a:bodyPr wrap="square" rtlCol="0">
            <a:spAutoFit/>
          </a:bodyPr>
          <a:lstStyle/>
          <a:p>
            <a:r>
              <a:rPr lang="en-US" altLang="ja-JP" sz="1400" b="1">
                <a:solidFill>
                  <a:srgbClr val="000000"/>
                </a:solidFill>
                <a:latin typeface="Meiryo UI" panose="020B0604030504040204" pitchFamily="50" charset="-128"/>
                <a:ea typeface="Meiryo UI" pitchFamily="50" charset="-128"/>
                <a:cs typeface="Arial" pitchFamily="34" charset="0"/>
              </a:rPr>
              <a:t>EMS sheet Submission</a:t>
            </a:r>
          </a:p>
          <a:p>
            <a:r>
              <a:rPr lang="en-US" altLang="ja-JP" sz="1400" b="1">
                <a:solidFill>
                  <a:srgbClr val="000000"/>
                </a:solidFill>
                <a:latin typeface="Meiryo UI" panose="020B0604030504040204" pitchFamily="50" charset="-128"/>
                <a:ea typeface="Meiryo UI" pitchFamily="50" charset="-128"/>
                <a:cs typeface="Arial" pitchFamily="34" charset="0"/>
              </a:rPr>
              <a:t>And explanation</a:t>
            </a:r>
            <a:endParaRPr lang="ja-JP" altLang="en-US" sz="1400" b="1">
              <a:solidFill>
                <a:srgbClr val="000000"/>
              </a:solidFill>
              <a:latin typeface="Meiryo UI" panose="020B0604030504040204" pitchFamily="50" charset="-128"/>
              <a:ea typeface="Meiryo UI" pitchFamily="50" charset="-128"/>
              <a:cs typeface="Arial" pitchFamily="34" charset="0"/>
            </a:endParaRPr>
          </a:p>
        </p:txBody>
      </p:sp>
      <p:cxnSp>
        <p:nvCxnSpPr>
          <p:cNvPr id="25" name="直線矢印コネクタ 24"/>
          <p:cNvCxnSpPr/>
          <p:nvPr/>
        </p:nvCxnSpPr>
        <p:spPr bwMode="auto">
          <a:xfrm>
            <a:off x="840676" y="6019353"/>
            <a:ext cx="730449" cy="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テキスト ボックス 25"/>
          <p:cNvSpPr txBox="1"/>
          <p:nvPr/>
        </p:nvSpPr>
        <p:spPr>
          <a:xfrm>
            <a:off x="853005" y="5512815"/>
            <a:ext cx="2772812" cy="523220"/>
          </a:xfrm>
          <a:prstGeom prst="rect">
            <a:avLst/>
          </a:prstGeom>
          <a:noFill/>
        </p:spPr>
        <p:txBody>
          <a:bodyPr wrap="square" rtlCol="0">
            <a:spAutoFit/>
          </a:bodyPr>
          <a:lstStyle/>
          <a:p>
            <a:pPr algn="l"/>
            <a:r>
              <a:rPr lang="en-US" altLang="ja-JP" sz="1400">
                <a:solidFill>
                  <a:srgbClr val="000000"/>
                </a:solidFill>
                <a:latin typeface="Meiryo UI" panose="020B0604030504040204" pitchFamily="50" charset="-128"/>
                <a:ea typeface="Meiryo UI" pitchFamily="50" charset="-128"/>
                <a:cs typeface="Arial" pitchFamily="34" charset="0"/>
              </a:rPr>
              <a:t>EMS sheet testing and</a:t>
            </a:r>
          </a:p>
          <a:p>
            <a:pPr algn="l"/>
            <a:r>
              <a:rPr lang="en-US" altLang="ja-JP" sz="1400">
                <a:solidFill>
                  <a:srgbClr val="000000"/>
                </a:solidFill>
                <a:latin typeface="Meiryo UI" panose="020B0604030504040204" pitchFamily="50" charset="-128"/>
                <a:ea typeface="Meiryo UI" pitchFamily="50" charset="-128"/>
                <a:cs typeface="Arial" pitchFamily="34" charset="0"/>
              </a:rPr>
              <a:t>documentation  by</a:t>
            </a:r>
            <a:r>
              <a:rPr lang="ja-JP" altLang="en-US" sz="1400">
                <a:solidFill>
                  <a:srgbClr val="000000"/>
                </a:solidFill>
                <a:latin typeface="Meiryo UI" panose="020B0604030504040204" pitchFamily="50" charset="-128"/>
                <a:ea typeface="Meiryo UI"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itchFamily="50" charset="-128"/>
                <a:cs typeface="Arial" pitchFamily="34" charset="0"/>
              </a:rPr>
              <a:t> </a:t>
            </a:r>
            <a:endParaRPr lang="ja-JP" altLang="en-US" sz="1400">
              <a:solidFill>
                <a:srgbClr val="FF0000"/>
              </a:solidFill>
              <a:latin typeface="Meiryo UI" panose="020B0604030504040204" pitchFamily="50" charset="-128"/>
              <a:ea typeface="Meiryo UI" pitchFamily="50" charset="-128"/>
              <a:cs typeface="Arial" pitchFamily="34" charset="0"/>
            </a:endParaRPr>
          </a:p>
        </p:txBody>
      </p:sp>
      <p:sp>
        <p:nvSpPr>
          <p:cNvPr id="27" name="テキスト ボックス 26"/>
          <p:cNvSpPr txBox="1"/>
          <p:nvPr/>
        </p:nvSpPr>
        <p:spPr>
          <a:xfrm>
            <a:off x="314075" y="6256842"/>
            <a:ext cx="7827271" cy="338554"/>
          </a:xfrm>
          <a:prstGeom prst="rect">
            <a:avLst/>
          </a:prstGeom>
          <a:noFill/>
        </p:spPr>
        <p:txBody>
          <a:bodyPr wrap="none" rtlCol="0">
            <a:spAutoFit/>
          </a:bodyPr>
          <a:lstStyle/>
          <a:p>
            <a:pPr algn="l"/>
            <a:r>
              <a:rPr lang="en-US" altLang="ja-JP" sz="1600">
                <a:solidFill>
                  <a:srgbClr val="000000"/>
                </a:solidFill>
                <a:latin typeface="Meiryo UI" panose="020B0604030504040204" pitchFamily="50" charset="-128"/>
                <a:ea typeface="Meiryo UI" pitchFamily="50" charset="-128"/>
                <a:cs typeface="Arial" pitchFamily="34" charset="0"/>
              </a:rPr>
              <a:t>EMS sheet shall be submitted 20 working days before technical evaluation</a:t>
            </a:r>
            <a:endParaRPr lang="ja-JP" altLang="en-US" sz="1600">
              <a:solidFill>
                <a:srgbClr val="000000"/>
              </a:solidFill>
              <a:latin typeface="Meiryo UI" panose="020B0604030504040204" pitchFamily="50" charset="-128"/>
              <a:ea typeface="Meiryo UI" pitchFamily="50" charset="-128"/>
              <a:cs typeface="Arial" pitchFamily="34" charset="0"/>
            </a:endParaRPr>
          </a:p>
        </p:txBody>
      </p:sp>
      <p:sp>
        <p:nvSpPr>
          <p:cNvPr id="28" name="テキスト ボックス 27"/>
          <p:cNvSpPr txBox="1"/>
          <p:nvPr/>
        </p:nvSpPr>
        <p:spPr>
          <a:xfrm>
            <a:off x="472728" y="810096"/>
            <a:ext cx="5921814" cy="523220"/>
          </a:xfrm>
          <a:prstGeom prst="rect">
            <a:avLst/>
          </a:prstGeom>
          <a:noFill/>
        </p:spPr>
        <p:txBody>
          <a:bodyPr wrap="none" rtlCol="0">
            <a:spAutoFit/>
          </a:bodyPr>
          <a:lstStyle/>
          <a:p>
            <a:pPr algn="l"/>
            <a:r>
              <a:rPr lang="en-US" altLang="ja-JP" sz="1400">
                <a:solidFill>
                  <a:srgbClr val="000000"/>
                </a:solidFill>
                <a:latin typeface="Meiryo UI" panose="020B0604030504040204" pitchFamily="50" charset="-128"/>
                <a:ea typeface="Meiryo UI" pitchFamily="50" charset="-128"/>
                <a:cs typeface="Arial" pitchFamily="34" charset="0"/>
              </a:rPr>
              <a:t>Honda </a:t>
            </a:r>
            <a:r>
              <a:rPr lang="en-US" altLang="ja-JP" sz="1400" err="1">
                <a:solidFill>
                  <a:srgbClr val="000000"/>
                </a:solidFill>
                <a:latin typeface="Meiryo UI" panose="020B0604030504040204" pitchFamily="50" charset="-128"/>
                <a:ea typeface="Meiryo UI" pitchFamily="50" charset="-128"/>
                <a:cs typeface="Arial" pitchFamily="34" charset="0"/>
              </a:rPr>
              <a:t>PjM</a:t>
            </a:r>
            <a:r>
              <a:rPr lang="en-US" altLang="ja-JP" sz="1400">
                <a:solidFill>
                  <a:srgbClr val="000000"/>
                </a:solidFill>
                <a:latin typeface="Meiryo UI" panose="020B0604030504040204" pitchFamily="50" charset="-128"/>
                <a:ea typeface="Meiryo UI" pitchFamily="50" charset="-128"/>
                <a:cs typeface="Arial" pitchFamily="34" charset="0"/>
              </a:rPr>
              <a:t> shall inform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of </a:t>
            </a:r>
            <a:r>
              <a:rPr lang="en-US" altLang="ja-JP" sz="1400">
                <a:solidFill>
                  <a:srgbClr val="000000"/>
                </a:solidFill>
                <a:latin typeface="Meiryo UI" panose="020B0604030504040204" pitchFamily="50" charset="-128"/>
                <a:ea typeface="Meiryo UI" pitchFamily="50" charset="-128"/>
                <a:cs typeface="Arial" pitchFamily="34" charset="0"/>
              </a:rPr>
              <a:t> the report due date.</a:t>
            </a:r>
          </a:p>
          <a:p>
            <a:pPr algn="l"/>
            <a:r>
              <a:rPr lang="en-US" altLang="ja-JP" sz="1400">
                <a:solidFill>
                  <a:srgbClr val="000000"/>
                </a:solidFill>
                <a:latin typeface="Meiryo UI" panose="020B0604030504040204" pitchFamily="50" charset="-128"/>
                <a:ea typeface="Meiryo UI" pitchFamily="50" charset="-128"/>
                <a:cs typeface="Arial" pitchFamily="34" charset="0"/>
              </a:rPr>
              <a:t>Honda </a:t>
            </a:r>
            <a:r>
              <a:rPr lang="ja-JP" altLang="en-US" sz="1400">
                <a:solidFill>
                  <a:srgbClr val="000000"/>
                </a:solidFill>
                <a:latin typeface="Meiryo UI" panose="020B0604030504040204" pitchFamily="50" charset="-128"/>
                <a:ea typeface="Meiryo UI" pitchFamily="50" charset="-128"/>
                <a:cs typeface="Arial" pitchFamily="34" charset="0"/>
              </a:rPr>
              <a:t>プロジェクトマネージャーは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anose="020B0604030504040204" pitchFamily="50" charset="-128"/>
                <a:ea typeface="Meiryo UI" pitchFamily="50" charset="-128"/>
                <a:cs typeface="Arial" pitchFamily="34" charset="0"/>
              </a:rPr>
              <a:t>にレポート期日について情報展開する</a:t>
            </a:r>
          </a:p>
        </p:txBody>
      </p:sp>
      <p:sp>
        <p:nvSpPr>
          <p:cNvPr id="32" name="テキスト ボックス 31"/>
          <p:cNvSpPr txBox="1"/>
          <p:nvPr/>
        </p:nvSpPr>
        <p:spPr>
          <a:xfrm>
            <a:off x="677995" y="2461765"/>
            <a:ext cx="3549716" cy="523220"/>
          </a:xfrm>
          <a:prstGeom prst="rect">
            <a:avLst/>
          </a:prstGeom>
          <a:solidFill>
            <a:srgbClr val="FF99FF"/>
          </a:solidFill>
        </p:spPr>
        <p:txBody>
          <a:bodyPr wrap="square" rtlCol="0">
            <a:spAutoFit/>
          </a:bodyPr>
          <a:lstStyle/>
          <a:p>
            <a:pPr algn="l"/>
            <a:r>
              <a:rPr kumimoji="1" lang="en-US" altLang="ja-JP" sz="1400">
                <a:latin typeface="メイリオ" panose="020B0604030504040204" pitchFamily="50" charset="-128"/>
                <a:ea typeface="メイリオ" panose="020B0604030504040204" pitchFamily="50" charset="-128"/>
              </a:rPr>
              <a:t>If earlier</a:t>
            </a:r>
            <a:r>
              <a:rPr kumimoji="1" lang="ja-JP" altLang="en-US" sz="1400">
                <a:latin typeface="メイリオ" panose="020B0604030504040204" pitchFamily="50" charset="-128"/>
                <a:ea typeface="メイリオ" panose="020B0604030504040204" pitchFamily="50" charset="-128"/>
              </a:rPr>
              <a:t> </a:t>
            </a:r>
            <a:r>
              <a:rPr kumimoji="1" lang="en-US" altLang="ja-JP" sz="1400">
                <a:latin typeface="メイリオ" panose="020B0604030504040204" pitchFamily="50" charset="-128"/>
                <a:ea typeface="メイリオ" panose="020B0604030504040204" pitchFamily="50" charset="-128"/>
              </a:rPr>
              <a:t>request exist, Honda PIC should request</a:t>
            </a:r>
            <a:r>
              <a:rPr kumimoji="1" lang="ja-JP" altLang="en-US" sz="1400">
                <a:latin typeface="メイリオ" panose="020B0604030504040204" pitchFamily="50" charset="-128"/>
                <a:ea typeface="メイリオ"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itchFamily="50" charset="-128"/>
                <a:cs typeface="Arial" pitchFamily="34" charset="0"/>
              </a:rPr>
              <a:t> </a:t>
            </a:r>
            <a:r>
              <a:rPr kumimoji="1" lang="en-US" altLang="ja-JP" sz="1400">
                <a:latin typeface="メイリオ" panose="020B0604030504040204" pitchFamily="50" charset="-128"/>
                <a:ea typeface="メイリオ" panose="020B0604030504040204" pitchFamily="50" charset="-128"/>
              </a:rPr>
              <a:t>PIC separately. </a:t>
            </a:r>
            <a:endParaRPr kumimoji="1" lang="ja-JP" altLang="en-US" sz="1400">
              <a:latin typeface="メイリオ" panose="020B0604030504040204" pitchFamily="50" charset="-128"/>
              <a:ea typeface="メイリオ" panose="020B0604030504040204" pitchFamily="50" charset="-128"/>
            </a:endParaRPr>
          </a:p>
        </p:txBody>
      </p:sp>
      <p:sp>
        <p:nvSpPr>
          <p:cNvPr id="2" name="角丸四角形吹き出し 1"/>
          <p:cNvSpPr/>
          <p:nvPr/>
        </p:nvSpPr>
        <p:spPr bwMode="auto">
          <a:xfrm>
            <a:off x="2043297" y="4642840"/>
            <a:ext cx="2646581" cy="340519"/>
          </a:xfrm>
          <a:prstGeom prst="wedgeRoundRectCallout">
            <a:avLst>
              <a:gd name="adj1" fmla="val -64972"/>
              <a:gd name="adj2" fmla="val 23158"/>
              <a:gd name="adj3" fmla="val 16667"/>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rPr>
              <a:t>Honda PjM set the due date</a:t>
            </a:r>
            <a:endParaRPr kumimoji="1" lang="ja-JP" altLang="en-US" sz="1400" b="0" i="0" u="none" strike="noStrike" cap="none" normalizeH="0" baseline="0">
              <a:ln>
                <a:noFill/>
              </a:ln>
              <a:solidFill>
                <a:schemeClr val="tx1"/>
              </a:solidFill>
              <a:effectLst/>
              <a:latin typeface="Meiryo UI" panose="020B0604030504040204" pitchFamily="50" charset="-128"/>
              <a:ea typeface="Meiryo UI" panose="020B0604030504040204" pitchFamily="50" charset="-128"/>
            </a:endParaRPr>
          </a:p>
        </p:txBody>
      </p:sp>
      <p:sp>
        <p:nvSpPr>
          <p:cNvPr id="30"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(4/6)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29" name="テキスト ボックス 28"/>
          <p:cNvSpPr txBox="1"/>
          <p:nvPr/>
        </p:nvSpPr>
        <p:spPr>
          <a:xfrm>
            <a:off x="9690242" y="1411986"/>
            <a:ext cx="1861407" cy="461665"/>
          </a:xfrm>
          <a:prstGeom prst="rect">
            <a:avLst/>
          </a:prstGeom>
          <a:solidFill>
            <a:srgbClr val="FFFF00"/>
          </a:solidFill>
        </p:spPr>
        <p:txBody>
          <a:bodyPr wrap="none" rtlCol="0">
            <a:spAutoFit/>
          </a:bodyPr>
          <a:lstStyle/>
          <a:p>
            <a:r>
              <a:rPr kumimoji="1" lang="ja-JP" altLang="en-US"/>
              <a:t>委託</a:t>
            </a:r>
            <a:r>
              <a:rPr kumimoji="1" lang="en-US" altLang="ja-JP"/>
              <a:t>PM</a:t>
            </a:r>
            <a:r>
              <a:rPr kumimoji="1" lang="ja-JP" altLang="en-US"/>
              <a:t>起票</a:t>
            </a:r>
            <a:endParaRPr kumimoji="1" lang="en-US" altLang="ja-JP"/>
          </a:p>
        </p:txBody>
      </p:sp>
    </p:spTree>
    <p:extLst>
      <p:ext uri="{BB962C8B-B14F-4D97-AF65-F5344CB8AC3E}">
        <p14:creationId xmlns:p14="http://schemas.microsoft.com/office/powerpoint/2010/main" val="310141525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4818" name="グループ化 3"/>
          <p:cNvGrpSpPr>
            <a:grpSpLocks/>
          </p:cNvGrpSpPr>
          <p:nvPr/>
        </p:nvGrpSpPr>
        <p:grpSpPr bwMode="auto">
          <a:xfrm>
            <a:off x="664434" y="3676615"/>
            <a:ext cx="3882863" cy="3170348"/>
            <a:chOff x="261938" y="2897982"/>
            <a:chExt cx="4165600" cy="3925887"/>
          </a:xfrm>
        </p:grpSpPr>
        <p:pic>
          <p:nvPicPr>
            <p:cNvPr id="34829"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38" y="2897982"/>
              <a:ext cx="4165600" cy="392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7A5C"/>
                    </a:outerShdw>
                  </a:effectLst>
                </a14:hiddenEffects>
              </a:ext>
            </a:extLst>
          </p:spPr>
        </p:pic>
        <p:sp>
          <p:nvSpPr>
            <p:cNvPr id="34830" name="正方形/長方形 2"/>
            <p:cNvSpPr>
              <a:spLocks noChangeArrowheads="1"/>
            </p:cNvSpPr>
            <p:nvPr/>
          </p:nvSpPr>
          <p:spPr bwMode="auto">
            <a:xfrm>
              <a:off x="493735" y="5195069"/>
              <a:ext cx="216024" cy="45719"/>
            </a:xfrm>
            <a:prstGeom prst="rect">
              <a:avLst/>
            </a:prstGeom>
            <a:solidFill>
              <a:schemeClr val="bg1"/>
            </a:solidFill>
            <a:ln w="9525" algn="ctr">
              <a:solidFill>
                <a:schemeClr val="bg1"/>
              </a:solidFill>
              <a:round/>
              <a:headEnd/>
              <a:tailEnd/>
            </a:ln>
          </p:spPr>
          <p:txBody>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34831" name="正方形/長方形 15"/>
            <p:cNvSpPr>
              <a:spLocks noChangeArrowheads="1"/>
            </p:cNvSpPr>
            <p:nvPr/>
          </p:nvSpPr>
          <p:spPr bwMode="auto">
            <a:xfrm>
              <a:off x="505656" y="5838477"/>
              <a:ext cx="216024" cy="45719"/>
            </a:xfrm>
            <a:prstGeom prst="rect">
              <a:avLst/>
            </a:prstGeom>
            <a:solidFill>
              <a:schemeClr val="bg1"/>
            </a:solidFill>
            <a:ln w="9525" algn="ctr">
              <a:solidFill>
                <a:schemeClr val="bg1"/>
              </a:solidFill>
              <a:round/>
              <a:headEnd/>
              <a:tailEnd/>
            </a:ln>
          </p:spPr>
          <p:txBody>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34832" name="正方形/長方形 16"/>
            <p:cNvSpPr>
              <a:spLocks noChangeArrowheads="1"/>
            </p:cNvSpPr>
            <p:nvPr/>
          </p:nvSpPr>
          <p:spPr bwMode="auto">
            <a:xfrm>
              <a:off x="505672" y="6476349"/>
              <a:ext cx="216024" cy="45719"/>
            </a:xfrm>
            <a:prstGeom prst="rect">
              <a:avLst/>
            </a:prstGeom>
            <a:solidFill>
              <a:schemeClr val="bg1"/>
            </a:solidFill>
            <a:ln w="9525" algn="ctr">
              <a:solidFill>
                <a:schemeClr val="bg1"/>
              </a:solidFill>
              <a:round/>
              <a:headEnd/>
              <a:tailEnd/>
            </a:ln>
          </p:spPr>
          <p:txBody>
            <a:bodyPr/>
            <a:lstStyle/>
            <a:p>
              <a:endParaRPr lang="ja-JP" altLang="en-US">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34833" name="テキスト ボックス 1"/>
            <p:cNvSpPr txBox="1">
              <a:spLocks noChangeArrowheads="1"/>
            </p:cNvSpPr>
            <p:nvPr/>
          </p:nvSpPr>
          <p:spPr bwMode="auto">
            <a:xfrm>
              <a:off x="440103" y="5782011"/>
              <a:ext cx="358048" cy="1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400">
                  <a:solidFill>
                    <a:srgbClr val="000000"/>
                  </a:solidFill>
                  <a:latin typeface="Meiryo UI" panose="020B0604030504040204" pitchFamily="50" charset="-128"/>
                  <a:ea typeface="ＭＳ ゴシック" pitchFamily="49" charset="-128"/>
                  <a:cs typeface="Arial" pitchFamily="34" charset="0"/>
                </a:rPr>
                <a:t>Bosch</a:t>
              </a:r>
              <a:endParaRPr lang="ja-JP" altLang="en-US" sz="400">
                <a:solidFill>
                  <a:srgbClr val="000000"/>
                </a:solidFill>
                <a:latin typeface="Meiryo UI" panose="020B0604030504040204" pitchFamily="50" charset="-128"/>
                <a:ea typeface="ＭＳ ゴシック" pitchFamily="49" charset="-128"/>
                <a:cs typeface="Arial" pitchFamily="34" charset="0"/>
              </a:endParaRPr>
            </a:p>
          </p:txBody>
        </p:sp>
        <p:sp>
          <p:nvSpPr>
            <p:cNvPr id="34834" name="テキスト ボックス 17"/>
            <p:cNvSpPr txBox="1">
              <a:spLocks noChangeArrowheads="1"/>
            </p:cNvSpPr>
            <p:nvPr/>
          </p:nvSpPr>
          <p:spPr bwMode="auto">
            <a:xfrm>
              <a:off x="449642" y="5144720"/>
              <a:ext cx="358048" cy="1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400">
                  <a:solidFill>
                    <a:srgbClr val="000000"/>
                  </a:solidFill>
                  <a:latin typeface="Meiryo UI" panose="020B0604030504040204" pitchFamily="50" charset="-128"/>
                  <a:ea typeface="ＭＳ ゴシック" pitchFamily="49" charset="-128"/>
                  <a:cs typeface="Arial" pitchFamily="34" charset="0"/>
                </a:rPr>
                <a:t>Bosch</a:t>
              </a:r>
              <a:endParaRPr lang="ja-JP" altLang="en-US" sz="400">
                <a:solidFill>
                  <a:srgbClr val="000000"/>
                </a:solidFill>
                <a:latin typeface="Meiryo UI" panose="020B0604030504040204" pitchFamily="50" charset="-128"/>
                <a:ea typeface="ＭＳ ゴシック" pitchFamily="49" charset="-128"/>
                <a:cs typeface="Arial" pitchFamily="34" charset="0"/>
              </a:endParaRPr>
            </a:p>
          </p:txBody>
        </p:sp>
        <p:sp>
          <p:nvSpPr>
            <p:cNvPr id="34835" name="テキスト ボックス 18"/>
            <p:cNvSpPr txBox="1">
              <a:spLocks noChangeArrowheads="1"/>
            </p:cNvSpPr>
            <p:nvPr/>
          </p:nvSpPr>
          <p:spPr bwMode="auto">
            <a:xfrm>
              <a:off x="442517" y="6421239"/>
              <a:ext cx="358048" cy="1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400">
                  <a:solidFill>
                    <a:srgbClr val="000000"/>
                  </a:solidFill>
                  <a:latin typeface="Meiryo UI" panose="020B0604030504040204" pitchFamily="50" charset="-128"/>
                  <a:ea typeface="ＭＳ ゴシック" pitchFamily="49" charset="-128"/>
                  <a:cs typeface="Arial" pitchFamily="34" charset="0"/>
                </a:rPr>
                <a:t>Bosch</a:t>
              </a:r>
              <a:endParaRPr lang="ja-JP" altLang="en-US" sz="400">
                <a:solidFill>
                  <a:srgbClr val="000000"/>
                </a:solidFill>
                <a:latin typeface="Meiryo UI" panose="020B0604030504040204" pitchFamily="50" charset="-128"/>
                <a:ea typeface="ＭＳ ゴシック" pitchFamily="49" charset="-128"/>
                <a:cs typeface="Arial" pitchFamily="34" charset="0"/>
              </a:endParaRPr>
            </a:p>
          </p:txBody>
        </p:sp>
      </p:grpSp>
      <p:pic>
        <p:nvPicPr>
          <p:cNvPr id="34819" name="Picture 2"/>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4559231" y="3579223"/>
            <a:ext cx="4584769" cy="2717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20" name="Rectangle 4"/>
          <p:cNvSpPr>
            <a:spLocks noChangeArrowheads="1"/>
          </p:cNvSpPr>
          <p:nvPr/>
        </p:nvSpPr>
        <p:spPr bwMode="auto">
          <a:xfrm>
            <a:off x="749815" y="3342663"/>
            <a:ext cx="1522596" cy="307777"/>
          </a:xfrm>
          <a:prstGeom prst="rect">
            <a:avLst/>
          </a:prstGeom>
          <a:noFill/>
          <a:ln>
            <a:noFill/>
          </a:ln>
          <a:effectLst/>
        </p:spPr>
        <p:txBody>
          <a:bodyPr wrap="none">
            <a:spAutoFit/>
          </a:bodyPr>
          <a:lstStyle/>
          <a:p>
            <a:pPr algn="l"/>
            <a:r>
              <a:rPr lang="en-US" altLang="ja-JP" sz="1400">
                <a:solidFill>
                  <a:srgbClr val="000000"/>
                </a:solidFill>
                <a:latin typeface="Meiryo UI" panose="020B0604030504040204" pitchFamily="50" charset="-128"/>
                <a:ea typeface="Meiryo UI" panose="020B0604030504040204" pitchFamily="50" charset="-128"/>
                <a:cs typeface="Arial" pitchFamily="34" charset="0"/>
              </a:rPr>
              <a:t>Ex.) EMS Sheet</a:t>
            </a:r>
          </a:p>
        </p:txBody>
      </p:sp>
      <p:sp>
        <p:nvSpPr>
          <p:cNvPr id="34821" name="Rectangle 5"/>
          <p:cNvSpPr>
            <a:spLocks noChangeArrowheads="1"/>
          </p:cNvSpPr>
          <p:nvPr/>
        </p:nvSpPr>
        <p:spPr bwMode="auto">
          <a:xfrm>
            <a:off x="5852358" y="3366968"/>
            <a:ext cx="1807931" cy="307777"/>
          </a:xfrm>
          <a:prstGeom prst="rect">
            <a:avLst/>
          </a:prstGeom>
          <a:noFill/>
          <a:ln>
            <a:noFill/>
          </a:ln>
          <a:effectLst/>
        </p:spPr>
        <p:txBody>
          <a:bodyPr wrap="none">
            <a:spAutoFit/>
          </a:bodyPr>
          <a:lstStyle/>
          <a:p>
            <a:pPr algn="l"/>
            <a:r>
              <a:rPr lang="en-US" altLang="ja-JP" sz="1400">
                <a:solidFill>
                  <a:srgbClr val="000000"/>
                </a:solidFill>
                <a:latin typeface="Meiryo UI" panose="020B0604030504040204" pitchFamily="50" charset="-128"/>
                <a:ea typeface="Meiryo UI" panose="020B0604030504040204" pitchFamily="50" charset="-128"/>
                <a:cs typeface="Arial" pitchFamily="34" charset="0"/>
              </a:rPr>
              <a:t>Ex.) Attached data</a:t>
            </a:r>
          </a:p>
        </p:txBody>
      </p:sp>
      <p:sp>
        <p:nvSpPr>
          <p:cNvPr id="34822" name="Rectangle 6"/>
          <p:cNvSpPr>
            <a:spLocks noChangeArrowheads="1"/>
          </p:cNvSpPr>
          <p:nvPr/>
        </p:nvSpPr>
        <p:spPr bwMode="auto">
          <a:xfrm>
            <a:off x="3167056" y="4784006"/>
            <a:ext cx="1223962"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Target value</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34823" name="Rectangle 7"/>
          <p:cNvSpPr>
            <a:spLocks noChangeArrowheads="1"/>
          </p:cNvSpPr>
          <p:nvPr/>
        </p:nvSpPr>
        <p:spPr bwMode="auto">
          <a:xfrm>
            <a:off x="2495021" y="5362046"/>
            <a:ext cx="1198562"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no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Results </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34824" name="Rectangle 8"/>
          <p:cNvSpPr>
            <a:spLocks noChangeArrowheads="1"/>
          </p:cNvSpPr>
          <p:nvPr/>
        </p:nvSpPr>
        <p:spPr bwMode="auto">
          <a:xfrm>
            <a:off x="981179" y="4654001"/>
            <a:ext cx="1427162" cy="461665"/>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Requirement content</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34825" name="Rectangle 9"/>
          <p:cNvSpPr>
            <a:spLocks noChangeArrowheads="1"/>
          </p:cNvSpPr>
          <p:nvPr/>
        </p:nvSpPr>
        <p:spPr bwMode="auto">
          <a:xfrm>
            <a:off x="5039549" y="6088349"/>
            <a:ext cx="3852932" cy="646331"/>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200">
                <a:solidFill>
                  <a:srgbClr val="0000FF"/>
                </a:solidFill>
                <a:latin typeface="Meiryo UI" panose="020B0604030504040204" pitchFamily="50" charset="-128"/>
                <a:ea typeface="Meiryo UI" panose="020B0604030504040204" pitchFamily="50" charset="-128"/>
                <a:cs typeface="Arial" pitchFamily="34" charset="0"/>
              </a:rPr>
              <a:t>Cross-check the performance of requirement using Consigned Development Requirement Sheet </a:t>
            </a:r>
            <a:r>
              <a:rPr lang="ja-JP" altLang="en-US" sz="1200">
                <a:solidFill>
                  <a:srgbClr val="0000FF"/>
                </a:solidFill>
                <a:latin typeface="Meiryo UI" panose="020B0604030504040204" pitchFamily="50" charset="-128"/>
                <a:ea typeface="Meiryo UI" panose="020B0604030504040204" pitchFamily="50" charset="-128"/>
                <a:cs typeface="Arial" pitchFamily="34" charset="0"/>
              </a:rPr>
              <a:t>（</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EMS Sheet</a:t>
            </a:r>
            <a:r>
              <a:rPr lang="ja-JP" altLang="en-US" sz="1200">
                <a:solidFill>
                  <a:srgbClr val="0000FF"/>
                </a:solidFill>
                <a:latin typeface="Meiryo UI" panose="020B0604030504040204" pitchFamily="50" charset="-128"/>
                <a:ea typeface="Meiryo UI" panose="020B0604030504040204" pitchFamily="50" charset="-128"/>
                <a:cs typeface="Arial" pitchFamily="34" charset="0"/>
              </a:rPr>
              <a:t>）</a:t>
            </a:r>
          </a:p>
        </p:txBody>
      </p:sp>
      <p:sp>
        <p:nvSpPr>
          <p:cNvPr id="34826" name="Rectangle 13"/>
          <p:cNvSpPr>
            <a:spLocks noChangeArrowheads="1"/>
          </p:cNvSpPr>
          <p:nvPr/>
        </p:nvSpPr>
        <p:spPr bwMode="auto">
          <a:xfrm>
            <a:off x="61056" y="531226"/>
            <a:ext cx="9109075" cy="2762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Outline</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of</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EMS</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Sheet</a:t>
            </a:r>
            <a:r>
              <a:rPr lang="ja-JP" altLang="en-US" sz="1600" b="1" u="sng">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600" b="1" u="sng">
                <a:solidFill>
                  <a:srgbClr val="000000"/>
                </a:solidFill>
                <a:latin typeface="Meiryo UI" panose="020B0604030504040204" pitchFamily="50" charset="-128"/>
                <a:ea typeface="Meiryo UI" panose="020B0604030504040204" pitchFamily="50" charset="-128"/>
                <a:cs typeface="Arial" pitchFamily="34" charset="0"/>
              </a:rPr>
              <a:t>(Development Work Requirement Sheet)</a:t>
            </a:r>
            <a:endParaRPr lang="ja-JP" altLang="en-US" sz="1600" b="1" u="sng">
              <a:solidFill>
                <a:srgbClr val="000000"/>
              </a:solidFill>
              <a:latin typeface="Meiryo UI" panose="020B0604030504040204" pitchFamily="50" charset="-128"/>
              <a:ea typeface="Meiryo UI" panose="020B0604030504040204" pitchFamily="50" charset="-128"/>
              <a:cs typeface="Arial" pitchFamily="34" charset="0"/>
            </a:endParaRPr>
          </a:p>
          <a:p>
            <a:pPr marL="552450" lvl="1" indent="-285750" algn="l">
              <a:spcBef>
                <a:spcPts val="300"/>
              </a:spcBef>
              <a:buFontTx/>
              <a:buChar char="-"/>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Verification of</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component reliability</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a:solidFill>
                  <a:srgbClr val="000000"/>
                </a:solidFill>
                <a:latin typeface="Meiryo UI" panose="020B0604030504040204" pitchFamily="50" charset="-128"/>
                <a:ea typeface="Meiryo UI" panose="020B0604030504040204" pitchFamily="50" charset="-128"/>
                <a:cs typeface="Arial" pitchFamily="34" charset="0"/>
              </a:rPr>
              <a:t>Results from the reliability/failure rate verifications of respective</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components for the reliability target</a:t>
            </a:r>
          </a:p>
          <a:p>
            <a:pPr marL="552450" lvl="1" indent="-285750" algn="l">
              <a:spcBef>
                <a:spcPts val="300"/>
              </a:spcBef>
              <a:buFontTx/>
              <a:buChar char="-"/>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Verification of conformity to vehicle environment including heat, water and vibration.</a:t>
            </a:r>
            <a:br>
              <a:rPr lang="en-US" altLang="ja-JP" sz="1400">
                <a:solidFill>
                  <a:srgbClr val="000000"/>
                </a:solidFill>
                <a:latin typeface="Meiryo UI" panose="020B0604030504040204" pitchFamily="50" charset="-128"/>
                <a:ea typeface="Meiryo UI" panose="020B0604030504040204" pitchFamily="50" charset="-128"/>
                <a:cs typeface="Arial" pitchFamily="34" charset="0"/>
              </a:rPr>
            </a:br>
            <a:r>
              <a:rPr lang="en-US" altLang="ja-JP" sz="1400">
                <a:solidFill>
                  <a:srgbClr val="000000"/>
                </a:solidFill>
                <a:latin typeface="Meiryo UI" panose="020B0604030504040204" pitchFamily="50" charset="-128"/>
                <a:ea typeface="Meiryo UI" panose="020B0604030504040204" pitchFamily="50" charset="-128"/>
                <a:cs typeface="Arial" pitchFamily="34" charset="0"/>
              </a:rPr>
              <a:t>Check as to whether</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components are used in</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specifications.</a:t>
            </a:r>
          </a:p>
          <a:p>
            <a:pPr marL="552450" lvl="1" indent="-285750" algn="l">
              <a:spcBef>
                <a:spcPts val="300"/>
              </a:spcBef>
              <a:buFontTx/>
              <a:buChar char="-"/>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Power, Ignition timing, knock control</a:t>
            </a:r>
          </a:p>
          <a:p>
            <a:pPr marL="552450" lvl="1" indent="-285750" algn="l">
              <a:spcBef>
                <a:spcPts val="300"/>
              </a:spcBef>
              <a:buFontTx/>
              <a:buChar char="-"/>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Emission, fuel consumption, OBD2, startability, idle stability, drivability, etc.</a:t>
            </a:r>
          </a:p>
          <a:p>
            <a:pPr marL="552450" lvl="1" indent="-285750" algn="l">
              <a:spcBef>
                <a:spcPts val="300"/>
              </a:spcBef>
              <a:buFontTx/>
              <a:buChar char="-"/>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Judgment definition	</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〇</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 Target</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achieved, Complete </a:t>
            </a:r>
          </a:p>
          <a:p>
            <a:pPr marL="266700" lvl="1"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 : Target achieved, reconfirm by the next confirmation timing</a:t>
            </a:r>
          </a:p>
          <a:p>
            <a:pPr marL="266700" lvl="1"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B : Target not achieved</a:t>
            </a:r>
            <a:endParaRPr lang="ja-JP" altLang="en-US" sz="1400">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9" name="Rectangle 7"/>
          <p:cNvSpPr>
            <a:spLocks noChangeArrowheads="1"/>
          </p:cNvSpPr>
          <p:nvPr/>
        </p:nvSpPr>
        <p:spPr bwMode="auto">
          <a:xfrm>
            <a:off x="2484388" y="5868231"/>
            <a:ext cx="1198562"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no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Results </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21" name="Rectangle 7"/>
          <p:cNvSpPr>
            <a:spLocks noChangeArrowheads="1"/>
          </p:cNvSpPr>
          <p:nvPr/>
        </p:nvSpPr>
        <p:spPr bwMode="auto">
          <a:xfrm>
            <a:off x="2486524" y="6437925"/>
            <a:ext cx="1198562"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noAutofit/>
          </a:bodyPr>
          <a:lstStyle/>
          <a:p>
            <a:r>
              <a:rPr lang="en-US" altLang="ja-JP" sz="1200">
                <a:solidFill>
                  <a:srgbClr val="0000FF"/>
                </a:solidFill>
                <a:latin typeface="Meiryo UI" panose="020B0604030504040204" pitchFamily="50" charset="-128"/>
                <a:ea typeface="Meiryo UI" panose="020B0604030504040204" pitchFamily="50" charset="-128"/>
                <a:cs typeface="Arial" pitchFamily="34" charset="0"/>
              </a:rPr>
              <a:t>Results </a:t>
            </a:r>
            <a:endParaRPr lang="ja-JP" altLang="en-US" sz="1200">
              <a:solidFill>
                <a:srgbClr val="0000FF"/>
              </a:solidFill>
              <a:latin typeface="Meiryo UI" panose="020B0604030504040204" pitchFamily="50" charset="-128"/>
              <a:ea typeface="Meiryo UI" panose="020B0604030504040204" pitchFamily="50" charset="-128"/>
              <a:cs typeface="Arial" pitchFamily="34" charset="0"/>
            </a:endParaRPr>
          </a:p>
        </p:txBody>
      </p:sp>
      <p:sp>
        <p:nvSpPr>
          <p:cNvPr id="22"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(5/6)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978441918"/>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5" name="Rectangle 4"/>
          <p:cNvSpPr>
            <a:spLocks noChangeArrowheads="1"/>
          </p:cNvSpPr>
          <p:nvPr/>
        </p:nvSpPr>
        <p:spPr bwMode="auto">
          <a:xfrm>
            <a:off x="1781229" y="3218397"/>
            <a:ext cx="1888659" cy="369332"/>
          </a:xfrm>
          <a:prstGeom prst="rect">
            <a:avLst/>
          </a:prstGeom>
          <a:noFill/>
          <a:ln>
            <a:noFill/>
          </a:ln>
          <a:effectLst/>
        </p:spPr>
        <p:txBody>
          <a:bodyPr wrap="none" anchor="ctr" anchorCtr="0">
            <a:noAutofit/>
          </a:bodyPr>
          <a:lstStyle/>
          <a:p>
            <a:pPr algn="l"/>
            <a:r>
              <a:rPr lang="en-US" altLang="ja-JP" sz="1600">
                <a:latin typeface="Meiryo UI" panose="020B0604030504040204" pitchFamily="50" charset="-128"/>
                <a:ea typeface="Meiryo UI" panose="020B0604030504040204" pitchFamily="50" charset="-128"/>
              </a:rPr>
              <a:t>&lt;EMS</a:t>
            </a:r>
            <a:r>
              <a:rPr lang="ja-JP" altLang="en-US" sz="1600">
                <a:latin typeface="Meiryo UI" panose="020B0604030504040204" pitchFamily="50" charset="-128"/>
                <a:ea typeface="Meiryo UI" panose="020B0604030504040204" pitchFamily="50" charset="-128"/>
              </a:rPr>
              <a:t>シートの例</a:t>
            </a:r>
            <a:r>
              <a:rPr lang="en-US" altLang="ja-JP" sz="1600">
                <a:latin typeface="Meiryo UI" panose="020B0604030504040204" pitchFamily="50" charset="-128"/>
                <a:ea typeface="Meiryo UI" panose="020B0604030504040204" pitchFamily="50" charset="-128"/>
              </a:rPr>
              <a:t>&gt;</a:t>
            </a:r>
          </a:p>
        </p:txBody>
      </p:sp>
      <p:sp>
        <p:nvSpPr>
          <p:cNvPr id="33796" name="Rectangle 5"/>
          <p:cNvSpPr>
            <a:spLocks noChangeArrowheads="1"/>
          </p:cNvSpPr>
          <p:nvPr/>
        </p:nvSpPr>
        <p:spPr bwMode="auto">
          <a:xfrm>
            <a:off x="5872332" y="3211142"/>
            <a:ext cx="1972015" cy="368835"/>
          </a:xfrm>
          <a:prstGeom prst="rect">
            <a:avLst/>
          </a:prstGeom>
          <a:noFill/>
          <a:ln>
            <a:noFill/>
          </a:ln>
          <a:effectLst/>
        </p:spPr>
        <p:txBody>
          <a:bodyPr wrap="none" anchor="ctr" anchorCtr="0">
            <a:noAutofit/>
          </a:bodyPr>
          <a:lstStyle/>
          <a:p>
            <a:pPr algn="l"/>
            <a:r>
              <a:rPr lang="en-US" altLang="ja-JP" sz="1600">
                <a:latin typeface="Meiryo UI" panose="020B0604030504040204" pitchFamily="50" charset="-128"/>
                <a:ea typeface="Meiryo UI" panose="020B0604030504040204" pitchFamily="50" charset="-128"/>
              </a:rPr>
              <a:t>&lt;</a:t>
            </a:r>
            <a:r>
              <a:rPr lang="ja-JP" altLang="en-US" sz="1600">
                <a:latin typeface="Meiryo UI" panose="020B0604030504040204" pitchFamily="50" charset="-128"/>
                <a:ea typeface="Meiryo UI" panose="020B0604030504040204" pitchFamily="50" charset="-128"/>
              </a:rPr>
              <a:t>添付データの例</a:t>
            </a:r>
            <a:r>
              <a:rPr lang="en-US" altLang="ja-JP" sz="1600">
                <a:latin typeface="Meiryo UI" panose="020B0604030504040204" pitchFamily="50" charset="-128"/>
                <a:ea typeface="Meiryo UI" panose="020B0604030504040204" pitchFamily="50" charset="-128"/>
              </a:rPr>
              <a:t>&gt;</a:t>
            </a:r>
          </a:p>
        </p:txBody>
      </p:sp>
      <p:sp>
        <p:nvSpPr>
          <p:cNvPr id="33801" name="Rectangle 13"/>
          <p:cNvSpPr>
            <a:spLocks noChangeArrowheads="1"/>
          </p:cNvSpPr>
          <p:nvPr/>
        </p:nvSpPr>
        <p:spPr bwMode="auto">
          <a:xfrm>
            <a:off x="35496" y="605006"/>
            <a:ext cx="9108504" cy="2546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300"/>
              </a:spcBef>
            </a:pPr>
            <a:r>
              <a:rPr lang="en-US" altLang="ja-JP" sz="1600" b="1" u="sng">
                <a:solidFill>
                  <a:srgbClr val="000000"/>
                </a:solidFill>
                <a:latin typeface="Meiryo UI" panose="020B0604030504040204" pitchFamily="50" charset="-128"/>
                <a:ea typeface="Meiryo UI" panose="020B0604030504040204" pitchFamily="50" charset="-128"/>
              </a:rPr>
              <a:t>EMS</a:t>
            </a:r>
            <a:r>
              <a:rPr lang="ja-JP" altLang="en-US" sz="1600" b="1" u="sng">
                <a:solidFill>
                  <a:srgbClr val="000000"/>
                </a:solidFill>
                <a:latin typeface="Meiryo UI" panose="020B0604030504040204" pitchFamily="50" charset="-128"/>
                <a:ea typeface="Meiryo UI" panose="020B0604030504040204" pitchFamily="50" charset="-128"/>
              </a:rPr>
              <a:t>シート</a:t>
            </a:r>
            <a:r>
              <a:rPr lang="en-US" altLang="ja-JP" sz="1600" b="1" u="sng">
                <a:solidFill>
                  <a:srgbClr val="000000"/>
                </a:solidFill>
                <a:latin typeface="Meiryo UI" panose="020B0604030504040204" pitchFamily="50" charset="-128"/>
                <a:ea typeface="Meiryo UI" panose="020B0604030504040204" pitchFamily="50" charset="-128"/>
              </a:rPr>
              <a:t>(</a:t>
            </a:r>
            <a:r>
              <a:rPr lang="ja-JP" altLang="en-US" sz="1600" b="1" u="sng">
                <a:solidFill>
                  <a:srgbClr val="000000"/>
                </a:solidFill>
                <a:latin typeface="Meiryo UI" panose="020B0604030504040204" pitchFamily="50" charset="-128"/>
                <a:ea typeface="Meiryo UI" panose="020B0604030504040204" pitchFamily="50" charset="-128"/>
              </a:rPr>
              <a:t>委託開発要求仕様書</a:t>
            </a:r>
            <a:r>
              <a:rPr lang="en-US" altLang="ja-JP" sz="1600" b="1" u="sng">
                <a:solidFill>
                  <a:srgbClr val="000000"/>
                </a:solidFill>
                <a:latin typeface="Meiryo UI" panose="020B0604030504040204" pitchFamily="50" charset="-128"/>
                <a:ea typeface="Meiryo UI" panose="020B0604030504040204" pitchFamily="50" charset="-128"/>
              </a:rPr>
              <a:t>)</a:t>
            </a:r>
            <a:r>
              <a:rPr lang="ja-JP" altLang="en-US" sz="1600" b="1" u="sng">
                <a:solidFill>
                  <a:srgbClr val="000000"/>
                </a:solidFill>
                <a:latin typeface="Meiryo UI" panose="020B0604030504040204" pitchFamily="50" charset="-128"/>
                <a:ea typeface="Meiryo UI" panose="020B0604030504040204" pitchFamily="50" charset="-128"/>
              </a:rPr>
              <a:t>の概要</a:t>
            </a:r>
          </a:p>
          <a:p>
            <a:pPr marL="534988" lvl="1" indent="-285750" algn="l">
              <a:spcBef>
                <a:spcPts val="300"/>
              </a:spcBef>
              <a:buFontTx/>
              <a:buChar char="-"/>
            </a:pPr>
            <a:r>
              <a:rPr lang="ja-JP" altLang="en-US" sz="1400">
                <a:solidFill>
                  <a:srgbClr val="000000"/>
                </a:solidFill>
                <a:latin typeface="Meiryo UI" panose="020B0604030504040204" pitchFamily="50" charset="-128"/>
                <a:ea typeface="Meiryo UI" panose="020B0604030504040204" pitchFamily="50" charset="-128"/>
              </a:rPr>
              <a:t>部品信頼性検証</a:t>
            </a:r>
            <a:br>
              <a:rPr lang="en-US" altLang="ja-JP" sz="1400">
                <a:solidFill>
                  <a:srgbClr val="000000"/>
                </a:solidFill>
                <a:latin typeface="Meiryo UI" panose="020B0604030504040204" pitchFamily="50" charset="-128"/>
                <a:ea typeface="Meiryo UI" panose="020B0604030504040204" pitchFamily="50" charset="-128"/>
              </a:rPr>
            </a:br>
            <a:r>
              <a:rPr lang="ja-JP" altLang="en-US" sz="1400">
                <a:solidFill>
                  <a:srgbClr val="000000"/>
                </a:solidFill>
                <a:latin typeface="Meiryo UI" panose="020B0604030504040204" pitchFamily="50" charset="-128"/>
                <a:ea typeface="Meiryo UI" panose="020B0604030504040204" pitchFamily="50" charset="-128"/>
              </a:rPr>
              <a:t>信頼性目標に対する、</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anose="020B0604030504040204" pitchFamily="50" charset="-128"/>
                <a:ea typeface="Meiryo UI" panose="020B0604030504040204" pitchFamily="50" charset="-128"/>
              </a:rPr>
              <a:t>各部品の信頼性検証結果・故障率検証結果を提示</a:t>
            </a:r>
            <a:endParaRPr lang="en-US" altLang="ja-JP" sz="1400">
              <a:solidFill>
                <a:srgbClr val="000000"/>
              </a:solidFill>
              <a:latin typeface="Meiryo UI" panose="020B0604030504040204" pitchFamily="50" charset="-128"/>
              <a:ea typeface="Meiryo UI" panose="020B0604030504040204" pitchFamily="50" charset="-128"/>
            </a:endParaRPr>
          </a:p>
          <a:p>
            <a:pPr marL="534988" lvl="1" indent="-285750" algn="l">
              <a:spcBef>
                <a:spcPts val="300"/>
              </a:spcBef>
              <a:buFontTx/>
              <a:buChar char="-"/>
            </a:pPr>
            <a:r>
              <a:rPr lang="ja-JP" altLang="en-US" sz="1400">
                <a:solidFill>
                  <a:srgbClr val="000000"/>
                </a:solidFill>
                <a:latin typeface="Meiryo UI" panose="020B0604030504040204" pitchFamily="50" charset="-128"/>
                <a:ea typeface="Meiryo UI" panose="020B0604030504040204" pitchFamily="50" charset="-128"/>
              </a:rPr>
              <a:t>実車搭載環境適合性検証（熱、水、振動など）</a:t>
            </a:r>
            <a:br>
              <a:rPr lang="en-US" altLang="ja-JP" sz="1400">
                <a:solidFill>
                  <a:srgbClr val="000000"/>
                </a:solidFill>
                <a:latin typeface="Meiryo UI" panose="020B0604030504040204" pitchFamily="50" charset="-128"/>
                <a:ea typeface="Meiryo UI" panose="020B0604030504040204" pitchFamily="50" charset="-128"/>
              </a:rPr>
            </a:br>
            <a:r>
              <a:rPr lang="en-US" altLang="ja-JP" sz="1400">
                <a:solidFill>
                  <a:srgbClr val="000000"/>
                </a:solidFill>
                <a:latin typeface="Meiryo UI" panose="020B0604030504040204" pitchFamily="50" charset="-128"/>
                <a:ea typeface="Meiryo UI" panose="020B0604030504040204" pitchFamily="50" charset="-128"/>
              </a:rPr>
              <a:t>SPEC</a:t>
            </a:r>
            <a:r>
              <a:rPr lang="ja-JP" altLang="en-US" sz="1400">
                <a:solidFill>
                  <a:srgbClr val="000000"/>
                </a:solidFill>
                <a:latin typeface="Meiryo UI" panose="020B0604030504040204" pitchFamily="50" charset="-128"/>
                <a:ea typeface="Meiryo UI" panose="020B0604030504040204" pitchFamily="50" charset="-128"/>
              </a:rPr>
              <a:t>又は要求仕様書の目標値を満足し、検証結果を提示</a:t>
            </a:r>
            <a:endParaRPr lang="en-US" altLang="ja-JP" sz="1400">
              <a:solidFill>
                <a:srgbClr val="000000"/>
              </a:solidFill>
              <a:latin typeface="Meiryo UI" panose="020B0604030504040204" pitchFamily="50" charset="-128"/>
              <a:ea typeface="Meiryo UI" panose="020B0604030504040204" pitchFamily="50" charset="-128"/>
            </a:endParaRPr>
          </a:p>
          <a:p>
            <a:pPr marL="534988" lvl="1" indent="-285750" algn="l">
              <a:spcBef>
                <a:spcPts val="300"/>
              </a:spcBef>
              <a:buFontTx/>
              <a:buChar char="-"/>
            </a:pPr>
            <a:r>
              <a:rPr lang="ja-JP" altLang="en-US" sz="1400">
                <a:solidFill>
                  <a:srgbClr val="000000"/>
                </a:solidFill>
                <a:latin typeface="Meiryo UI" panose="020B0604030504040204" pitchFamily="50" charset="-128"/>
                <a:ea typeface="Meiryo UI" panose="020B0604030504040204" pitchFamily="50" charset="-128"/>
              </a:rPr>
              <a:t>出力、点火時期設定、ノック商品性の要求テスト手法に沿って結果を提示</a:t>
            </a:r>
            <a:endParaRPr lang="en-US" altLang="ja-JP" sz="1400">
              <a:solidFill>
                <a:srgbClr val="000000"/>
              </a:solidFill>
              <a:latin typeface="Meiryo UI" panose="020B0604030504040204" pitchFamily="50" charset="-128"/>
              <a:ea typeface="Meiryo UI" panose="020B0604030504040204" pitchFamily="50" charset="-128"/>
            </a:endParaRPr>
          </a:p>
          <a:p>
            <a:pPr marL="534988" lvl="1" indent="-285750" algn="l">
              <a:spcBef>
                <a:spcPts val="300"/>
              </a:spcBef>
              <a:buFontTx/>
              <a:buChar char="-"/>
            </a:pPr>
            <a:r>
              <a:rPr lang="en-US" altLang="ja-JP" sz="1400">
                <a:solidFill>
                  <a:srgbClr val="000000"/>
                </a:solidFill>
                <a:latin typeface="Meiryo UI" panose="020B0604030504040204" pitchFamily="50" charset="-128"/>
                <a:ea typeface="Meiryo UI" panose="020B0604030504040204" pitchFamily="50" charset="-128"/>
              </a:rPr>
              <a:t>EM</a:t>
            </a:r>
            <a:r>
              <a:rPr lang="ja-JP" altLang="en-US" sz="1400">
                <a:solidFill>
                  <a:srgbClr val="000000"/>
                </a:solidFill>
                <a:latin typeface="Meiryo UI" panose="020B0604030504040204" pitchFamily="50" charset="-128"/>
                <a:ea typeface="Meiryo UI" panose="020B0604030504040204" pitchFamily="50" charset="-128"/>
              </a:rPr>
              <a:t>、燃費、</a:t>
            </a:r>
            <a:r>
              <a:rPr lang="en-US" altLang="ja-JP" sz="1400">
                <a:solidFill>
                  <a:srgbClr val="000000"/>
                </a:solidFill>
                <a:latin typeface="Meiryo UI" panose="020B0604030504040204" pitchFamily="50" charset="-128"/>
                <a:ea typeface="Meiryo UI" panose="020B0604030504040204" pitchFamily="50" charset="-128"/>
              </a:rPr>
              <a:t>OBD2</a:t>
            </a:r>
            <a:r>
              <a:rPr lang="ja-JP" altLang="en-US" sz="1400">
                <a:solidFill>
                  <a:srgbClr val="000000"/>
                </a:solidFill>
                <a:latin typeface="Meiryo UI" panose="020B0604030504040204" pitchFamily="50" charset="-128"/>
                <a:ea typeface="Meiryo UI" panose="020B0604030504040204" pitchFamily="50" charset="-128"/>
              </a:rPr>
              <a:t>、始動性、アイドル安定性、ドライバビリティ、</a:t>
            </a:r>
            <a:r>
              <a:rPr lang="en-US" altLang="ja-JP" sz="1400">
                <a:solidFill>
                  <a:srgbClr val="000000"/>
                </a:solidFill>
                <a:latin typeface="Meiryo UI" panose="020B0604030504040204" pitchFamily="50" charset="-128"/>
                <a:ea typeface="Meiryo UI" panose="020B0604030504040204" pitchFamily="50" charset="-128"/>
              </a:rPr>
              <a:t>NV</a:t>
            </a:r>
            <a:r>
              <a:rPr lang="ja-JP" altLang="en-US" sz="1400">
                <a:solidFill>
                  <a:srgbClr val="000000"/>
                </a:solidFill>
                <a:latin typeface="Meiryo UI" panose="020B0604030504040204" pitchFamily="50" charset="-128"/>
                <a:ea typeface="Meiryo UI" panose="020B0604030504040204" pitchFamily="50" charset="-128"/>
              </a:rPr>
              <a:t>商品性など、テスト結果を提示</a:t>
            </a:r>
            <a:endParaRPr lang="en-US" altLang="ja-JP" sz="1400">
              <a:solidFill>
                <a:srgbClr val="000000"/>
              </a:solidFill>
              <a:latin typeface="Meiryo UI" panose="020B0604030504040204" pitchFamily="50" charset="-128"/>
              <a:ea typeface="Meiryo UI" panose="020B0604030504040204" pitchFamily="50" charset="-128"/>
            </a:endParaRPr>
          </a:p>
          <a:p>
            <a:pPr marL="552450" lvl="1" indent="-285750" algn="l">
              <a:spcBef>
                <a:spcPts val="300"/>
              </a:spcBef>
              <a:buFontTx/>
              <a:buChar char="-"/>
            </a:pPr>
            <a:r>
              <a:rPr lang="ja-JP" altLang="en-US" sz="1400">
                <a:solidFill>
                  <a:srgbClr val="000000"/>
                </a:solidFill>
                <a:latin typeface="Meiryo UI" panose="020B0604030504040204" pitchFamily="50" charset="-128"/>
                <a:ea typeface="Meiryo UI" panose="020B0604030504040204" pitchFamily="50" charset="-128"/>
                <a:cs typeface="Arial" pitchFamily="34" charset="0"/>
              </a:rPr>
              <a:t>判定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〇</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 </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目標値を満たしており、完了</a:t>
            </a:r>
            <a:endParaRPr lang="en-US" altLang="ja-JP" sz="1400">
              <a:solidFill>
                <a:srgbClr val="000000"/>
              </a:solidFill>
              <a:latin typeface="Meiryo UI" panose="020B0604030504040204" pitchFamily="50" charset="-128"/>
              <a:ea typeface="Meiryo UI" panose="020B0604030504040204" pitchFamily="50" charset="-128"/>
              <a:cs typeface="Arial" pitchFamily="34" charset="0"/>
            </a:endParaRPr>
          </a:p>
          <a:p>
            <a:pPr marL="266700" lvl="1"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a:t>
            </a:r>
            <a:r>
              <a:rPr lang="en-US" altLang="ja-JP" sz="1400">
                <a:solidFill>
                  <a:srgbClr val="000000"/>
                </a:solidFill>
                <a:latin typeface="Meiryo UI" panose="020B0604030504040204" pitchFamily="50" charset="-128"/>
                <a:ea typeface="Meiryo UI" panose="020B0604030504040204" pitchFamily="50" charset="-128"/>
                <a:cs typeface="Arial" pitchFamily="34" charset="0"/>
              </a:rPr>
              <a:t>	 A : </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目標値を満たしているが、次の確認タイミングまでに再度確認</a:t>
            </a:r>
            <a:endParaRPr lang="en-US" altLang="ja-JP" sz="1400">
              <a:solidFill>
                <a:srgbClr val="000000"/>
              </a:solidFill>
              <a:latin typeface="Meiryo UI" panose="020B0604030504040204" pitchFamily="50" charset="-128"/>
              <a:ea typeface="Meiryo UI" panose="020B0604030504040204" pitchFamily="50" charset="-128"/>
              <a:cs typeface="Arial" pitchFamily="34" charset="0"/>
            </a:endParaRPr>
          </a:p>
          <a:p>
            <a:pPr marL="266700" lvl="1" algn="l">
              <a:spcBef>
                <a:spcPts val="300"/>
              </a:spcBef>
            </a:pPr>
            <a:r>
              <a:rPr lang="en-US" altLang="ja-JP" sz="1400">
                <a:solidFill>
                  <a:srgbClr val="000000"/>
                </a:solidFill>
                <a:latin typeface="Meiryo UI" panose="020B0604030504040204" pitchFamily="50" charset="-128"/>
                <a:ea typeface="Meiryo UI" panose="020B0604030504040204" pitchFamily="50" charset="-128"/>
                <a:cs typeface="Arial" pitchFamily="34" charset="0"/>
              </a:rPr>
              <a:t>		 B :</a:t>
            </a:r>
            <a:r>
              <a:rPr lang="ja-JP" altLang="en-US" sz="1400">
                <a:solidFill>
                  <a:srgbClr val="000000"/>
                </a:solidFill>
                <a:latin typeface="Meiryo UI" panose="020B0604030504040204" pitchFamily="50" charset="-128"/>
                <a:ea typeface="Meiryo UI" panose="020B0604030504040204" pitchFamily="50" charset="-128"/>
                <a:cs typeface="Arial" pitchFamily="34" charset="0"/>
              </a:rPr>
              <a:t> 目標値を満たしていない</a:t>
            </a:r>
            <a:endParaRPr lang="ja-JP" altLang="en-US" sz="1400">
              <a:solidFill>
                <a:srgbClr val="000000"/>
              </a:solidFill>
              <a:latin typeface="Meiryo UI" panose="020B0604030504040204" pitchFamily="50" charset="-128"/>
              <a:ea typeface="Meiryo UI" panose="020B0604030504040204" pitchFamily="50" charset="-128"/>
            </a:endParaRPr>
          </a:p>
        </p:txBody>
      </p:sp>
      <p:grpSp>
        <p:nvGrpSpPr>
          <p:cNvPr id="33803" name="Group 14"/>
          <p:cNvGrpSpPr>
            <a:grpSpLocks noChangeAspect="1"/>
          </p:cNvGrpSpPr>
          <p:nvPr/>
        </p:nvGrpSpPr>
        <p:grpSpPr bwMode="auto">
          <a:xfrm>
            <a:off x="893355" y="3531150"/>
            <a:ext cx="3447893" cy="3247159"/>
            <a:chOff x="161" y="1845"/>
            <a:chExt cx="2628" cy="2475"/>
          </a:xfrm>
        </p:grpSpPr>
        <p:sp>
          <p:nvSpPr>
            <p:cNvPr id="33804" name="AutoShape 13"/>
            <p:cNvSpPr>
              <a:spLocks noChangeAspect="1" noChangeArrowheads="1" noTextEdit="1"/>
            </p:cNvSpPr>
            <p:nvPr/>
          </p:nvSpPr>
          <p:spPr bwMode="auto">
            <a:xfrm>
              <a:off x="165" y="1847"/>
              <a:ext cx="2624" cy="2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grpSp>
          <p:nvGrpSpPr>
            <p:cNvPr id="33805" name="Group 215"/>
            <p:cNvGrpSpPr>
              <a:grpSpLocks/>
            </p:cNvGrpSpPr>
            <p:nvPr/>
          </p:nvGrpSpPr>
          <p:grpSpPr bwMode="auto">
            <a:xfrm>
              <a:off x="161" y="1845"/>
              <a:ext cx="2557" cy="2430"/>
              <a:chOff x="161" y="1845"/>
              <a:chExt cx="2557" cy="2430"/>
            </a:xfrm>
          </p:grpSpPr>
          <p:sp>
            <p:nvSpPr>
              <p:cNvPr id="33830" name="Rectangle 15"/>
              <p:cNvSpPr>
                <a:spLocks noChangeArrowheads="1"/>
              </p:cNvSpPr>
              <p:nvPr/>
            </p:nvSpPr>
            <p:spPr bwMode="auto">
              <a:xfrm>
                <a:off x="351" y="1865"/>
                <a:ext cx="125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EMS Commission Development Requirement List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1" name="Rectangle 16"/>
              <p:cNvSpPr>
                <a:spLocks noChangeArrowheads="1"/>
              </p:cNvSpPr>
              <p:nvPr/>
            </p:nvSpPr>
            <p:spPr bwMode="auto">
              <a:xfrm>
                <a:off x="2294" y="1865"/>
                <a:ext cx="282"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Engine type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2" name="Rectangle 17"/>
              <p:cNvSpPr>
                <a:spLocks noChangeArrowheads="1"/>
              </p:cNvSpPr>
              <p:nvPr/>
            </p:nvSpPr>
            <p:spPr bwMode="auto">
              <a:xfrm>
                <a:off x="370" y="1970"/>
                <a:ext cx="15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500" b="1">
                    <a:solidFill>
                      <a:srgbClr val="000000"/>
                    </a:solidFill>
                    <a:latin typeface="Meiryo UI" panose="020B0604030504040204" pitchFamily="50" charset="-128"/>
                    <a:ea typeface="Meiryo UI" panose="020B0604030504040204" pitchFamily="50" charset="-128"/>
                  </a:rPr>
                  <a:t>Bosch</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3" name="Rectangle 18"/>
              <p:cNvSpPr>
                <a:spLocks noChangeArrowheads="1"/>
              </p:cNvSpPr>
              <p:nvPr/>
            </p:nvSpPr>
            <p:spPr bwMode="auto">
              <a:xfrm>
                <a:off x="1185" y="1970"/>
                <a:ext cx="142"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500">
                    <a:solidFill>
                      <a:srgbClr val="000000"/>
                    </a:solidFill>
                    <a:latin typeface="Meiryo UI" panose="020B0604030504040204" pitchFamily="50" charset="-128"/>
                    <a:ea typeface="Meiryo UI" panose="020B0604030504040204" pitchFamily="50" charset="-128"/>
                  </a:rPr>
                  <a:t>Bosch</a:t>
                </a:r>
                <a:endParaRPr lang="ja-JP" altLang="ja-JP" sz="500">
                  <a:solidFill>
                    <a:srgbClr val="000000"/>
                  </a:solidFill>
                  <a:latin typeface="Meiryo UI" panose="020B0604030504040204" pitchFamily="50" charset="-128"/>
                  <a:ea typeface="Meiryo UI" panose="020B0604030504040204" pitchFamily="50" charset="-128"/>
                </a:endParaRPr>
              </a:p>
            </p:txBody>
          </p:sp>
          <p:sp>
            <p:nvSpPr>
              <p:cNvPr id="33834" name="Rectangle 19"/>
              <p:cNvSpPr>
                <a:spLocks noChangeArrowheads="1"/>
              </p:cNvSpPr>
              <p:nvPr/>
            </p:nvSpPr>
            <p:spPr bwMode="auto">
              <a:xfrm>
                <a:off x="296" y="2062"/>
                <a:ext cx="233"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Category</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5" name="Rectangle 20"/>
              <p:cNvSpPr>
                <a:spLocks noChangeArrowheads="1"/>
              </p:cNvSpPr>
              <p:nvPr/>
            </p:nvSpPr>
            <p:spPr bwMode="auto">
              <a:xfrm>
                <a:off x="1097" y="2062"/>
                <a:ext cx="336"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Requirement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6" name="Rectangle 21"/>
              <p:cNvSpPr>
                <a:spLocks noChangeArrowheads="1"/>
              </p:cNvSpPr>
              <p:nvPr/>
            </p:nvSpPr>
            <p:spPr bwMode="auto">
              <a:xfrm>
                <a:off x="2083" y="2062"/>
                <a:ext cx="530"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Confirmation Timing</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7" name="Rectangle 22"/>
              <p:cNvSpPr>
                <a:spLocks noChangeArrowheads="1"/>
              </p:cNvSpPr>
              <p:nvPr/>
            </p:nvSpPr>
            <p:spPr bwMode="auto">
              <a:xfrm>
                <a:off x="2174" y="2111"/>
                <a:ext cx="60"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P2</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8" name="Rectangle 23"/>
              <p:cNvSpPr>
                <a:spLocks noChangeArrowheads="1"/>
              </p:cNvSpPr>
              <p:nvPr/>
            </p:nvSpPr>
            <p:spPr bwMode="auto">
              <a:xfrm>
                <a:off x="2386" y="2111"/>
                <a:ext cx="64"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C1</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39" name="Rectangle 24"/>
              <p:cNvSpPr>
                <a:spLocks noChangeArrowheads="1"/>
              </p:cNvSpPr>
              <p:nvPr/>
            </p:nvSpPr>
            <p:spPr bwMode="auto">
              <a:xfrm>
                <a:off x="2615" y="2111"/>
                <a:ext cx="31"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0" name="Rectangle 25"/>
              <p:cNvSpPr>
                <a:spLocks noChangeArrowheads="1"/>
              </p:cNvSpPr>
              <p:nvPr/>
            </p:nvSpPr>
            <p:spPr bwMode="auto">
              <a:xfrm>
                <a:off x="2186" y="2163"/>
                <a:ext cx="3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O</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1" name="Rectangle 26"/>
              <p:cNvSpPr>
                <a:spLocks noChangeArrowheads="1"/>
              </p:cNvSpPr>
              <p:nvPr/>
            </p:nvSpPr>
            <p:spPr bwMode="auto">
              <a:xfrm>
                <a:off x="2369" y="2167"/>
                <a:ext cx="4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2" name="Rectangle 27"/>
              <p:cNvSpPr>
                <a:spLocks noChangeArrowheads="1"/>
              </p:cNvSpPr>
              <p:nvPr/>
            </p:nvSpPr>
            <p:spPr bwMode="auto">
              <a:xfrm>
                <a:off x="2611" y="2163"/>
                <a:ext cx="3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O</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3" name="Rectangle 28"/>
              <p:cNvSpPr>
                <a:spLocks noChangeArrowheads="1"/>
              </p:cNvSpPr>
              <p:nvPr/>
            </p:nvSpPr>
            <p:spPr bwMode="auto">
              <a:xfrm>
                <a:off x="304" y="2368"/>
                <a:ext cx="211"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Purpose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4" name="Rectangle 29"/>
              <p:cNvSpPr>
                <a:spLocks noChangeArrowheads="1"/>
              </p:cNvSpPr>
              <p:nvPr/>
            </p:nvSpPr>
            <p:spPr bwMode="auto">
              <a:xfrm>
                <a:off x="187" y="2469"/>
                <a:ext cx="57"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b="1">
                    <a:solidFill>
                      <a:srgbClr val="000000"/>
                    </a:solidFill>
                    <a:latin typeface="Meiryo UI" panose="020B0604030504040204" pitchFamily="50" charset="-128"/>
                    <a:ea typeface="Meiryo UI" panose="020B0604030504040204" pitchFamily="50" charset="-128"/>
                  </a:rPr>
                  <a:t>No</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5" name="Rectangle 30"/>
              <p:cNvSpPr>
                <a:spLocks noChangeArrowheads="1"/>
              </p:cNvSpPr>
              <p:nvPr/>
            </p:nvSpPr>
            <p:spPr bwMode="auto">
              <a:xfrm>
                <a:off x="379" y="2469"/>
                <a:ext cx="100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b="1">
                    <a:solidFill>
                      <a:srgbClr val="000000"/>
                    </a:solidFill>
                    <a:latin typeface="Meiryo UI" panose="020B0604030504040204" pitchFamily="50" charset="-128"/>
                    <a:ea typeface="Meiryo UI" panose="020B0604030504040204" pitchFamily="50" charset="-128"/>
                  </a:rPr>
                  <a:t>Confirmation Means and Submitting Documents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6" name="Rectangle 31"/>
              <p:cNvSpPr>
                <a:spLocks noChangeArrowheads="1"/>
              </p:cNvSpPr>
              <p:nvPr/>
            </p:nvSpPr>
            <p:spPr bwMode="auto">
              <a:xfrm>
                <a:off x="1462" y="2469"/>
                <a:ext cx="57"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b="1">
                    <a:solidFill>
                      <a:srgbClr val="000000"/>
                    </a:solidFill>
                    <a:latin typeface="Meiryo UI" panose="020B0604030504040204" pitchFamily="50" charset="-128"/>
                    <a:ea typeface="Meiryo UI" panose="020B0604030504040204" pitchFamily="50" charset="-128"/>
                  </a:rPr>
                  <a:t>No</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7" name="Rectangle 32"/>
              <p:cNvSpPr>
                <a:spLocks noChangeArrowheads="1"/>
              </p:cNvSpPr>
              <p:nvPr/>
            </p:nvSpPr>
            <p:spPr bwMode="auto">
              <a:xfrm>
                <a:off x="1904" y="2469"/>
                <a:ext cx="472"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b="1">
                    <a:solidFill>
                      <a:srgbClr val="000000"/>
                    </a:solidFill>
                    <a:latin typeface="Meiryo UI" panose="020B0604030504040204" pitchFamily="50" charset="-128"/>
                    <a:ea typeface="Meiryo UI" panose="020B0604030504040204" pitchFamily="50" charset="-128"/>
                  </a:rPr>
                  <a:t>Target of Performance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8" name="Rectangle 33"/>
              <p:cNvSpPr>
                <a:spLocks noChangeArrowheads="1"/>
              </p:cNvSpPr>
              <p:nvPr/>
            </p:nvSpPr>
            <p:spPr bwMode="auto">
              <a:xfrm>
                <a:off x="205" y="2514"/>
                <a:ext cx="2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1</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49" name="Rectangle 34"/>
              <p:cNvSpPr>
                <a:spLocks noChangeArrowheads="1"/>
              </p:cNvSpPr>
              <p:nvPr/>
            </p:nvSpPr>
            <p:spPr bwMode="auto">
              <a:xfrm>
                <a:off x="1480" y="2514"/>
                <a:ext cx="2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1</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0" name="Rectangle 35"/>
              <p:cNvSpPr>
                <a:spLocks noChangeArrowheads="1"/>
              </p:cNvSpPr>
              <p:nvPr/>
            </p:nvSpPr>
            <p:spPr bwMode="auto">
              <a:xfrm>
                <a:off x="1480" y="2648"/>
                <a:ext cx="2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2</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1" name="Rectangle 36"/>
              <p:cNvSpPr>
                <a:spLocks noChangeArrowheads="1"/>
              </p:cNvSpPr>
              <p:nvPr/>
            </p:nvSpPr>
            <p:spPr bwMode="auto">
              <a:xfrm>
                <a:off x="201" y="3071"/>
                <a:ext cx="35"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P2</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2" name="Rectangle 37"/>
              <p:cNvSpPr>
                <a:spLocks noChangeArrowheads="1"/>
              </p:cNvSpPr>
              <p:nvPr/>
            </p:nvSpPr>
            <p:spPr bwMode="auto">
              <a:xfrm>
                <a:off x="900" y="3069"/>
                <a:ext cx="908"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 Prospect and further actions at A/B judgment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3" name="Rectangle 38"/>
              <p:cNvSpPr>
                <a:spLocks noChangeArrowheads="1"/>
              </p:cNvSpPr>
              <p:nvPr/>
            </p:nvSpPr>
            <p:spPr bwMode="auto">
              <a:xfrm>
                <a:off x="214" y="3116"/>
                <a:ext cx="90"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Status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4" name="Rectangle 39"/>
              <p:cNvSpPr>
                <a:spLocks noChangeArrowheads="1"/>
              </p:cNvSpPr>
              <p:nvPr/>
            </p:nvSpPr>
            <p:spPr bwMode="auto">
              <a:xfrm>
                <a:off x="360" y="3116"/>
                <a:ext cx="10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Criteria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5" name="Rectangle 40"/>
              <p:cNvSpPr>
                <a:spLocks noChangeArrowheads="1"/>
              </p:cNvSpPr>
              <p:nvPr/>
            </p:nvSpPr>
            <p:spPr bwMode="auto">
              <a:xfrm>
                <a:off x="412" y="3161"/>
                <a:ext cx="272"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O  Target achieved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6" name="Rectangle 41"/>
              <p:cNvSpPr>
                <a:spLocks noChangeArrowheads="1"/>
              </p:cNvSpPr>
              <p:nvPr/>
            </p:nvSpPr>
            <p:spPr bwMode="auto">
              <a:xfrm>
                <a:off x="441" y="3205"/>
                <a:ext cx="3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   Positive but open items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7" name="Rectangle 42"/>
              <p:cNvSpPr>
                <a:spLocks noChangeArrowheads="1"/>
              </p:cNvSpPr>
              <p:nvPr/>
            </p:nvSpPr>
            <p:spPr bwMode="auto">
              <a:xfrm>
                <a:off x="372" y="3250"/>
                <a:ext cx="145"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B   Critical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8" name="Rectangle 43"/>
              <p:cNvSpPr>
                <a:spLocks noChangeArrowheads="1"/>
              </p:cNvSpPr>
              <p:nvPr/>
            </p:nvSpPr>
            <p:spPr bwMode="auto">
              <a:xfrm>
                <a:off x="372" y="3295"/>
                <a:ext cx="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300">
                    <a:solidFill>
                      <a:srgbClr val="000000"/>
                    </a:solidFill>
                    <a:latin typeface="Meiryo UI" panose="020B0604030504040204" pitchFamily="50" charset="-128"/>
                    <a:ea typeface="Meiryo UI" panose="020B0604030504040204" pitchFamily="50" charset="-128"/>
                  </a:rPr>
                  <a:t>Bosch</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59" name="Rectangle 44"/>
              <p:cNvSpPr>
                <a:spLocks noChangeArrowheads="1"/>
              </p:cNvSpPr>
              <p:nvPr/>
            </p:nvSpPr>
            <p:spPr bwMode="auto">
              <a:xfrm>
                <a:off x="683" y="3295"/>
                <a:ext cx="93"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Honda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0" name="Rectangle 45"/>
              <p:cNvSpPr>
                <a:spLocks noChangeArrowheads="1"/>
              </p:cNvSpPr>
              <p:nvPr/>
            </p:nvSpPr>
            <p:spPr bwMode="auto">
              <a:xfrm>
                <a:off x="272" y="3340"/>
                <a:ext cx="49"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PIC</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1" name="Rectangle 46"/>
              <p:cNvSpPr>
                <a:spLocks noChangeArrowheads="1"/>
              </p:cNvSpPr>
              <p:nvPr/>
            </p:nvSpPr>
            <p:spPr bwMode="auto">
              <a:xfrm>
                <a:off x="458" y="3340"/>
                <a:ext cx="127"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Approval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2" name="Rectangle 47"/>
              <p:cNvSpPr>
                <a:spLocks noChangeArrowheads="1"/>
              </p:cNvSpPr>
              <p:nvPr/>
            </p:nvSpPr>
            <p:spPr bwMode="auto">
              <a:xfrm>
                <a:off x="675" y="3340"/>
                <a:ext cx="121"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received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3" name="Rectangle 48"/>
              <p:cNvSpPr>
                <a:spLocks noChangeArrowheads="1"/>
              </p:cNvSpPr>
              <p:nvPr/>
            </p:nvSpPr>
            <p:spPr bwMode="auto">
              <a:xfrm>
                <a:off x="202" y="3474"/>
                <a:ext cx="38"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C1</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4" name="Rectangle 49"/>
              <p:cNvSpPr>
                <a:spLocks noChangeArrowheads="1"/>
              </p:cNvSpPr>
              <p:nvPr/>
            </p:nvSpPr>
            <p:spPr bwMode="auto">
              <a:xfrm>
                <a:off x="900" y="3472"/>
                <a:ext cx="908"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 Prospect and further actions at A/B judgment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5" name="Rectangle 50"/>
              <p:cNvSpPr>
                <a:spLocks noChangeArrowheads="1"/>
              </p:cNvSpPr>
              <p:nvPr/>
            </p:nvSpPr>
            <p:spPr bwMode="auto">
              <a:xfrm>
                <a:off x="214" y="3519"/>
                <a:ext cx="90"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Status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6" name="Rectangle 51"/>
              <p:cNvSpPr>
                <a:spLocks noChangeArrowheads="1"/>
              </p:cNvSpPr>
              <p:nvPr/>
            </p:nvSpPr>
            <p:spPr bwMode="auto">
              <a:xfrm>
                <a:off x="360" y="3519"/>
                <a:ext cx="10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Criteria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7" name="Rectangle 52"/>
              <p:cNvSpPr>
                <a:spLocks noChangeArrowheads="1"/>
              </p:cNvSpPr>
              <p:nvPr/>
            </p:nvSpPr>
            <p:spPr bwMode="auto">
              <a:xfrm>
                <a:off x="412" y="3564"/>
                <a:ext cx="272"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O  Target achieved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8" name="Rectangle 53"/>
              <p:cNvSpPr>
                <a:spLocks noChangeArrowheads="1"/>
              </p:cNvSpPr>
              <p:nvPr/>
            </p:nvSpPr>
            <p:spPr bwMode="auto">
              <a:xfrm>
                <a:off x="441" y="3608"/>
                <a:ext cx="3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   Positive but open items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69" name="Rectangle 54"/>
              <p:cNvSpPr>
                <a:spLocks noChangeArrowheads="1"/>
              </p:cNvSpPr>
              <p:nvPr/>
            </p:nvSpPr>
            <p:spPr bwMode="auto">
              <a:xfrm>
                <a:off x="372" y="3653"/>
                <a:ext cx="145"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B   Critical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0" name="Rectangle 55"/>
              <p:cNvSpPr>
                <a:spLocks noChangeArrowheads="1"/>
              </p:cNvSpPr>
              <p:nvPr/>
            </p:nvSpPr>
            <p:spPr bwMode="auto">
              <a:xfrm>
                <a:off x="370" y="3698"/>
                <a:ext cx="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300">
                    <a:solidFill>
                      <a:srgbClr val="000000"/>
                    </a:solidFill>
                    <a:latin typeface="Meiryo UI" panose="020B0604030504040204" pitchFamily="50" charset="-128"/>
                    <a:ea typeface="Meiryo UI" panose="020B0604030504040204" pitchFamily="50" charset="-128"/>
                  </a:rPr>
                  <a:t>Bosch</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1" name="Rectangle 56"/>
              <p:cNvSpPr>
                <a:spLocks noChangeArrowheads="1"/>
              </p:cNvSpPr>
              <p:nvPr/>
            </p:nvSpPr>
            <p:spPr bwMode="auto">
              <a:xfrm>
                <a:off x="683" y="3698"/>
                <a:ext cx="93"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Honda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2" name="Rectangle 57"/>
              <p:cNvSpPr>
                <a:spLocks noChangeArrowheads="1"/>
              </p:cNvSpPr>
              <p:nvPr/>
            </p:nvSpPr>
            <p:spPr bwMode="auto">
              <a:xfrm>
                <a:off x="272" y="3743"/>
                <a:ext cx="49"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PIC</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3" name="Rectangle 58"/>
              <p:cNvSpPr>
                <a:spLocks noChangeArrowheads="1"/>
              </p:cNvSpPr>
              <p:nvPr/>
            </p:nvSpPr>
            <p:spPr bwMode="auto">
              <a:xfrm>
                <a:off x="458" y="3743"/>
                <a:ext cx="127"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Approval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4" name="Rectangle 59"/>
              <p:cNvSpPr>
                <a:spLocks noChangeArrowheads="1"/>
              </p:cNvSpPr>
              <p:nvPr/>
            </p:nvSpPr>
            <p:spPr bwMode="auto">
              <a:xfrm>
                <a:off x="675" y="3743"/>
                <a:ext cx="121"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received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5" name="Rectangle 60"/>
              <p:cNvSpPr>
                <a:spLocks noChangeArrowheads="1"/>
              </p:cNvSpPr>
              <p:nvPr/>
            </p:nvSpPr>
            <p:spPr bwMode="auto">
              <a:xfrm>
                <a:off x="194" y="3877"/>
                <a:ext cx="18"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6" name="Rectangle 61"/>
              <p:cNvSpPr>
                <a:spLocks noChangeArrowheads="1"/>
              </p:cNvSpPr>
              <p:nvPr/>
            </p:nvSpPr>
            <p:spPr bwMode="auto">
              <a:xfrm>
                <a:off x="900" y="3875"/>
                <a:ext cx="908"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 Prospect and further actions at A/B judgment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7" name="Rectangle 62"/>
              <p:cNvSpPr>
                <a:spLocks noChangeArrowheads="1"/>
              </p:cNvSpPr>
              <p:nvPr/>
            </p:nvSpPr>
            <p:spPr bwMode="auto">
              <a:xfrm>
                <a:off x="214" y="3922"/>
                <a:ext cx="90"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Status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8" name="Rectangle 63"/>
              <p:cNvSpPr>
                <a:spLocks noChangeArrowheads="1"/>
              </p:cNvSpPr>
              <p:nvPr/>
            </p:nvSpPr>
            <p:spPr bwMode="auto">
              <a:xfrm>
                <a:off x="360" y="3922"/>
                <a:ext cx="10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Criteria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79" name="Rectangle 64"/>
              <p:cNvSpPr>
                <a:spLocks noChangeArrowheads="1"/>
              </p:cNvSpPr>
              <p:nvPr/>
            </p:nvSpPr>
            <p:spPr bwMode="auto">
              <a:xfrm>
                <a:off x="412" y="3966"/>
                <a:ext cx="272"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O  Target achieved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0" name="Rectangle 65"/>
              <p:cNvSpPr>
                <a:spLocks noChangeArrowheads="1"/>
              </p:cNvSpPr>
              <p:nvPr/>
            </p:nvSpPr>
            <p:spPr bwMode="auto">
              <a:xfrm>
                <a:off x="441" y="4011"/>
                <a:ext cx="3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   Positive but open items</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1" name="Rectangle 66"/>
              <p:cNvSpPr>
                <a:spLocks noChangeArrowheads="1"/>
              </p:cNvSpPr>
              <p:nvPr/>
            </p:nvSpPr>
            <p:spPr bwMode="auto">
              <a:xfrm>
                <a:off x="372" y="4056"/>
                <a:ext cx="145"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B   Critical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2" name="Rectangle 67"/>
              <p:cNvSpPr>
                <a:spLocks noChangeArrowheads="1"/>
              </p:cNvSpPr>
              <p:nvPr/>
            </p:nvSpPr>
            <p:spPr bwMode="auto">
              <a:xfrm>
                <a:off x="370" y="4101"/>
                <a:ext cx="84"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ja-JP" sz="300">
                    <a:solidFill>
                      <a:srgbClr val="000000"/>
                    </a:solidFill>
                    <a:latin typeface="Meiryo UI" panose="020B0604030504040204" pitchFamily="50" charset="-128"/>
                    <a:ea typeface="Meiryo UI" panose="020B0604030504040204" pitchFamily="50" charset="-128"/>
                  </a:rPr>
                  <a:t>Bosch</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3" name="Rectangle 68"/>
              <p:cNvSpPr>
                <a:spLocks noChangeArrowheads="1"/>
              </p:cNvSpPr>
              <p:nvPr/>
            </p:nvSpPr>
            <p:spPr bwMode="auto">
              <a:xfrm>
                <a:off x="683" y="4101"/>
                <a:ext cx="93"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Honda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4" name="Rectangle 69"/>
              <p:cNvSpPr>
                <a:spLocks noChangeArrowheads="1"/>
              </p:cNvSpPr>
              <p:nvPr/>
            </p:nvSpPr>
            <p:spPr bwMode="auto">
              <a:xfrm>
                <a:off x="272" y="4145"/>
                <a:ext cx="49"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PIC</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5" name="Rectangle 70"/>
              <p:cNvSpPr>
                <a:spLocks noChangeArrowheads="1"/>
              </p:cNvSpPr>
              <p:nvPr/>
            </p:nvSpPr>
            <p:spPr bwMode="auto">
              <a:xfrm>
                <a:off x="458" y="4145"/>
                <a:ext cx="127"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Approval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6" name="Rectangle 71"/>
              <p:cNvSpPr>
                <a:spLocks noChangeArrowheads="1"/>
              </p:cNvSpPr>
              <p:nvPr/>
            </p:nvSpPr>
            <p:spPr bwMode="auto">
              <a:xfrm>
                <a:off x="675" y="4145"/>
                <a:ext cx="121" cy="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300">
                    <a:solidFill>
                      <a:srgbClr val="000000"/>
                    </a:solidFill>
                    <a:latin typeface="Meiryo UI" panose="020B0604030504040204" pitchFamily="50" charset="-128"/>
                    <a:ea typeface="Meiryo UI" panose="020B0604030504040204" pitchFamily="50" charset="-128"/>
                  </a:rPr>
                  <a:t>received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7" name="Rectangle 72"/>
              <p:cNvSpPr>
                <a:spLocks noChangeArrowheads="1"/>
              </p:cNvSpPr>
              <p:nvPr/>
            </p:nvSpPr>
            <p:spPr bwMode="auto">
              <a:xfrm>
                <a:off x="1239" y="3013"/>
                <a:ext cx="513"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Reports from </a:t>
                </a:r>
                <a:r>
                  <a:rPr lang="en-US" altLang="ja-JP" sz="500" b="1">
                    <a:solidFill>
                      <a:srgbClr val="000000"/>
                    </a:solidFill>
                    <a:latin typeface="Meiryo UI" panose="020B0604030504040204" pitchFamily="50" charset="-128"/>
                    <a:ea typeface="Meiryo UI" panose="020B0604030504040204" pitchFamily="50" charset="-128"/>
                  </a:rPr>
                  <a:t>Bosch</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8" name="Rectangle 73"/>
              <p:cNvSpPr>
                <a:spLocks noChangeArrowheads="1"/>
              </p:cNvSpPr>
              <p:nvPr/>
            </p:nvSpPr>
            <p:spPr bwMode="auto">
              <a:xfrm>
                <a:off x="740" y="2368"/>
                <a:ext cx="91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Check of Cold startability at Sea Level.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89" name="Rectangle 74"/>
              <p:cNvSpPr>
                <a:spLocks noChangeArrowheads="1"/>
              </p:cNvSpPr>
              <p:nvPr/>
            </p:nvSpPr>
            <p:spPr bwMode="auto">
              <a:xfrm>
                <a:off x="300" y="2512"/>
                <a:ext cx="46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Startability at Sea Level.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0" name="Rectangle 75"/>
              <p:cNvSpPr>
                <a:spLocks noChangeArrowheads="1"/>
              </p:cNvSpPr>
              <p:nvPr/>
            </p:nvSpPr>
            <p:spPr bwMode="auto">
              <a:xfrm>
                <a:off x="345" y="2550"/>
                <a:ext cx="986"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Check startability with specified engine water temp.</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1" name="Rectangle 76"/>
              <p:cNvSpPr>
                <a:spLocks noChangeArrowheads="1"/>
              </p:cNvSpPr>
              <p:nvPr/>
            </p:nvSpPr>
            <p:spPr bwMode="auto">
              <a:xfrm>
                <a:off x="344" y="2588"/>
                <a:ext cx="942"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 Test method, condition and measurement data.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2" name="Rectangle 77"/>
              <p:cNvSpPr>
                <a:spLocks noChangeArrowheads="1"/>
              </p:cNvSpPr>
              <p:nvPr/>
            </p:nvSpPr>
            <p:spPr bwMode="auto">
              <a:xfrm>
                <a:off x="1928" y="1865"/>
                <a:ext cx="13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Model</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3" name="Rectangle 78"/>
              <p:cNvSpPr>
                <a:spLocks noChangeArrowheads="1"/>
              </p:cNvSpPr>
              <p:nvPr/>
            </p:nvSpPr>
            <p:spPr bwMode="auto">
              <a:xfrm>
                <a:off x="2107" y="1975"/>
                <a:ext cx="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ja-JP" altLang="ja-JP">
                  <a:solidFill>
                    <a:srgbClr val="000000"/>
                  </a:solidFill>
                  <a:latin typeface="Meiryo UI" panose="020B0604030504040204" pitchFamily="50" charset="-128"/>
                  <a:ea typeface="Meiryo UI" panose="020B0604030504040204" pitchFamily="50" charset="-128"/>
                </a:endParaRPr>
              </a:p>
            </p:txBody>
          </p:sp>
          <p:sp>
            <p:nvSpPr>
              <p:cNvPr id="33894" name="Rectangle 79"/>
              <p:cNvSpPr>
                <a:spLocks noChangeArrowheads="1"/>
              </p:cNvSpPr>
              <p:nvPr/>
            </p:nvSpPr>
            <p:spPr bwMode="auto">
              <a:xfrm>
                <a:off x="299" y="2140"/>
                <a:ext cx="221"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EMS-7-5</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5" name="Rectangle 80"/>
              <p:cNvSpPr>
                <a:spLocks noChangeArrowheads="1"/>
              </p:cNvSpPr>
              <p:nvPr/>
            </p:nvSpPr>
            <p:spPr bwMode="auto">
              <a:xfrm>
                <a:off x="314" y="2187"/>
                <a:ext cx="186"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Vehicle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6" name="Rectangle 81"/>
              <p:cNvSpPr>
                <a:spLocks noChangeArrowheads="1"/>
              </p:cNvSpPr>
              <p:nvPr/>
            </p:nvSpPr>
            <p:spPr bwMode="auto">
              <a:xfrm>
                <a:off x="250" y="2234"/>
                <a:ext cx="33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b="1">
                    <a:solidFill>
                      <a:srgbClr val="000000"/>
                    </a:solidFill>
                    <a:latin typeface="Meiryo UI" panose="020B0604030504040204" pitchFamily="50" charset="-128"/>
                    <a:ea typeface="Meiryo UI" panose="020B0604030504040204" pitchFamily="50" charset="-128"/>
                  </a:rPr>
                  <a:t>Marketability</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7" name="Rectangle 82"/>
              <p:cNvSpPr>
                <a:spLocks noChangeArrowheads="1"/>
              </p:cNvSpPr>
              <p:nvPr/>
            </p:nvSpPr>
            <p:spPr bwMode="auto">
              <a:xfrm>
                <a:off x="754" y="2109"/>
                <a:ext cx="1079"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Startability (Until Reach Target Engine Speed</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8" name="Rectangle 83"/>
              <p:cNvSpPr>
                <a:spLocks noChangeArrowheads="1"/>
              </p:cNvSpPr>
              <p:nvPr/>
            </p:nvSpPr>
            <p:spPr bwMode="auto">
              <a:xfrm>
                <a:off x="644" y="2154"/>
                <a:ext cx="277"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after start.)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899" name="Rectangle 84"/>
              <p:cNvSpPr>
                <a:spLocks noChangeArrowheads="1"/>
              </p:cNvSpPr>
              <p:nvPr/>
            </p:nvSpPr>
            <p:spPr bwMode="auto">
              <a:xfrm>
                <a:off x="667" y="2198"/>
                <a:ext cx="395" cy="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500">
                    <a:solidFill>
                      <a:srgbClr val="000000"/>
                    </a:solidFill>
                    <a:latin typeface="Meiryo UI" panose="020B0604030504040204" pitchFamily="50" charset="-128"/>
                    <a:ea typeface="Meiryo UI" panose="020B0604030504040204" pitchFamily="50" charset="-128"/>
                  </a:rPr>
                  <a:t>Cold Startability.</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0" name="Rectangle 85"/>
              <p:cNvSpPr>
                <a:spLocks noChangeArrowheads="1"/>
              </p:cNvSpPr>
              <p:nvPr/>
            </p:nvSpPr>
            <p:spPr bwMode="auto">
              <a:xfrm>
                <a:off x="1895" y="1975"/>
                <a:ext cx="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ja-JP" altLang="ja-JP">
                  <a:solidFill>
                    <a:srgbClr val="000000"/>
                  </a:solidFill>
                  <a:latin typeface="Meiryo UI" panose="020B0604030504040204" pitchFamily="50" charset="-128"/>
                  <a:ea typeface="Meiryo UI" panose="020B0604030504040204" pitchFamily="50" charset="-128"/>
                </a:endParaRPr>
              </a:p>
            </p:txBody>
          </p:sp>
          <p:sp>
            <p:nvSpPr>
              <p:cNvPr id="33901" name="Rectangle 86"/>
              <p:cNvSpPr>
                <a:spLocks noChangeArrowheads="1"/>
              </p:cNvSpPr>
              <p:nvPr/>
            </p:nvSpPr>
            <p:spPr bwMode="auto">
              <a:xfrm>
                <a:off x="1627" y="2512"/>
                <a:ext cx="973"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Start time should keep below HONDA requirement.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2" name="Rectangle 87"/>
              <p:cNvSpPr>
                <a:spLocks noChangeArrowheads="1"/>
              </p:cNvSpPr>
              <p:nvPr/>
            </p:nvSpPr>
            <p:spPr bwMode="auto">
              <a:xfrm>
                <a:off x="1621" y="2550"/>
                <a:ext cx="921"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See "Start Time Requirement" in the next sheet.</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3" name="Rectangle 88"/>
              <p:cNvSpPr>
                <a:spLocks noChangeArrowheads="1"/>
              </p:cNvSpPr>
              <p:nvPr/>
            </p:nvSpPr>
            <p:spPr bwMode="auto">
              <a:xfrm>
                <a:off x="1533" y="2588"/>
                <a:ext cx="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ja-JP" altLang="ja-JP">
                  <a:solidFill>
                    <a:srgbClr val="000000"/>
                  </a:solidFill>
                  <a:latin typeface="Meiryo UI" panose="020B0604030504040204" pitchFamily="50" charset="-128"/>
                  <a:ea typeface="Meiryo UI" panose="020B0604030504040204" pitchFamily="50" charset="-128"/>
                </a:endParaRPr>
              </a:p>
            </p:txBody>
          </p:sp>
          <p:sp>
            <p:nvSpPr>
              <p:cNvPr id="33904" name="Rectangle 89"/>
              <p:cNvSpPr>
                <a:spLocks noChangeArrowheads="1"/>
              </p:cNvSpPr>
              <p:nvPr/>
            </p:nvSpPr>
            <p:spPr bwMode="auto">
              <a:xfrm>
                <a:off x="1643" y="2626"/>
                <a:ext cx="1019"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Engine should not have remarkable engine speed rise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5" name="Rectangle 90"/>
              <p:cNvSpPr>
                <a:spLocks noChangeArrowheads="1"/>
              </p:cNvSpPr>
              <p:nvPr/>
            </p:nvSpPr>
            <p:spPr bwMode="auto">
              <a:xfrm>
                <a:off x="1559" y="2664"/>
                <a:ext cx="33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000000"/>
                    </a:solidFill>
                    <a:latin typeface="Meiryo UI" panose="020B0604030504040204" pitchFamily="50" charset="-128"/>
                    <a:ea typeface="Meiryo UI" panose="020B0604030504040204" pitchFamily="50" charset="-128"/>
                  </a:rPr>
                  <a:t>after start phase.</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6" name="Rectangle 91"/>
              <p:cNvSpPr>
                <a:spLocks noChangeArrowheads="1"/>
              </p:cNvSpPr>
              <p:nvPr/>
            </p:nvSpPr>
            <p:spPr bwMode="auto">
              <a:xfrm>
                <a:off x="1533" y="2702"/>
                <a:ext cx="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ja-JP" altLang="ja-JP">
                  <a:solidFill>
                    <a:srgbClr val="000000"/>
                  </a:solidFill>
                  <a:latin typeface="Meiryo UI" panose="020B0604030504040204" pitchFamily="50" charset="-128"/>
                  <a:ea typeface="Meiryo UI" panose="020B0604030504040204" pitchFamily="50" charset="-128"/>
                </a:endParaRPr>
              </a:p>
            </p:txBody>
          </p:sp>
          <p:sp>
            <p:nvSpPr>
              <p:cNvPr id="33907" name="Rectangle 92"/>
              <p:cNvSpPr>
                <a:spLocks noChangeArrowheads="1"/>
              </p:cNvSpPr>
              <p:nvPr/>
            </p:nvSpPr>
            <p:spPr bwMode="auto">
              <a:xfrm>
                <a:off x="1614" y="2740"/>
                <a:ext cx="865"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FF0000"/>
                    </a:solidFill>
                    <a:latin typeface="Meiryo UI" panose="020B0604030504040204" pitchFamily="50" charset="-128"/>
                    <a:ea typeface="Meiryo UI" panose="020B0604030504040204" pitchFamily="50" charset="-128"/>
                  </a:rPr>
                  <a:t>China:Honda require just only emission area.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8" name="Rectangle 93"/>
              <p:cNvSpPr>
                <a:spLocks noChangeArrowheads="1"/>
              </p:cNvSpPr>
              <p:nvPr/>
            </p:nvSpPr>
            <p:spPr bwMode="auto">
              <a:xfrm>
                <a:off x="1598" y="2778"/>
                <a:ext cx="948"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FF0000"/>
                    </a:solidFill>
                    <a:latin typeface="Meiryo UI" panose="020B0604030504040204" pitchFamily="50" charset="-128"/>
                    <a:ea typeface="Meiryo UI" panose="020B0604030504040204" pitchFamily="50" charset="-128"/>
                  </a:rPr>
                  <a:t>Braizil:Honda require '-5','0','+5','+10','+20' area</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09" name="Rectangle 94"/>
              <p:cNvSpPr>
                <a:spLocks noChangeArrowheads="1"/>
              </p:cNvSpPr>
              <p:nvPr/>
            </p:nvSpPr>
            <p:spPr bwMode="auto">
              <a:xfrm>
                <a:off x="1549" y="2816"/>
                <a:ext cx="214"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ja-JP" altLang="ja-JP" sz="400">
                    <a:solidFill>
                      <a:srgbClr val="FF0000"/>
                    </a:solidFill>
                    <a:latin typeface="Meiryo UI" panose="020B0604030504040204" pitchFamily="50" charset="-128"/>
                    <a:ea typeface="Meiryo UI" panose="020B0604030504040204" pitchFamily="50" charset="-128"/>
                  </a:rPr>
                  <a:t>startability.</a:t>
                </a:r>
                <a:endParaRPr lang="ja-JP" altLang="ja-JP">
                  <a:solidFill>
                    <a:srgbClr val="000000"/>
                  </a:solidFill>
                  <a:latin typeface="Meiryo UI" panose="020B0604030504040204" pitchFamily="50" charset="-128"/>
                  <a:ea typeface="Meiryo UI" panose="020B0604030504040204" pitchFamily="50" charset="-128"/>
                </a:endParaRPr>
              </a:p>
            </p:txBody>
          </p:sp>
          <p:sp>
            <p:nvSpPr>
              <p:cNvPr id="33910" name="Line 95"/>
              <p:cNvSpPr>
                <a:spLocks noChangeShapeType="1"/>
              </p:cNvSpPr>
              <p:nvPr/>
            </p:nvSpPr>
            <p:spPr bwMode="auto">
              <a:xfrm>
                <a:off x="1865" y="1849"/>
                <a:ext cx="0" cy="1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1" name="Rectangle 96"/>
              <p:cNvSpPr>
                <a:spLocks noChangeArrowheads="1"/>
              </p:cNvSpPr>
              <p:nvPr/>
            </p:nvSpPr>
            <p:spPr bwMode="auto">
              <a:xfrm>
                <a:off x="1865" y="1849"/>
                <a:ext cx="3" cy="1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2" name="Line 97"/>
              <p:cNvSpPr>
                <a:spLocks noChangeShapeType="1"/>
              </p:cNvSpPr>
              <p:nvPr/>
            </p:nvSpPr>
            <p:spPr bwMode="auto">
              <a:xfrm>
                <a:off x="2077" y="1849"/>
                <a:ext cx="0" cy="1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3" name="Rectangle 98"/>
              <p:cNvSpPr>
                <a:spLocks noChangeArrowheads="1"/>
              </p:cNvSpPr>
              <p:nvPr/>
            </p:nvSpPr>
            <p:spPr bwMode="auto">
              <a:xfrm>
                <a:off x="2077" y="1849"/>
                <a:ext cx="4" cy="1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4" name="Line 99"/>
              <p:cNvSpPr>
                <a:spLocks noChangeShapeType="1"/>
              </p:cNvSpPr>
              <p:nvPr/>
            </p:nvSpPr>
            <p:spPr bwMode="auto">
              <a:xfrm>
                <a:off x="236" y="2467"/>
                <a:ext cx="0"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5" name="Rectangle 100"/>
              <p:cNvSpPr>
                <a:spLocks noChangeArrowheads="1"/>
              </p:cNvSpPr>
              <p:nvPr/>
            </p:nvSpPr>
            <p:spPr bwMode="auto">
              <a:xfrm>
                <a:off x="236" y="2467"/>
                <a:ext cx="4" cy="4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6" name="Line 101"/>
              <p:cNvSpPr>
                <a:spLocks noChangeShapeType="1"/>
              </p:cNvSpPr>
              <p:nvPr/>
            </p:nvSpPr>
            <p:spPr bwMode="auto">
              <a:xfrm>
                <a:off x="1511" y="2467"/>
                <a:ext cx="0"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7" name="Rectangle 102"/>
              <p:cNvSpPr>
                <a:spLocks noChangeArrowheads="1"/>
              </p:cNvSpPr>
              <p:nvPr/>
            </p:nvSpPr>
            <p:spPr bwMode="auto">
              <a:xfrm>
                <a:off x="1511" y="2467"/>
                <a:ext cx="3" cy="4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8" name="Line 103"/>
              <p:cNvSpPr>
                <a:spLocks noChangeShapeType="1"/>
              </p:cNvSpPr>
              <p:nvPr/>
            </p:nvSpPr>
            <p:spPr bwMode="auto">
              <a:xfrm>
                <a:off x="590" y="2060"/>
                <a:ext cx="0" cy="40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19" name="Rectangle 104"/>
              <p:cNvSpPr>
                <a:spLocks noChangeArrowheads="1"/>
              </p:cNvSpPr>
              <p:nvPr/>
            </p:nvSpPr>
            <p:spPr bwMode="auto">
              <a:xfrm>
                <a:off x="590" y="2060"/>
                <a:ext cx="4" cy="40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0" name="Line 105"/>
              <p:cNvSpPr>
                <a:spLocks noChangeShapeType="1"/>
              </p:cNvSpPr>
              <p:nvPr/>
            </p:nvSpPr>
            <p:spPr bwMode="auto">
              <a:xfrm>
                <a:off x="590" y="3291"/>
                <a:ext cx="0" cy="4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1" name="Rectangle 106"/>
              <p:cNvSpPr>
                <a:spLocks noChangeArrowheads="1"/>
              </p:cNvSpPr>
              <p:nvPr/>
            </p:nvSpPr>
            <p:spPr bwMode="auto">
              <a:xfrm>
                <a:off x="590" y="3291"/>
                <a:ext cx="4"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2" name="Line 107"/>
              <p:cNvSpPr>
                <a:spLocks noChangeShapeType="1"/>
              </p:cNvSpPr>
              <p:nvPr/>
            </p:nvSpPr>
            <p:spPr bwMode="auto">
              <a:xfrm>
                <a:off x="377" y="3335"/>
                <a:ext cx="0"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3" name="Rectangle 108"/>
              <p:cNvSpPr>
                <a:spLocks noChangeArrowheads="1"/>
              </p:cNvSpPr>
              <p:nvPr/>
            </p:nvSpPr>
            <p:spPr bwMode="auto">
              <a:xfrm>
                <a:off x="377" y="3335"/>
                <a:ext cx="4"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4" name="Line 109"/>
              <p:cNvSpPr>
                <a:spLocks noChangeShapeType="1"/>
              </p:cNvSpPr>
              <p:nvPr/>
            </p:nvSpPr>
            <p:spPr bwMode="auto">
              <a:xfrm>
                <a:off x="590" y="3335"/>
                <a:ext cx="0"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5" name="Rectangle 110"/>
              <p:cNvSpPr>
                <a:spLocks noChangeArrowheads="1"/>
              </p:cNvSpPr>
              <p:nvPr/>
            </p:nvSpPr>
            <p:spPr bwMode="auto">
              <a:xfrm>
                <a:off x="590" y="3335"/>
                <a:ext cx="4"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6" name="Line 111"/>
              <p:cNvSpPr>
                <a:spLocks noChangeShapeType="1"/>
              </p:cNvSpPr>
              <p:nvPr/>
            </p:nvSpPr>
            <p:spPr bwMode="auto">
              <a:xfrm>
                <a:off x="169" y="3467"/>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7" name="Rectangle 112"/>
              <p:cNvSpPr>
                <a:spLocks noChangeArrowheads="1"/>
              </p:cNvSpPr>
              <p:nvPr/>
            </p:nvSpPr>
            <p:spPr bwMode="auto">
              <a:xfrm>
                <a:off x="169" y="3467"/>
                <a:ext cx="637"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8" name="Line 113"/>
              <p:cNvSpPr>
                <a:spLocks noChangeShapeType="1"/>
              </p:cNvSpPr>
              <p:nvPr/>
            </p:nvSpPr>
            <p:spPr bwMode="auto">
              <a:xfrm>
                <a:off x="307" y="3111"/>
                <a:ext cx="0" cy="17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29" name="Rectangle 114"/>
              <p:cNvSpPr>
                <a:spLocks noChangeArrowheads="1"/>
              </p:cNvSpPr>
              <p:nvPr/>
            </p:nvSpPr>
            <p:spPr bwMode="auto">
              <a:xfrm>
                <a:off x="307" y="3111"/>
                <a:ext cx="3" cy="17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0" name="Line 115"/>
              <p:cNvSpPr>
                <a:spLocks noChangeShapeType="1"/>
              </p:cNvSpPr>
              <p:nvPr/>
            </p:nvSpPr>
            <p:spPr bwMode="auto">
              <a:xfrm>
                <a:off x="590" y="3380"/>
                <a:ext cx="0" cy="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1" name="Rectangle 116"/>
              <p:cNvSpPr>
                <a:spLocks noChangeArrowheads="1"/>
              </p:cNvSpPr>
              <p:nvPr/>
            </p:nvSpPr>
            <p:spPr bwMode="auto">
              <a:xfrm>
                <a:off x="590" y="3380"/>
                <a:ext cx="4" cy="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2" name="Line 117"/>
              <p:cNvSpPr>
                <a:spLocks noChangeShapeType="1"/>
              </p:cNvSpPr>
              <p:nvPr/>
            </p:nvSpPr>
            <p:spPr bwMode="auto">
              <a:xfrm>
                <a:off x="377" y="3380"/>
                <a:ext cx="0" cy="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3" name="Rectangle 118"/>
              <p:cNvSpPr>
                <a:spLocks noChangeArrowheads="1"/>
              </p:cNvSpPr>
              <p:nvPr/>
            </p:nvSpPr>
            <p:spPr bwMode="auto">
              <a:xfrm>
                <a:off x="377" y="3380"/>
                <a:ext cx="4" cy="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4" name="Line 119"/>
              <p:cNvSpPr>
                <a:spLocks noChangeShapeType="1"/>
              </p:cNvSpPr>
              <p:nvPr/>
            </p:nvSpPr>
            <p:spPr bwMode="auto">
              <a:xfrm>
                <a:off x="590" y="3693"/>
                <a:ext cx="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5" name="Rectangle 120"/>
              <p:cNvSpPr>
                <a:spLocks noChangeArrowheads="1"/>
              </p:cNvSpPr>
              <p:nvPr/>
            </p:nvSpPr>
            <p:spPr bwMode="auto">
              <a:xfrm>
                <a:off x="590" y="3693"/>
                <a:ext cx="4" cy="4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6" name="Line 121"/>
              <p:cNvSpPr>
                <a:spLocks noChangeShapeType="1"/>
              </p:cNvSpPr>
              <p:nvPr/>
            </p:nvSpPr>
            <p:spPr bwMode="auto">
              <a:xfrm>
                <a:off x="377" y="3738"/>
                <a:ext cx="0"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7" name="Rectangle 122"/>
              <p:cNvSpPr>
                <a:spLocks noChangeArrowheads="1"/>
              </p:cNvSpPr>
              <p:nvPr/>
            </p:nvSpPr>
            <p:spPr bwMode="auto">
              <a:xfrm>
                <a:off x="377" y="3738"/>
                <a:ext cx="4"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8" name="Line 123"/>
              <p:cNvSpPr>
                <a:spLocks noChangeShapeType="1"/>
              </p:cNvSpPr>
              <p:nvPr/>
            </p:nvSpPr>
            <p:spPr bwMode="auto">
              <a:xfrm>
                <a:off x="590" y="3738"/>
                <a:ext cx="0" cy="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39" name="Rectangle 124"/>
              <p:cNvSpPr>
                <a:spLocks noChangeArrowheads="1"/>
              </p:cNvSpPr>
              <p:nvPr/>
            </p:nvSpPr>
            <p:spPr bwMode="auto">
              <a:xfrm>
                <a:off x="590" y="3738"/>
                <a:ext cx="4" cy="4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0" name="Line 125"/>
              <p:cNvSpPr>
                <a:spLocks noChangeShapeType="1"/>
              </p:cNvSpPr>
              <p:nvPr/>
            </p:nvSpPr>
            <p:spPr bwMode="auto">
              <a:xfrm>
                <a:off x="169" y="3870"/>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1" name="Rectangle 126"/>
              <p:cNvSpPr>
                <a:spLocks noChangeArrowheads="1"/>
              </p:cNvSpPr>
              <p:nvPr/>
            </p:nvSpPr>
            <p:spPr bwMode="auto">
              <a:xfrm>
                <a:off x="169" y="3870"/>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2" name="Line 127"/>
              <p:cNvSpPr>
                <a:spLocks noChangeShapeType="1"/>
              </p:cNvSpPr>
              <p:nvPr/>
            </p:nvSpPr>
            <p:spPr bwMode="auto">
              <a:xfrm>
                <a:off x="307" y="3514"/>
                <a:ext cx="0" cy="17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3" name="Rectangle 128"/>
              <p:cNvSpPr>
                <a:spLocks noChangeArrowheads="1"/>
              </p:cNvSpPr>
              <p:nvPr/>
            </p:nvSpPr>
            <p:spPr bwMode="auto">
              <a:xfrm>
                <a:off x="307" y="3514"/>
                <a:ext cx="3" cy="17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4" name="Line 129"/>
              <p:cNvSpPr>
                <a:spLocks noChangeShapeType="1"/>
              </p:cNvSpPr>
              <p:nvPr/>
            </p:nvSpPr>
            <p:spPr bwMode="auto">
              <a:xfrm>
                <a:off x="590" y="3783"/>
                <a:ext cx="0" cy="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5" name="Rectangle 130"/>
              <p:cNvSpPr>
                <a:spLocks noChangeArrowheads="1"/>
              </p:cNvSpPr>
              <p:nvPr/>
            </p:nvSpPr>
            <p:spPr bwMode="auto">
              <a:xfrm>
                <a:off x="590" y="3783"/>
                <a:ext cx="4" cy="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6" name="Line 131"/>
              <p:cNvSpPr>
                <a:spLocks noChangeShapeType="1"/>
              </p:cNvSpPr>
              <p:nvPr/>
            </p:nvSpPr>
            <p:spPr bwMode="auto">
              <a:xfrm>
                <a:off x="377" y="3783"/>
                <a:ext cx="0" cy="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7" name="Rectangle 132"/>
              <p:cNvSpPr>
                <a:spLocks noChangeArrowheads="1"/>
              </p:cNvSpPr>
              <p:nvPr/>
            </p:nvSpPr>
            <p:spPr bwMode="auto">
              <a:xfrm>
                <a:off x="377" y="3783"/>
                <a:ext cx="4" cy="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8" name="Line 133"/>
              <p:cNvSpPr>
                <a:spLocks noChangeShapeType="1"/>
              </p:cNvSpPr>
              <p:nvPr/>
            </p:nvSpPr>
            <p:spPr bwMode="auto">
              <a:xfrm>
                <a:off x="590" y="4096"/>
                <a:ext cx="0" cy="4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49" name="Rectangle 134"/>
              <p:cNvSpPr>
                <a:spLocks noChangeArrowheads="1"/>
              </p:cNvSpPr>
              <p:nvPr/>
            </p:nvSpPr>
            <p:spPr bwMode="auto">
              <a:xfrm>
                <a:off x="590" y="4096"/>
                <a:ext cx="4" cy="4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0" name="Line 135"/>
              <p:cNvSpPr>
                <a:spLocks noChangeShapeType="1"/>
              </p:cNvSpPr>
              <p:nvPr/>
            </p:nvSpPr>
            <p:spPr bwMode="auto">
              <a:xfrm>
                <a:off x="377" y="4141"/>
                <a:ext cx="0"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1" name="Rectangle 136"/>
              <p:cNvSpPr>
                <a:spLocks noChangeArrowheads="1"/>
              </p:cNvSpPr>
              <p:nvPr/>
            </p:nvSpPr>
            <p:spPr bwMode="auto">
              <a:xfrm>
                <a:off x="377" y="4141"/>
                <a:ext cx="4" cy="4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2" name="Line 137"/>
              <p:cNvSpPr>
                <a:spLocks noChangeShapeType="1"/>
              </p:cNvSpPr>
              <p:nvPr/>
            </p:nvSpPr>
            <p:spPr bwMode="auto">
              <a:xfrm>
                <a:off x="590" y="4141"/>
                <a:ext cx="0" cy="4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3" name="Rectangle 138"/>
              <p:cNvSpPr>
                <a:spLocks noChangeArrowheads="1"/>
              </p:cNvSpPr>
              <p:nvPr/>
            </p:nvSpPr>
            <p:spPr bwMode="auto">
              <a:xfrm>
                <a:off x="590" y="4141"/>
                <a:ext cx="4" cy="4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4" name="Rectangle 139"/>
              <p:cNvSpPr>
                <a:spLocks noChangeArrowheads="1"/>
              </p:cNvSpPr>
              <p:nvPr/>
            </p:nvSpPr>
            <p:spPr bwMode="auto">
              <a:xfrm>
                <a:off x="161" y="1845"/>
                <a:ext cx="8" cy="243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5" name="Line 140"/>
              <p:cNvSpPr>
                <a:spLocks noChangeShapeType="1"/>
              </p:cNvSpPr>
              <p:nvPr/>
            </p:nvSpPr>
            <p:spPr bwMode="auto">
              <a:xfrm>
                <a:off x="1865" y="2060"/>
                <a:ext cx="0" cy="25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6" name="Rectangle 141"/>
              <p:cNvSpPr>
                <a:spLocks noChangeArrowheads="1"/>
              </p:cNvSpPr>
              <p:nvPr/>
            </p:nvSpPr>
            <p:spPr bwMode="auto">
              <a:xfrm>
                <a:off x="1865" y="2060"/>
                <a:ext cx="3" cy="25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7" name="Line 142"/>
              <p:cNvSpPr>
                <a:spLocks noChangeShapeType="1"/>
              </p:cNvSpPr>
              <p:nvPr/>
            </p:nvSpPr>
            <p:spPr bwMode="auto">
              <a:xfrm>
                <a:off x="2077" y="2107"/>
                <a:ext cx="0" cy="1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8" name="Rectangle 143"/>
              <p:cNvSpPr>
                <a:spLocks noChangeArrowheads="1"/>
              </p:cNvSpPr>
              <p:nvPr/>
            </p:nvSpPr>
            <p:spPr bwMode="auto">
              <a:xfrm>
                <a:off x="2077" y="2107"/>
                <a:ext cx="4" cy="1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59" name="Rectangle 144"/>
              <p:cNvSpPr>
                <a:spLocks noChangeArrowheads="1"/>
              </p:cNvSpPr>
              <p:nvPr/>
            </p:nvSpPr>
            <p:spPr bwMode="auto">
              <a:xfrm>
                <a:off x="2711" y="1849"/>
                <a:ext cx="7" cy="242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0" name="Line 145"/>
              <p:cNvSpPr>
                <a:spLocks noChangeShapeType="1"/>
              </p:cNvSpPr>
              <p:nvPr/>
            </p:nvSpPr>
            <p:spPr bwMode="auto">
              <a:xfrm>
                <a:off x="661" y="1968"/>
                <a:ext cx="0"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1" name="Rectangle 146"/>
              <p:cNvSpPr>
                <a:spLocks noChangeArrowheads="1"/>
              </p:cNvSpPr>
              <p:nvPr/>
            </p:nvSpPr>
            <p:spPr bwMode="auto">
              <a:xfrm>
                <a:off x="661" y="1968"/>
                <a:ext cx="3" cy="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2" name="Line 147"/>
              <p:cNvSpPr>
                <a:spLocks noChangeShapeType="1"/>
              </p:cNvSpPr>
              <p:nvPr/>
            </p:nvSpPr>
            <p:spPr bwMode="auto">
              <a:xfrm>
                <a:off x="590" y="4186"/>
                <a:ext cx="0" cy="8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3" name="Rectangle 148"/>
              <p:cNvSpPr>
                <a:spLocks noChangeArrowheads="1"/>
              </p:cNvSpPr>
              <p:nvPr/>
            </p:nvSpPr>
            <p:spPr bwMode="auto">
              <a:xfrm>
                <a:off x="590" y="4186"/>
                <a:ext cx="4" cy="8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4" name="Line 149"/>
              <p:cNvSpPr>
                <a:spLocks noChangeShapeType="1"/>
              </p:cNvSpPr>
              <p:nvPr/>
            </p:nvSpPr>
            <p:spPr bwMode="auto">
              <a:xfrm>
                <a:off x="2290" y="2107"/>
                <a:ext cx="0" cy="1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5" name="Rectangle 150"/>
              <p:cNvSpPr>
                <a:spLocks noChangeArrowheads="1"/>
              </p:cNvSpPr>
              <p:nvPr/>
            </p:nvSpPr>
            <p:spPr bwMode="auto">
              <a:xfrm>
                <a:off x="2290" y="2107"/>
                <a:ext cx="3" cy="1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6" name="Line 151"/>
              <p:cNvSpPr>
                <a:spLocks noChangeShapeType="1"/>
              </p:cNvSpPr>
              <p:nvPr/>
            </p:nvSpPr>
            <p:spPr bwMode="auto">
              <a:xfrm>
                <a:off x="2502" y="2107"/>
                <a:ext cx="0" cy="10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7" name="Rectangle 152"/>
              <p:cNvSpPr>
                <a:spLocks noChangeArrowheads="1"/>
              </p:cNvSpPr>
              <p:nvPr/>
            </p:nvSpPr>
            <p:spPr bwMode="auto">
              <a:xfrm>
                <a:off x="2502" y="2107"/>
                <a:ext cx="4" cy="10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8" name="Line 153"/>
              <p:cNvSpPr>
                <a:spLocks noChangeShapeType="1"/>
              </p:cNvSpPr>
              <p:nvPr/>
            </p:nvSpPr>
            <p:spPr bwMode="auto">
              <a:xfrm>
                <a:off x="236" y="2512"/>
                <a:ext cx="0" cy="4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69" name="Rectangle 154"/>
              <p:cNvSpPr>
                <a:spLocks noChangeArrowheads="1"/>
              </p:cNvSpPr>
              <p:nvPr/>
            </p:nvSpPr>
            <p:spPr bwMode="auto">
              <a:xfrm>
                <a:off x="236" y="2512"/>
                <a:ext cx="4" cy="4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0" name="Line 155"/>
              <p:cNvSpPr>
                <a:spLocks noChangeShapeType="1"/>
              </p:cNvSpPr>
              <p:nvPr/>
            </p:nvSpPr>
            <p:spPr bwMode="auto">
              <a:xfrm>
                <a:off x="1440" y="2467"/>
                <a:ext cx="0" cy="5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1" name="Rectangle 156"/>
              <p:cNvSpPr>
                <a:spLocks noChangeArrowheads="1"/>
              </p:cNvSpPr>
              <p:nvPr/>
            </p:nvSpPr>
            <p:spPr bwMode="auto">
              <a:xfrm>
                <a:off x="1440" y="2467"/>
                <a:ext cx="3" cy="5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2" name="Line 157"/>
              <p:cNvSpPr>
                <a:spLocks noChangeShapeType="1"/>
              </p:cNvSpPr>
              <p:nvPr/>
            </p:nvSpPr>
            <p:spPr bwMode="auto">
              <a:xfrm>
                <a:off x="1511" y="2512"/>
                <a:ext cx="0" cy="4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3" name="Rectangle 158"/>
              <p:cNvSpPr>
                <a:spLocks noChangeArrowheads="1"/>
              </p:cNvSpPr>
              <p:nvPr/>
            </p:nvSpPr>
            <p:spPr bwMode="auto">
              <a:xfrm>
                <a:off x="1511" y="2512"/>
                <a:ext cx="3" cy="4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4" name="Line 159"/>
              <p:cNvSpPr>
                <a:spLocks noChangeShapeType="1"/>
              </p:cNvSpPr>
              <p:nvPr/>
            </p:nvSpPr>
            <p:spPr bwMode="auto">
              <a:xfrm>
                <a:off x="802" y="3067"/>
                <a:ext cx="0" cy="120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5" name="Rectangle 160"/>
              <p:cNvSpPr>
                <a:spLocks noChangeArrowheads="1"/>
              </p:cNvSpPr>
              <p:nvPr/>
            </p:nvSpPr>
            <p:spPr bwMode="auto">
              <a:xfrm>
                <a:off x="802" y="3067"/>
                <a:ext cx="4" cy="120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6" name="Line 161"/>
              <p:cNvSpPr>
                <a:spLocks noChangeShapeType="1"/>
              </p:cNvSpPr>
              <p:nvPr/>
            </p:nvSpPr>
            <p:spPr bwMode="auto">
              <a:xfrm>
                <a:off x="307" y="3917"/>
                <a:ext cx="0" cy="17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7" name="Rectangle 162"/>
              <p:cNvSpPr>
                <a:spLocks noChangeArrowheads="1"/>
              </p:cNvSpPr>
              <p:nvPr/>
            </p:nvSpPr>
            <p:spPr bwMode="auto">
              <a:xfrm>
                <a:off x="307" y="3917"/>
                <a:ext cx="3" cy="17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8" name="Line 163"/>
              <p:cNvSpPr>
                <a:spLocks noChangeShapeType="1"/>
              </p:cNvSpPr>
              <p:nvPr/>
            </p:nvSpPr>
            <p:spPr bwMode="auto">
              <a:xfrm>
                <a:off x="377" y="4186"/>
                <a:ext cx="0" cy="8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79" name="Rectangle 164"/>
              <p:cNvSpPr>
                <a:spLocks noChangeArrowheads="1"/>
              </p:cNvSpPr>
              <p:nvPr/>
            </p:nvSpPr>
            <p:spPr bwMode="auto">
              <a:xfrm>
                <a:off x="377" y="4186"/>
                <a:ext cx="4" cy="8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0" name="Rectangle 165"/>
              <p:cNvSpPr>
                <a:spLocks noChangeArrowheads="1"/>
              </p:cNvSpPr>
              <p:nvPr/>
            </p:nvSpPr>
            <p:spPr bwMode="auto">
              <a:xfrm>
                <a:off x="169" y="1845"/>
                <a:ext cx="254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1" name="Line 166"/>
              <p:cNvSpPr>
                <a:spLocks noChangeShapeType="1"/>
              </p:cNvSpPr>
              <p:nvPr/>
            </p:nvSpPr>
            <p:spPr bwMode="auto">
              <a:xfrm>
                <a:off x="169" y="1921"/>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2" name="Rectangle 167"/>
              <p:cNvSpPr>
                <a:spLocks noChangeArrowheads="1"/>
              </p:cNvSpPr>
              <p:nvPr/>
            </p:nvSpPr>
            <p:spPr bwMode="auto">
              <a:xfrm>
                <a:off x="169" y="1921"/>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3" name="Line 168"/>
              <p:cNvSpPr>
                <a:spLocks noChangeShapeType="1"/>
              </p:cNvSpPr>
              <p:nvPr/>
            </p:nvSpPr>
            <p:spPr bwMode="auto">
              <a:xfrm>
                <a:off x="169" y="1966"/>
                <a:ext cx="169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4" name="Rectangle 169"/>
              <p:cNvSpPr>
                <a:spLocks noChangeArrowheads="1"/>
              </p:cNvSpPr>
              <p:nvPr/>
            </p:nvSpPr>
            <p:spPr bwMode="auto">
              <a:xfrm>
                <a:off x="169" y="1966"/>
                <a:ext cx="1699"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5" name="Line 170"/>
              <p:cNvSpPr>
                <a:spLocks noChangeShapeType="1"/>
              </p:cNvSpPr>
              <p:nvPr/>
            </p:nvSpPr>
            <p:spPr bwMode="auto">
              <a:xfrm>
                <a:off x="169" y="2013"/>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6" name="Rectangle 171"/>
              <p:cNvSpPr>
                <a:spLocks noChangeArrowheads="1"/>
              </p:cNvSpPr>
              <p:nvPr/>
            </p:nvSpPr>
            <p:spPr bwMode="auto">
              <a:xfrm>
                <a:off x="169" y="2013"/>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7" name="Line 172"/>
              <p:cNvSpPr>
                <a:spLocks noChangeShapeType="1"/>
              </p:cNvSpPr>
              <p:nvPr/>
            </p:nvSpPr>
            <p:spPr bwMode="auto">
              <a:xfrm>
                <a:off x="169" y="2057"/>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8" name="Rectangle 173"/>
              <p:cNvSpPr>
                <a:spLocks noChangeArrowheads="1"/>
              </p:cNvSpPr>
              <p:nvPr/>
            </p:nvSpPr>
            <p:spPr bwMode="auto">
              <a:xfrm>
                <a:off x="169" y="2057"/>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89" name="Line 174"/>
              <p:cNvSpPr>
                <a:spLocks noChangeShapeType="1"/>
              </p:cNvSpPr>
              <p:nvPr/>
            </p:nvSpPr>
            <p:spPr bwMode="auto">
              <a:xfrm>
                <a:off x="169" y="2104"/>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0" name="Rectangle 175"/>
              <p:cNvSpPr>
                <a:spLocks noChangeArrowheads="1"/>
              </p:cNvSpPr>
              <p:nvPr/>
            </p:nvSpPr>
            <p:spPr bwMode="auto">
              <a:xfrm>
                <a:off x="169" y="2104"/>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1" name="Line 176"/>
              <p:cNvSpPr>
                <a:spLocks noChangeShapeType="1"/>
              </p:cNvSpPr>
              <p:nvPr/>
            </p:nvSpPr>
            <p:spPr bwMode="auto">
              <a:xfrm>
                <a:off x="1868" y="2156"/>
                <a:ext cx="84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2" name="Rectangle 177"/>
              <p:cNvSpPr>
                <a:spLocks noChangeArrowheads="1"/>
              </p:cNvSpPr>
              <p:nvPr/>
            </p:nvSpPr>
            <p:spPr bwMode="auto">
              <a:xfrm>
                <a:off x="1868" y="2156"/>
                <a:ext cx="84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3" name="Line 178"/>
              <p:cNvSpPr>
                <a:spLocks noChangeShapeType="1"/>
              </p:cNvSpPr>
              <p:nvPr/>
            </p:nvSpPr>
            <p:spPr bwMode="auto">
              <a:xfrm>
                <a:off x="1868" y="2207"/>
                <a:ext cx="84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4" name="Rectangle 179"/>
              <p:cNvSpPr>
                <a:spLocks noChangeArrowheads="1"/>
              </p:cNvSpPr>
              <p:nvPr/>
            </p:nvSpPr>
            <p:spPr bwMode="auto">
              <a:xfrm>
                <a:off x="1868" y="2207"/>
                <a:ext cx="843"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5" name="Line 180"/>
              <p:cNvSpPr>
                <a:spLocks noChangeShapeType="1"/>
              </p:cNvSpPr>
              <p:nvPr/>
            </p:nvSpPr>
            <p:spPr bwMode="auto">
              <a:xfrm>
                <a:off x="169" y="2310"/>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6" name="Rectangle 181"/>
              <p:cNvSpPr>
                <a:spLocks noChangeArrowheads="1"/>
              </p:cNvSpPr>
              <p:nvPr/>
            </p:nvSpPr>
            <p:spPr bwMode="auto">
              <a:xfrm>
                <a:off x="169" y="2310"/>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7" name="Line 182"/>
              <p:cNvSpPr>
                <a:spLocks noChangeShapeType="1"/>
              </p:cNvSpPr>
              <p:nvPr/>
            </p:nvSpPr>
            <p:spPr bwMode="auto">
              <a:xfrm>
                <a:off x="169" y="2465"/>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8" name="Rectangle 183"/>
              <p:cNvSpPr>
                <a:spLocks noChangeArrowheads="1"/>
              </p:cNvSpPr>
              <p:nvPr/>
            </p:nvSpPr>
            <p:spPr bwMode="auto">
              <a:xfrm>
                <a:off x="169" y="2465"/>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999" name="Line 184"/>
              <p:cNvSpPr>
                <a:spLocks noChangeShapeType="1"/>
              </p:cNvSpPr>
              <p:nvPr/>
            </p:nvSpPr>
            <p:spPr bwMode="auto">
              <a:xfrm>
                <a:off x="169" y="2509"/>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0" name="Rectangle 185"/>
              <p:cNvSpPr>
                <a:spLocks noChangeArrowheads="1"/>
              </p:cNvSpPr>
              <p:nvPr/>
            </p:nvSpPr>
            <p:spPr bwMode="auto">
              <a:xfrm>
                <a:off x="169" y="2509"/>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1" name="Line 186"/>
              <p:cNvSpPr>
                <a:spLocks noChangeShapeType="1"/>
              </p:cNvSpPr>
              <p:nvPr/>
            </p:nvSpPr>
            <p:spPr bwMode="auto">
              <a:xfrm>
                <a:off x="169" y="3000"/>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2" name="Rectangle 187"/>
              <p:cNvSpPr>
                <a:spLocks noChangeArrowheads="1"/>
              </p:cNvSpPr>
              <p:nvPr/>
            </p:nvSpPr>
            <p:spPr bwMode="auto">
              <a:xfrm>
                <a:off x="169" y="3000"/>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3" name="Line 188"/>
              <p:cNvSpPr>
                <a:spLocks noChangeShapeType="1"/>
              </p:cNvSpPr>
              <p:nvPr/>
            </p:nvSpPr>
            <p:spPr bwMode="auto">
              <a:xfrm>
                <a:off x="169" y="3004"/>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4" name="Rectangle 189"/>
              <p:cNvSpPr>
                <a:spLocks noChangeArrowheads="1"/>
              </p:cNvSpPr>
              <p:nvPr/>
            </p:nvSpPr>
            <p:spPr bwMode="auto">
              <a:xfrm>
                <a:off x="169" y="3004"/>
                <a:ext cx="2542"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5" name="Line 190"/>
              <p:cNvSpPr>
                <a:spLocks noChangeShapeType="1"/>
              </p:cNvSpPr>
              <p:nvPr/>
            </p:nvSpPr>
            <p:spPr bwMode="auto">
              <a:xfrm>
                <a:off x="169" y="3064"/>
                <a:ext cx="254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6" name="Rectangle 191"/>
              <p:cNvSpPr>
                <a:spLocks noChangeArrowheads="1"/>
              </p:cNvSpPr>
              <p:nvPr/>
            </p:nvSpPr>
            <p:spPr bwMode="auto">
              <a:xfrm>
                <a:off x="169" y="3064"/>
                <a:ext cx="2542"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7" name="Line 192"/>
              <p:cNvSpPr>
                <a:spLocks noChangeShapeType="1"/>
              </p:cNvSpPr>
              <p:nvPr/>
            </p:nvSpPr>
            <p:spPr bwMode="auto">
              <a:xfrm>
                <a:off x="169" y="3109"/>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8" name="Rectangle 193"/>
              <p:cNvSpPr>
                <a:spLocks noChangeArrowheads="1"/>
              </p:cNvSpPr>
              <p:nvPr/>
            </p:nvSpPr>
            <p:spPr bwMode="auto">
              <a:xfrm>
                <a:off x="169" y="3109"/>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09" name="Line 194"/>
              <p:cNvSpPr>
                <a:spLocks noChangeShapeType="1"/>
              </p:cNvSpPr>
              <p:nvPr/>
            </p:nvSpPr>
            <p:spPr bwMode="auto">
              <a:xfrm>
                <a:off x="169" y="3154"/>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0" name="Rectangle 195"/>
              <p:cNvSpPr>
                <a:spLocks noChangeArrowheads="1"/>
              </p:cNvSpPr>
              <p:nvPr/>
            </p:nvSpPr>
            <p:spPr bwMode="auto">
              <a:xfrm>
                <a:off x="169" y="3154"/>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1" name="Line 196"/>
              <p:cNvSpPr>
                <a:spLocks noChangeShapeType="1"/>
              </p:cNvSpPr>
              <p:nvPr/>
            </p:nvSpPr>
            <p:spPr bwMode="auto">
              <a:xfrm>
                <a:off x="169" y="3199"/>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2" name="Rectangle 197"/>
              <p:cNvSpPr>
                <a:spLocks noChangeArrowheads="1"/>
              </p:cNvSpPr>
              <p:nvPr/>
            </p:nvSpPr>
            <p:spPr bwMode="auto">
              <a:xfrm>
                <a:off x="169" y="3199"/>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3" name="Line 198"/>
              <p:cNvSpPr>
                <a:spLocks noChangeShapeType="1"/>
              </p:cNvSpPr>
              <p:nvPr/>
            </p:nvSpPr>
            <p:spPr bwMode="auto">
              <a:xfrm>
                <a:off x="169" y="3244"/>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4" name="Rectangle 199"/>
              <p:cNvSpPr>
                <a:spLocks noChangeArrowheads="1"/>
              </p:cNvSpPr>
              <p:nvPr/>
            </p:nvSpPr>
            <p:spPr bwMode="auto">
              <a:xfrm>
                <a:off x="169" y="3244"/>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5" name="Line 200"/>
              <p:cNvSpPr>
                <a:spLocks noChangeShapeType="1"/>
              </p:cNvSpPr>
              <p:nvPr/>
            </p:nvSpPr>
            <p:spPr bwMode="auto">
              <a:xfrm>
                <a:off x="169" y="3288"/>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6" name="Rectangle 201"/>
              <p:cNvSpPr>
                <a:spLocks noChangeArrowheads="1"/>
              </p:cNvSpPr>
              <p:nvPr/>
            </p:nvSpPr>
            <p:spPr bwMode="auto">
              <a:xfrm>
                <a:off x="169" y="3288"/>
                <a:ext cx="637"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7" name="Line 202"/>
              <p:cNvSpPr>
                <a:spLocks noChangeShapeType="1"/>
              </p:cNvSpPr>
              <p:nvPr/>
            </p:nvSpPr>
            <p:spPr bwMode="auto">
              <a:xfrm>
                <a:off x="169" y="3333"/>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8" name="Rectangle 203"/>
              <p:cNvSpPr>
                <a:spLocks noChangeArrowheads="1"/>
              </p:cNvSpPr>
              <p:nvPr/>
            </p:nvSpPr>
            <p:spPr bwMode="auto">
              <a:xfrm>
                <a:off x="169" y="3333"/>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19" name="Line 204"/>
              <p:cNvSpPr>
                <a:spLocks noChangeShapeType="1"/>
              </p:cNvSpPr>
              <p:nvPr/>
            </p:nvSpPr>
            <p:spPr bwMode="auto">
              <a:xfrm>
                <a:off x="169" y="3378"/>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0" name="Rectangle 205"/>
              <p:cNvSpPr>
                <a:spLocks noChangeArrowheads="1"/>
              </p:cNvSpPr>
              <p:nvPr/>
            </p:nvSpPr>
            <p:spPr bwMode="auto">
              <a:xfrm>
                <a:off x="169" y="3378"/>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1" name="Line 206"/>
              <p:cNvSpPr>
                <a:spLocks noChangeShapeType="1"/>
              </p:cNvSpPr>
              <p:nvPr/>
            </p:nvSpPr>
            <p:spPr bwMode="auto">
              <a:xfrm>
                <a:off x="873" y="3467"/>
                <a:ext cx="183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2" name="Rectangle 207"/>
              <p:cNvSpPr>
                <a:spLocks noChangeArrowheads="1"/>
              </p:cNvSpPr>
              <p:nvPr/>
            </p:nvSpPr>
            <p:spPr bwMode="auto">
              <a:xfrm>
                <a:off x="873" y="3467"/>
                <a:ext cx="1838"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3" name="Line 208"/>
              <p:cNvSpPr>
                <a:spLocks noChangeShapeType="1"/>
              </p:cNvSpPr>
              <p:nvPr/>
            </p:nvSpPr>
            <p:spPr bwMode="auto">
              <a:xfrm>
                <a:off x="169" y="3512"/>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4" name="Rectangle 209"/>
              <p:cNvSpPr>
                <a:spLocks noChangeArrowheads="1"/>
              </p:cNvSpPr>
              <p:nvPr/>
            </p:nvSpPr>
            <p:spPr bwMode="auto">
              <a:xfrm>
                <a:off x="169" y="3512"/>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5" name="Line 210"/>
              <p:cNvSpPr>
                <a:spLocks noChangeShapeType="1"/>
              </p:cNvSpPr>
              <p:nvPr/>
            </p:nvSpPr>
            <p:spPr bwMode="auto">
              <a:xfrm>
                <a:off x="169" y="3557"/>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6" name="Rectangle 211"/>
              <p:cNvSpPr>
                <a:spLocks noChangeArrowheads="1"/>
              </p:cNvSpPr>
              <p:nvPr/>
            </p:nvSpPr>
            <p:spPr bwMode="auto">
              <a:xfrm>
                <a:off x="169" y="3557"/>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7" name="Line 212"/>
              <p:cNvSpPr>
                <a:spLocks noChangeShapeType="1"/>
              </p:cNvSpPr>
              <p:nvPr/>
            </p:nvSpPr>
            <p:spPr bwMode="auto">
              <a:xfrm>
                <a:off x="169" y="3602"/>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8" name="Rectangle 213"/>
              <p:cNvSpPr>
                <a:spLocks noChangeArrowheads="1"/>
              </p:cNvSpPr>
              <p:nvPr/>
            </p:nvSpPr>
            <p:spPr bwMode="auto">
              <a:xfrm>
                <a:off x="169" y="3602"/>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4029" name="Line 214"/>
              <p:cNvSpPr>
                <a:spLocks noChangeShapeType="1"/>
              </p:cNvSpPr>
              <p:nvPr/>
            </p:nvSpPr>
            <p:spPr bwMode="auto">
              <a:xfrm>
                <a:off x="169" y="3646"/>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33806" name="Rectangle 216"/>
            <p:cNvSpPr>
              <a:spLocks noChangeArrowheads="1"/>
            </p:cNvSpPr>
            <p:nvPr/>
          </p:nvSpPr>
          <p:spPr bwMode="auto">
            <a:xfrm>
              <a:off x="169" y="3646"/>
              <a:ext cx="633"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07" name="Line 217"/>
            <p:cNvSpPr>
              <a:spLocks noChangeShapeType="1"/>
            </p:cNvSpPr>
            <p:nvPr/>
          </p:nvSpPr>
          <p:spPr bwMode="auto">
            <a:xfrm>
              <a:off x="169" y="3691"/>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08" name="Rectangle 218"/>
            <p:cNvSpPr>
              <a:spLocks noChangeArrowheads="1"/>
            </p:cNvSpPr>
            <p:nvPr/>
          </p:nvSpPr>
          <p:spPr bwMode="auto">
            <a:xfrm>
              <a:off x="169" y="3691"/>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09" name="Line 219"/>
            <p:cNvSpPr>
              <a:spLocks noChangeShapeType="1"/>
            </p:cNvSpPr>
            <p:nvPr/>
          </p:nvSpPr>
          <p:spPr bwMode="auto">
            <a:xfrm>
              <a:off x="169" y="3736"/>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0" name="Rectangle 220"/>
            <p:cNvSpPr>
              <a:spLocks noChangeArrowheads="1"/>
            </p:cNvSpPr>
            <p:nvPr/>
          </p:nvSpPr>
          <p:spPr bwMode="auto">
            <a:xfrm>
              <a:off x="169" y="3736"/>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1" name="Line 221"/>
            <p:cNvSpPr>
              <a:spLocks noChangeShapeType="1"/>
            </p:cNvSpPr>
            <p:nvPr/>
          </p:nvSpPr>
          <p:spPr bwMode="auto">
            <a:xfrm>
              <a:off x="169" y="3781"/>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2" name="Rectangle 222"/>
            <p:cNvSpPr>
              <a:spLocks noChangeArrowheads="1"/>
            </p:cNvSpPr>
            <p:nvPr/>
          </p:nvSpPr>
          <p:spPr bwMode="auto">
            <a:xfrm>
              <a:off x="169" y="3781"/>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3" name="Line 223"/>
            <p:cNvSpPr>
              <a:spLocks noChangeShapeType="1"/>
            </p:cNvSpPr>
            <p:nvPr/>
          </p:nvSpPr>
          <p:spPr bwMode="auto">
            <a:xfrm>
              <a:off x="873" y="3870"/>
              <a:ext cx="183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4" name="Rectangle 224"/>
            <p:cNvSpPr>
              <a:spLocks noChangeArrowheads="1"/>
            </p:cNvSpPr>
            <p:nvPr/>
          </p:nvSpPr>
          <p:spPr bwMode="auto">
            <a:xfrm>
              <a:off x="873" y="3870"/>
              <a:ext cx="1838"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5" name="Line 225"/>
            <p:cNvSpPr>
              <a:spLocks noChangeShapeType="1"/>
            </p:cNvSpPr>
            <p:nvPr/>
          </p:nvSpPr>
          <p:spPr bwMode="auto">
            <a:xfrm>
              <a:off x="169" y="3915"/>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6" name="Rectangle 226"/>
            <p:cNvSpPr>
              <a:spLocks noChangeArrowheads="1"/>
            </p:cNvSpPr>
            <p:nvPr/>
          </p:nvSpPr>
          <p:spPr bwMode="auto">
            <a:xfrm>
              <a:off x="169" y="3915"/>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7" name="Line 227"/>
            <p:cNvSpPr>
              <a:spLocks noChangeShapeType="1"/>
            </p:cNvSpPr>
            <p:nvPr/>
          </p:nvSpPr>
          <p:spPr bwMode="auto">
            <a:xfrm>
              <a:off x="169" y="3960"/>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8" name="Rectangle 228"/>
            <p:cNvSpPr>
              <a:spLocks noChangeArrowheads="1"/>
            </p:cNvSpPr>
            <p:nvPr/>
          </p:nvSpPr>
          <p:spPr bwMode="auto">
            <a:xfrm>
              <a:off x="169" y="3960"/>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19" name="Line 229"/>
            <p:cNvSpPr>
              <a:spLocks noChangeShapeType="1"/>
            </p:cNvSpPr>
            <p:nvPr/>
          </p:nvSpPr>
          <p:spPr bwMode="auto">
            <a:xfrm>
              <a:off x="169" y="4004"/>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0" name="Rectangle 230"/>
            <p:cNvSpPr>
              <a:spLocks noChangeArrowheads="1"/>
            </p:cNvSpPr>
            <p:nvPr/>
          </p:nvSpPr>
          <p:spPr bwMode="auto">
            <a:xfrm>
              <a:off x="169" y="4004"/>
              <a:ext cx="633"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1" name="Line 231"/>
            <p:cNvSpPr>
              <a:spLocks noChangeShapeType="1"/>
            </p:cNvSpPr>
            <p:nvPr/>
          </p:nvSpPr>
          <p:spPr bwMode="auto">
            <a:xfrm>
              <a:off x="169" y="4049"/>
              <a:ext cx="63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2" name="Rectangle 232"/>
            <p:cNvSpPr>
              <a:spLocks noChangeArrowheads="1"/>
            </p:cNvSpPr>
            <p:nvPr/>
          </p:nvSpPr>
          <p:spPr bwMode="auto">
            <a:xfrm>
              <a:off x="169" y="4049"/>
              <a:ext cx="633"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3" name="Line 233"/>
            <p:cNvSpPr>
              <a:spLocks noChangeShapeType="1"/>
            </p:cNvSpPr>
            <p:nvPr/>
          </p:nvSpPr>
          <p:spPr bwMode="auto">
            <a:xfrm>
              <a:off x="169" y="4094"/>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4" name="Rectangle 234"/>
            <p:cNvSpPr>
              <a:spLocks noChangeArrowheads="1"/>
            </p:cNvSpPr>
            <p:nvPr/>
          </p:nvSpPr>
          <p:spPr bwMode="auto">
            <a:xfrm>
              <a:off x="169" y="4094"/>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5" name="Line 235"/>
            <p:cNvSpPr>
              <a:spLocks noChangeShapeType="1"/>
            </p:cNvSpPr>
            <p:nvPr/>
          </p:nvSpPr>
          <p:spPr bwMode="auto">
            <a:xfrm>
              <a:off x="169" y="4139"/>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6" name="Rectangle 236"/>
            <p:cNvSpPr>
              <a:spLocks noChangeArrowheads="1"/>
            </p:cNvSpPr>
            <p:nvPr/>
          </p:nvSpPr>
          <p:spPr bwMode="auto">
            <a:xfrm>
              <a:off x="169" y="4139"/>
              <a:ext cx="637"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7" name="Line 237"/>
            <p:cNvSpPr>
              <a:spLocks noChangeShapeType="1"/>
            </p:cNvSpPr>
            <p:nvPr/>
          </p:nvSpPr>
          <p:spPr bwMode="auto">
            <a:xfrm>
              <a:off x="169" y="4183"/>
              <a:ext cx="6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8" name="Rectangle 238"/>
            <p:cNvSpPr>
              <a:spLocks noChangeArrowheads="1"/>
            </p:cNvSpPr>
            <p:nvPr/>
          </p:nvSpPr>
          <p:spPr bwMode="auto">
            <a:xfrm>
              <a:off x="169" y="4183"/>
              <a:ext cx="637"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sp>
          <p:nvSpPr>
            <p:cNvPr id="33829" name="Rectangle 239"/>
            <p:cNvSpPr>
              <a:spLocks noChangeArrowheads="1"/>
            </p:cNvSpPr>
            <p:nvPr/>
          </p:nvSpPr>
          <p:spPr bwMode="auto">
            <a:xfrm>
              <a:off x="169" y="4271"/>
              <a:ext cx="254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solidFill>
                  <a:srgbClr val="000000"/>
                </a:solidFill>
                <a:latin typeface="Meiryo UI" panose="020B0604030504040204" pitchFamily="50" charset="-128"/>
                <a:ea typeface="Meiryo UI" panose="020B0604030504040204" pitchFamily="50" charset="-128"/>
              </a:endParaRPr>
            </a:p>
          </p:txBody>
        </p:sp>
      </p:grpSp>
      <p:sp>
        <p:nvSpPr>
          <p:cNvPr id="33797" name="Rectangle 6"/>
          <p:cNvSpPr>
            <a:spLocks noChangeArrowheads="1"/>
          </p:cNvSpPr>
          <p:nvPr/>
        </p:nvSpPr>
        <p:spPr bwMode="auto">
          <a:xfrm>
            <a:off x="3191978" y="4665555"/>
            <a:ext cx="646331"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目標値</a:t>
            </a:r>
          </a:p>
        </p:txBody>
      </p:sp>
      <p:sp>
        <p:nvSpPr>
          <p:cNvPr id="33798" name="Rectangle 7"/>
          <p:cNvSpPr>
            <a:spLocks noChangeArrowheads="1"/>
          </p:cNvSpPr>
          <p:nvPr/>
        </p:nvSpPr>
        <p:spPr bwMode="auto">
          <a:xfrm>
            <a:off x="2843125" y="5281131"/>
            <a:ext cx="492443"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結果</a:t>
            </a:r>
          </a:p>
        </p:txBody>
      </p:sp>
      <p:sp>
        <p:nvSpPr>
          <p:cNvPr id="33799" name="Rectangle 8"/>
          <p:cNvSpPr>
            <a:spLocks noChangeArrowheads="1"/>
          </p:cNvSpPr>
          <p:nvPr/>
        </p:nvSpPr>
        <p:spPr bwMode="auto">
          <a:xfrm>
            <a:off x="1167197" y="4689651"/>
            <a:ext cx="800219"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要求内容</a:t>
            </a:r>
          </a:p>
        </p:txBody>
      </p:sp>
      <p:sp>
        <p:nvSpPr>
          <p:cNvPr id="33800" name="Rectangle 9"/>
          <p:cNvSpPr>
            <a:spLocks noChangeArrowheads="1"/>
          </p:cNvSpPr>
          <p:nvPr/>
        </p:nvSpPr>
        <p:spPr bwMode="auto">
          <a:xfrm>
            <a:off x="4666768" y="6217235"/>
            <a:ext cx="4068956" cy="461665"/>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ja-JP" altLang="en-US" sz="1200">
                <a:solidFill>
                  <a:srgbClr val="0000FF"/>
                </a:solidFill>
                <a:latin typeface="Meiryo UI" panose="020B0604030504040204" pitchFamily="50" charset="-128"/>
                <a:ea typeface="Meiryo UI" panose="020B0604030504040204" pitchFamily="50" charset="-128"/>
              </a:rPr>
              <a:t>委託開発要求仕様書（</a:t>
            </a:r>
            <a:r>
              <a:rPr lang="en-US" altLang="ja-JP" sz="1200">
                <a:solidFill>
                  <a:srgbClr val="0000FF"/>
                </a:solidFill>
                <a:latin typeface="Meiryo UI" panose="020B0604030504040204" pitchFamily="50" charset="-128"/>
                <a:ea typeface="Meiryo UI" panose="020B0604030504040204" pitchFamily="50" charset="-128"/>
              </a:rPr>
              <a:t>EMS</a:t>
            </a:r>
            <a:r>
              <a:rPr lang="ja-JP" altLang="en-US" sz="1200">
                <a:solidFill>
                  <a:srgbClr val="0000FF"/>
                </a:solidFill>
                <a:latin typeface="Meiryo UI" panose="020B0604030504040204" pitchFamily="50" charset="-128"/>
                <a:ea typeface="Meiryo UI" panose="020B0604030504040204" pitchFamily="50" charset="-128"/>
              </a:rPr>
              <a:t>シート）は、</a:t>
            </a:r>
            <a:endParaRPr lang="en-US" altLang="ja-JP" sz="1200">
              <a:solidFill>
                <a:srgbClr val="0000FF"/>
              </a:solidFill>
              <a:latin typeface="Meiryo UI" panose="020B0604030504040204" pitchFamily="50" charset="-128"/>
              <a:ea typeface="Meiryo UI" panose="020B0604030504040204" pitchFamily="50" charset="-128"/>
            </a:endParaRPr>
          </a:p>
          <a:p>
            <a:r>
              <a:rPr lang="ja-JP" altLang="en-US" sz="1200">
                <a:solidFill>
                  <a:srgbClr val="0000FF"/>
                </a:solidFill>
                <a:latin typeface="Meiryo UI" panose="020B0604030504040204" pitchFamily="50" charset="-128"/>
                <a:ea typeface="Meiryo UI" panose="020B0604030504040204" pitchFamily="50" charset="-128"/>
              </a:rPr>
              <a:t>各開発指定タイミングで書面報告する。</a:t>
            </a:r>
          </a:p>
        </p:txBody>
      </p:sp>
      <p:sp>
        <p:nvSpPr>
          <p:cNvPr id="240" name="Rectangle 7"/>
          <p:cNvSpPr>
            <a:spLocks noChangeArrowheads="1"/>
          </p:cNvSpPr>
          <p:nvPr/>
        </p:nvSpPr>
        <p:spPr bwMode="auto">
          <a:xfrm>
            <a:off x="2845859" y="5814827"/>
            <a:ext cx="492443"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結果</a:t>
            </a:r>
          </a:p>
        </p:txBody>
      </p:sp>
      <p:sp>
        <p:nvSpPr>
          <p:cNvPr id="241" name="Rectangle 7"/>
          <p:cNvSpPr>
            <a:spLocks noChangeArrowheads="1"/>
          </p:cNvSpPr>
          <p:nvPr/>
        </p:nvSpPr>
        <p:spPr bwMode="auto">
          <a:xfrm>
            <a:off x="2845367" y="6465632"/>
            <a:ext cx="492443" cy="276999"/>
          </a:xfrm>
          <a:prstGeom prst="rect">
            <a:avLst/>
          </a:prstGeom>
          <a:solidFill>
            <a:srgbClr val="FFFF9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ja-JP" altLang="en-US" sz="1200">
                <a:solidFill>
                  <a:srgbClr val="0000FF"/>
                </a:solidFill>
                <a:latin typeface="Meiryo UI" panose="020B0604030504040204" pitchFamily="50" charset="-128"/>
                <a:ea typeface="Meiryo UI" panose="020B0604030504040204" pitchFamily="50" charset="-128"/>
              </a:rPr>
              <a:t>結果</a:t>
            </a:r>
          </a:p>
        </p:txBody>
      </p:sp>
      <p:sp>
        <p:nvSpPr>
          <p:cNvPr id="242"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18. EMS Sheet (6/6)</a:t>
            </a:r>
            <a:endParaRPr lang="en-US" altLang="ja-JP" sz="1100">
              <a:solidFill>
                <a:srgbClr val="FFFFFF"/>
              </a:solidFill>
              <a:latin typeface="HGPｺﾞｼｯｸE" pitchFamily="50" charset="-128"/>
              <a:ea typeface="HGPｺﾞｼｯｸE" pitchFamily="50" charset="-128"/>
              <a:cs typeface="Arial" pitchFamily="34" charset="0"/>
            </a:endParaRPr>
          </a:p>
        </p:txBody>
      </p:sp>
      <p:pic>
        <p:nvPicPr>
          <p:cNvPr id="243" name="Picture 2"/>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4559231" y="3579223"/>
            <a:ext cx="4584769" cy="2717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5394329"/>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361748299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p:cNvSpPr txBox="1"/>
          <p:nvPr/>
        </p:nvSpPr>
        <p:spPr>
          <a:xfrm>
            <a:off x="133264" y="536002"/>
            <a:ext cx="8749480" cy="5339923"/>
          </a:xfrm>
          <a:prstGeom prst="rect">
            <a:avLst/>
          </a:prstGeom>
          <a:noFill/>
        </p:spPr>
        <p:txBody>
          <a:bodyPr wrap="square" rtlCol="0">
            <a:spAutoFit/>
          </a:bodyPr>
          <a:lstStyle/>
          <a:p>
            <a:pPr marR="0" lvl="0" algn="l" defTabSz="914400" rtl="0" eaLnBrk="1" fontAlgn="base" latinLnBrk="0" hangingPunct="1">
              <a:lnSpc>
                <a:spcPct val="100000"/>
              </a:lnSpc>
              <a:spcBef>
                <a:spcPct val="0"/>
              </a:spcBef>
              <a:spcAft>
                <a:spcPct val="0"/>
              </a:spcAft>
              <a:buClrTx/>
              <a:buSzTx/>
              <a:tabLst/>
              <a:defRPr/>
            </a:pPr>
            <a:r>
              <a:rPr kumimoji="1" lang="en-US" altLang="ja-JP" sz="1800" b="1" i="0" u="sng" strike="noStrike" kern="1200" cap="none" spc="0" normalizeH="0" baseline="0" noProof="0">
                <a:ln>
                  <a:noFill/>
                </a:ln>
                <a:solidFill>
                  <a:srgbClr val="000000"/>
                </a:solidFill>
                <a:uLnTx/>
                <a:uFillTx/>
                <a:latin typeface="Meiryo UI" panose="020B0604030504040204" pitchFamily="50" charset="-128"/>
                <a:ea typeface="Meiryo UI" panose="020B0604030504040204" pitchFamily="50" charset="-128"/>
              </a:rPr>
              <a:t>Purpose,</a:t>
            </a:r>
            <a:r>
              <a:rPr kumimoji="1" lang="ja-JP" altLang="en-US" sz="1800" b="1" i="0" u="sng" strike="noStrike" kern="1200" cap="none" spc="0" normalizeH="0" baseline="0" noProof="0">
                <a:ln>
                  <a:noFill/>
                </a:ln>
                <a:solidFill>
                  <a:srgbClr val="000000"/>
                </a:solidFill>
                <a:uLnTx/>
                <a:uFillTx/>
                <a:latin typeface="Meiryo UI" panose="020B0604030504040204" pitchFamily="50" charset="-128"/>
                <a:ea typeface="Meiryo UI" panose="020B0604030504040204" pitchFamily="50" charset="-128"/>
              </a:rPr>
              <a:t> </a:t>
            </a:r>
            <a:r>
              <a:rPr kumimoji="1" lang="en-US" altLang="ja-JP" sz="1800" b="1" i="0" u="sng" strike="noStrike" kern="1200" cap="none" spc="0" normalizeH="0" baseline="0" noProof="0">
                <a:ln>
                  <a:noFill/>
                </a:ln>
                <a:solidFill>
                  <a:srgbClr val="000000"/>
                </a:solidFill>
                <a:uLnTx/>
                <a:uFillTx/>
                <a:latin typeface="Meiryo UI" panose="020B0604030504040204" pitchFamily="50" charset="-128"/>
                <a:ea typeface="Meiryo UI" panose="020B0604030504040204" pitchFamily="50" charset="-128"/>
              </a:rPr>
              <a:t>Preparation and Reporting </a:t>
            </a:r>
            <a:r>
              <a:rPr lang="en-US" altLang="ja-JP" sz="1800" b="1" u="sng">
                <a:solidFill>
                  <a:srgbClr val="000000"/>
                </a:solidFill>
                <a:latin typeface="Meiryo UI" panose="020B0604030504040204" pitchFamily="50" charset="-128"/>
                <a:ea typeface="Meiryo UI" panose="020B0604030504040204" pitchFamily="50" charset="-128"/>
              </a:rPr>
              <a:t>R</a:t>
            </a:r>
            <a:r>
              <a:rPr kumimoji="1" lang="en-US" altLang="ja-JP" sz="1800" b="1" i="0" u="sng" strike="noStrike" kern="1200" cap="none" spc="0" normalizeH="0" baseline="0" noProof="0">
                <a:ln>
                  <a:noFill/>
                </a:ln>
                <a:solidFill>
                  <a:srgbClr val="000000"/>
                </a:solidFill>
                <a:uLnTx/>
                <a:uFillTx/>
                <a:latin typeface="Meiryo UI" panose="020B0604030504040204" pitchFamily="50" charset="-128"/>
                <a:ea typeface="Meiryo UI" panose="020B0604030504040204" pitchFamily="50" charset="-128"/>
              </a:rPr>
              <a:t>ule</a:t>
            </a:r>
            <a:r>
              <a:rPr lang="ja-JP" altLang="en-US" sz="1800" b="1" u="sng">
                <a:solidFill>
                  <a:srgbClr val="000000"/>
                </a:solidFill>
                <a:latin typeface="Meiryo UI" panose="020B0604030504040204" pitchFamily="50" charset="-128"/>
                <a:ea typeface="Meiryo UI" panose="020B0604030504040204" pitchFamily="50" charset="-128"/>
              </a:rPr>
              <a:t> </a:t>
            </a:r>
            <a:r>
              <a:rPr lang="en-US" altLang="ja-JP" sz="1800" b="1" u="sng">
                <a:solidFill>
                  <a:srgbClr val="000000"/>
                </a:solidFill>
                <a:latin typeface="Meiryo UI" panose="020B0604030504040204" pitchFamily="50" charset="-128"/>
                <a:ea typeface="Meiryo UI" panose="020B0604030504040204" pitchFamily="50" charset="-128"/>
              </a:rPr>
              <a:t>of Expert Meeting</a:t>
            </a:r>
          </a:p>
          <a:p>
            <a:pPr marR="0" lvl="0" algn="l" defTabSz="914400" rtl="0" eaLnBrk="1" fontAlgn="base" latinLnBrk="0" hangingPunct="1">
              <a:lnSpc>
                <a:spcPct val="100000"/>
              </a:lnSpc>
              <a:spcBef>
                <a:spcPct val="0"/>
              </a:spcBef>
              <a:spcAft>
                <a:spcPct val="0"/>
              </a:spcAft>
              <a:buClrTx/>
              <a:buSzTx/>
              <a:tabLst/>
              <a:defRPr/>
            </a:pPr>
            <a:endPar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600" b="0"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Purpose</a:t>
            </a:r>
          </a:p>
          <a:p>
            <a:pPr marL="0" marR="0" lvl="0" indent="0" algn="l" defTabSz="914400" rtl="0" eaLnBrk="1" fontAlgn="base" latinLnBrk="0" hangingPunct="1">
              <a:lnSpc>
                <a:spcPct val="100000"/>
              </a:lnSpc>
              <a:spcBef>
                <a:spcPts val="300"/>
              </a:spcBef>
              <a:spcAft>
                <a:spcPct val="0"/>
              </a:spcAft>
              <a:buClrTx/>
              <a:buSzTx/>
              <a:buFontTx/>
              <a:buNone/>
              <a:tabLst/>
              <a:defRPr/>
            </a:pPr>
            <a:r>
              <a:rPr lang="en-US" altLang="ja-JP" sz="1400" noProof="0">
                <a:solidFill>
                  <a:srgbClr val="000000"/>
                </a:solidFill>
                <a:latin typeface="Meiryo UI" panose="020B0604030504040204" pitchFamily="50" charset="-128"/>
                <a:ea typeface="Meiryo UI" panose="020B0604030504040204" pitchFamily="50" charset="-128"/>
              </a:rPr>
              <a:t>P</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urpose is to evaluate calibration</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which affect engine / vehicle behavior such as durability, noise and vibration, marketability and emission has been calibrated with no issue.</a:t>
            </a: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Evaluators also check emission behavior and  singularity point in the tables or maps. </a:t>
            </a: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They confirm if all verification has been completed by</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with in which condition and criteria.</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ja-JP" sz="1600" u="sng">
                <a:solidFill>
                  <a:srgbClr val="000000"/>
                </a:solidFill>
                <a:latin typeface="Meiryo UI" panose="020B0604030504040204" pitchFamily="50" charset="-128"/>
                <a:ea typeface="Meiryo UI" panose="020B0604030504040204" pitchFamily="50" charset="-128"/>
              </a:rPr>
              <a:t>P</a:t>
            </a:r>
            <a:r>
              <a:rPr kumimoji="1" lang="en-US" altLang="ja-JP" sz="1600" b="0"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reparation and presentation</a:t>
            </a:r>
          </a:p>
          <a:p>
            <a:pPr lvl="0" algn="l">
              <a:spcBef>
                <a:spcPts val="300"/>
              </a:spcBef>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Meeting material must be checked in</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 in advance. </a:t>
            </a:r>
          </a:p>
          <a:p>
            <a:pPr lvl="0" algn="l">
              <a:spcBef>
                <a:spcPts val="300"/>
              </a:spcBef>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Checker (team leader) must check and make signature on the material after homework finished.</a:t>
            </a:r>
          </a:p>
          <a:p>
            <a:pPr marL="0" marR="0" lvl="0" indent="0" algn="l" defTabSz="914400" rtl="0" eaLnBrk="1" fontAlgn="base" latinLnBrk="0" hangingPunct="1">
              <a:lnSpc>
                <a:spcPct val="100000"/>
              </a:lnSpc>
              <a:spcBef>
                <a:spcPts val="300"/>
              </a:spcBef>
              <a:spcAft>
                <a:spcPct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Basic items, like axis name in chart, unit of the axis, legend, and signal name shall be written.</a:t>
            </a:r>
          </a:p>
          <a:p>
            <a:pPr lvl="0" algn="l">
              <a:spcBef>
                <a:spcPts val="3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 internal words must be not used.</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 internal words need to be translated to physical words. </a:t>
            </a:r>
          </a:p>
          <a:p>
            <a:pPr lvl="0" algn="l">
              <a:spcBef>
                <a:spcPts val="300"/>
              </a:spcBef>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PIC or team leader is required to present. If PIC is not available, proxy is OK to represent. </a:t>
            </a:r>
          </a:p>
          <a:p>
            <a:pPr lvl="0" algn="l">
              <a:spcBef>
                <a:spcPts val="300"/>
              </a:spcBef>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If PIC’s explanation is not enough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 </a:t>
            </a:r>
            <a:r>
              <a:rPr kumimoji="1" lang="en-US" altLang="ja-JP" sz="1400" b="0" i="0" u="none" strike="noStrike" kern="1200" cap="none" spc="0" normalizeH="0" baseline="0" noProof="0" err="1">
                <a:ln>
                  <a:noFill/>
                </a:ln>
                <a:solidFill>
                  <a:srgbClr val="000000"/>
                </a:solidFill>
                <a:effectLst/>
                <a:uLnTx/>
                <a:uFillTx/>
                <a:latin typeface="Meiryo UI" panose="020B0604030504040204" pitchFamily="50" charset="-128"/>
                <a:ea typeface="Meiryo UI" panose="020B0604030504040204" pitchFamily="50" charset="-128"/>
              </a:rPr>
              <a:t>PjM</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 cannot understand), team leader must explain.</a:t>
            </a:r>
          </a:p>
          <a:p>
            <a:pPr lvl="0" algn="l">
              <a:spcBef>
                <a:spcPts val="3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a:t>
            </a:r>
            <a:r>
              <a:rPr lang="en-US" altLang="ja-JP" sz="1400" err="1">
                <a:solidFill>
                  <a:srgbClr val="000000"/>
                </a:solidFill>
                <a:latin typeface="Meiryo UI" panose="020B0604030504040204" pitchFamily="50" charset="-128"/>
                <a:ea typeface="Meiryo UI" panose="020B0604030504040204" pitchFamily="50" charset="-128"/>
              </a:rPr>
              <a:t>PjM</a:t>
            </a:r>
            <a:r>
              <a:rPr lang="en-US" altLang="ja-JP" sz="1400">
                <a:solidFill>
                  <a:srgbClr val="000000"/>
                </a:solidFill>
                <a:latin typeface="Meiryo UI" panose="020B0604030504040204" pitchFamily="50" charset="-128"/>
                <a:ea typeface="Meiryo UI" panose="020B0604030504040204" pitchFamily="50" charset="-128"/>
              </a:rPr>
              <a:t> is required to take meeting minutes. Meeting minutes need to be aligned with</a:t>
            </a: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Honda in the meeting.</a:t>
            </a:r>
          </a:p>
          <a:p>
            <a:pPr lvl="0" algn="l">
              <a:spcBef>
                <a:spcPts val="3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a:t>
            </a:r>
            <a:r>
              <a:rPr lang="en-US" altLang="ja-JP" sz="1400" err="1">
                <a:solidFill>
                  <a:srgbClr val="000000"/>
                </a:solidFill>
                <a:latin typeface="Meiryo UI" panose="020B0604030504040204" pitchFamily="50" charset="-128"/>
                <a:ea typeface="Meiryo UI" panose="020B0604030504040204" pitchFamily="50" charset="-128"/>
              </a:rPr>
              <a:t>PjM</a:t>
            </a:r>
            <a:r>
              <a:rPr lang="en-US" altLang="ja-JP" sz="1400">
                <a:solidFill>
                  <a:srgbClr val="000000"/>
                </a:solidFill>
                <a:latin typeface="Meiryo UI" panose="020B0604030504040204" pitchFamily="50" charset="-128"/>
                <a:ea typeface="Meiryo UI" panose="020B0604030504040204" pitchFamily="50" charset="-128"/>
              </a:rPr>
              <a:t> is also required to submit all meeting material</a:t>
            </a: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and minutes within 3days after</a:t>
            </a: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the meeting.</a:t>
            </a:r>
          </a:p>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Original material is OK.</a:t>
            </a:r>
          </a:p>
        </p:txBody>
      </p:sp>
      <p:sp>
        <p:nvSpPr>
          <p:cNvPr id="5"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(1/5)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406744219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テキスト ボックス 1"/>
          <p:cNvSpPr txBox="1"/>
          <p:nvPr/>
        </p:nvSpPr>
        <p:spPr>
          <a:xfrm>
            <a:off x="120199" y="536002"/>
            <a:ext cx="8749480" cy="5409173"/>
          </a:xfrm>
          <a:prstGeom prst="rect">
            <a:avLst/>
          </a:prstGeom>
          <a:noFill/>
        </p:spPr>
        <p:txBody>
          <a:bodyPr wrap="square" rtlCol="0">
            <a:spAutoFit/>
          </a:bodyPr>
          <a:lstStyle/>
          <a:p>
            <a:pPr marR="0" lvl="0" algn="l" defTabSz="914400" rtl="0" eaLnBrk="1" fontAlgn="base" latinLnBrk="0" hangingPunct="1">
              <a:lnSpc>
                <a:spcPct val="100000"/>
              </a:lnSpc>
              <a:spcBef>
                <a:spcPts val="300"/>
              </a:spcBef>
              <a:spcAft>
                <a:spcPct val="0"/>
              </a:spcAft>
              <a:buClrTx/>
              <a:buSzTx/>
              <a:tabLst/>
              <a:defRPr/>
            </a:pP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エキスパートミーティングの目的、準備と報告ルール</a:t>
            </a:r>
            <a:endPar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R="0" lvl="0" algn="l" defTabSz="914400" rtl="0" eaLnBrk="1" fontAlgn="base" latinLnBrk="0" hangingPunct="1">
              <a:lnSpc>
                <a:spcPct val="100000"/>
              </a:lnSpc>
              <a:spcBef>
                <a:spcPts val="300"/>
              </a:spcBef>
              <a:spcAft>
                <a:spcPct val="0"/>
              </a:spcAft>
              <a:buClrTx/>
              <a:buSzTx/>
              <a:tabLst/>
              <a:defRPr/>
            </a:pPr>
            <a:endPar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R="0" lvl="0" algn="l" defTabSz="914400" rtl="0" eaLnBrk="1" fontAlgn="base" latinLnBrk="0" hangingPunct="1">
              <a:lnSpc>
                <a:spcPct val="100000"/>
              </a:lnSpc>
              <a:spcBef>
                <a:spcPts val="300"/>
              </a:spcBef>
              <a:spcAft>
                <a:spcPct val="0"/>
              </a:spcAft>
              <a:buClrTx/>
              <a:buSzTx/>
              <a:tabLst/>
              <a:defRPr/>
            </a:pPr>
            <a:r>
              <a:rPr kumimoji="1" lang="ja-JP" altLang="en-US" sz="1600" b="0"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目的</a:t>
            </a:r>
            <a:endParaRPr kumimoji="1" lang="en-US" altLang="ja-JP" sz="1600" b="0"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エンジン、車両の振る舞いに影響するキャリブレーションを評価することがエキスパートミーティングの目的である。耐久性、</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NV</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a:t>
            </a:r>
            <a:endParaRPr lang="en-US" altLang="ja-JP" sz="1400">
              <a:solidFill>
                <a:srgbClr val="000000"/>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商品性とエミッションなどに纏わるキャリブレーションが問題なく終わっていることが要求される。</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評価者はエミッションの振る舞いや、テーブル、マップの特異点などを確認する。</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lvl="0" algn="l">
              <a:spcBef>
                <a:spcPts val="6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noProof="0">
                <a:solidFill>
                  <a:srgbClr val="000000"/>
                </a:solidFill>
                <a:latin typeface="Meiryo UI" panose="020B0604030504040204" pitchFamily="50" charset="-128"/>
                <a:ea typeface="Meiryo UI" panose="020B0604030504040204" pitchFamily="50" charset="-128"/>
              </a:rPr>
              <a:t>内規の目標値</a:t>
            </a:r>
            <a:r>
              <a:rPr lang="ja-JP" altLang="en-US" sz="1400">
                <a:solidFill>
                  <a:srgbClr val="000000"/>
                </a:solidFill>
                <a:latin typeface="Meiryo UI" panose="020B0604030504040204" pitchFamily="50" charset="-128"/>
                <a:ea typeface="Meiryo UI" panose="020B0604030504040204" pitchFamily="50" charset="-128"/>
              </a:rPr>
              <a:t>を満たしているかも確認する。</a:t>
            </a:r>
            <a:endParaRPr lang="en-US" altLang="ja-JP" sz="1400">
              <a:solidFill>
                <a:srgbClr val="000000"/>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endParaRPr kumimoji="1" lang="en-US" altLang="ja-JP" sz="18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ct val="0"/>
              </a:spcAft>
              <a:buClrTx/>
              <a:buSzTx/>
              <a:buFontTx/>
              <a:buNone/>
              <a:tabLst/>
              <a:defRPr/>
            </a:pPr>
            <a:r>
              <a:rPr lang="ja-JP" altLang="en-US" sz="1600" u="sng">
                <a:solidFill>
                  <a:srgbClr val="000000"/>
                </a:solidFill>
                <a:latin typeface="Meiryo UI" panose="020B0604030504040204" pitchFamily="50" charset="-128"/>
                <a:ea typeface="Meiryo UI" panose="020B0604030504040204" pitchFamily="50" charset="-128"/>
              </a:rPr>
              <a:t>準備とプレゼンテーション</a:t>
            </a:r>
            <a:endParaRPr lang="en-US" altLang="ja-JP" sz="1600" u="sng">
              <a:solidFill>
                <a:srgbClr val="000000"/>
              </a:solidFill>
              <a:latin typeface="Meiryo UI" panose="020B0604030504040204" pitchFamily="50" charset="-128"/>
              <a:ea typeface="Meiryo UI" panose="020B0604030504040204" pitchFamily="50" charset="-128"/>
            </a:endParaRPr>
          </a:p>
          <a:p>
            <a:pPr lvl="0" algn="l">
              <a:spcBef>
                <a:spcPts val="600"/>
              </a:spcBef>
              <a:defRPr/>
            </a:pPr>
            <a:r>
              <a:rPr lang="ja-JP" altLang="en-US" sz="1400">
                <a:solidFill>
                  <a:srgbClr val="000000"/>
                </a:solidFill>
                <a:latin typeface="Meiryo UI" panose="020B0604030504040204" pitchFamily="50" charset="-128"/>
                <a:ea typeface="Meiryo UI" panose="020B0604030504040204" pitchFamily="50" charset="-128"/>
              </a:rPr>
              <a:t>プレゼンテーションに使用する資料は、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00"/>
                </a:solidFill>
                <a:latin typeface="Meiryo UI" panose="020B0604030504040204" pitchFamily="50" charset="-128"/>
                <a:ea typeface="Meiryo UI" panose="020B0604030504040204" pitchFamily="50" charset="-128"/>
              </a:rPr>
              <a:t>で事前にチェックされること。</a:t>
            </a:r>
            <a:endParaRPr lang="en-US" altLang="ja-JP" sz="1400">
              <a:solidFill>
                <a:srgbClr val="000000"/>
              </a:solidFill>
              <a:latin typeface="Meiryo UI" panose="020B0604030504040204" pitchFamily="50" charset="-128"/>
              <a:ea typeface="Meiryo UI" panose="020B0604030504040204" pitchFamily="50" charset="-128"/>
            </a:endParaRPr>
          </a:p>
          <a:p>
            <a:pPr lvl="0" algn="l">
              <a:spcBef>
                <a:spcPts val="600"/>
              </a:spcBef>
              <a:defRPr/>
            </a:pPr>
            <a:r>
              <a:rPr lang="ja-JP" altLang="en-US" sz="1400">
                <a:solidFill>
                  <a:srgbClr val="000000"/>
                </a:solidFill>
                <a:latin typeface="Meiryo UI" panose="020B0604030504040204" pitchFamily="50" charset="-128"/>
                <a:ea typeface="Meiryo UI" panose="020B0604030504040204" pitchFamily="50" charset="-128"/>
              </a:rPr>
              <a:t>確認者（チームリーダー）は、確認後に資料にサインを入れること。</a:t>
            </a:r>
            <a:endParaRPr lang="en-US" altLang="ja-JP" sz="1400">
              <a:solidFill>
                <a:srgbClr val="000000"/>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基本的な項目（チャートにおける</a:t>
            </a:r>
            <a:r>
              <a:rPr lang="ja-JP" altLang="en-US" sz="1400">
                <a:solidFill>
                  <a:srgbClr val="000000"/>
                </a:solidFill>
                <a:latin typeface="Meiryo UI" panose="020B0604030504040204" pitchFamily="50" charset="-128"/>
                <a:ea typeface="Meiryo UI" panose="020B0604030504040204" pitchFamily="50" charset="-128"/>
              </a:rPr>
              <a:t>軸</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の名前、単位、凡例、データ名）を必ず記入すること。</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lvl="0" algn="l">
              <a:spcBef>
                <a:spcPts val="6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特有の言葉を使わずに、一般的な名前で表現すること</a:t>
            </a:r>
            <a:endParaRPr lang="en-US" altLang="ja-JP" sz="1400">
              <a:solidFill>
                <a:srgbClr val="000000"/>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担当者またはチームリーダーがプレゼンテーションを行うこと。担当者不在の場合は、代理を立てること。</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lvl="0" algn="l">
              <a:spcBef>
                <a:spcPts val="600"/>
              </a:spcBef>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担当者の説明が不十分な（</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の</a:t>
            </a:r>
            <a:r>
              <a:rPr kumimoji="1" lang="en-US" altLang="ja-JP" sz="1400" b="0" i="0" u="none" strike="noStrike" kern="1200" cap="none" spc="0" normalizeH="0" baseline="0" noProof="0" err="1">
                <a:ln>
                  <a:noFill/>
                </a:ln>
                <a:solidFill>
                  <a:srgbClr val="000000"/>
                </a:solidFill>
                <a:effectLst/>
                <a:uLnTx/>
                <a:uFillTx/>
                <a:latin typeface="Meiryo UI" panose="020B0604030504040204" pitchFamily="50" charset="-128"/>
                <a:ea typeface="Meiryo UI" panose="020B0604030504040204" pitchFamily="50" charset="-128"/>
              </a:rPr>
              <a:t>PjM</a:t>
            </a: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が理解できない）場合は、チームリーダーが説明すること。</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a:p>
            <a:pPr lvl="0" algn="l">
              <a:spcBef>
                <a:spcPts val="6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a:t>
            </a:r>
            <a:r>
              <a:rPr lang="en-US" altLang="ja-JP" sz="1400" err="1">
                <a:solidFill>
                  <a:srgbClr val="000000"/>
                </a:solidFill>
                <a:latin typeface="Meiryo UI" panose="020B0604030504040204" pitchFamily="50" charset="-128"/>
                <a:ea typeface="Meiryo UI" panose="020B0604030504040204" pitchFamily="50" charset="-128"/>
              </a:rPr>
              <a:t>PjM</a:t>
            </a:r>
            <a:r>
              <a:rPr lang="ja-JP" altLang="en-US" sz="1400">
                <a:solidFill>
                  <a:srgbClr val="000000"/>
                </a:solidFill>
                <a:latin typeface="Meiryo UI" panose="020B0604030504040204" pitchFamily="50" charset="-128"/>
                <a:ea typeface="Meiryo UI" panose="020B0604030504040204" pitchFamily="50" charset="-128"/>
              </a:rPr>
              <a:t>は議事録を取ること。議事内容は打ち合わせの中で整合すること。</a:t>
            </a:r>
            <a:endParaRPr lang="en-US" altLang="ja-JP" sz="1400">
              <a:solidFill>
                <a:srgbClr val="000000"/>
              </a:solidFill>
              <a:latin typeface="Meiryo UI" panose="020B0604030504040204" pitchFamily="50" charset="-128"/>
              <a:ea typeface="Meiryo UI" panose="020B0604030504040204" pitchFamily="50" charset="-128"/>
            </a:endParaRPr>
          </a:p>
          <a:p>
            <a:pPr lvl="0" algn="l">
              <a:spcBef>
                <a:spcPts val="600"/>
              </a:spcBef>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solidFill>
                  <a:srgbClr val="000000"/>
                </a:solidFill>
                <a:latin typeface="Meiryo UI" panose="020B0604030504040204" pitchFamily="50" charset="-128"/>
                <a:ea typeface="Meiryo UI" panose="020B0604030504040204" pitchFamily="50" charset="-128"/>
              </a:rPr>
              <a:t> </a:t>
            </a:r>
            <a:r>
              <a:rPr lang="en-US" altLang="ja-JP" sz="1400" err="1">
                <a:solidFill>
                  <a:srgbClr val="000000"/>
                </a:solidFill>
                <a:latin typeface="Meiryo UI" panose="020B0604030504040204" pitchFamily="50" charset="-128"/>
                <a:ea typeface="Meiryo UI" panose="020B0604030504040204" pitchFamily="50" charset="-128"/>
              </a:rPr>
              <a:t>PjM</a:t>
            </a:r>
            <a:r>
              <a:rPr lang="ja-JP" altLang="en-US" sz="1400">
                <a:solidFill>
                  <a:srgbClr val="000000"/>
                </a:solidFill>
                <a:latin typeface="Meiryo UI" panose="020B0604030504040204" pitchFamily="50" charset="-128"/>
                <a:ea typeface="Meiryo UI" panose="020B0604030504040204" pitchFamily="50" charset="-128"/>
              </a:rPr>
              <a:t>は会議後３日以内に、全ての説明資料と議事録を</a:t>
            </a:r>
            <a:r>
              <a:rPr lang="en-US" altLang="ja-JP" sz="1400">
                <a:solidFill>
                  <a:srgbClr val="000000"/>
                </a:solidFill>
                <a:latin typeface="Meiryo UI" panose="020B0604030504040204" pitchFamily="50" charset="-128"/>
                <a:ea typeface="Meiryo UI" panose="020B0604030504040204" pitchFamily="50" charset="-128"/>
              </a:rPr>
              <a:t>Honda</a:t>
            </a:r>
            <a:r>
              <a:rPr lang="ja-JP" altLang="en-US" sz="1400">
                <a:solidFill>
                  <a:srgbClr val="000000"/>
                </a:solidFill>
                <a:latin typeface="Meiryo UI" panose="020B0604030504040204" pitchFamily="50" charset="-128"/>
                <a:ea typeface="Meiryo UI" panose="020B0604030504040204" pitchFamily="50" charset="-128"/>
              </a:rPr>
              <a:t>と共有すること。</a:t>
            </a:r>
            <a:endParaRPr lang="en-US" altLang="ja-JP" sz="1400">
              <a:solidFill>
                <a:srgbClr val="000000"/>
              </a:solidFill>
              <a:latin typeface="Meiryo UI" panose="020B0604030504040204" pitchFamily="50" charset="-128"/>
              <a:ea typeface="Meiryo UI" panose="020B0604030504040204" pitchFamily="50" charset="-128"/>
            </a:endParaRPr>
          </a:p>
          <a:p>
            <a:pPr lvl="0" algn="l">
              <a:spcBef>
                <a:spcPts val="600"/>
              </a:spcBef>
              <a:defRPr/>
            </a:pPr>
            <a:r>
              <a:rPr lang="ja-JP" altLang="en-US" sz="1400">
                <a:solidFill>
                  <a:srgbClr val="000000"/>
                </a:solidFill>
                <a:latin typeface="Meiryo UI" panose="020B0604030504040204" pitchFamily="50" charset="-128"/>
                <a:ea typeface="Meiryo UI" panose="020B0604030504040204" pitchFamily="50" charset="-128"/>
              </a:rPr>
              <a:t>その際の資料は修正なしでも可とする。</a:t>
            </a:r>
            <a:endPar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(2/5)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97919413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 7"/>
          <p:cNvGraphicFramePr>
            <a:graphicFrameLocks noGrp="1"/>
          </p:cNvGraphicFramePr>
          <p:nvPr>
            <p:extLst>
              <p:ext uri="{D42A27DB-BD31-4B8C-83A1-F6EECF244321}">
                <p14:modId xmlns:p14="http://schemas.microsoft.com/office/powerpoint/2010/main" val="4257656242"/>
              </p:ext>
            </p:extLst>
          </p:nvPr>
        </p:nvGraphicFramePr>
        <p:xfrm>
          <a:off x="250829" y="899449"/>
          <a:ext cx="8712001" cy="5888355"/>
        </p:xfrm>
        <a:graphic>
          <a:graphicData uri="http://schemas.openxmlformats.org/drawingml/2006/table">
            <a:tbl>
              <a:tblPr firstRow="1" bandRow="1">
                <a:tableStyleId>{5C22544A-7EE6-4342-B048-85BDC9FD1C3A}</a:tableStyleId>
              </a:tblPr>
              <a:tblGrid>
                <a:gridCol w="2662700">
                  <a:extLst>
                    <a:ext uri="{9D8B030D-6E8A-4147-A177-3AD203B41FA5}">
                      <a16:colId xmlns:a16="http://schemas.microsoft.com/office/drawing/2014/main" val="123933921"/>
                    </a:ext>
                  </a:extLst>
                </a:gridCol>
                <a:gridCol w="2528047">
                  <a:extLst>
                    <a:ext uri="{9D8B030D-6E8A-4147-A177-3AD203B41FA5}">
                      <a16:colId xmlns:a16="http://schemas.microsoft.com/office/drawing/2014/main" val="3351768162"/>
                    </a:ext>
                  </a:extLst>
                </a:gridCol>
                <a:gridCol w="1299883">
                  <a:extLst>
                    <a:ext uri="{9D8B030D-6E8A-4147-A177-3AD203B41FA5}">
                      <a16:colId xmlns:a16="http://schemas.microsoft.com/office/drawing/2014/main" val="919871077"/>
                    </a:ext>
                  </a:extLst>
                </a:gridCol>
                <a:gridCol w="1111623">
                  <a:extLst>
                    <a:ext uri="{9D8B030D-6E8A-4147-A177-3AD203B41FA5}">
                      <a16:colId xmlns:a16="http://schemas.microsoft.com/office/drawing/2014/main" val="2401591218"/>
                    </a:ext>
                  </a:extLst>
                </a:gridCol>
                <a:gridCol w="1109748">
                  <a:extLst>
                    <a:ext uri="{9D8B030D-6E8A-4147-A177-3AD203B41FA5}">
                      <a16:colId xmlns:a16="http://schemas.microsoft.com/office/drawing/2014/main" val="2186150059"/>
                    </a:ext>
                  </a:extLst>
                </a:gridCol>
              </a:tblGrid>
              <a:tr h="508763">
                <a:tc>
                  <a:txBody>
                    <a:bodyPr/>
                    <a:lstStyle/>
                    <a:p>
                      <a:pPr algn="ctr"/>
                      <a:r>
                        <a:rPr lang="en-US" altLang="ja-JP" sz="1400" b="1" u="none">
                          <a:solidFill>
                            <a:srgbClr val="000000"/>
                          </a:solidFill>
                          <a:latin typeface="Meiryo UI" panose="020B0604030504040204" pitchFamily="50" charset="-128"/>
                          <a:ea typeface="Meiryo UI" panose="020B0604030504040204" pitchFamily="50" charset="-128"/>
                          <a:cs typeface="Arial" pitchFamily="34" charset="0"/>
                        </a:rPr>
                        <a:t>List of Reports </a:t>
                      </a:r>
                      <a:endParaRPr kumimoji="1" lang="ja-JP" altLang="en-US" sz="1400" u="none">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Report</a:t>
                      </a:r>
                      <a:r>
                        <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rPr>
                        <a:t> </a:t>
                      </a:r>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name</a:t>
                      </a:r>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solidFill>
                            <a:schemeClr val="tx1"/>
                          </a:solidFill>
                          <a:latin typeface="Meiryo UI" panose="020B0604030504040204" pitchFamily="50" charset="-128"/>
                          <a:ea typeface="Meiryo UI" panose="020B0604030504040204" pitchFamily="50" charset="-128"/>
                        </a:rPr>
                        <a:t>Report</a:t>
                      </a:r>
                      <a:r>
                        <a:rPr lang="ja-JP" altLang="en-US" sz="1400">
                          <a:solidFill>
                            <a:schemeClr val="tx1"/>
                          </a:solidFill>
                          <a:latin typeface="Meiryo UI" panose="020B0604030504040204" pitchFamily="50" charset="-128"/>
                          <a:ea typeface="Meiryo UI" panose="020B0604030504040204" pitchFamily="50" charset="-128"/>
                        </a:rPr>
                        <a:t> </a:t>
                      </a:r>
                      <a:r>
                        <a:rPr lang="en-US" altLang="ja-JP" sz="1400">
                          <a:solidFill>
                            <a:schemeClr val="tx1"/>
                          </a:solidFill>
                          <a:latin typeface="Meiryo UI" panose="020B0604030504040204" pitchFamily="50" charset="-128"/>
                          <a:ea typeface="Meiryo UI" panose="020B0604030504040204" pitchFamily="50" charset="-128"/>
                        </a:rPr>
                        <a:t>/</a:t>
                      </a:r>
                      <a:r>
                        <a:rPr lang="ja-JP" altLang="en-US" sz="1400">
                          <a:solidFill>
                            <a:schemeClr val="tx1"/>
                          </a:solidFill>
                          <a:latin typeface="Meiryo UI" panose="020B0604030504040204" pitchFamily="50" charset="-128"/>
                          <a:ea typeface="Meiryo UI" panose="020B0604030504040204" pitchFamily="50" charset="-128"/>
                        </a:rPr>
                        <a:t> </a:t>
                      </a:r>
                      <a:r>
                        <a:rPr lang="en-US" altLang="ja-JP" sz="1400">
                          <a:solidFill>
                            <a:schemeClr val="tx1"/>
                          </a:solidFill>
                          <a:latin typeface="Meiryo UI" panose="020B0604030504040204" pitchFamily="50" charset="-128"/>
                          <a:ea typeface="Meiryo UI" panose="020B0604030504040204" pitchFamily="50" charset="-128"/>
                        </a:rPr>
                        <a:t>Submit</a:t>
                      </a:r>
                      <a:r>
                        <a:rPr lang="ja-JP" altLang="en-US" sz="1400">
                          <a:solidFill>
                            <a:schemeClr val="tx1"/>
                          </a:solidFill>
                          <a:latin typeface="Meiryo UI" panose="020B0604030504040204" pitchFamily="50" charset="-128"/>
                          <a:ea typeface="Meiryo UI" panose="020B0604030504040204" pitchFamily="50" charset="-128"/>
                        </a:rPr>
                        <a:t> </a:t>
                      </a:r>
                      <a:r>
                        <a:rPr lang="en-US" altLang="ja-JP" sz="1400">
                          <a:solidFill>
                            <a:schemeClr val="tx1"/>
                          </a:solidFill>
                          <a:latin typeface="Meiryo UI" panose="020B0604030504040204" pitchFamily="50" charset="-128"/>
                          <a:ea typeface="Meiryo UI" panose="020B0604030504040204" pitchFamily="50" charset="-128"/>
                        </a:rPr>
                        <a:t>only</a:t>
                      </a:r>
                      <a:endParaRPr lang="ja-JP" altLang="en-US" sz="1400">
                        <a:solidFill>
                          <a:schemeClr val="tx1"/>
                        </a:solidFill>
                        <a:latin typeface="Meiryo UI" panose="020B0604030504040204" pitchFamily="50" charset="-128"/>
                        <a:ea typeface="Meiryo UI" panose="020B0604030504040204" pitchFamily="50" charset="-128"/>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solidFill>
                            <a:schemeClr val="tx1"/>
                          </a:solidFill>
                          <a:latin typeface="Meiryo UI" panose="020B0604030504040204" pitchFamily="50" charset="-128"/>
                          <a:ea typeface="Meiryo UI" panose="020B0604030504040204" pitchFamily="50" charset="-128"/>
                        </a:rPr>
                        <a:t>MP0</a:t>
                      </a:r>
                      <a:endParaRPr lang="ja-JP" altLang="en-US" sz="1400">
                        <a:solidFill>
                          <a:schemeClr val="tx1"/>
                        </a:solidFill>
                        <a:latin typeface="Meiryo UI" panose="020B0604030504040204" pitchFamily="50" charset="-128"/>
                        <a:ea typeface="Meiryo UI" panose="020B0604030504040204" pitchFamily="50" charset="-128"/>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solidFill>
                            <a:schemeClr val="tx1"/>
                          </a:solidFill>
                          <a:latin typeface="Meiryo UI" panose="020B0604030504040204" pitchFamily="50" charset="-128"/>
                          <a:ea typeface="Meiryo UI" panose="020B0604030504040204" pitchFamily="50" charset="-128"/>
                        </a:rPr>
                        <a:t>MP1 or later</a:t>
                      </a:r>
                      <a:endParaRPr lang="ja-JP" altLang="en-US" sz="1400">
                        <a:solidFill>
                          <a:schemeClr val="tx1"/>
                        </a:solidFill>
                        <a:latin typeface="Meiryo UI" panose="020B0604030504040204" pitchFamily="50" charset="-128"/>
                        <a:ea typeface="Meiryo UI" panose="020B0604030504040204" pitchFamily="50" charset="-128"/>
                      </a:endParaRPr>
                    </a:p>
                  </a:txBody>
                  <a:tcPr marL="36000" marR="36000">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07430733"/>
                  </a:ext>
                </a:extLst>
              </a:tr>
              <a:tr h="628471">
                <a:tc>
                  <a:txBody>
                    <a:bodyPr/>
                    <a:lstStyle/>
                    <a:p>
                      <a:pPr algn="l"/>
                      <a:r>
                        <a:rPr lang="en-US" altLang="ja-JP" sz="1200">
                          <a:latin typeface="Meiryo UI" panose="020B0604030504040204" pitchFamily="50" charset="-128"/>
                          <a:ea typeface="Meiryo UI" panose="020B0604030504040204" pitchFamily="50" charset="-128"/>
                        </a:rPr>
                        <a:t>1.</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Agenda, blank</a:t>
                      </a:r>
                      <a:r>
                        <a:rPr lang="en-US" altLang="ja-JP" sz="1200" baseline="0">
                          <a:latin typeface="Meiryo UI" panose="020B0604030504040204" pitchFamily="50" charset="-128"/>
                          <a:ea typeface="Meiryo UI" panose="020B0604030504040204" pitchFamily="50" charset="-128"/>
                        </a:rPr>
                        <a:t> minutes</a:t>
                      </a:r>
                    </a:p>
                    <a:p>
                      <a:pPr algn="l"/>
                      <a:r>
                        <a:rPr lang="ja-JP" altLang="en-US" sz="1200" baseline="0">
                          <a:latin typeface="Meiryo UI" panose="020B0604030504040204" pitchFamily="50" charset="-128"/>
                          <a:ea typeface="Meiryo UI" panose="020B0604030504040204" pitchFamily="50" charset="-128"/>
                        </a:rPr>
                        <a:t>議題、まとめ</a:t>
                      </a:r>
                      <a:endParaRPr lang="en-US" altLang="ja-JP" sz="1200" baseline="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a:latin typeface="Meiryo UI" panose="020B0604030504040204" pitchFamily="50" charset="-128"/>
                          <a:ea typeface="Meiryo UI" panose="020B0604030504040204" pitchFamily="50" charset="-128"/>
                        </a:rPr>
                        <a:t>Agenda</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and meeting</a:t>
                      </a:r>
                      <a:r>
                        <a:rPr lang="en-US" altLang="ja-JP" sz="1200" baseline="0">
                          <a:latin typeface="Meiryo UI" panose="020B0604030504040204" pitchFamily="50" charset="-128"/>
                          <a:ea typeface="Meiryo UI" panose="020B0604030504040204" pitchFamily="50" charset="-128"/>
                        </a:rPr>
                        <a:t> minutes</a:t>
                      </a:r>
                    </a:p>
                    <a:p>
                      <a:pPr algn="ctr"/>
                      <a:r>
                        <a:rPr lang="en-US" altLang="ja-JP" sz="1200" baseline="0">
                          <a:latin typeface="Meiryo UI" panose="020B0604030504040204" pitchFamily="50" charset="-128"/>
                          <a:ea typeface="Meiryo UI" panose="020B0604030504040204" pitchFamily="50" charset="-128"/>
                        </a:rPr>
                        <a:t>*Refer to “19.Expert Meeting” holder</a:t>
                      </a:r>
                      <a:endParaRPr lang="en-US" altLang="ja-JP" sz="12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6427976"/>
                  </a:ext>
                </a:extLst>
              </a:tr>
              <a:tr h="448909">
                <a:tc>
                  <a:txBody>
                    <a:bodyPr/>
                    <a:lstStyle/>
                    <a:p>
                      <a:pPr algn="l"/>
                      <a:r>
                        <a:rPr lang="en-US" altLang="ja-JP" sz="1200">
                          <a:latin typeface="Meiryo UI" panose="020B0604030504040204" pitchFamily="50" charset="-128"/>
                          <a:ea typeface="Meiryo UI" panose="020B0604030504040204" pitchFamily="50" charset="-128"/>
                        </a:rPr>
                        <a:t>2.</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Hex schedule</a:t>
                      </a:r>
                    </a:p>
                    <a:p>
                      <a:pPr algn="l"/>
                      <a:r>
                        <a:rPr lang="en-US" altLang="ja-JP" sz="1200">
                          <a:latin typeface="Meiryo UI" panose="020B0604030504040204" pitchFamily="50" charset="-128"/>
                          <a:ea typeface="Meiryo UI" panose="020B0604030504040204" pitchFamily="50" charset="-128"/>
                        </a:rPr>
                        <a:t>Hex</a:t>
                      </a:r>
                      <a:r>
                        <a:rPr lang="ja-JP" altLang="en-US" sz="1200">
                          <a:latin typeface="Meiryo UI" panose="020B0604030504040204" pitchFamily="50" charset="-128"/>
                          <a:ea typeface="Meiryo UI" panose="020B0604030504040204" pitchFamily="50" charset="-128"/>
                        </a:rPr>
                        <a:t>日程情報</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a:latin typeface="Meiryo UI" panose="020B0604030504040204" pitchFamily="50" charset="-128"/>
                          <a:ea typeface="Meiryo UI" panose="020B0604030504040204" pitchFamily="50" charset="-128"/>
                        </a:rPr>
                        <a:t>Honda will issue</a:t>
                      </a:r>
                      <a:r>
                        <a:rPr lang="en-US" altLang="ja-JP" sz="1200" baseline="0">
                          <a:latin typeface="Meiryo UI" panose="020B0604030504040204" pitchFamily="50" charset="-128"/>
                          <a:ea typeface="Meiryo UI" panose="020B0604030504040204" pitchFamily="50" charset="-128"/>
                        </a:rPr>
                        <a:t> latest development schedule.</a:t>
                      </a:r>
                      <a:endParaRPr lang="ja-JP" altLang="en-US" sz="12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07549241"/>
                  </a:ext>
                </a:extLst>
              </a:tr>
              <a:tr h="368479">
                <a:tc>
                  <a:txBody>
                    <a:bodyPr/>
                    <a:lstStyle/>
                    <a:p>
                      <a:pPr algn="l"/>
                      <a:r>
                        <a:rPr lang="en-US" altLang="ja-JP" sz="1200">
                          <a:latin typeface="Meiryo UI" panose="020B0604030504040204" pitchFamily="50" charset="-128"/>
                          <a:ea typeface="Meiryo UI" panose="020B0604030504040204" pitchFamily="50" charset="-128"/>
                        </a:rPr>
                        <a:t>3.</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Explanation</a:t>
                      </a:r>
                      <a:r>
                        <a:rPr lang="en-US" altLang="ja-JP" sz="1200" baseline="0">
                          <a:latin typeface="Meiryo UI" panose="020B0604030504040204" pitchFamily="50" charset="-128"/>
                          <a:ea typeface="Meiryo UI" panose="020B0604030504040204" pitchFamily="50" charset="-128"/>
                        </a:rPr>
                        <a:t> of each W/P</a:t>
                      </a:r>
                    </a:p>
                    <a:p>
                      <a:pPr algn="l"/>
                      <a:r>
                        <a:rPr lang="en-US" altLang="ja-JP" sz="1200">
                          <a:latin typeface="Meiryo UI" panose="020B0604030504040204" pitchFamily="50" charset="-128"/>
                          <a:ea typeface="Meiryo UI" panose="020B0604030504040204" pitchFamily="50" charset="-128"/>
                        </a:rPr>
                        <a:t>W/P</a:t>
                      </a:r>
                      <a:r>
                        <a:rPr lang="ja-JP" altLang="en-US" sz="1200">
                          <a:latin typeface="Meiryo UI" panose="020B0604030504040204" pitchFamily="50" charset="-128"/>
                          <a:ea typeface="Meiryo UI" panose="020B0604030504040204" pitchFamily="50" charset="-128"/>
                        </a:rPr>
                        <a:t>毎の変化点説明</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a:latin typeface="Meiryo UI" panose="020B0604030504040204" pitchFamily="50" charset="-128"/>
                          <a:ea typeface="Meiryo UI" panose="020B0604030504040204" pitchFamily="50" charset="-128"/>
                        </a:rPr>
                        <a:t>Issue by</a:t>
                      </a:r>
                      <a:r>
                        <a:rPr lang="ja-JP" altLang="en-US" sz="1200">
                          <a:latin typeface="Meiryo UI" panose="020B0604030504040204" pitchFamily="50" charset="-128"/>
                          <a:ea typeface="Meiryo UI" panose="020B0604030504040204" pitchFamily="50" charset="-128"/>
                        </a:rPr>
                        <a:t> </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200">
                          <a:latin typeface="Meiryo UI" panose="020B0604030504040204" pitchFamily="50" charset="-128"/>
                          <a:ea typeface="Meiryo UI" panose="020B0604030504040204" pitchFamily="50" charset="-128"/>
                          <a:cs typeface="Arial" pitchFamily="34" charset="0"/>
                        </a:rPr>
                        <a:t> </a:t>
                      </a:r>
                      <a:r>
                        <a:rPr lang="en-US" altLang="ja-JP" sz="1200">
                          <a:latin typeface="Meiryo UI" panose="020B0604030504040204" pitchFamily="50" charset="-128"/>
                          <a:ea typeface="Meiryo UI" panose="020B0604030504040204" pitchFamily="50" charset="-128"/>
                        </a:rPr>
                        <a:t>PIC</a:t>
                      </a:r>
                      <a:endParaRPr lang="ja-JP" altLang="en-US" sz="12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44824044"/>
                  </a:ext>
                </a:extLst>
              </a:tr>
              <a:tr h="503152">
                <a:tc>
                  <a:txBody>
                    <a:bodyPr/>
                    <a:lstStyle/>
                    <a:p>
                      <a:pPr algn="l"/>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4.</a:t>
                      </a:r>
                      <a:r>
                        <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a:t>
                      </a: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Level2 data comparison list</a:t>
                      </a:r>
                    </a:p>
                    <a:p>
                      <a:pPr algn="l"/>
                      <a:r>
                        <a:rPr lang="en-US" altLang="ja-JP" sz="1200">
                          <a:latin typeface="Meiryo UI" panose="020B0604030504040204" pitchFamily="50" charset="-128"/>
                          <a:ea typeface="Meiryo UI" panose="020B0604030504040204" pitchFamily="50" charset="-128"/>
                        </a:rPr>
                        <a:t>Level2</a:t>
                      </a:r>
                      <a:r>
                        <a:rPr lang="ja-JP" altLang="en-US" sz="1200">
                          <a:latin typeface="Meiryo UI" panose="020B0604030504040204" pitchFamily="50" charset="-128"/>
                          <a:ea typeface="Meiryo UI" panose="020B0604030504040204" pitchFamily="50" charset="-128"/>
                        </a:rPr>
                        <a:t> コンペアリスト</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a:solidFill>
                            <a:schemeClr val="tx1"/>
                          </a:solidFill>
                          <a:latin typeface="Meiryo UI" panose="020B0604030504040204" pitchFamily="50" charset="-128"/>
                          <a:ea typeface="Meiryo UI" panose="020B0604030504040204" pitchFamily="50" charset="-128"/>
                        </a:rPr>
                        <a:t>A list of Level2 data comparison</a:t>
                      </a:r>
                      <a:r>
                        <a:rPr lang="en-US" altLang="ja-JP" sz="1200" baseline="0">
                          <a:solidFill>
                            <a:schemeClr val="tx1"/>
                          </a:solidFill>
                          <a:latin typeface="Meiryo UI" panose="020B0604030504040204" pitchFamily="50" charset="-128"/>
                          <a:ea typeface="Meiryo UI" panose="020B0604030504040204" pitchFamily="50" charset="-128"/>
                        </a:rPr>
                        <a:t> issue by </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Summary</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58678974"/>
                  </a:ext>
                </a:extLst>
              </a:tr>
              <a:tr h="448909">
                <a:tc>
                  <a:txBody>
                    <a:bodyPr/>
                    <a:lstStyle/>
                    <a:p>
                      <a:pPr algn="l"/>
                      <a:r>
                        <a:rPr lang="en-US" altLang="ja-JP" sz="1200">
                          <a:solidFill>
                            <a:schemeClr val="tx1"/>
                          </a:solidFill>
                          <a:latin typeface="Meiryo UI" panose="020B0604030504040204" pitchFamily="50" charset="-128"/>
                          <a:ea typeface="Meiryo UI" panose="020B0604030504040204" pitchFamily="50" charset="-128"/>
                        </a:rPr>
                        <a:t>5.</a:t>
                      </a:r>
                      <a:r>
                        <a:rPr lang="ja-JP" altLang="en-US" sz="1200">
                          <a:solidFill>
                            <a:schemeClr val="tx1"/>
                          </a:solidFill>
                          <a:latin typeface="Meiryo UI" panose="020B0604030504040204" pitchFamily="50" charset="-128"/>
                          <a:ea typeface="Meiryo UI" panose="020B0604030504040204" pitchFamily="50" charset="-128"/>
                        </a:rPr>
                        <a:t> </a:t>
                      </a:r>
                      <a:r>
                        <a:rPr lang="en-US" altLang="ja-JP" sz="1200">
                          <a:solidFill>
                            <a:schemeClr val="tx1"/>
                          </a:solidFill>
                          <a:latin typeface="Meiryo UI" panose="020B0604030504040204" pitchFamily="50" charset="-128"/>
                          <a:ea typeface="Meiryo UI" panose="020B0604030504040204" pitchFamily="50" charset="-128"/>
                        </a:rPr>
                        <a:t>Calibration</a:t>
                      </a:r>
                      <a:r>
                        <a:rPr lang="ja-JP" altLang="en-US" sz="1200">
                          <a:solidFill>
                            <a:schemeClr val="tx1"/>
                          </a:solidFill>
                          <a:latin typeface="Meiryo UI" panose="020B0604030504040204" pitchFamily="50" charset="-128"/>
                          <a:ea typeface="Meiryo UI" panose="020B0604030504040204" pitchFamily="50" charset="-128"/>
                        </a:rPr>
                        <a:t> </a:t>
                      </a:r>
                      <a:r>
                        <a:rPr lang="en-US" altLang="ja-JP" sz="1200">
                          <a:solidFill>
                            <a:schemeClr val="tx1"/>
                          </a:solidFill>
                          <a:latin typeface="Meiryo UI" panose="020B0604030504040204" pitchFamily="50" charset="-128"/>
                          <a:ea typeface="Meiryo UI" panose="020B0604030504040204" pitchFamily="50" charset="-128"/>
                        </a:rPr>
                        <a:t>Compare list</a:t>
                      </a:r>
                    </a:p>
                    <a:p>
                      <a:pPr algn="l"/>
                      <a:r>
                        <a:rPr lang="ja-JP" altLang="en-US" sz="1200">
                          <a:solidFill>
                            <a:schemeClr val="tx1"/>
                          </a:solidFill>
                          <a:latin typeface="Meiryo UI" panose="020B0604030504040204" pitchFamily="50" charset="-128"/>
                          <a:ea typeface="Meiryo UI" panose="020B0604030504040204" pitchFamily="50" charset="-128"/>
                        </a:rPr>
                        <a:t>適合値 コンペアリスト</a:t>
                      </a:r>
                      <a:endParaRPr lang="en-US" altLang="ja-JP" sz="1200">
                        <a:solidFill>
                          <a:schemeClr val="tx1"/>
                        </a:solidFill>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a:solidFill>
                            <a:schemeClr val="tx1"/>
                          </a:solidFill>
                          <a:latin typeface="Meiryo UI" panose="020B0604030504040204" pitchFamily="50" charset="-128"/>
                          <a:ea typeface="Meiryo UI" panose="020B0604030504040204" pitchFamily="50" charset="-128"/>
                        </a:rPr>
                        <a:t>A list of calibration compare</a:t>
                      </a:r>
                      <a:r>
                        <a:rPr lang="en-US" altLang="ja-JP" sz="1200" baseline="0">
                          <a:solidFill>
                            <a:schemeClr val="tx1"/>
                          </a:solidFill>
                          <a:latin typeface="Meiryo UI" panose="020B0604030504040204" pitchFamily="50" charset="-128"/>
                          <a:ea typeface="Meiryo UI" panose="020B0604030504040204" pitchFamily="50" charset="-128"/>
                        </a:rPr>
                        <a:t> issue by </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solidFill>
                            <a:schemeClr val="tx1"/>
                          </a:solidFill>
                          <a:latin typeface="Meiryo UI" panose="020B0604030504040204" pitchFamily="50" charset="-128"/>
                          <a:ea typeface="Meiryo UI" panose="020B0604030504040204" pitchFamily="50" charset="-128"/>
                        </a:rPr>
                        <a:t>Yes</a:t>
                      </a:r>
                      <a:endParaRPr lang="ja-JP" altLang="en-US" sz="1400">
                        <a:solidFill>
                          <a:schemeClr val="tx1"/>
                        </a:solidFill>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solidFill>
                            <a:schemeClr val="tx1"/>
                          </a:solidFill>
                          <a:latin typeface="Meiryo UI" panose="020B0604030504040204" pitchFamily="50" charset="-128"/>
                          <a:ea typeface="Meiryo UI" panose="020B0604030504040204" pitchFamily="50" charset="-128"/>
                        </a:rPr>
                        <a:t>Yes</a:t>
                      </a:r>
                      <a:endParaRPr lang="ja-JP" altLang="en-US" sz="140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05061972"/>
                  </a:ext>
                </a:extLst>
              </a:tr>
              <a:tr h="448909">
                <a:tc>
                  <a:txBody>
                    <a:bodyPr/>
                    <a:lstStyle/>
                    <a:p>
                      <a:pPr algn="l"/>
                      <a:r>
                        <a:rPr kumimoji="1" lang="en-US" altLang="ja-JP" sz="1200" b="0" i="0" u="none" strike="noStrike" kern="1200" baseline="0">
                          <a:solidFill>
                            <a:schemeClr val="dk1"/>
                          </a:solidFill>
                          <a:latin typeface="Meiryo UI" panose="020B0604030504040204" pitchFamily="50" charset="-128"/>
                          <a:ea typeface="Meiryo UI" panose="020B0604030504040204" pitchFamily="50" charset="-128"/>
                          <a:cs typeface="+mn-cs"/>
                        </a:rPr>
                        <a:t>6.</a:t>
                      </a:r>
                      <a:r>
                        <a:rPr kumimoji="1" lang="ja-JP" altLang="en-US" sz="1200" b="0" i="0" u="none" strike="noStrike" kern="1200" baseline="0">
                          <a:solidFill>
                            <a:schemeClr val="dk1"/>
                          </a:solidFill>
                          <a:latin typeface="Meiryo UI" panose="020B0604030504040204" pitchFamily="50" charset="-128"/>
                          <a:ea typeface="Meiryo UI" panose="020B0604030504040204" pitchFamily="50" charset="-128"/>
                          <a:cs typeface="+mn-cs"/>
                        </a:rPr>
                        <a:t> </a:t>
                      </a:r>
                      <a:r>
                        <a:rPr kumimoji="1" lang="en-US" altLang="ja-JP" sz="1200" b="0" i="0" u="none" strike="noStrike" kern="1200" baseline="0">
                          <a:solidFill>
                            <a:schemeClr val="dk1"/>
                          </a:solidFill>
                          <a:latin typeface="Meiryo UI" panose="020B0604030504040204" pitchFamily="50" charset="-128"/>
                          <a:ea typeface="Meiryo UI" panose="020B0604030504040204" pitchFamily="50" charset="-128"/>
                          <a:cs typeface="+mn-cs"/>
                        </a:rPr>
                        <a:t>CR label comparison list Status summary</a:t>
                      </a:r>
                      <a:r>
                        <a:rPr kumimoji="1" lang="ja-JP" altLang="en-US" sz="1200" b="0" i="0" u="none" strike="noStrike" kern="1200" baseline="0">
                          <a:solidFill>
                            <a:schemeClr val="dk1"/>
                          </a:solidFill>
                          <a:latin typeface="Meiryo UI" panose="020B0604030504040204" pitchFamily="50" charset="-128"/>
                          <a:ea typeface="Meiryo UI" panose="020B0604030504040204" pitchFamily="50" charset="-128"/>
                          <a:cs typeface="+mn-cs"/>
                        </a:rPr>
                        <a:t>　</a:t>
                      </a:r>
                      <a:r>
                        <a:rPr lang="en-US" altLang="ja-JP" sz="1200">
                          <a:latin typeface="Meiryo UI" panose="020B0604030504040204" pitchFamily="50" charset="-128"/>
                          <a:ea typeface="Meiryo UI" panose="020B0604030504040204" pitchFamily="50" charset="-128"/>
                        </a:rPr>
                        <a:t>CR</a:t>
                      </a:r>
                      <a:r>
                        <a:rPr lang="ja-JP" altLang="en-US" sz="1200">
                          <a:latin typeface="Meiryo UI" panose="020B0604030504040204" pitchFamily="50" charset="-128"/>
                          <a:ea typeface="Meiryo UI" panose="020B0604030504040204" pitchFamily="50" charset="-128"/>
                        </a:rPr>
                        <a:t>関連ラベル比較サマリー</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50" charset="-128"/>
                          <a:ea typeface="Meiryo UI" panose="020B0604030504040204" pitchFamily="50" charset="-128"/>
                        </a:rPr>
                        <a:t>A list of CR label compare</a:t>
                      </a:r>
                      <a:r>
                        <a:rPr lang="en-US" altLang="ja-JP" sz="1200" baseline="0">
                          <a:solidFill>
                            <a:schemeClr val="tx1"/>
                          </a:solidFill>
                          <a:latin typeface="Meiryo UI" panose="020B0604030504040204" pitchFamily="50" charset="-128"/>
                          <a:ea typeface="Meiryo UI" panose="020B0604030504040204" pitchFamily="50" charset="-128"/>
                        </a:rPr>
                        <a:t> issue by </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Summary</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61477260"/>
                  </a:ext>
                </a:extLst>
              </a:tr>
              <a:tr h="528257">
                <a:tc>
                  <a:txBody>
                    <a:bodyPr/>
                    <a:lstStyle/>
                    <a:p>
                      <a:pPr algn="l"/>
                      <a:r>
                        <a:rPr lang="en-US" altLang="ja-JP" sz="1200">
                          <a:latin typeface="Meiryo UI" panose="020B0604030504040204" pitchFamily="50" charset="-128"/>
                          <a:ea typeface="Meiryo UI" panose="020B0604030504040204" pitchFamily="50" charset="-128"/>
                        </a:rPr>
                        <a:t>7.</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Emission and Fuel</a:t>
                      </a:r>
                      <a:r>
                        <a:rPr lang="en-US" altLang="ja-JP" sz="1200" baseline="0">
                          <a:latin typeface="Meiryo UI" panose="020B0604030504040204" pitchFamily="50" charset="-128"/>
                          <a:ea typeface="Meiryo UI" panose="020B0604030504040204" pitchFamily="50" charset="-128"/>
                        </a:rPr>
                        <a:t> consumption equivalence report</a:t>
                      </a:r>
                    </a:p>
                    <a:p>
                      <a:pPr algn="l"/>
                      <a:r>
                        <a:rPr lang="ja-JP" altLang="en-US" sz="1200" baseline="0">
                          <a:latin typeface="Meiryo UI" panose="020B0604030504040204" pitchFamily="50" charset="-128"/>
                          <a:ea typeface="Meiryo UI" panose="020B0604030504040204" pitchFamily="50" charset="-128"/>
                        </a:rPr>
                        <a:t>排ガス・燃費同等証明レポート</a:t>
                      </a:r>
                      <a:endParaRPr lang="ja-JP" altLang="en-US" sz="12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a:latin typeface="Meiryo UI" panose="020B0604030504040204" pitchFamily="50" charset="-128"/>
                          <a:ea typeface="Meiryo UI" panose="020B0604030504040204" pitchFamily="50" charset="-128"/>
                        </a:rPr>
                        <a:t>Issue by</a:t>
                      </a:r>
                      <a:r>
                        <a:rPr lang="ja-JP" altLang="en-US" sz="1200">
                          <a:latin typeface="Meiryo UI" panose="020B0604030504040204" pitchFamily="50" charset="-128"/>
                          <a:ea typeface="Meiryo UI" panose="020B0604030504040204" pitchFamily="50" charset="-128"/>
                        </a:rPr>
                        <a:t> </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200">
                          <a:latin typeface="Meiryo UI" panose="020B0604030504040204" pitchFamily="50" charset="-128"/>
                          <a:ea typeface="Meiryo UI" panose="020B0604030504040204" pitchFamily="50" charset="-128"/>
                          <a:cs typeface="Arial" pitchFamily="34" charset="0"/>
                        </a:rPr>
                        <a:t> </a:t>
                      </a:r>
                      <a:r>
                        <a:rPr lang="en-US" altLang="ja-JP" sz="1200">
                          <a:latin typeface="Meiryo UI" panose="020B0604030504040204" pitchFamily="50" charset="-128"/>
                          <a:ea typeface="Meiryo UI" panose="020B0604030504040204" pitchFamily="50" charset="-128"/>
                        </a:rPr>
                        <a:t>PIC</a:t>
                      </a:r>
                      <a:endParaRPr lang="ja-JP" altLang="en-US" sz="12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31462253"/>
                  </a:ext>
                </a:extLst>
              </a:tr>
              <a:tr h="5031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a:solidFill>
                            <a:schemeClr val="dk1"/>
                          </a:solidFill>
                          <a:latin typeface="Meiryo UI" panose="020B0604030504040204" pitchFamily="50" charset="-128"/>
                          <a:ea typeface="Meiryo UI" panose="020B0604030504040204" pitchFamily="50" charset="-128"/>
                          <a:cs typeface="Arial" panose="020B0604020202020204" pitchFamily="34" charset="0"/>
                        </a:rPr>
                        <a:t>8.</a:t>
                      </a:r>
                      <a:r>
                        <a:rPr kumimoji="1" lang="ja-JP" altLang="en-US" sz="1200" kern="1200">
                          <a:solidFill>
                            <a:schemeClr val="dk1"/>
                          </a:solidFill>
                          <a:latin typeface="Meiryo UI" panose="020B0604030504040204" pitchFamily="50" charset="-128"/>
                          <a:ea typeface="Meiryo UI" panose="020B0604030504040204" pitchFamily="50" charset="-128"/>
                          <a:cs typeface="Arial" panose="020B0604020202020204" pitchFamily="34" charset="0"/>
                        </a:rPr>
                        <a:t> </a:t>
                      </a:r>
                      <a:r>
                        <a:rPr kumimoji="1" lang="en-US" altLang="ja-JP" sz="1200" kern="1200">
                          <a:solidFill>
                            <a:schemeClr val="dk1"/>
                          </a:solidFill>
                          <a:latin typeface="Meiryo UI" panose="020B0604030504040204" pitchFamily="50" charset="-128"/>
                          <a:ea typeface="Meiryo UI" panose="020B0604030504040204" pitchFamily="50" charset="-128"/>
                          <a:cs typeface="Arial" panose="020B0604020202020204" pitchFamily="34" charset="0"/>
                        </a:rPr>
                        <a:t>Calibration Data review report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dk1"/>
                          </a:solidFill>
                          <a:latin typeface="Meiryo UI" panose="020B0604030504040204" pitchFamily="50" charset="-128"/>
                          <a:ea typeface="Meiryo UI" panose="020B0604030504040204" pitchFamily="50" charset="-128"/>
                          <a:cs typeface="Arial" panose="020B0604020202020204" pitchFamily="34" charset="0"/>
                        </a:rPr>
                        <a:t>適合データレヴュー</a:t>
                      </a:r>
                      <a:endParaRPr kumimoji="1" lang="en-US" altLang="ja-JP" sz="12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200">
                          <a:latin typeface="Meiryo UI" panose="020B0604030504040204" pitchFamily="50" charset="-128"/>
                          <a:ea typeface="Meiryo UI" panose="020B0604030504040204" pitchFamily="50" charset="-128"/>
                        </a:rPr>
                        <a:t>Review</a:t>
                      </a:r>
                      <a:r>
                        <a:rPr lang="en-US" altLang="ja-JP" sz="1200" baseline="0">
                          <a:latin typeface="Meiryo UI" panose="020B0604030504040204" pitchFamily="50" charset="-128"/>
                          <a:ea typeface="Meiryo UI" panose="020B0604030504040204" pitchFamily="50" charset="-128"/>
                        </a:rPr>
                        <a:t> information of calibration data</a:t>
                      </a:r>
                      <a:r>
                        <a:rPr lang="en-US" altLang="ja-JP" sz="1200">
                          <a:latin typeface="Meiryo UI" panose="020B0604030504040204" pitchFamily="50" charset="-128"/>
                          <a:ea typeface="Meiryo UI" panose="020B0604030504040204" pitchFamily="50" charset="-128"/>
                        </a:rPr>
                        <a:t> in </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Summary</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6495370"/>
                  </a:ext>
                </a:extLst>
              </a:tr>
              <a:tr h="503152">
                <a:tc>
                  <a:txBody>
                    <a:bodyPr/>
                    <a:lstStyle/>
                    <a:p>
                      <a:pPr algn="l"/>
                      <a:r>
                        <a:rPr kumimoji="1" lang="en-US" altLang="ja-JP" sz="1200">
                          <a:solidFill>
                            <a:schemeClr val="tx1"/>
                          </a:solidFill>
                          <a:latin typeface="Meiryo UI" panose="020B0604030504040204" pitchFamily="50" charset="-128"/>
                          <a:ea typeface="Meiryo UI" panose="020B0604030504040204" pitchFamily="50" charset="-128"/>
                        </a:rPr>
                        <a:t>9.</a:t>
                      </a:r>
                      <a:r>
                        <a:rPr kumimoji="1" lang="ja-JP" altLang="en-US" sz="120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System Matrix</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relevant</a:t>
                      </a:r>
                      <a:r>
                        <a:rPr kumimoji="1" lang="en-US" altLang="ja-JP" sz="1200" baseline="0">
                          <a:solidFill>
                            <a:schemeClr val="tx1"/>
                          </a:solidFill>
                          <a:latin typeface="Meiryo UI" panose="020B0604030504040204" pitchFamily="50" charset="-128"/>
                          <a:ea typeface="Meiryo UI" panose="020B0604030504040204" pitchFamily="50" charset="-128"/>
                        </a:rPr>
                        <a:t> </a:t>
                      </a:r>
                      <a:r>
                        <a:rPr kumimoji="1" lang="en-US" altLang="ja-JP" sz="1200">
                          <a:solidFill>
                            <a:schemeClr val="tx1"/>
                          </a:solidFill>
                          <a:latin typeface="Meiryo UI" panose="020B0604030504040204" pitchFamily="50" charset="-128"/>
                          <a:ea typeface="Meiryo UI" panose="020B0604030504040204" pitchFamily="50" charset="-128"/>
                        </a:rPr>
                        <a:t>check</a:t>
                      </a:r>
                      <a:endParaRPr kumimoji="1" lang="ja-JP" altLang="en-US" sz="1200">
                        <a:solidFill>
                          <a:schemeClr val="tx1"/>
                        </a:solidFill>
                        <a:latin typeface="Meiryo UI" panose="020B0604030504040204" pitchFamily="50" charset="-128"/>
                        <a:ea typeface="Meiryo UI"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baseline="0">
                          <a:solidFill>
                            <a:schemeClr val="dk1"/>
                          </a:solidFill>
                          <a:latin typeface="Meiryo UI" panose="020B0604030504040204" pitchFamily="50" charset="-128"/>
                          <a:ea typeface="Meiryo UI" panose="020B0604030504040204" pitchFamily="50" charset="-128"/>
                          <a:cs typeface="Arial" panose="020B0604020202020204" pitchFamily="34" charset="0"/>
                        </a:rPr>
                        <a:t>システムマトリクス関連データ確認</a:t>
                      </a:r>
                      <a:endParaRPr kumimoji="1" lang="en-US" altLang="ja-JP" sz="1200" kern="1200">
                        <a:solidFill>
                          <a:schemeClr val="dk1"/>
                        </a:solidFill>
                        <a:latin typeface="Meiryo UI" panose="020B0604030504040204" pitchFamily="50" charset="-128"/>
                        <a:ea typeface="Meiryo UI" panose="020B0604030504040204" pitchFamily="50" charset="-128"/>
                        <a:cs typeface="Arial" panose="020B0604020202020204" pitchFamily="34" charset="0"/>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50" charset="-128"/>
                          <a:ea typeface="Meiryo UI" panose="020B0604030504040204" pitchFamily="50" charset="-128"/>
                        </a:rPr>
                        <a:t>A list of system matrix relevant check issue</a:t>
                      </a:r>
                      <a:r>
                        <a:rPr lang="en-US" altLang="ja-JP" sz="1200" baseline="0">
                          <a:solidFill>
                            <a:schemeClr val="tx1"/>
                          </a:solidFill>
                          <a:latin typeface="Meiryo UI" panose="020B0604030504040204" pitchFamily="50" charset="-128"/>
                          <a:ea typeface="Meiryo UI" panose="020B0604030504040204" pitchFamily="50" charset="-128"/>
                        </a:rPr>
                        <a:t> by </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Bosch</a:t>
                      </a:r>
                      <a:endParaRPr lang="en-US" altLang="ja-JP" sz="120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Summary</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Yes</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0363078"/>
                  </a:ext>
                </a:extLst>
              </a:tr>
              <a:tr h="368479">
                <a:tc>
                  <a:txBody>
                    <a:bodyPr/>
                    <a:lstStyle/>
                    <a:p>
                      <a:pPr algn="l"/>
                      <a:r>
                        <a:rPr lang="en-US" altLang="ja-JP" sz="1200">
                          <a:latin typeface="Meiryo UI" panose="020B0604030504040204" pitchFamily="50" charset="-128"/>
                          <a:ea typeface="Meiryo UI" panose="020B0604030504040204" pitchFamily="50" charset="-128"/>
                        </a:rPr>
                        <a:t>10.</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Monitoring function report</a:t>
                      </a:r>
                    </a:p>
                    <a:p>
                      <a:pPr algn="l"/>
                      <a:r>
                        <a:rPr lang="ja-JP" altLang="en-US" sz="1200">
                          <a:latin typeface="Meiryo UI" panose="020B0604030504040204" pitchFamily="50" charset="-128"/>
                          <a:ea typeface="Meiryo UI" panose="020B0604030504040204" pitchFamily="50" charset="-128"/>
                        </a:rPr>
                        <a:t>モニタリング機能レポート</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a:latin typeface="Meiryo UI" panose="020B0604030504040204" pitchFamily="50" charset="-128"/>
                          <a:ea typeface="Meiryo UI" panose="020B0604030504040204" pitchFamily="50" charset="-128"/>
                        </a:rPr>
                        <a:t>Issue by</a:t>
                      </a:r>
                      <a:r>
                        <a:rPr lang="ja-JP" altLang="en-US" sz="1200">
                          <a:latin typeface="Meiryo UI" panose="020B0604030504040204" pitchFamily="50" charset="-128"/>
                          <a:ea typeface="Meiryo UI" panose="020B0604030504040204" pitchFamily="50" charset="-128"/>
                        </a:rPr>
                        <a:t> </a:t>
                      </a:r>
                      <a:r>
                        <a:rPr lang="en-US" altLang="ja-JP" sz="12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200">
                          <a:latin typeface="Meiryo UI" panose="020B0604030504040204" pitchFamily="50" charset="-128"/>
                          <a:ea typeface="Meiryo UI" panose="020B0604030504040204" pitchFamily="50" charset="-128"/>
                          <a:cs typeface="Arial" pitchFamily="34" charset="0"/>
                        </a:rPr>
                        <a:t> </a:t>
                      </a:r>
                      <a:r>
                        <a:rPr lang="en-US" altLang="ja-JP" sz="1200">
                          <a:latin typeface="Meiryo UI" panose="020B0604030504040204" pitchFamily="50" charset="-128"/>
                          <a:ea typeface="Meiryo UI" panose="020B0604030504040204" pitchFamily="50" charset="-128"/>
                        </a:rPr>
                        <a:t>PIC</a:t>
                      </a:r>
                      <a:endParaRPr lang="ja-JP" altLang="en-US" sz="12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latin typeface="Meiryo UI" panose="020B0604030504040204" pitchFamily="50" charset="-128"/>
                          <a:ea typeface="Meiryo UI" panose="020B0604030504040204" pitchFamily="50" charset="-128"/>
                        </a:rPr>
                        <a:t>No</a:t>
                      </a:r>
                      <a:endParaRPr lang="ja-JP" altLang="en-US" sz="14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a:latin typeface="Meiryo UI" panose="020B0604030504040204" pitchFamily="50" charset="-128"/>
                          <a:ea typeface="Meiryo UI" panose="020B0604030504040204" pitchFamily="50" charset="-128"/>
                        </a:rPr>
                        <a:t>Yes</a:t>
                      </a:r>
                      <a:endParaRPr lang="ja-JP" altLang="en-US" sz="1400">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350400727"/>
                  </a:ext>
                </a:extLst>
              </a:tr>
              <a:tr h="448909">
                <a:tc>
                  <a:txBody>
                    <a:bodyPr/>
                    <a:lstStyle/>
                    <a:p>
                      <a:pPr algn="l"/>
                      <a:r>
                        <a:rPr lang="en-US" altLang="ja-JP" sz="1200">
                          <a:solidFill>
                            <a:schemeClr val="tx1"/>
                          </a:solidFill>
                          <a:latin typeface="Meiryo UI" panose="020B0604030504040204" pitchFamily="50" charset="-128"/>
                          <a:ea typeface="Meiryo UI" panose="020B0604030504040204" pitchFamily="50" charset="-128"/>
                        </a:rPr>
                        <a:t>11.</a:t>
                      </a:r>
                      <a:r>
                        <a:rPr lang="ja-JP" altLang="en-US" sz="1200">
                          <a:solidFill>
                            <a:schemeClr val="tx1"/>
                          </a:solidFill>
                          <a:latin typeface="Meiryo UI" panose="020B0604030504040204" pitchFamily="50" charset="-128"/>
                          <a:ea typeface="Meiryo UI" panose="020B0604030504040204" pitchFamily="50" charset="-128"/>
                        </a:rPr>
                        <a:t> </a:t>
                      </a:r>
                      <a:r>
                        <a:rPr lang="en-US" altLang="ja-JP" sz="1200">
                          <a:solidFill>
                            <a:schemeClr val="tx1"/>
                          </a:solidFill>
                          <a:latin typeface="Meiryo UI" panose="020B0604030504040204" pitchFamily="50" charset="-128"/>
                          <a:ea typeface="Meiryo UI" panose="020B0604030504040204" pitchFamily="50" charset="-128"/>
                        </a:rPr>
                        <a:t>Setting Concept Confirmation</a:t>
                      </a:r>
                    </a:p>
                    <a:p>
                      <a:pPr algn="l"/>
                      <a:r>
                        <a:rPr lang="ja-JP" altLang="en-US" sz="1200">
                          <a:solidFill>
                            <a:schemeClr val="tx1"/>
                          </a:solidFill>
                          <a:latin typeface="Meiryo UI" panose="020B0604030504040204" pitchFamily="50" charset="-128"/>
                          <a:ea typeface="Meiryo UI" panose="020B0604030504040204" pitchFamily="50" charset="-128"/>
                        </a:rPr>
                        <a:t>学習機能設定指針反映確認</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a:solidFill>
                            <a:schemeClr val="tx1"/>
                          </a:solidFill>
                          <a:latin typeface="Meiryo UI" panose="020B0604030504040204" pitchFamily="50" charset="-128"/>
                          <a:ea typeface="Meiryo UI" panose="020B0604030504040204" pitchFamily="50" charset="-128"/>
                        </a:rPr>
                        <a:t>Completion Declaration of Setting Concept Reflection</a:t>
                      </a:r>
                      <a:endParaRPr lang="ja-JP" altLang="en-US" sz="1200">
                        <a:solidFill>
                          <a:schemeClr val="tx1"/>
                        </a:solidFill>
                        <a:latin typeface="Meiryo UI" panose="020B0604030504040204" pitchFamily="50" charset="-128"/>
                        <a:ea typeface="Meiryo UI" panose="020B0604030504040204" pitchFamily="50" charset="-128"/>
                      </a:endParaRP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100">
                          <a:latin typeface="Meiryo UI" panose="020B0604030504040204" pitchFamily="50" charset="-128"/>
                          <a:ea typeface="Meiryo UI" panose="020B0604030504040204" pitchFamily="50" charset="-128"/>
                        </a:rPr>
                        <a:t>Report at the Expert</a:t>
                      </a:r>
                      <a:r>
                        <a:rPr lang="ja-JP" altLang="en-US" sz="11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meeting</a:t>
                      </a:r>
                      <a:endParaRPr lang="ja-JP" altLang="en-US" sz="1100">
                        <a:latin typeface="Meiryo UI" panose="020B0604030504040204" pitchFamily="50" charset="-128"/>
                        <a:ea typeface="Meiryo UI" panose="020B0604030504040204" pitchFamily="50" charset="-128"/>
                      </a:endParaRP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solidFill>
                            <a:schemeClr val="tx1"/>
                          </a:solidFill>
                          <a:latin typeface="Meiryo UI" panose="020B0604030504040204" pitchFamily="50" charset="-128"/>
                          <a:ea typeface="Meiryo UI" panose="020B0604030504040204" pitchFamily="50" charset="-128"/>
                        </a:rPr>
                        <a:t>Yes</a:t>
                      </a:r>
                    </a:p>
                  </a:txBody>
                  <a:tcPr marL="36000" marR="36000"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lang="en-US" altLang="ja-JP" sz="1400">
                          <a:solidFill>
                            <a:schemeClr val="tx1"/>
                          </a:solidFill>
                          <a:latin typeface="Meiryo UI" panose="020B0604030504040204" pitchFamily="50" charset="-128"/>
                          <a:ea typeface="Meiryo UI" panose="020B0604030504040204" pitchFamily="50" charset="-128"/>
                        </a:rPr>
                        <a:t>Yes</a:t>
                      </a:r>
                    </a:p>
                  </a:txBody>
                  <a:tcPr marL="36000" marR="3600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953000390"/>
                  </a:ext>
                </a:extLst>
              </a:tr>
            </a:tbl>
          </a:graphicData>
        </a:graphic>
      </p:graphicFrame>
      <p:sp>
        <p:nvSpPr>
          <p:cNvPr id="10" name="Text Box 2"/>
          <p:cNvSpPr txBox="1">
            <a:spLocks noChangeArrowheads="1"/>
          </p:cNvSpPr>
          <p:nvPr/>
        </p:nvSpPr>
        <p:spPr bwMode="auto">
          <a:xfrm>
            <a:off x="250829" y="498851"/>
            <a:ext cx="4216732" cy="4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30000"/>
              </a:lnSpc>
            </a:pPr>
            <a:r>
              <a:rPr lang="en-US" altLang="ja-JP" sz="1800" b="1" u="sng">
                <a:solidFill>
                  <a:srgbClr val="000000"/>
                </a:solidFill>
                <a:latin typeface="Meiryo UI" panose="020B0604030504040204" pitchFamily="50" charset="-128"/>
                <a:ea typeface="Meiryo UI" panose="020B0604030504040204" pitchFamily="50" charset="-128"/>
                <a:cs typeface="Arial" pitchFamily="34" charset="0"/>
              </a:rPr>
              <a:t>List of Reports of Expert Meeting</a:t>
            </a:r>
            <a:endParaRPr lang="ja-JP" altLang="en-US" sz="1800" b="1" u="sng">
              <a:solidFill>
                <a:srgbClr val="000000"/>
              </a:solidFill>
              <a:latin typeface="Meiryo UI" panose="020B0604030504040204" pitchFamily="50" charset="-128"/>
              <a:ea typeface="Meiryo UI" panose="020B0604030504040204" pitchFamily="50" charset="-128"/>
              <a:cs typeface="Arial" pitchFamily="34" charset="0"/>
            </a:endParaRPr>
          </a:p>
        </p:txBody>
      </p:sp>
      <p:sp>
        <p:nvSpPr>
          <p:cNvPr id="14"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(3/5)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8923312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(4/5)</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2" name="表 2">
            <a:extLst>
              <a:ext uri="{FF2B5EF4-FFF2-40B4-BE49-F238E27FC236}">
                <a16:creationId xmlns:a16="http://schemas.microsoft.com/office/drawing/2014/main" id="{3F7AAB80-ED56-4B49-9CD1-F47D788E847B}"/>
              </a:ext>
            </a:extLst>
          </p:cNvPr>
          <p:cNvGraphicFramePr>
            <a:graphicFrameLocks noGrp="1"/>
          </p:cNvGraphicFramePr>
          <p:nvPr>
            <p:extLst>
              <p:ext uri="{D42A27DB-BD31-4B8C-83A1-F6EECF244321}">
                <p14:modId xmlns:p14="http://schemas.microsoft.com/office/powerpoint/2010/main" val="2058857243"/>
              </p:ext>
            </p:extLst>
          </p:nvPr>
        </p:nvGraphicFramePr>
        <p:xfrm>
          <a:off x="250829" y="1110765"/>
          <a:ext cx="8748000" cy="5455416"/>
        </p:xfrm>
        <a:graphic>
          <a:graphicData uri="http://schemas.openxmlformats.org/drawingml/2006/table">
            <a:tbl>
              <a:tblPr firstRow="1" bandRow="1">
                <a:tableStyleId>{5940675A-B579-460E-94D1-54222C63F5DA}</a:tableStyleId>
              </a:tblPr>
              <a:tblGrid>
                <a:gridCol w="6084000">
                  <a:extLst>
                    <a:ext uri="{9D8B030D-6E8A-4147-A177-3AD203B41FA5}">
                      <a16:colId xmlns:a16="http://schemas.microsoft.com/office/drawing/2014/main" val="3292792813"/>
                    </a:ext>
                  </a:extLst>
                </a:gridCol>
                <a:gridCol w="1332000">
                  <a:extLst>
                    <a:ext uri="{9D8B030D-6E8A-4147-A177-3AD203B41FA5}">
                      <a16:colId xmlns:a16="http://schemas.microsoft.com/office/drawing/2014/main" val="792832928"/>
                    </a:ext>
                  </a:extLst>
                </a:gridCol>
                <a:gridCol w="1332000">
                  <a:extLst>
                    <a:ext uri="{9D8B030D-6E8A-4147-A177-3AD203B41FA5}">
                      <a16:colId xmlns:a16="http://schemas.microsoft.com/office/drawing/2014/main" val="683923867"/>
                    </a:ext>
                  </a:extLst>
                </a:gridCol>
              </a:tblGrid>
              <a:tr h="290287">
                <a:tc>
                  <a:txBody>
                    <a:bodyPr/>
                    <a:lstStyle/>
                    <a:p>
                      <a:endParaRPr kumimoji="1" lang="ja-JP" altLang="en-US" sz="1400">
                        <a:latin typeface="Meiryo UI" panose="020B0604030504040204" pitchFamily="50" charset="-128"/>
                        <a:ea typeface="Meiryo UI" panose="020B0604030504040204" pitchFamily="50" charset="-128"/>
                      </a:endParaRPr>
                    </a:p>
                  </a:txBody>
                  <a:tcPr/>
                </a:tc>
                <a:tc>
                  <a:txBody>
                    <a:bodyPr/>
                    <a:lstStyle/>
                    <a:p>
                      <a:pPr algn="ctr"/>
                      <a:r>
                        <a:rPr kumimoji="1" lang="en-US" altLang="ja-JP" sz="1400">
                          <a:latin typeface="Meiryo UI" panose="020B0604030504040204" pitchFamily="50" charset="-128"/>
                          <a:ea typeface="Meiryo UI" panose="020B0604030504040204" pitchFamily="50" charset="-128"/>
                        </a:rPr>
                        <a:t>MP0</a:t>
                      </a:r>
                      <a:endParaRPr kumimoji="1" lang="ja-JP" altLang="en-US" sz="1400">
                        <a:latin typeface="Meiryo UI" panose="020B0604030504040204" pitchFamily="50" charset="-128"/>
                        <a:ea typeface="Meiryo UI" panose="020B0604030504040204" pitchFamily="50" charset="-128"/>
                      </a:endParaRPr>
                    </a:p>
                  </a:txBody>
                  <a:tcPr/>
                </a:tc>
                <a:tc>
                  <a:txBody>
                    <a:bodyPr/>
                    <a:lstStyle/>
                    <a:p>
                      <a:pPr algn="ctr"/>
                      <a:r>
                        <a:rPr kumimoji="1" lang="en-US" altLang="ja-JP" sz="1400">
                          <a:latin typeface="Meiryo UI" panose="020B0604030504040204" pitchFamily="50" charset="-128"/>
                          <a:ea typeface="Meiryo UI" panose="020B0604030504040204" pitchFamily="50" charset="-128"/>
                        </a:rPr>
                        <a:t>MP1 or Later</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26245657"/>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1. </a:t>
                      </a: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rPr>
                        <a:t>Purpose, </a:t>
                      </a:r>
                      <a:r>
                        <a:rPr lang="en-US" altLang="ja-JP" sz="1400">
                          <a:solidFill>
                            <a:srgbClr val="000000"/>
                          </a:solidFill>
                          <a:latin typeface="Meiryo UI" panose="020B0604030504040204" pitchFamily="50" charset="-128"/>
                          <a:ea typeface="Meiryo UI" panose="020B0604030504040204" pitchFamily="50" charset="-128"/>
                        </a:rPr>
                        <a:t>background, why data change is needed</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377292504"/>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2. Goal</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987739720"/>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3. OK criteria and HW or other limitation</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509469270"/>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4. Verification result including side impact</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566798504"/>
                  </a:ext>
                </a:extLst>
              </a:tr>
              <a:tr h="5142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a:solidFill>
                            <a:srgbClr val="000000"/>
                          </a:solidFill>
                          <a:latin typeface="Meiryo UI" panose="020B0604030504040204" pitchFamily="50" charset="-128"/>
                          <a:ea typeface="Meiryo UI" panose="020B0604030504040204" pitchFamily="50" charset="-128"/>
                        </a:rPr>
                        <a:t>5. behavior comparison between previous MPx</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r>
                        <a:rPr kumimoji="1" lang="en-US" altLang="ja-JP" sz="1400">
                          <a:latin typeface="Meiryo UI" panose="020B0604030504040204" pitchFamily="50" charset="-128"/>
                          <a:ea typeface="Meiryo UI" panose="020B0604030504040204" pitchFamily="50" charset="-128"/>
                        </a:rPr>
                        <a:t>※</a:t>
                      </a:r>
                    </a:p>
                    <a:p>
                      <a:pPr algn="ctr"/>
                      <a:r>
                        <a:rPr kumimoji="1" lang="en-US" altLang="ja-JP" sz="1100">
                          <a:latin typeface="Meiryo UI" panose="020B0604030504040204" pitchFamily="50" charset="-128"/>
                          <a:ea typeface="Meiryo UI" panose="020B0604030504040204" pitchFamily="50" charset="-128"/>
                        </a:rPr>
                        <a:t>(Previous</a:t>
                      </a:r>
                      <a:r>
                        <a:rPr kumimoji="1" lang="ja-JP" altLang="en-US" sz="1100">
                          <a:latin typeface="Meiryo UI" panose="020B0604030504040204" pitchFamily="50" charset="-128"/>
                          <a:ea typeface="Meiryo UI" panose="020B0604030504040204" pitchFamily="50" charset="-128"/>
                        </a:rPr>
                        <a:t> </a:t>
                      </a:r>
                      <a:r>
                        <a:rPr kumimoji="1" lang="en-US" altLang="ja-JP" sz="1100">
                          <a:latin typeface="Meiryo UI" panose="020B0604030504040204" pitchFamily="50" charset="-128"/>
                          <a:ea typeface="Meiryo UI" panose="020B0604030504040204" pitchFamily="50" charset="-128"/>
                        </a:rPr>
                        <a:t>Model)</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485590372"/>
                  </a:ext>
                </a:extLst>
              </a:tr>
              <a:tr h="514287">
                <a:tc>
                  <a:txBody>
                    <a:bodyPr/>
                    <a:lstStyle/>
                    <a:p>
                      <a:pPr lvl="0" algn="l">
                        <a:spcBef>
                          <a:spcPts val="300"/>
                        </a:spcBef>
                        <a:defRPr/>
                      </a:pPr>
                      <a:r>
                        <a:rPr lang="en-US" altLang="ja-JP" sz="1400">
                          <a:solidFill>
                            <a:srgbClr val="000000"/>
                          </a:solidFill>
                          <a:latin typeface="Meiryo UI" panose="020B0604030504040204" pitchFamily="50" charset="-128"/>
                          <a:ea typeface="Meiryo UI" panose="020B0604030504040204" pitchFamily="50" charset="-128"/>
                        </a:rPr>
                        <a:t>6. dataset comparison with previous MPx to see which area is changed</a:t>
                      </a:r>
                      <a:endParaRPr lang="en-US" altLang="ja-JP"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r>
                        <a:rPr kumimoji="1" lang="en-US" altLang="ja-JP" sz="1400">
                          <a:latin typeface="Meiryo UI" panose="020B0604030504040204" pitchFamily="50" charset="-128"/>
                          <a:ea typeface="Meiryo UI" panose="020B0604030504040204" pitchFamily="50" charset="-128"/>
                        </a:rPr>
                        <a:t>※</a:t>
                      </a:r>
                    </a:p>
                    <a:p>
                      <a:pPr algn="ctr"/>
                      <a:r>
                        <a:rPr kumimoji="1" lang="en-US" altLang="ja-JP" sz="1100">
                          <a:latin typeface="Meiryo UI" panose="020B0604030504040204" pitchFamily="50" charset="-128"/>
                          <a:ea typeface="Meiryo UI" panose="020B0604030504040204" pitchFamily="50" charset="-128"/>
                        </a:rPr>
                        <a:t>(Previous</a:t>
                      </a:r>
                      <a:r>
                        <a:rPr kumimoji="1" lang="ja-JP" altLang="en-US" sz="1100">
                          <a:latin typeface="Meiryo UI" panose="020B0604030504040204" pitchFamily="50" charset="-128"/>
                          <a:ea typeface="Meiryo UI" panose="020B0604030504040204" pitchFamily="50" charset="-128"/>
                        </a:rPr>
                        <a:t> </a:t>
                      </a:r>
                      <a:r>
                        <a:rPr kumimoji="1" lang="en-US" altLang="ja-JP" sz="1100">
                          <a:latin typeface="Meiryo UI" panose="020B0604030504040204" pitchFamily="50" charset="-128"/>
                          <a:ea typeface="Meiryo UI" panose="020B0604030504040204" pitchFamily="50" charset="-128"/>
                        </a:rPr>
                        <a:t>Model)</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26824532"/>
                  </a:ext>
                </a:extLst>
              </a:tr>
              <a:tr h="514287">
                <a:tc>
                  <a:txBody>
                    <a:bodyPr/>
                    <a:lstStyle/>
                    <a:p>
                      <a:pPr lvl="0" algn="l">
                        <a:defRPr/>
                      </a:pPr>
                      <a:r>
                        <a:rPr lang="en-US" altLang="ja-JP" sz="1400">
                          <a:solidFill>
                            <a:srgbClr val="000000"/>
                          </a:solidFill>
                          <a:latin typeface="Meiryo UI" panose="020B0604030504040204" pitchFamily="50" charset="-128"/>
                          <a:ea typeface="Meiryo UI" panose="020B0604030504040204" pitchFamily="50" charset="-128"/>
                        </a:rPr>
                        <a:t>7. side impact verification with all related W/P and signature of related W/P PIC or team leader</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261847771"/>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8. variant list</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814496356"/>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9. conclusion</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2514733433"/>
                  </a:ext>
                </a:extLst>
              </a:tr>
              <a:tr h="514287">
                <a:tc>
                  <a:txBody>
                    <a:bodyPr/>
                    <a:lstStyle/>
                    <a:p>
                      <a:r>
                        <a:rPr lang="en-US" altLang="ja-JP" sz="1400">
                          <a:solidFill>
                            <a:srgbClr val="000000"/>
                          </a:solidFill>
                          <a:latin typeface="Meiryo UI" panose="020B0604030504040204" pitchFamily="50" charset="-128"/>
                          <a:ea typeface="Meiryo UI" panose="020B0604030504040204" pitchFamily="50" charset="-128"/>
                        </a:rPr>
                        <a:t>10. open item, until when, what will be done</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90628205"/>
                  </a:ext>
                </a:extLst>
              </a:tr>
            </a:tbl>
          </a:graphicData>
        </a:graphic>
      </p:graphicFrame>
      <p:sp>
        <p:nvSpPr>
          <p:cNvPr id="8" name="テキスト ボックス 7">
            <a:extLst>
              <a:ext uri="{FF2B5EF4-FFF2-40B4-BE49-F238E27FC236}">
                <a16:creationId xmlns:a16="http://schemas.microsoft.com/office/drawing/2014/main" id="{A8BED1E3-73DC-42DD-8D10-30FE864C88DB}"/>
              </a:ext>
            </a:extLst>
          </p:cNvPr>
          <p:cNvSpPr txBox="1"/>
          <p:nvPr/>
        </p:nvSpPr>
        <p:spPr>
          <a:xfrm>
            <a:off x="0" y="532326"/>
            <a:ext cx="7630935" cy="584775"/>
          </a:xfrm>
          <a:prstGeom prst="rect">
            <a:avLst/>
          </a:prstGeom>
          <a:noFill/>
        </p:spPr>
        <p:txBody>
          <a:bodyPr wrap="none" rtlCol="0">
            <a:spAutoFit/>
          </a:bodyPr>
          <a:lstStyle/>
          <a:p>
            <a:pPr algn="l">
              <a:defRPr/>
            </a:pPr>
            <a:r>
              <a:rPr lang="en-US" altLang="ja-JP" sz="1800" b="1" u="sng">
                <a:solidFill>
                  <a:srgbClr val="000000"/>
                </a:solidFill>
                <a:latin typeface="Meiryo UI" panose="020B0604030504040204" pitchFamily="50" charset="-128"/>
                <a:ea typeface="Meiryo UI" panose="020B0604030504040204" pitchFamily="50" charset="-128"/>
              </a:rPr>
              <a:t>Contents of Calibration W/P R</a:t>
            </a:r>
            <a:r>
              <a:rPr lang="en-US" altLang="ja-JP" sz="1800" b="1" u="sng">
                <a:latin typeface="Meiryo UI" panose="020B0604030504040204" pitchFamily="50" charset="-128"/>
                <a:ea typeface="Meiryo UI" panose="020B0604030504040204" pitchFamily="50" charset="-128"/>
              </a:rPr>
              <a:t>eport</a:t>
            </a:r>
            <a:endParaRPr lang="en-US" altLang="ja-JP" sz="1800" b="1" u="sng">
              <a:solidFill>
                <a:srgbClr val="000000"/>
              </a:solidFill>
              <a:latin typeface="Meiryo UI" panose="020B0604030504040204" pitchFamily="50" charset="-128"/>
              <a:ea typeface="Meiryo UI" panose="020B0604030504040204" pitchFamily="50" charset="-128"/>
            </a:endParaRPr>
          </a:p>
          <a:p>
            <a:pPr lvl="0" algn="l">
              <a:defRPr/>
            </a:pPr>
            <a:r>
              <a:rPr lang="ja-JP" altLang="en-US" sz="1400">
                <a:solidFill>
                  <a:srgbClr val="000000"/>
                </a:solidFill>
                <a:latin typeface="Meiryo UI" panose="020B0604030504040204" pitchFamily="50" charset="-128"/>
                <a:ea typeface="Meiryo UI" panose="020B0604030504040204" pitchFamily="50" charset="-128"/>
              </a:rPr>
              <a:t>   ・</a:t>
            </a:r>
            <a:r>
              <a:rPr lang="en-US" altLang="ja-JP" sz="1400">
                <a:solidFill>
                  <a:srgbClr val="000000"/>
                </a:solidFill>
                <a:latin typeface="Meiryo UI" panose="020B0604030504040204" pitchFamily="50" charset="-128"/>
                <a:ea typeface="Meiryo UI" panose="020B0604030504040204" pitchFamily="50" charset="-128"/>
              </a:rPr>
              <a:t>Calibration W/P report is performing report required at the time of each MP issue. </a:t>
            </a:r>
            <a:endParaRPr lang="en-US" altLang="ja-JP" sz="1400">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3120EBE2-0349-4B81-A12F-E1C3E9B2D7BF}"/>
              </a:ext>
            </a:extLst>
          </p:cNvPr>
          <p:cNvSpPr txBox="1"/>
          <p:nvPr/>
        </p:nvSpPr>
        <p:spPr>
          <a:xfrm>
            <a:off x="3815467" y="6553647"/>
            <a:ext cx="5160387" cy="307777"/>
          </a:xfrm>
          <a:prstGeom prst="rect">
            <a:avLst/>
          </a:prstGeom>
          <a:noFill/>
        </p:spPr>
        <p:txBody>
          <a:bodyPr wrap="none">
            <a:spAutoFit/>
          </a:bodyPr>
          <a:lstStyle/>
          <a:p>
            <a:pPr algn="l"/>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Not required for new models without a previous model</a:t>
            </a:r>
          </a:p>
        </p:txBody>
      </p:sp>
    </p:spTree>
    <p:extLst>
      <p:ext uri="{BB962C8B-B14F-4D97-AF65-F5344CB8AC3E}">
        <p14:creationId xmlns:p14="http://schemas.microsoft.com/office/powerpoint/2010/main" val="201951754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Box 2"/>
          <p:cNvSpPr txBox="1">
            <a:spLocks noChangeArrowheads="1"/>
          </p:cNvSpPr>
          <p:nvPr/>
        </p:nvSpPr>
        <p:spPr bwMode="auto">
          <a:xfrm>
            <a:off x="250829" y="96703"/>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19. Expert Meeting (5/5)</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2" name="表 2">
            <a:extLst>
              <a:ext uri="{FF2B5EF4-FFF2-40B4-BE49-F238E27FC236}">
                <a16:creationId xmlns:a16="http://schemas.microsoft.com/office/drawing/2014/main" id="{3F7AAB80-ED56-4B49-9CD1-F47D788E847B}"/>
              </a:ext>
            </a:extLst>
          </p:cNvPr>
          <p:cNvGraphicFramePr>
            <a:graphicFrameLocks noGrp="1"/>
          </p:cNvGraphicFramePr>
          <p:nvPr>
            <p:extLst>
              <p:ext uri="{D42A27DB-BD31-4B8C-83A1-F6EECF244321}">
                <p14:modId xmlns:p14="http://schemas.microsoft.com/office/powerpoint/2010/main" val="1483261541"/>
              </p:ext>
            </p:extLst>
          </p:nvPr>
        </p:nvGraphicFramePr>
        <p:xfrm>
          <a:off x="250829" y="1110766"/>
          <a:ext cx="8748000" cy="5443108"/>
        </p:xfrm>
        <a:graphic>
          <a:graphicData uri="http://schemas.openxmlformats.org/drawingml/2006/table">
            <a:tbl>
              <a:tblPr firstRow="1" bandRow="1">
                <a:tableStyleId>{5940675A-B579-460E-94D1-54222C63F5DA}</a:tableStyleId>
              </a:tblPr>
              <a:tblGrid>
                <a:gridCol w="6084000">
                  <a:extLst>
                    <a:ext uri="{9D8B030D-6E8A-4147-A177-3AD203B41FA5}">
                      <a16:colId xmlns:a16="http://schemas.microsoft.com/office/drawing/2014/main" val="3292792813"/>
                    </a:ext>
                  </a:extLst>
                </a:gridCol>
                <a:gridCol w="1332000">
                  <a:extLst>
                    <a:ext uri="{9D8B030D-6E8A-4147-A177-3AD203B41FA5}">
                      <a16:colId xmlns:a16="http://schemas.microsoft.com/office/drawing/2014/main" val="792832928"/>
                    </a:ext>
                  </a:extLst>
                </a:gridCol>
                <a:gridCol w="1332000">
                  <a:extLst>
                    <a:ext uri="{9D8B030D-6E8A-4147-A177-3AD203B41FA5}">
                      <a16:colId xmlns:a16="http://schemas.microsoft.com/office/drawing/2014/main" val="683923867"/>
                    </a:ext>
                  </a:extLst>
                </a:gridCol>
              </a:tblGrid>
              <a:tr h="296921">
                <a:tc>
                  <a:txBody>
                    <a:bodyPr/>
                    <a:lstStyle/>
                    <a:p>
                      <a:endParaRPr kumimoji="1" lang="ja-JP" altLang="en-US" sz="1400">
                        <a:latin typeface="Meiryo UI" panose="020B0604030504040204" pitchFamily="50" charset="-128"/>
                        <a:ea typeface="Meiryo UI" panose="020B0604030504040204" pitchFamily="50" charset="-128"/>
                      </a:endParaRPr>
                    </a:p>
                  </a:txBody>
                  <a:tcPr/>
                </a:tc>
                <a:tc>
                  <a:txBody>
                    <a:bodyPr/>
                    <a:lstStyle/>
                    <a:p>
                      <a:pPr algn="ctr"/>
                      <a:r>
                        <a:rPr kumimoji="1" lang="en-US" altLang="ja-JP" sz="1400">
                          <a:latin typeface="Meiryo UI" panose="020B0604030504040204" pitchFamily="50" charset="-128"/>
                          <a:ea typeface="Meiryo UI" panose="020B0604030504040204" pitchFamily="50" charset="-128"/>
                        </a:rPr>
                        <a:t>MP0</a:t>
                      </a:r>
                      <a:endParaRPr kumimoji="1" lang="ja-JP" altLang="en-US" sz="1400">
                        <a:latin typeface="Meiryo UI" panose="020B0604030504040204" pitchFamily="50" charset="-128"/>
                        <a:ea typeface="Meiryo UI" panose="020B0604030504040204" pitchFamily="50" charset="-128"/>
                      </a:endParaRPr>
                    </a:p>
                  </a:txBody>
                  <a:tcPr/>
                </a:tc>
                <a:tc>
                  <a:txBody>
                    <a:bodyPr/>
                    <a:lstStyle/>
                    <a:p>
                      <a:pPr algn="ctr"/>
                      <a:r>
                        <a:rPr kumimoji="1" lang="en-US" altLang="ja-JP" sz="1400">
                          <a:latin typeface="Meiryo UI" panose="020B0604030504040204" pitchFamily="50" charset="-128"/>
                          <a:ea typeface="Meiryo UI" panose="020B0604030504040204" pitchFamily="50" charset="-128"/>
                        </a:rPr>
                        <a:t>MP1 or Later</a:t>
                      </a:r>
                      <a:endParaRPr kumimoji="1" lang="ja-JP" altLang="en-US" sz="14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926245657"/>
                  </a:ext>
                </a:extLst>
              </a:tr>
              <a:tr h="507986">
                <a:tc>
                  <a:txBody>
                    <a:bodyPr/>
                    <a:lstStyle/>
                    <a:p>
                      <a:r>
                        <a:rPr kumimoji="1" lang="en-US" altLang="ja-JP" sz="1400">
                          <a:solidFill>
                            <a:schemeClr val="tx1"/>
                          </a:solidFill>
                          <a:latin typeface="Meiryo UI" panose="020B0604030504040204" pitchFamily="50" charset="-128"/>
                          <a:ea typeface="Meiryo UI" panose="020B0604030504040204" pitchFamily="50" charset="-128"/>
                        </a:rPr>
                        <a:t>1.</a:t>
                      </a:r>
                      <a:r>
                        <a:rPr lang="en-US" altLang="ja-JP" sz="1400">
                          <a:solidFill>
                            <a:schemeClr val="tx1"/>
                          </a:solidFill>
                          <a:latin typeface="Meiryo UI" panose="020B0604030504040204" pitchFamily="50" charset="-128"/>
                          <a:ea typeface="Meiryo UI" panose="020B0604030504040204" pitchFamily="50" charset="-128"/>
                        </a:rPr>
                        <a:t> </a:t>
                      </a:r>
                      <a:r>
                        <a:rPr lang="ja-JP" altLang="en-US" sz="1400">
                          <a:solidFill>
                            <a:schemeClr val="tx1"/>
                          </a:solidFill>
                          <a:latin typeface="Meiryo UI" panose="020B0604030504040204" pitchFamily="50" charset="-128"/>
                          <a:ea typeface="Meiryo UI" panose="020B0604030504040204" pitchFamily="50" charset="-128"/>
                        </a:rPr>
                        <a:t>目的、背景、変更が必要な理由</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377292504"/>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2. </a:t>
                      </a:r>
                      <a:r>
                        <a:rPr lang="ja-JP" altLang="en-US" sz="1400">
                          <a:solidFill>
                            <a:schemeClr val="tx1"/>
                          </a:solidFill>
                          <a:latin typeface="Meiryo UI" panose="020B0604030504040204" pitchFamily="50" charset="-128"/>
                          <a:ea typeface="Meiryo UI" panose="020B0604030504040204" pitchFamily="50" charset="-128"/>
                        </a:rPr>
                        <a:t>適合内容の説明およびデータ設定の設定指針</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987739720"/>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3. </a:t>
                      </a:r>
                      <a:r>
                        <a:rPr lang="ja-JP" altLang="en-US" sz="1400">
                          <a:solidFill>
                            <a:schemeClr val="tx1"/>
                          </a:solidFill>
                          <a:latin typeface="Meiryo UI" panose="020B0604030504040204" pitchFamily="50" charset="-128"/>
                          <a:ea typeface="Meiryo UI" panose="020B0604030504040204" pitchFamily="50" charset="-128"/>
                        </a:rPr>
                        <a:t>判定基準と</a:t>
                      </a:r>
                      <a:r>
                        <a:rPr lang="en-US" altLang="ja-JP" sz="1400">
                          <a:solidFill>
                            <a:schemeClr val="tx1"/>
                          </a:solidFill>
                          <a:latin typeface="Meiryo UI" panose="020B0604030504040204" pitchFamily="50" charset="-128"/>
                          <a:ea typeface="Meiryo UI" panose="020B0604030504040204" pitchFamily="50" charset="-128"/>
                        </a:rPr>
                        <a:t>HW</a:t>
                      </a:r>
                      <a:r>
                        <a:rPr lang="ja-JP" altLang="en-US" sz="1400">
                          <a:solidFill>
                            <a:schemeClr val="tx1"/>
                          </a:solidFill>
                          <a:latin typeface="Meiryo UI" panose="020B0604030504040204" pitchFamily="50" charset="-128"/>
                          <a:ea typeface="Meiryo UI" panose="020B0604030504040204" pitchFamily="50" charset="-128"/>
                        </a:rPr>
                        <a:t>の限界設定説明</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509469270"/>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4.</a:t>
                      </a:r>
                      <a:r>
                        <a:rPr lang="ja-JP" altLang="en-US" sz="1400">
                          <a:solidFill>
                            <a:schemeClr val="tx1"/>
                          </a:solidFill>
                          <a:latin typeface="Meiryo UI" panose="020B0604030504040204" pitchFamily="50" charset="-128"/>
                          <a:ea typeface="Meiryo UI" panose="020B0604030504040204" pitchFamily="50" charset="-128"/>
                        </a:rPr>
                        <a:t> 検証結果の報告、他影響の検証結果も含むこと</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566798504"/>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5. </a:t>
                      </a:r>
                      <a:r>
                        <a:rPr lang="ja-JP" altLang="en-US" sz="1400">
                          <a:solidFill>
                            <a:schemeClr val="tx1"/>
                          </a:solidFill>
                          <a:latin typeface="Meiryo UI" panose="020B0604030504040204" pitchFamily="50" charset="-128"/>
                          <a:ea typeface="Meiryo UI" panose="020B0604030504040204" pitchFamily="50" charset="-128"/>
                        </a:rPr>
                        <a:t>前</a:t>
                      </a:r>
                      <a:r>
                        <a:rPr lang="en-US" altLang="ja-JP" sz="1400">
                          <a:solidFill>
                            <a:schemeClr val="tx1"/>
                          </a:solidFill>
                          <a:latin typeface="Meiryo UI" panose="020B0604030504040204" pitchFamily="50" charset="-128"/>
                          <a:ea typeface="Meiryo UI" panose="020B0604030504040204" pitchFamily="50" charset="-128"/>
                        </a:rPr>
                        <a:t>MPx</a:t>
                      </a:r>
                      <a:r>
                        <a:rPr lang="ja-JP" altLang="en-US" sz="1400">
                          <a:solidFill>
                            <a:schemeClr val="tx1"/>
                          </a:solidFill>
                          <a:latin typeface="Meiryo UI" panose="020B0604030504040204" pitchFamily="50" charset="-128"/>
                          <a:ea typeface="Meiryo UI" panose="020B0604030504040204" pitchFamily="50" charset="-128"/>
                        </a:rPr>
                        <a:t>からの変化点と振る舞い</a:t>
                      </a:r>
                      <a:endParaRPr lang="en-US" altLang="ja-JP"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r>
                        <a:rPr kumimoji="1" lang="en-US" altLang="ja-JP" sz="1400">
                          <a:latin typeface="Meiryo UI" panose="020B0604030504040204" pitchFamily="50" charset="-128"/>
                          <a:ea typeface="Meiryo UI" panose="020B0604030504040204" pitchFamily="50" charset="-128"/>
                        </a:rPr>
                        <a:t>※</a:t>
                      </a:r>
                    </a:p>
                    <a:p>
                      <a:pPr algn="ctr"/>
                      <a:r>
                        <a:rPr kumimoji="1" lang="ja-JP" altLang="en-US" sz="1400">
                          <a:latin typeface="Meiryo UI" panose="020B0604030504040204" pitchFamily="50" charset="-128"/>
                          <a:ea typeface="Meiryo UI" panose="020B0604030504040204" pitchFamily="50" charset="-128"/>
                        </a:rPr>
                        <a:t>（前モデル）</a:t>
                      </a:r>
                      <a:endParaRPr kumimoji="1" lang="en-US" altLang="ja-JP"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485590372"/>
                  </a:ext>
                </a:extLst>
              </a:tr>
              <a:tr h="541880">
                <a:tc>
                  <a:txBody>
                    <a:bodyPr/>
                    <a:lstStyle/>
                    <a:p>
                      <a:pPr lvl="0" algn="l">
                        <a:spcBef>
                          <a:spcPts val="300"/>
                        </a:spcBef>
                        <a:defRPr/>
                      </a:pPr>
                      <a:r>
                        <a:rPr lang="en-US" altLang="ja-JP" sz="1400">
                          <a:solidFill>
                            <a:schemeClr val="tx1"/>
                          </a:solidFill>
                          <a:latin typeface="Meiryo UI" panose="020B0604030504040204" pitchFamily="50" charset="-128"/>
                          <a:ea typeface="Meiryo UI" panose="020B0604030504040204" pitchFamily="50" charset="-128"/>
                        </a:rPr>
                        <a:t>6. </a:t>
                      </a:r>
                      <a:r>
                        <a:rPr lang="ja-JP" altLang="en-US" sz="1400">
                          <a:solidFill>
                            <a:schemeClr val="tx1"/>
                          </a:solidFill>
                          <a:latin typeface="Meiryo UI" panose="020B0604030504040204" pitchFamily="50" charset="-128"/>
                          <a:ea typeface="Meiryo UI" panose="020B0604030504040204" pitchFamily="50" charset="-128"/>
                        </a:rPr>
                        <a:t>前</a:t>
                      </a:r>
                      <a:r>
                        <a:rPr lang="en-US" altLang="ja-JP" sz="1400">
                          <a:solidFill>
                            <a:schemeClr val="tx1"/>
                          </a:solidFill>
                          <a:latin typeface="Meiryo UI" panose="020B0604030504040204" pitchFamily="50" charset="-128"/>
                          <a:ea typeface="Meiryo UI" panose="020B0604030504040204" pitchFamily="50" charset="-128"/>
                        </a:rPr>
                        <a:t>MPx</a:t>
                      </a:r>
                      <a:r>
                        <a:rPr lang="ja-JP" altLang="en-US" sz="1400">
                          <a:solidFill>
                            <a:schemeClr val="tx1"/>
                          </a:solidFill>
                          <a:latin typeface="Meiryo UI" panose="020B0604030504040204" pitchFamily="50" charset="-128"/>
                          <a:ea typeface="Meiryo UI" panose="020B0604030504040204" pitchFamily="50" charset="-128"/>
                        </a:rPr>
                        <a:t>からのデータ設定比較と、どの部分が変更になったかの提示</a:t>
                      </a:r>
                      <a:endParaRPr lang="en-US" altLang="ja-JP" sz="1400">
                        <a:solidFill>
                          <a:schemeClr val="tx1"/>
                        </a:solidFill>
                        <a:latin typeface="Meiryo UI" panose="020B0604030504040204" pitchFamily="50" charset="-128"/>
                        <a:ea typeface="Meiryo UI" panose="020B0604030504040204" pitchFamily="50" charset="-128"/>
                      </a:endParaRPr>
                    </a:p>
                    <a:p>
                      <a:pPr lvl="0" algn="l">
                        <a:spcBef>
                          <a:spcPts val="300"/>
                        </a:spcBef>
                        <a:defRPr/>
                      </a:pPr>
                      <a:r>
                        <a:rPr lang="ja-JP" altLang="en-US" sz="1400">
                          <a:solidFill>
                            <a:schemeClr val="tx1"/>
                          </a:solidFill>
                          <a:latin typeface="Meiryo UI" panose="020B0604030504040204" pitchFamily="50" charset="-128"/>
                          <a:ea typeface="Meiryo UI" panose="020B0604030504040204" pitchFamily="50" charset="-128"/>
                        </a:rPr>
                        <a:t>    → </a:t>
                      </a:r>
                      <a:r>
                        <a:rPr lang="en-US" altLang="ja-JP" sz="1400">
                          <a:solidFill>
                            <a:schemeClr val="tx1"/>
                          </a:solidFill>
                          <a:latin typeface="Meiryo UI" panose="020B0604030504040204" pitchFamily="50" charset="-128"/>
                          <a:ea typeface="Meiryo UI" panose="020B0604030504040204" pitchFamily="50" charset="-128"/>
                        </a:rPr>
                        <a:t>MAP</a:t>
                      </a:r>
                      <a:r>
                        <a:rPr lang="ja-JP" altLang="en-US" sz="1400">
                          <a:solidFill>
                            <a:schemeClr val="tx1"/>
                          </a:solidFill>
                          <a:latin typeface="Meiryo UI" panose="020B0604030504040204" pitchFamily="50" charset="-128"/>
                          <a:ea typeface="Meiryo UI" panose="020B0604030504040204" pitchFamily="50" charset="-128"/>
                        </a:rPr>
                        <a:t>と</a:t>
                      </a:r>
                      <a:r>
                        <a:rPr lang="en-US" altLang="ja-JP" sz="1400">
                          <a:solidFill>
                            <a:schemeClr val="tx1"/>
                          </a:solidFill>
                          <a:latin typeface="Meiryo UI" panose="020B0604030504040204" pitchFamily="50" charset="-128"/>
                          <a:ea typeface="Meiryo UI" panose="020B0604030504040204" pitchFamily="50" charset="-128"/>
                        </a:rPr>
                        <a:t>Curve</a:t>
                      </a:r>
                      <a:r>
                        <a:rPr lang="ja-JP" altLang="en-US" sz="1400">
                          <a:solidFill>
                            <a:schemeClr val="tx1"/>
                          </a:solidFill>
                          <a:latin typeface="Meiryo UI" panose="020B0604030504040204" pitchFamily="50" charset="-128"/>
                          <a:ea typeface="Meiryo UI" panose="020B0604030504040204" pitchFamily="50" charset="-128"/>
                        </a:rPr>
                        <a:t>については数値とグラフで表現すること</a:t>
                      </a:r>
                      <a:endParaRPr lang="en-US" altLang="ja-JP"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r>
                        <a:rPr kumimoji="1" lang="en-US" altLang="ja-JP" sz="1400">
                          <a:latin typeface="Meiryo UI" panose="020B0604030504040204" pitchFamily="50" charset="-128"/>
                          <a:ea typeface="Meiryo UI" panose="020B0604030504040204" pitchFamily="50" charset="-128"/>
                        </a:rPr>
                        <a:t>※</a:t>
                      </a:r>
                    </a:p>
                    <a:p>
                      <a:pPr algn="ctr"/>
                      <a:r>
                        <a:rPr kumimoji="1" lang="ja-JP" altLang="en-US" sz="1400">
                          <a:latin typeface="Meiryo UI" panose="020B0604030504040204" pitchFamily="50" charset="-128"/>
                          <a:ea typeface="Meiryo UI" panose="020B0604030504040204" pitchFamily="50" charset="-128"/>
                        </a:rPr>
                        <a:t>（前モデル）</a:t>
                      </a:r>
                      <a:endParaRPr kumimoji="1" lang="en-US" altLang="ja-JP" sz="14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326824532"/>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7. </a:t>
                      </a:r>
                      <a:r>
                        <a:rPr lang="ja-JP" altLang="en-US" sz="1400">
                          <a:solidFill>
                            <a:schemeClr val="tx1"/>
                          </a:solidFill>
                          <a:latin typeface="Meiryo UI" panose="020B0604030504040204" pitchFamily="50" charset="-128"/>
                          <a:ea typeface="Meiryo UI" panose="020B0604030504040204" pitchFamily="50" charset="-128"/>
                        </a:rPr>
                        <a:t>関連</a:t>
                      </a:r>
                      <a:r>
                        <a:rPr lang="en-US" altLang="ja-JP" sz="1400">
                          <a:solidFill>
                            <a:schemeClr val="tx1"/>
                          </a:solidFill>
                          <a:latin typeface="Meiryo UI" panose="020B0604030504040204" pitchFamily="50" charset="-128"/>
                          <a:ea typeface="Meiryo UI" panose="020B0604030504040204" pitchFamily="50" charset="-128"/>
                        </a:rPr>
                        <a:t>W/P</a:t>
                      </a:r>
                      <a:r>
                        <a:rPr lang="ja-JP" altLang="en-US" sz="1400">
                          <a:solidFill>
                            <a:schemeClr val="tx1"/>
                          </a:solidFill>
                          <a:latin typeface="Meiryo UI" panose="020B0604030504040204" pitchFamily="50" charset="-128"/>
                          <a:ea typeface="Meiryo UI" panose="020B0604030504040204" pitchFamily="50" charset="-128"/>
                        </a:rPr>
                        <a:t>を含む全サイドインパクト検証結果の提示</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261847771"/>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8.</a:t>
                      </a:r>
                      <a:r>
                        <a:rPr lang="ja-JP" altLang="en-US" sz="1400">
                          <a:solidFill>
                            <a:schemeClr val="tx1"/>
                          </a:solidFill>
                          <a:latin typeface="Meiryo UI" panose="020B0604030504040204" pitchFamily="50" charset="-128"/>
                          <a:ea typeface="Meiryo UI" panose="020B0604030504040204" pitchFamily="50" charset="-128"/>
                        </a:rPr>
                        <a:t> 適用</a:t>
                      </a:r>
                      <a:r>
                        <a:rPr kumimoji="1" lang="ja-JP" altLang="en-US" sz="14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rPr>
                        <a:t>リスト（仕向けごとの変化点）</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1814496356"/>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9. </a:t>
                      </a:r>
                      <a:r>
                        <a:rPr lang="ja-JP" altLang="en-US" sz="1400">
                          <a:solidFill>
                            <a:schemeClr val="tx1"/>
                          </a:solidFill>
                          <a:latin typeface="Meiryo UI" panose="020B0604030504040204" pitchFamily="50" charset="-128"/>
                          <a:ea typeface="Meiryo UI" panose="020B0604030504040204" pitchFamily="50" charset="-128"/>
                        </a:rPr>
                        <a:t>結論</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2514733433"/>
                  </a:ext>
                </a:extLst>
              </a:tr>
              <a:tr h="507986">
                <a:tc>
                  <a:txBody>
                    <a:bodyPr/>
                    <a:lstStyle/>
                    <a:p>
                      <a:r>
                        <a:rPr lang="en-US" altLang="ja-JP" sz="1400">
                          <a:solidFill>
                            <a:schemeClr val="tx1"/>
                          </a:solidFill>
                          <a:latin typeface="Meiryo UI" panose="020B0604030504040204" pitchFamily="50" charset="-128"/>
                          <a:ea typeface="Meiryo UI" panose="020B0604030504040204" pitchFamily="50" charset="-128"/>
                        </a:rPr>
                        <a:t>10. OPEN</a:t>
                      </a:r>
                      <a:r>
                        <a:rPr lang="ja-JP" altLang="en-US" sz="1400">
                          <a:solidFill>
                            <a:schemeClr val="tx1"/>
                          </a:solidFill>
                          <a:latin typeface="Meiryo UI" panose="020B0604030504040204" pitchFamily="50" charset="-128"/>
                          <a:ea typeface="Meiryo UI" panose="020B0604030504040204" pitchFamily="50" charset="-128"/>
                        </a:rPr>
                        <a:t>項目、いつまでに完了するかの情報</a:t>
                      </a:r>
                      <a:endParaRPr kumimoji="1" lang="ja-JP" altLang="en-US" sz="1400">
                        <a:solidFill>
                          <a:schemeClr val="tx1"/>
                        </a:solidFill>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tc>
                  <a:txBody>
                    <a:bodyPr/>
                    <a:lstStyle/>
                    <a:p>
                      <a:pPr algn="ctr"/>
                      <a:r>
                        <a:rPr kumimoji="1" lang="ja-JP" altLang="en-US" sz="1400">
                          <a:latin typeface="Meiryo UI" panose="020B0604030504040204" pitchFamily="50" charset="-128"/>
                          <a:ea typeface="Meiryo UI" panose="020B0604030504040204" pitchFamily="50" charset="-128"/>
                        </a:rPr>
                        <a:t>〇</a:t>
                      </a:r>
                    </a:p>
                  </a:txBody>
                  <a:tcPr anchor="ctr"/>
                </a:tc>
                <a:extLst>
                  <a:ext uri="{0D108BD9-81ED-4DB2-BD59-A6C34878D82A}">
                    <a16:rowId xmlns:a16="http://schemas.microsoft.com/office/drawing/2014/main" val="90628205"/>
                  </a:ext>
                </a:extLst>
              </a:tr>
            </a:tbl>
          </a:graphicData>
        </a:graphic>
      </p:graphicFrame>
      <p:sp>
        <p:nvSpPr>
          <p:cNvPr id="8" name="テキスト ボックス 7">
            <a:extLst>
              <a:ext uri="{FF2B5EF4-FFF2-40B4-BE49-F238E27FC236}">
                <a16:creationId xmlns:a16="http://schemas.microsoft.com/office/drawing/2014/main" id="{A8BED1E3-73DC-42DD-8D10-30FE864C88DB}"/>
              </a:ext>
            </a:extLst>
          </p:cNvPr>
          <p:cNvSpPr txBox="1"/>
          <p:nvPr/>
        </p:nvSpPr>
        <p:spPr>
          <a:xfrm>
            <a:off x="0" y="532326"/>
            <a:ext cx="4083169" cy="646331"/>
          </a:xfrm>
          <a:prstGeom prst="rect">
            <a:avLst/>
          </a:prstGeom>
          <a:noFill/>
        </p:spPr>
        <p:txBody>
          <a:bodyPr wrap="none" rtlCol="0">
            <a:spAutoFit/>
          </a:bodyPr>
          <a:lstStyle/>
          <a:p>
            <a:pPr lvl="0" algn="l">
              <a:defRPr/>
            </a:pPr>
            <a:r>
              <a:rPr lang="ja-JP" altLang="en-US" sz="1800" b="1" u="sng">
                <a:solidFill>
                  <a:srgbClr val="000000"/>
                </a:solidFill>
                <a:latin typeface="Meiryo UI" panose="020B0604030504040204" pitchFamily="50" charset="-128"/>
                <a:ea typeface="Meiryo UI" panose="020B0604030504040204" pitchFamily="50" charset="-128"/>
              </a:rPr>
              <a:t>適合</a:t>
            </a:r>
            <a:r>
              <a:rPr lang="en-US" altLang="ja-JP" sz="1800" b="1" u="sng">
                <a:solidFill>
                  <a:srgbClr val="000000"/>
                </a:solidFill>
                <a:latin typeface="Meiryo UI" panose="020B0604030504040204" pitchFamily="50" charset="-128"/>
                <a:ea typeface="Meiryo UI" panose="020B0604030504040204" pitchFamily="50" charset="-128"/>
              </a:rPr>
              <a:t>W/P</a:t>
            </a:r>
            <a:r>
              <a:rPr lang="ja-JP" altLang="en-US" sz="1800" b="1" u="sng">
                <a:solidFill>
                  <a:srgbClr val="000000"/>
                </a:solidFill>
                <a:latin typeface="Meiryo UI" panose="020B0604030504040204" pitchFamily="50" charset="-128"/>
                <a:ea typeface="Meiryo UI" panose="020B0604030504040204" pitchFamily="50" charset="-128"/>
              </a:rPr>
              <a:t>報告の内容</a:t>
            </a:r>
            <a:endParaRPr lang="en-US" altLang="ja-JP" sz="1800" b="1" u="sng">
              <a:solidFill>
                <a:srgbClr val="000000"/>
              </a:solidFill>
              <a:latin typeface="Meiryo UI" panose="020B0604030504040204" pitchFamily="50" charset="-128"/>
              <a:ea typeface="Meiryo UI" panose="020B0604030504040204" pitchFamily="50" charset="-128"/>
            </a:endParaRPr>
          </a:p>
          <a:p>
            <a:pPr lvl="0" algn="l">
              <a:defRPr/>
            </a:pPr>
            <a:r>
              <a:rPr lang="ja-JP" altLang="en-US" sz="1800">
                <a:solidFill>
                  <a:srgbClr val="000000"/>
                </a:solidFill>
                <a:latin typeface="Meiryo UI" panose="020B0604030504040204" pitchFamily="50" charset="-128"/>
                <a:ea typeface="Meiryo UI" panose="020B0604030504040204" pitchFamily="50" charset="-128"/>
              </a:rPr>
              <a:t> </a:t>
            </a:r>
            <a:r>
              <a:rPr lang="ja-JP" altLang="en-US" sz="1400">
                <a:solidFill>
                  <a:srgbClr val="000000"/>
                </a:solidFill>
                <a:latin typeface="Meiryo UI" panose="020B0604030504040204" pitchFamily="50" charset="-128"/>
                <a:ea typeface="Meiryo UI" panose="020B0604030504040204" pitchFamily="50" charset="-128"/>
              </a:rPr>
              <a:t>・適合</a:t>
            </a:r>
            <a:r>
              <a:rPr lang="en-US" altLang="ja-JP" sz="1400">
                <a:solidFill>
                  <a:srgbClr val="000000"/>
                </a:solidFill>
                <a:latin typeface="Meiryo UI" panose="020B0604030504040204" pitchFamily="50" charset="-128"/>
                <a:ea typeface="Meiryo UI" panose="020B0604030504040204" pitchFamily="50" charset="-128"/>
              </a:rPr>
              <a:t>W/P</a:t>
            </a:r>
            <a:r>
              <a:rPr lang="ja-JP" altLang="en-US" sz="1400">
                <a:solidFill>
                  <a:srgbClr val="000000"/>
                </a:solidFill>
                <a:latin typeface="Meiryo UI" panose="020B0604030504040204" pitchFamily="50" charset="-128"/>
                <a:ea typeface="Meiryo UI" panose="020B0604030504040204" pitchFamily="50" charset="-128"/>
              </a:rPr>
              <a:t>レポートは、各</a:t>
            </a:r>
            <a:r>
              <a:rPr lang="en-US" altLang="ja-JP" sz="1400">
                <a:solidFill>
                  <a:srgbClr val="000000"/>
                </a:solidFill>
                <a:latin typeface="Meiryo UI" panose="020B0604030504040204" pitchFamily="50" charset="-128"/>
                <a:ea typeface="Meiryo UI" panose="020B0604030504040204" pitchFamily="50" charset="-128"/>
              </a:rPr>
              <a:t>MP</a:t>
            </a:r>
            <a:r>
              <a:rPr lang="ja-JP" altLang="en-US" sz="1400">
                <a:solidFill>
                  <a:srgbClr val="000000"/>
                </a:solidFill>
                <a:latin typeface="Meiryo UI" panose="020B0604030504040204" pitchFamily="50" charset="-128"/>
                <a:ea typeface="Meiryo UI" panose="020B0604030504040204" pitchFamily="50" charset="-128"/>
              </a:rPr>
              <a:t>発行時までに報告する</a:t>
            </a:r>
            <a:endParaRPr lang="en-US" altLang="ja-JP" sz="1800" b="1" u="sng">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0B89CC00-DBB4-42AA-AE20-81CD8A381521}"/>
              </a:ext>
            </a:extLst>
          </p:cNvPr>
          <p:cNvSpPr txBox="1"/>
          <p:nvPr/>
        </p:nvSpPr>
        <p:spPr>
          <a:xfrm>
            <a:off x="5766152" y="6550223"/>
            <a:ext cx="3377848" cy="307777"/>
          </a:xfrm>
          <a:prstGeom prst="rect">
            <a:avLst/>
          </a:prstGeom>
          <a:noFill/>
        </p:spPr>
        <p:txBody>
          <a:bodyPr wrap="none">
            <a:spAutoFit/>
          </a:bodyPr>
          <a:lstStyle/>
          <a:p>
            <a:pPr algn="l"/>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前モデルがない新機種の場合は必要無し</a:t>
            </a:r>
          </a:p>
        </p:txBody>
      </p:sp>
    </p:spTree>
    <p:extLst>
      <p:ext uri="{BB962C8B-B14F-4D97-AF65-F5344CB8AC3E}">
        <p14:creationId xmlns:p14="http://schemas.microsoft.com/office/powerpoint/2010/main" val="4536079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41342010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 name="表 83"/>
          <p:cNvGraphicFramePr>
            <a:graphicFrameLocks noGrp="1"/>
          </p:cNvGraphicFramePr>
          <p:nvPr>
            <p:extLst>
              <p:ext uri="{D42A27DB-BD31-4B8C-83A1-F6EECF244321}">
                <p14:modId xmlns:p14="http://schemas.microsoft.com/office/powerpoint/2010/main" val="1214083755"/>
              </p:ext>
            </p:extLst>
          </p:nvPr>
        </p:nvGraphicFramePr>
        <p:xfrm>
          <a:off x="149629" y="938150"/>
          <a:ext cx="8898802" cy="2628010"/>
        </p:xfrm>
        <a:graphic>
          <a:graphicData uri="http://schemas.openxmlformats.org/drawingml/2006/table">
            <a:tbl>
              <a:tblPr firstRow="1" bandRow="1">
                <a:tableStyleId>{5C22544A-7EE6-4342-B048-85BDC9FD1C3A}</a:tableStyleId>
              </a:tblPr>
              <a:tblGrid>
                <a:gridCol w="1123840">
                  <a:extLst>
                    <a:ext uri="{9D8B030D-6E8A-4147-A177-3AD203B41FA5}">
                      <a16:colId xmlns:a16="http://schemas.microsoft.com/office/drawing/2014/main" val="20000"/>
                    </a:ext>
                  </a:extLst>
                </a:gridCol>
                <a:gridCol w="199358">
                  <a:extLst>
                    <a:ext uri="{9D8B030D-6E8A-4147-A177-3AD203B41FA5}">
                      <a16:colId xmlns:a16="http://schemas.microsoft.com/office/drawing/2014/main" val="20013"/>
                    </a:ext>
                  </a:extLst>
                </a:gridCol>
                <a:gridCol w="199358">
                  <a:extLst>
                    <a:ext uri="{9D8B030D-6E8A-4147-A177-3AD203B41FA5}">
                      <a16:colId xmlns:a16="http://schemas.microsoft.com/office/drawing/2014/main" val="20014"/>
                    </a:ext>
                  </a:extLst>
                </a:gridCol>
                <a:gridCol w="199358">
                  <a:extLst>
                    <a:ext uri="{9D8B030D-6E8A-4147-A177-3AD203B41FA5}">
                      <a16:colId xmlns:a16="http://schemas.microsoft.com/office/drawing/2014/main" val="20015"/>
                    </a:ext>
                  </a:extLst>
                </a:gridCol>
                <a:gridCol w="199358">
                  <a:extLst>
                    <a:ext uri="{9D8B030D-6E8A-4147-A177-3AD203B41FA5}">
                      <a16:colId xmlns:a16="http://schemas.microsoft.com/office/drawing/2014/main" val="20016"/>
                    </a:ext>
                  </a:extLst>
                </a:gridCol>
                <a:gridCol w="199358">
                  <a:extLst>
                    <a:ext uri="{9D8B030D-6E8A-4147-A177-3AD203B41FA5}">
                      <a16:colId xmlns:a16="http://schemas.microsoft.com/office/drawing/2014/main" val="20017"/>
                    </a:ext>
                  </a:extLst>
                </a:gridCol>
                <a:gridCol w="199358">
                  <a:extLst>
                    <a:ext uri="{9D8B030D-6E8A-4147-A177-3AD203B41FA5}">
                      <a16:colId xmlns:a16="http://schemas.microsoft.com/office/drawing/2014/main" val="20018"/>
                    </a:ext>
                  </a:extLst>
                </a:gridCol>
                <a:gridCol w="199358">
                  <a:extLst>
                    <a:ext uri="{9D8B030D-6E8A-4147-A177-3AD203B41FA5}">
                      <a16:colId xmlns:a16="http://schemas.microsoft.com/office/drawing/2014/main" val="20019"/>
                    </a:ext>
                  </a:extLst>
                </a:gridCol>
                <a:gridCol w="199358">
                  <a:extLst>
                    <a:ext uri="{9D8B030D-6E8A-4147-A177-3AD203B41FA5}">
                      <a16:colId xmlns:a16="http://schemas.microsoft.com/office/drawing/2014/main" val="20020"/>
                    </a:ext>
                  </a:extLst>
                </a:gridCol>
                <a:gridCol w="199358">
                  <a:extLst>
                    <a:ext uri="{9D8B030D-6E8A-4147-A177-3AD203B41FA5}">
                      <a16:colId xmlns:a16="http://schemas.microsoft.com/office/drawing/2014/main" val="20021"/>
                    </a:ext>
                  </a:extLst>
                </a:gridCol>
                <a:gridCol w="199358">
                  <a:extLst>
                    <a:ext uri="{9D8B030D-6E8A-4147-A177-3AD203B41FA5}">
                      <a16:colId xmlns:a16="http://schemas.microsoft.com/office/drawing/2014/main" val="20022"/>
                    </a:ext>
                  </a:extLst>
                </a:gridCol>
                <a:gridCol w="199358">
                  <a:extLst>
                    <a:ext uri="{9D8B030D-6E8A-4147-A177-3AD203B41FA5}">
                      <a16:colId xmlns:a16="http://schemas.microsoft.com/office/drawing/2014/main" val="20023"/>
                    </a:ext>
                  </a:extLst>
                </a:gridCol>
                <a:gridCol w="199358">
                  <a:extLst>
                    <a:ext uri="{9D8B030D-6E8A-4147-A177-3AD203B41FA5}">
                      <a16:colId xmlns:a16="http://schemas.microsoft.com/office/drawing/2014/main" val="20024"/>
                    </a:ext>
                  </a:extLst>
                </a:gridCol>
                <a:gridCol w="199358">
                  <a:extLst>
                    <a:ext uri="{9D8B030D-6E8A-4147-A177-3AD203B41FA5}">
                      <a16:colId xmlns:a16="http://schemas.microsoft.com/office/drawing/2014/main" val="20025"/>
                    </a:ext>
                  </a:extLst>
                </a:gridCol>
                <a:gridCol w="199358">
                  <a:extLst>
                    <a:ext uri="{9D8B030D-6E8A-4147-A177-3AD203B41FA5}">
                      <a16:colId xmlns:a16="http://schemas.microsoft.com/office/drawing/2014/main" val="20026"/>
                    </a:ext>
                  </a:extLst>
                </a:gridCol>
                <a:gridCol w="199358">
                  <a:extLst>
                    <a:ext uri="{9D8B030D-6E8A-4147-A177-3AD203B41FA5}">
                      <a16:colId xmlns:a16="http://schemas.microsoft.com/office/drawing/2014/main" val="20027"/>
                    </a:ext>
                  </a:extLst>
                </a:gridCol>
                <a:gridCol w="199358">
                  <a:extLst>
                    <a:ext uri="{9D8B030D-6E8A-4147-A177-3AD203B41FA5}">
                      <a16:colId xmlns:a16="http://schemas.microsoft.com/office/drawing/2014/main" val="20028"/>
                    </a:ext>
                  </a:extLst>
                </a:gridCol>
                <a:gridCol w="199358">
                  <a:extLst>
                    <a:ext uri="{9D8B030D-6E8A-4147-A177-3AD203B41FA5}">
                      <a16:colId xmlns:a16="http://schemas.microsoft.com/office/drawing/2014/main" val="20029"/>
                    </a:ext>
                  </a:extLst>
                </a:gridCol>
                <a:gridCol w="199358">
                  <a:extLst>
                    <a:ext uri="{9D8B030D-6E8A-4147-A177-3AD203B41FA5}">
                      <a16:colId xmlns:a16="http://schemas.microsoft.com/office/drawing/2014/main" val="20030"/>
                    </a:ext>
                  </a:extLst>
                </a:gridCol>
                <a:gridCol w="199358">
                  <a:extLst>
                    <a:ext uri="{9D8B030D-6E8A-4147-A177-3AD203B41FA5}">
                      <a16:colId xmlns:a16="http://schemas.microsoft.com/office/drawing/2014/main" val="20031"/>
                    </a:ext>
                  </a:extLst>
                </a:gridCol>
                <a:gridCol w="199358">
                  <a:extLst>
                    <a:ext uri="{9D8B030D-6E8A-4147-A177-3AD203B41FA5}">
                      <a16:colId xmlns:a16="http://schemas.microsoft.com/office/drawing/2014/main" val="20032"/>
                    </a:ext>
                  </a:extLst>
                </a:gridCol>
                <a:gridCol w="199358">
                  <a:extLst>
                    <a:ext uri="{9D8B030D-6E8A-4147-A177-3AD203B41FA5}">
                      <a16:colId xmlns:a16="http://schemas.microsoft.com/office/drawing/2014/main" val="20033"/>
                    </a:ext>
                  </a:extLst>
                </a:gridCol>
                <a:gridCol w="199358">
                  <a:extLst>
                    <a:ext uri="{9D8B030D-6E8A-4147-A177-3AD203B41FA5}">
                      <a16:colId xmlns:a16="http://schemas.microsoft.com/office/drawing/2014/main" val="20034"/>
                    </a:ext>
                  </a:extLst>
                </a:gridCol>
                <a:gridCol w="199358">
                  <a:extLst>
                    <a:ext uri="{9D8B030D-6E8A-4147-A177-3AD203B41FA5}">
                      <a16:colId xmlns:a16="http://schemas.microsoft.com/office/drawing/2014/main" val="20035"/>
                    </a:ext>
                  </a:extLst>
                </a:gridCol>
                <a:gridCol w="199358">
                  <a:extLst>
                    <a:ext uri="{9D8B030D-6E8A-4147-A177-3AD203B41FA5}">
                      <a16:colId xmlns:a16="http://schemas.microsoft.com/office/drawing/2014/main" val="20036"/>
                    </a:ext>
                  </a:extLst>
                </a:gridCol>
                <a:gridCol w="199358">
                  <a:extLst>
                    <a:ext uri="{9D8B030D-6E8A-4147-A177-3AD203B41FA5}">
                      <a16:colId xmlns:a16="http://schemas.microsoft.com/office/drawing/2014/main" val="20037"/>
                    </a:ext>
                  </a:extLst>
                </a:gridCol>
                <a:gridCol w="199358">
                  <a:extLst>
                    <a:ext uri="{9D8B030D-6E8A-4147-A177-3AD203B41FA5}">
                      <a16:colId xmlns:a16="http://schemas.microsoft.com/office/drawing/2014/main" val="20038"/>
                    </a:ext>
                  </a:extLst>
                </a:gridCol>
                <a:gridCol w="199358">
                  <a:extLst>
                    <a:ext uri="{9D8B030D-6E8A-4147-A177-3AD203B41FA5}">
                      <a16:colId xmlns:a16="http://schemas.microsoft.com/office/drawing/2014/main" val="20039"/>
                    </a:ext>
                  </a:extLst>
                </a:gridCol>
                <a:gridCol w="199358">
                  <a:extLst>
                    <a:ext uri="{9D8B030D-6E8A-4147-A177-3AD203B41FA5}">
                      <a16:colId xmlns:a16="http://schemas.microsoft.com/office/drawing/2014/main" val="20040"/>
                    </a:ext>
                  </a:extLst>
                </a:gridCol>
                <a:gridCol w="199358">
                  <a:extLst>
                    <a:ext uri="{9D8B030D-6E8A-4147-A177-3AD203B41FA5}">
                      <a16:colId xmlns:a16="http://schemas.microsoft.com/office/drawing/2014/main" val="513621897"/>
                    </a:ext>
                  </a:extLst>
                </a:gridCol>
                <a:gridCol w="199358">
                  <a:extLst>
                    <a:ext uri="{9D8B030D-6E8A-4147-A177-3AD203B41FA5}">
                      <a16:colId xmlns:a16="http://schemas.microsoft.com/office/drawing/2014/main" val="1247716740"/>
                    </a:ext>
                  </a:extLst>
                </a:gridCol>
                <a:gridCol w="199358">
                  <a:extLst>
                    <a:ext uri="{9D8B030D-6E8A-4147-A177-3AD203B41FA5}">
                      <a16:colId xmlns:a16="http://schemas.microsoft.com/office/drawing/2014/main" val="138809300"/>
                    </a:ext>
                  </a:extLst>
                </a:gridCol>
                <a:gridCol w="199358">
                  <a:extLst>
                    <a:ext uri="{9D8B030D-6E8A-4147-A177-3AD203B41FA5}">
                      <a16:colId xmlns:a16="http://schemas.microsoft.com/office/drawing/2014/main" val="2428447662"/>
                    </a:ext>
                  </a:extLst>
                </a:gridCol>
                <a:gridCol w="199358">
                  <a:extLst>
                    <a:ext uri="{9D8B030D-6E8A-4147-A177-3AD203B41FA5}">
                      <a16:colId xmlns:a16="http://schemas.microsoft.com/office/drawing/2014/main" val="2664477743"/>
                    </a:ext>
                  </a:extLst>
                </a:gridCol>
                <a:gridCol w="199358">
                  <a:extLst>
                    <a:ext uri="{9D8B030D-6E8A-4147-A177-3AD203B41FA5}">
                      <a16:colId xmlns:a16="http://schemas.microsoft.com/office/drawing/2014/main" val="1476456523"/>
                    </a:ext>
                  </a:extLst>
                </a:gridCol>
                <a:gridCol w="199358">
                  <a:extLst>
                    <a:ext uri="{9D8B030D-6E8A-4147-A177-3AD203B41FA5}">
                      <a16:colId xmlns:a16="http://schemas.microsoft.com/office/drawing/2014/main" val="3877775668"/>
                    </a:ext>
                  </a:extLst>
                </a:gridCol>
                <a:gridCol w="199358">
                  <a:extLst>
                    <a:ext uri="{9D8B030D-6E8A-4147-A177-3AD203B41FA5}">
                      <a16:colId xmlns:a16="http://schemas.microsoft.com/office/drawing/2014/main" val="2832840381"/>
                    </a:ext>
                  </a:extLst>
                </a:gridCol>
                <a:gridCol w="199358">
                  <a:extLst>
                    <a:ext uri="{9D8B030D-6E8A-4147-A177-3AD203B41FA5}">
                      <a16:colId xmlns:a16="http://schemas.microsoft.com/office/drawing/2014/main" val="3513633113"/>
                    </a:ext>
                  </a:extLst>
                </a:gridCol>
                <a:gridCol w="199358">
                  <a:extLst>
                    <a:ext uri="{9D8B030D-6E8A-4147-A177-3AD203B41FA5}">
                      <a16:colId xmlns:a16="http://schemas.microsoft.com/office/drawing/2014/main" val="1710234167"/>
                    </a:ext>
                  </a:extLst>
                </a:gridCol>
                <a:gridCol w="199358">
                  <a:extLst>
                    <a:ext uri="{9D8B030D-6E8A-4147-A177-3AD203B41FA5}">
                      <a16:colId xmlns:a16="http://schemas.microsoft.com/office/drawing/2014/main" val="1738283017"/>
                    </a:ext>
                  </a:extLst>
                </a:gridCol>
              </a:tblGrid>
              <a:tr h="89990">
                <a:tc rowSpan="2">
                  <a:txBody>
                    <a:bodyPr/>
                    <a:lstStyle/>
                    <a:p>
                      <a:pPr algn="ctr"/>
                      <a:endParaRPr lang="ja-JP" altLang="en-US" sz="1050" b="0">
                        <a:solidFill>
                          <a:prstClr val="black"/>
                        </a:solidFill>
                        <a:latin typeface="Tahoma" pitchFamily="34" charset="0"/>
                        <a:ea typeface="Meiryo UI" panose="020B0604030504040204"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gridSpan="12">
                  <a:txBody>
                    <a:bodyPr/>
                    <a:lstStyle/>
                    <a:p>
                      <a:pPr algn="ctr"/>
                      <a:r>
                        <a:rPr kumimoji="1" lang="en-US" altLang="ja-JP" sz="1200">
                          <a:solidFill>
                            <a:schemeClr val="tx1"/>
                          </a:solidFill>
                          <a:latin typeface="Meiryo UI" pitchFamily="50" charset="-128"/>
                          <a:ea typeface="Meiryo UI" pitchFamily="50" charset="-128"/>
                          <a:cs typeface="Meiryo UI" pitchFamily="50" charset="-128"/>
                        </a:rPr>
                        <a:t>2020</a:t>
                      </a: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2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3175"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gridSpan="1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itchFamily="50" charset="-128"/>
                          <a:ea typeface="Meiryo UI" pitchFamily="50" charset="-128"/>
                          <a:cs typeface="Meiryo UI" pitchFamily="50" charset="-128"/>
                        </a:rPr>
                        <a:t>2021</a:t>
                      </a: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2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1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itchFamily="50" charset="-128"/>
                          <a:ea typeface="Meiryo UI" pitchFamily="50" charset="-128"/>
                          <a:cs typeface="Meiryo UI" pitchFamily="50" charset="-128"/>
                        </a:rPr>
                        <a:t>2022</a:t>
                      </a: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itchFamily="50" charset="-128"/>
                          <a:ea typeface="Meiryo UI" pitchFamily="50" charset="-128"/>
                          <a:cs typeface="Meiryo UI" pitchFamily="50" charset="-128"/>
                        </a:rPr>
                        <a:t>2023</a:t>
                      </a: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0"/>
                  </a:ext>
                </a:extLst>
              </a:tr>
              <a:tr h="88238">
                <a:tc vMerge="1">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4</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5</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6</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7</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8</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9</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10</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4</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5</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6</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7</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8</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9</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10</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4</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5</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6</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7</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8</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9</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10</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1</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2</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itchFamily="50" charset="-128"/>
                          <a:ea typeface="Meiryo UI" pitchFamily="50" charset="-128"/>
                          <a:cs typeface="Meiryo UI" pitchFamily="50" charset="-128"/>
                        </a:rPr>
                        <a:t>3</a:t>
                      </a:r>
                      <a:endParaRPr kumimoji="1" lang="ja-JP" altLang="en-US" sz="1100">
                        <a:solidFill>
                          <a:schemeClr val="tx1"/>
                        </a:solidFill>
                        <a:latin typeface="Meiryo UI" pitchFamily="50" charset="-128"/>
                        <a:ea typeface="Meiryo UI" pitchFamily="50" charset="-128"/>
                        <a:cs typeface="Meiryo UI" pitchFamily="50" charset="-128"/>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1"/>
                  </a:ext>
                </a:extLst>
              </a:tr>
              <a:tr h="2277490">
                <a:tc>
                  <a:txBody>
                    <a:bodyPr/>
                    <a:lstStyle/>
                    <a:p>
                      <a:pPr algn="ctr"/>
                      <a:endParaRPr kumimoji="1" lang="en-US" altLang="ja-JP" sz="1200">
                        <a:solidFill>
                          <a:schemeClr val="tx1"/>
                        </a:solidFill>
                        <a:latin typeface="Meiryo UI" panose="020B0604030504040204" pitchFamily="50" charset="-128"/>
                        <a:ea typeface="HGPｺﾞｼｯｸE" pitchFamily="50" charset="-128"/>
                        <a:cs typeface="Arial" panose="020B0604020202020204" pitchFamily="34" charset="0"/>
                      </a:endParaRPr>
                    </a:p>
                    <a:p>
                      <a:pPr algn="ctr"/>
                      <a:r>
                        <a:rPr kumimoji="1" lang="en-US" altLang="ja-JP" sz="1200">
                          <a:solidFill>
                            <a:schemeClr val="tx1"/>
                          </a:solidFill>
                          <a:latin typeface="Meiryo UI" panose="020B0604030504040204" pitchFamily="50" charset="-128"/>
                          <a:ea typeface="HGPｺﾞｼｯｸE" pitchFamily="50" charset="-128"/>
                          <a:cs typeface="Arial" panose="020B0604020202020204" pitchFamily="34" charset="0"/>
                        </a:rPr>
                        <a:t>AAAA</a:t>
                      </a:r>
                    </a:p>
                  </a:txBody>
                  <a:tcPr marL="0" marR="0" marT="0" marB="0" anchor="ctr">
                    <a:lnL w="19050"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28575"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solidFill>
                          <a:schemeClr val="tx1"/>
                        </a:solidFill>
                        <a:latin typeface="Tahoma" pitchFamily="34" charset="0"/>
                        <a:ea typeface="HGPｺﾞｼｯｸE" pitchFamily="50" charset="-128"/>
                        <a:cs typeface="Tahoma" pitchFamily="34" charset="0"/>
                      </a:endParaRPr>
                    </a:p>
                  </a:txBody>
                  <a:tcPr marL="0" marR="0" marT="0" marB="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86" name="円/楕円 311"/>
          <p:cNvSpPr/>
          <p:nvPr/>
        </p:nvSpPr>
        <p:spPr>
          <a:xfrm>
            <a:off x="8555262" y="1724587"/>
            <a:ext cx="252000"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grpSp>
        <p:nvGrpSpPr>
          <p:cNvPr id="230" name="グループ化 229"/>
          <p:cNvGrpSpPr/>
          <p:nvPr/>
        </p:nvGrpSpPr>
        <p:grpSpPr>
          <a:xfrm>
            <a:off x="2993726" y="1612482"/>
            <a:ext cx="6717663" cy="760039"/>
            <a:chOff x="2942670" y="1234131"/>
            <a:chExt cx="6717663" cy="760039"/>
          </a:xfrm>
        </p:grpSpPr>
        <p:sp>
          <p:nvSpPr>
            <p:cNvPr id="231" name="Freeform 480"/>
            <p:cNvSpPr>
              <a:spLocks/>
            </p:cNvSpPr>
            <p:nvPr/>
          </p:nvSpPr>
          <p:spPr bwMode="auto">
            <a:xfrm>
              <a:off x="8907789" y="1729981"/>
              <a:ext cx="752544" cy="264189"/>
            </a:xfrm>
            <a:custGeom>
              <a:avLst/>
              <a:gdLst>
                <a:gd name="T0" fmla="*/ 2147483647 w 10000"/>
                <a:gd name="T1" fmla="*/ 2147483647 h 10000"/>
                <a:gd name="T2" fmla="*/ 0 w 10000"/>
                <a:gd name="T3" fmla="*/ 2147483647 h 10000"/>
                <a:gd name="T4" fmla="*/ 2147483647 w 10000"/>
                <a:gd name="T5" fmla="*/ 0 h 10000"/>
                <a:gd name="T6" fmla="*/ 2147483647 w 10000"/>
                <a:gd name="T7" fmla="*/ 0 h 10000"/>
                <a:gd name="T8" fmla="*/ 2147483647 w 10000"/>
                <a:gd name="T9" fmla="*/ 2147483647 h 10000"/>
                <a:gd name="T10" fmla="*/ 0 60000 65536"/>
                <a:gd name="T11" fmla="*/ 0 60000 65536"/>
                <a:gd name="T12" fmla="*/ 0 60000 65536"/>
                <a:gd name="T13" fmla="*/ 0 60000 65536"/>
                <a:gd name="T14" fmla="*/ 0 60000 65536"/>
                <a:gd name="T15" fmla="*/ 0 w 10000"/>
                <a:gd name="T16" fmla="*/ 0 h 10000"/>
                <a:gd name="T17" fmla="*/ 10000 w 10000"/>
                <a:gd name="T18" fmla="*/ 10000 h 10000"/>
              </a:gdLst>
              <a:ahLst/>
              <a:cxnLst>
                <a:cxn ang="T10">
                  <a:pos x="T0" y="T1"/>
                </a:cxn>
                <a:cxn ang="T11">
                  <a:pos x="T2" y="T3"/>
                </a:cxn>
                <a:cxn ang="T12">
                  <a:pos x="T4" y="T5"/>
                </a:cxn>
                <a:cxn ang="T13">
                  <a:pos x="T6" y="T7"/>
                </a:cxn>
                <a:cxn ang="T14">
                  <a:pos x="T8" y="T9"/>
                </a:cxn>
              </a:cxnLst>
              <a:rect l="T15" t="T16" r="T17" b="T18"/>
              <a:pathLst>
                <a:path w="10000" h="10000">
                  <a:moveTo>
                    <a:pt x="9941" y="10000"/>
                  </a:moveTo>
                  <a:lnTo>
                    <a:pt x="0" y="10000"/>
                  </a:lnTo>
                  <a:lnTo>
                    <a:pt x="567" y="0"/>
                  </a:lnTo>
                  <a:lnTo>
                    <a:pt x="10000" y="0"/>
                  </a:lnTo>
                  <a:cubicBezTo>
                    <a:pt x="9980" y="3333"/>
                    <a:pt x="9961" y="6667"/>
                    <a:pt x="9941" y="10000"/>
                  </a:cubicBezTo>
                  <a:close/>
                </a:path>
              </a:pathLst>
            </a:custGeom>
            <a:solidFill>
              <a:srgbClr val="92D050"/>
            </a:solidFill>
            <a:ln w="9525">
              <a:solidFill>
                <a:schemeClr val="tx1"/>
              </a:solidFill>
              <a:round/>
              <a:headEnd/>
              <a:tailEnd/>
            </a:ln>
          </p:spPr>
          <p:txBody>
            <a:bodyPr wrap="none" lIns="288000" anchor="ctr"/>
            <a:lstStyle/>
            <a:p>
              <a:pPr algn="l"/>
              <a:endParaRPr lang="ja-JP" altLang="en-US" sz="1400">
                <a:latin typeface="Meiryo UI" pitchFamily="50" charset="-128"/>
                <a:ea typeface="Meiryo UI" pitchFamily="50" charset="-128"/>
                <a:cs typeface="Meiryo UI" pitchFamily="50" charset="-128"/>
              </a:endParaRPr>
            </a:p>
          </p:txBody>
        </p:sp>
        <p:cxnSp>
          <p:nvCxnSpPr>
            <p:cNvPr id="232" name="直線コネクタ 231"/>
            <p:cNvCxnSpPr>
              <a:stCxn id="242" idx="2"/>
            </p:cNvCxnSpPr>
            <p:nvPr/>
          </p:nvCxnSpPr>
          <p:spPr>
            <a:xfrm flipH="1">
              <a:off x="2942670" y="1360131"/>
              <a:ext cx="5635614" cy="25395"/>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3" name="直線コネクタ 232"/>
            <p:cNvCxnSpPr/>
            <p:nvPr/>
          </p:nvCxnSpPr>
          <p:spPr>
            <a:xfrm flipH="1" flipV="1">
              <a:off x="7162113" y="1989406"/>
              <a:ext cx="1995126" cy="28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34" name="円/楕円 304"/>
            <p:cNvSpPr/>
            <p:nvPr/>
          </p:nvSpPr>
          <p:spPr>
            <a:xfrm>
              <a:off x="3018990" y="1385526"/>
              <a:ext cx="252000"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235" name="Freeform 274"/>
            <p:cNvSpPr>
              <a:spLocks/>
            </p:cNvSpPr>
            <p:nvPr/>
          </p:nvSpPr>
          <p:spPr bwMode="auto">
            <a:xfrm>
              <a:off x="8507067" y="1716946"/>
              <a:ext cx="144967" cy="27246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no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236" name="Freeform 274"/>
            <p:cNvSpPr>
              <a:spLocks/>
            </p:cNvSpPr>
            <p:nvPr/>
          </p:nvSpPr>
          <p:spPr bwMode="auto">
            <a:xfrm>
              <a:off x="8068362" y="1715806"/>
              <a:ext cx="142533" cy="27360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no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237" name="Freeform 274"/>
            <p:cNvSpPr>
              <a:spLocks/>
            </p:cNvSpPr>
            <p:nvPr/>
          </p:nvSpPr>
          <p:spPr bwMode="auto">
            <a:xfrm>
              <a:off x="7473317" y="1715806"/>
              <a:ext cx="296149" cy="27360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no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238" name="Text Box 275"/>
            <p:cNvSpPr txBox="1">
              <a:spLocks noChangeArrowheads="1"/>
            </p:cNvSpPr>
            <p:nvPr/>
          </p:nvSpPr>
          <p:spPr bwMode="auto">
            <a:xfrm>
              <a:off x="8503127" y="1812569"/>
              <a:ext cx="174728"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a:solidFill>
                    <a:srgbClr val="000000"/>
                  </a:solidFill>
                  <a:latin typeface="Meiryo UI" pitchFamily="50" charset="-128"/>
                  <a:ea typeface="Meiryo UI" pitchFamily="50" charset="-128"/>
                  <a:cs typeface="Meiryo UI" pitchFamily="50" charset="-128"/>
                </a:rPr>
                <a:t>RC</a:t>
              </a:r>
              <a:endParaRPr lang="ja-JP" altLang="en-US" sz="1000" kern="0">
                <a:solidFill>
                  <a:srgbClr val="000000"/>
                </a:solidFill>
                <a:latin typeface="Meiryo UI" pitchFamily="50" charset="-128"/>
                <a:ea typeface="Meiryo UI" pitchFamily="50" charset="-128"/>
                <a:cs typeface="Meiryo UI" pitchFamily="50" charset="-128"/>
              </a:endParaRPr>
            </a:p>
          </p:txBody>
        </p:sp>
        <p:sp>
          <p:nvSpPr>
            <p:cNvPr id="239" name="Text Box 275"/>
            <p:cNvSpPr txBox="1">
              <a:spLocks noChangeArrowheads="1"/>
            </p:cNvSpPr>
            <p:nvPr/>
          </p:nvSpPr>
          <p:spPr bwMode="auto">
            <a:xfrm>
              <a:off x="8057700" y="1812569"/>
              <a:ext cx="184346"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a:solidFill>
                    <a:srgbClr val="000000"/>
                  </a:solidFill>
                  <a:latin typeface="Meiryo UI" pitchFamily="50" charset="-128"/>
                  <a:ea typeface="Meiryo UI" pitchFamily="50" charset="-128"/>
                  <a:cs typeface="Meiryo UI" pitchFamily="50" charset="-128"/>
                </a:rPr>
                <a:t>QC</a:t>
              </a:r>
            </a:p>
          </p:txBody>
        </p:sp>
        <p:sp>
          <p:nvSpPr>
            <p:cNvPr id="240" name="Text Box 275"/>
            <p:cNvSpPr txBox="1">
              <a:spLocks noChangeArrowheads="1"/>
            </p:cNvSpPr>
            <p:nvPr/>
          </p:nvSpPr>
          <p:spPr bwMode="auto">
            <a:xfrm>
              <a:off x="7523994" y="1835518"/>
              <a:ext cx="277320"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a:solidFill>
                    <a:srgbClr val="000000"/>
                  </a:solidFill>
                  <a:latin typeface="Meiryo UI" pitchFamily="50" charset="-128"/>
                  <a:ea typeface="Meiryo UI" pitchFamily="50" charset="-128"/>
                  <a:cs typeface="Meiryo UI" pitchFamily="50" charset="-128"/>
                </a:rPr>
                <a:t>DAN</a:t>
              </a:r>
              <a:endParaRPr lang="ja-JP" altLang="en-US" sz="1000" kern="0">
                <a:solidFill>
                  <a:srgbClr val="000000"/>
                </a:solidFill>
                <a:latin typeface="Meiryo UI" pitchFamily="50" charset="-128"/>
                <a:ea typeface="Meiryo UI" pitchFamily="50" charset="-128"/>
                <a:cs typeface="Meiryo UI" pitchFamily="50" charset="-128"/>
              </a:endParaRPr>
            </a:p>
          </p:txBody>
        </p:sp>
        <p:sp>
          <p:nvSpPr>
            <p:cNvPr id="241" name="円/楕円 311"/>
            <p:cNvSpPr/>
            <p:nvPr/>
          </p:nvSpPr>
          <p:spPr>
            <a:xfrm>
              <a:off x="6756718" y="1385526"/>
              <a:ext cx="252000"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242" name="円/楕円 312"/>
            <p:cNvSpPr/>
            <p:nvPr/>
          </p:nvSpPr>
          <p:spPr>
            <a:xfrm>
              <a:off x="8578284" y="1234131"/>
              <a:ext cx="252000" cy="252000"/>
            </a:xfrm>
            <a:prstGeom prst="ellipse">
              <a:avLst/>
            </a:prstGeom>
            <a:solidFill>
              <a:srgbClr val="0000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1200">
                  <a:solidFill>
                    <a:prstClr val="white"/>
                  </a:solidFill>
                  <a:latin typeface="Meiryo UI" pitchFamily="50" charset="-128"/>
                  <a:ea typeface="Meiryo UI" pitchFamily="50" charset="-128"/>
                  <a:cs typeface="Meiryo UI" pitchFamily="50" charset="-128"/>
                </a:rPr>
                <a:t>E2</a:t>
              </a:r>
              <a:endParaRPr lang="ja-JP" altLang="en-US" sz="1200">
                <a:solidFill>
                  <a:prstClr val="white"/>
                </a:solidFill>
                <a:latin typeface="Meiryo UI" pitchFamily="50" charset="-128"/>
                <a:ea typeface="Meiryo UI" pitchFamily="50" charset="-128"/>
                <a:cs typeface="Meiryo UI" pitchFamily="50" charset="-128"/>
              </a:endParaRPr>
            </a:p>
          </p:txBody>
        </p:sp>
        <p:sp>
          <p:nvSpPr>
            <p:cNvPr id="243" name="円/楕円 313"/>
            <p:cNvSpPr/>
            <p:nvPr/>
          </p:nvSpPr>
          <p:spPr>
            <a:xfrm>
              <a:off x="4734323" y="1385526"/>
              <a:ext cx="252000"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244" name="円/楕円 314"/>
            <p:cNvSpPr/>
            <p:nvPr/>
          </p:nvSpPr>
          <p:spPr>
            <a:xfrm>
              <a:off x="6872348" y="1234131"/>
              <a:ext cx="252000" cy="252000"/>
            </a:xfrm>
            <a:prstGeom prst="ellipse">
              <a:avLst/>
            </a:prstGeom>
            <a:solidFill>
              <a:srgbClr val="0000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1200">
                  <a:solidFill>
                    <a:prstClr val="white"/>
                  </a:solidFill>
                  <a:latin typeface="Meiryo UI" pitchFamily="50" charset="-128"/>
                  <a:ea typeface="Meiryo UI" pitchFamily="50" charset="-128"/>
                  <a:cs typeface="Meiryo UI" pitchFamily="50" charset="-128"/>
                </a:rPr>
                <a:t>V3</a:t>
              </a:r>
              <a:endParaRPr lang="ja-JP" altLang="en-US" sz="1200">
                <a:solidFill>
                  <a:prstClr val="white"/>
                </a:solidFill>
                <a:latin typeface="Meiryo UI" pitchFamily="50" charset="-128"/>
                <a:ea typeface="Meiryo UI" pitchFamily="50" charset="-128"/>
                <a:cs typeface="Meiryo UI" pitchFamily="50" charset="-128"/>
              </a:endParaRPr>
            </a:p>
          </p:txBody>
        </p:sp>
        <p:sp>
          <p:nvSpPr>
            <p:cNvPr id="245" name="円/楕円 315"/>
            <p:cNvSpPr/>
            <p:nvPr/>
          </p:nvSpPr>
          <p:spPr>
            <a:xfrm>
              <a:off x="3088424" y="1234131"/>
              <a:ext cx="252000" cy="252000"/>
            </a:xfrm>
            <a:prstGeom prst="ellipse">
              <a:avLst/>
            </a:prstGeom>
            <a:solidFill>
              <a:srgbClr val="0000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1200">
                  <a:solidFill>
                    <a:prstClr val="white"/>
                  </a:solidFill>
                  <a:latin typeface="Meiryo UI" pitchFamily="50" charset="-128"/>
                  <a:ea typeface="Meiryo UI" pitchFamily="50" charset="-128"/>
                  <a:cs typeface="Meiryo UI" pitchFamily="50" charset="-128"/>
                </a:rPr>
                <a:t>F2</a:t>
              </a:r>
              <a:endParaRPr lang="ja-JP" altLang="en-US" sz="1200">
                <a:solidFill>
                  <a:prstClr val="white"/>
                </a:solidFill>
                <a:latin typeface="Meiryo UI" pitchFamily="50" charset="-128"/>
                <a:ea typeface="Meiryo UI" pitchFamily="50" charset="-128"/>
                <a:cs typeface="Meiryo UI" pitchFamily="50" charset="-128"/>
              </a:endParaRPr>
            </a:p>
          </p:txBody>
        </p:sp>
        <p:sp>
          <p:nvSpPr>
            <p:cNvPr id="249" name="Freeform 274"/>
            <p:cNvSpPr>
              <a:spLocks/>
            </p:cNvSpPr>
            <p:nvPr/>
          </p:nvSpPr>
          <p:spPr bwMode="auto">
            <a:xfrm>
              <a:off x="7109731" y="1716946"/>
              <a:ext cx="108000" cy="272460"/>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89">
                  <a:moveTo>
                    <a:pt x="117" y="89"/>
                  </a:moveTo>
                  <a:lnTo>
                    <a:pt x="116" y="0"/>
                  </a:lnTo>
                  <a:lnTo>
                    <a:pt x="40" y="0"/>
                  </a:lnTo>
                  <a:lnTo>
                    <a:pt x="28" y="36"/>
                  </a:lnTo>
                  <a:lnTo>
                    <a:pt x="7" y="39"/>
                  </a:lnTo>
                  <a:lnTo>
                    <a:pt x="0" y="88"/>
                  </a:lnTo>
                  <a:lnTo>
                    <a:pt x="113" y="88"/>
                  </a:lnTo>
                </a:path>
              </a:pathLst>
            </a:custGeom>
            <a:solidFill>
              <a:srgbClr val="92D050"/>
            </a:solidFill>
            <a:ln>
              <a:no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250" name="Text Box 275"/>
            <p:cNvSpPr txBox="1">
              <a:spLocks noChangeArrowheads="1"/>
            </p:cNvSpPr>
            <p:nvPr/>
          </p:nvSpPr>
          <p:spPr bwMode="auto">
            <a:xfrm>
              <a:off x="6931116" y="1812569"/>
              <a:ext cx="357470" cy="153888"/>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000" kern="0">
                  <a:solidFill>
                    <a:srgbClr val="000000"/>
                  </a:solidFill>
                  <a:latin typeface="Meiryo UI" pitchFamily="50" charset="-128"/>
                  <a:ea typeface="Meiryo UI" pitchFamily="50" charset="-128"/>
                  <a:cs typeface="Meiryo UI" pitchFamily="50" charset="-128"/>
                </a:rPr>
                <a:t>DAN0</a:t>
              </a:r>
              <a:endParaRPr lang="ja-JP" altLang="en-US" sz="1000" kern="0">
                <a:solidFill>
                  <a:srgbClr val="000000"/>
                </a:solidFill>
                <a:latin typeface="Meiryo UI" pitchFamily="50" charset="-128"/>
                <a:ea typeface="Meiryo UI" pitchFamily="50" charset="-128"/>
                <a:cs typeface="Meiryo UI" pitchFamily="50" charset="-128"/>
              </a:endParaRPr>
            </a:p>
          </p:txBody>
        </p:sp>
        <p:sp>
          <p:nvSpPr>
            <p:cNvPr id="251" name="円/楕円 337"/>
            <p:cNvSpPr/>
            <p:nvPr/>
          </p:nvSpPr>
          <p:spPr>
            <a:xfrm>
              <a:off x="4135353" y="1385526"/>
              <a:ext cx="252000" cy="25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b="1">
                  <a:solidFill>
                    <a:prstClr val="black"/>
                  </a:solidFill>
                  <a:latin typeface="Meiryo UI" pitchFamily="50" charset="-128"/>
                  <a:ea typeface="Meiryo UI" pitchFamily="50" charset="-128"/>
                  <a:cs typeface="Meiryo UI" pitchFamily="50" charset="-128"/>
                </a:rPr>
                <a:t>TE</a:t>
              </a:r>
              <a:endParaRPr lang="ja-JP" altLang="en-US" sz="900" b="1">
                <a:solidFill>
                  <a:prstClr val="black"/>
                </a:solidFill>
                <a:latin typeface="Meiryo UI" pitchFamily="50" charset="-128"/>
                <a:ea typeface="Meiryo UI" pitchFamily="50" charset="-128"/>
                <a:cs typeface="Meiryo UI" pitchFamily="50" charset="-128"/>
              </a:endParaRPr>
            </a:p>
          </p:txBody>
        </p:sp>
        <p:sp>
          <p:nvSpPr>
            <p:cNvPr id="254" name="Freeform 274"/>
            <p:cNvSpPr>
              <a:spLocks/>
            </p:cNvSpPr>
            <p:nvPr/>
          </p:nvSpPr>
          <p:spPr bwMode="auto">
            <a:xfrm>
              <a:off x="6437827" y="1686860"/>
              <a:ext cx="213745" cy="241413"/>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 name="connsiteX0" fmla="*/ 10000 w 10000"/>
                <a:gd name="connsiteY0" fmla="*/ 10000 h 10000"/>
                <a:gd name="connsiteX1" fmla="*/ 9915 w 10000"/>
                <a:gd name="connsiteY1" fmla="*/ 0 h 10000"/>
                <a:gd name="connsiteX2" fmla="*/ 3419 w 10000"/>
                <a:gd name="connsiteY2" fmla="*/ 0 h 10000"/>
                <a:gd name="connsiteX3" fmla="*/ 598 w 10000"/>
                <a:gd name="connsiteY3" fmla="*/ 4382 h 10000"/>
                <a:gd name="connsiteX4" fmla="*/ 0 w 10000"/>
                <a:gd name="connsiteY4" fmla="*/ 9888 h 10000"/>
                <a:gd name="connsiteX5" fmla="*/ 9658 w 10000"/>
                <a:gd name="connsiteY5" fmla="*/ 9888 h 10000"/>
                <a:gd name="connsiteX0" fmla="*/ 10000 w 10000"/>
                <a:gd name="connsiteY0" fmla="*/ 10000 h 10000"/>
                <a:gd name="connsiteX1" fmla="*/ 9915 w 10000"/>
                <a:gd name="connsiteY1" fmla="*/ 0 h 10000"/>
                <a:gd name="connsiteX2" fmla="*/ 3419 w 10000"/>
                <a:gd name="connsiteY2" fmla="*/ 0 h 10000"/>
                <a:gd name="connsiteX3" fmla="*/ 0 w 10000"/>
                <a:gd name="connsiteY3" fmla="*/ 9888 h 10000"/>
                <a:gd name="connsiteX4" fmla="*/ 9658 w 10000"/>
                <a:gd name="connsiteY4" fmla="*/ 9888 h 10000"/>
                <a:gd name="connsiteX0" fmla="*/ 10000 w 10044"/>
                <a:gd name="connsiteY0" fmla="*/ 10000 h 10000"/>
                <a:gd name="connsiteX1" fmla="*/ 10039 w 10044"/>
                <a:gd name="connsiteY1" fmla="*/ 137 h 10000"/>
                <a:gd name="connsiteX2" fmla="*/ 3419 w 10044"/>
                <a:gd name="connsiteY2" fmla="*/ 0 h 10000"/>
                <a:gd name="connsiteX3" fmla="*/ 0 w 10044"/>
                <a:gd name="connsiteY3" fmla="*/ 9888 h 10000"/>
                <a:gd name="connsiteX4" fmla="*/ 9658 w 10044"/>
                <a:gd name="connsiteY4" fmla="*/ 988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4" h="10000">
                  <a:moveTo>
                    <a:pt x="10000" y="10000"/>
                  </a:moveTo>
                  <a:cubicBezTo>
                    <a:pt x="9972" y="6667"/>
                    <a:pt x="10067" y="3470"/>
                    <a:pt x="10039" y="137"/>
                  </a:cubicBezTo>
                  <a:lnTo>
                    <a:pt x="3419" y="0"/>
                  </a:lnTo>
                  <a:lnTo>
                    <a:pt x="0" y="9888"/>
                  </a:lnTo>
                  <a:lnTo>
                    <a:pt x="9658" y="9888"/>
                  </a:lnTo>
                </a:path>
              </a:pathLst>
            </a:custGeom>
            <a:solidFill>
              <a:srgbClr val="FF9966"/>
            </a:solidFill>
            <a:ln>
              <a:no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255" name="テキスト ボックス 404"/>
            <p:cNvSpPr txBox="1">
              <a:spLocks noChangeArrowheads="1"/>
            </p:cNvSpPr>
            <p:nvPr/>
          </p:nvSpPr>
          <p:spPr bwMode="auto">
            <a:xfrm>
              <a:off x="6501620" y="1768843"/>
              <a:ext cx="168316"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900">
                  <a:solidFill>
                    <a:schemeClr val="tx1"/>
                  </a:solidFill>
                  <a:latin typeface="Times New Roman" pitchFamily="18" charset="0"/>
                  <a:ea typeface="ＭＳ Ｐゴシック" charset="-128"/>
                </a:defRPr>
              </a:lvl1pPr>
              <a:lvl2pPr marL="742950" indent="-285750">
                <a:defRPr kumimoji="1" sz="900">
                  <a:solidFill>
                    <a:schemeClr val="tx1"/>
                  </a:solidFill>
                  <a:latin typeface="Times New Roman" pitchFamily="18" charset="0"/>
                  <a:ea typeface="ＭＳ Ｐゴシック" charset="-128"/>
                </a:defRPr>
              </a:lvl2pPr>
              <a:lvl3pPr marL="1143000" indent="-228600">
                <a:defRPr kumimoji="1" sz="900">
                  <a:solidFill>
                    <a:schemeClr val="tx1"/>
                  </a:solidFill>
                  <a:latin typeface="Times New Roman" pitchFamily="18" charset="0"/>
                  <a:ea typeface="ＭＳ Ｐゴシック" charset="-128"/>
                </a:defRPr>
              </a:lvl3pPr>
              <a:lvl4pPr marL="1600200" indent="-228600">
                <a:defRPr kumimoji="1" sz="900">
                  <a:solidFill>
                    <a:schemeClr val="tx1"/>
                  </a:solidFill>
                  <a:latin typeface="Times New Roman" pitchFamily="18" charset="0"/>
                  <a:ea typeface="ＭＳ Ｐゴシック" charset="-128"/>
                </a:defRPr>
              </a:lvl4pPr>
              <a:lvl5pPr marL="2057400" indent="-228600">
                <a:defRPr kumimoji="1" sz="900">
                  <a:solidFill>
                    <a:schemeClr val="tx1"/>
                  </a:solidFill>
                  <a:latin typeface="Times New Roman" pitchFamily="18" charset="0"/>
                  <a:ea typeface="ＭＳ Ｐゴシック" charset="-128"/>
                </a:defRPr>
              </a:lvl5pPr>
              <a:lvl6pPr marL="25146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6pPr>
              <a:lvl7pPr marL="29718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7pPr>
              <a:lvl8pPr marL="34290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8pPr>
              <a:lvl9pPr marL="38862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9pPr>
            </a:lstStyle>
            <a:p>
              <a:r>
                <a:rPr lang="en-US" altLang="ja-JP" sz="1000">
                  <a:solidFill>
                    <a:srgbClr val="000000"/>
                  </a:solidFill>
                  <a:latin typeface="Meiryo UI" pitchFamily="50" charset="-128"/>
                  <a:ea typeface="Meiryo UI" pitchFamily="50" charset="-128"/>
                  <a:cs typeface="Meiryo UI" pitchFamily="50" charset="-128"/>
                </a:rPr>
                <a:t>V3</a:t>
              </a:r>
            </a:p>
          </p:txBody>
        </p:sp>
        <p:sp>
          <p:nvSpPr>
            <p:cNvPr id="256" name="円/楕円 100"/>
            <p:cNvSpPr/>
            <p:nvPr/>
          </p:nvSpPr>
          <p:spPr>
            <a:xfrm>
              <a:off x="4176344" y="1234131"/>
              <a:ext cx="252000" cy="252000"/>
            </a:xfrm>
            <a:prstGeom prst="ellipse">
              <a:avLst/>
            </a:prstGeom>
            <a:solidFill>
              <a:srgbClr val="0000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a:solidFill>
                    <a:prstClr val="white"/>
                  </a:solidFill>
                  <a:latin typeface="Meiryo UI" pitchFamily="50" charset="-128"/>
                  <a:ea typeface="Meiryo UI" pitchFamily="50" charset="-128"/>
                  <a:cs typeface="Meiryo UI" pitchFamily="50" charset="-128"/>
                </a:rPr>
                <a:t>V1</a:t>
              </a:r>
              <a:endParaRPr lang="ja-JP" altLang="en-US" sz="900">
                <a:solidFill>
                  <a:prstClr val="white"/>
                </a:solidFill>
                <a:latin typeface="Meiryo UI" pitchFamily="50" charset="-128"/>
                <a:ea typeface="Meiryo UI" pitchFamily="50" charset="-128"/>
                <a:cs typeface="Meiryo UI" pitchFamily="50" charset="-128"/>
              </a:endParaRPr>
            </a:p>
          </p:txBody>
        </p:sp>
        <p:sp>
          <p:nvSpPr>
            <p:cNvPr id="257" name="円/楕円 101"/>
            <p:cNvSpPr/>
            <p:nvPr/>
          </p:nvSpPr>
          <p:spPr>
            <a:xfrm>
              <a:off x="4822864" y="1234131"/>
              <a:ext cx="252000" cy="252000"/>
            </a:xfrm>
            <a:prstGeom prst="ellipse">
              <a:avLst/>
            </a:prstGeom>
            <a:solidFill>
              <a:srgbClr val="0000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altLang="ja-JP" sz="900">
                  <a:solidFill>
                    <a:prstClr val="white"/>
                  </a:solidFill>
                  <a:latin typeface="Meiryo UI" pitchFamily="50" charset="-128"/>
                  <a:ea typeface="Meiryo UI" pitchFamily="50" charset="-128"/>
                  <a:cs typeface="Meiryo UI" pitchFamily="50" charset="-128"/>
                </a:rPr>
                <a:t>V2</a:t>
              </a:r>
              <a:endParaRPr lang="ja-JP" altLang="en-US" sz="900">
                <a:solidFill>
                  <a:prstClr val="white"/>
                </a:solidFill>
                <a:latin typeface="Meiryo UI" pitchFamily="50" charset="-128"/>
                <a:ea typeface="Meiryo UI" pitchFamily="50" charset="-128"/>
                <a:cs typeface="Meiryo UI" pitchFamily="50" charset="-128"/>
              </a:endParaRPr>
            </a:p>
          </p:txBody>
        </p:sp>
      </p:grpSp>
      <p:sp>
        <p:nvSpPr>
          <p:cNvPr id="261" name="Text Box 275"/>
          <p:cNvSpPr txBox="1">
            <a:spLocks noChangeArrowheads="1"/>
          </p:cNvSpPr>
          <p:nvPr/>
        </p:nvSpPr>
        <p:spPr bwMode="auto">
          <a:xfrm>
            <a:off x="9079977" y="2171875"/>
            <a:ext cx="219612" cy="184666"/>
          </a:xfrm>
          <a:prstGeom prst="rect">
            <a:avLst/>
          </a:prstGeom>
          <a:noFill/>
          <a:ln>
            <a:noFill/>
          </a:ln>
          <a:effectLst/>
          <a:extLst>
            <a:ext uri="{909E8E84-426E-40DD-AFC4-6F175D3DCCD1}">
              <a14:hiddenFill xmlns:a14="http://schemas.microsoft.com/office/drawing/2010/main">
                <a:gradFill rotWithShape="1">
                  <a:gsLst>
                    <a:gs pos="0">
                      <a:srgbClr val="764700"/>
                    </a:gs>
                    <a:gs pos="50000">
                      <a:srgbClr val="FF9900"/>
                    </a:gs>
                    <a:gs pos="100000">
                      <a:srgbClr val="764700"/>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lvl1pPr eaLnBrk="0" hangingPunct="0">
              <a:defRPr kumimoji="1">
                <a:solidFill>
                  <a:schemeClr val="tx1"/>
                </a:solidFill>
                <a:latin typeface="Arial" charset="0"/>
                <a:ea typeface="ＭＳ Ｐゴシック" charset="-128"/>
              </a:defRPr>
            </a:lvl1pPr>
            <a:lvl2pPr marL="742950" indent="-285750" eaLnBrk="0" hangingPunct="0">
              <a:defRPr kumimoji="1">
                <a:solidFill>
                  <a:schemeClr val="tx1"/>
                </a:solidFill>
                <a:latin typeface="Arial" charset="0"/>
                <a:ea typeface="ＭＳ Ｐゴシック" charset="-128"/>
              </a:defRPr>
            </a:lvl2pPr>
            <a:lvl3pPr marL="1143000" indent="-228600" eaLnBrk="0" hangingPunct="0">
              <a:defRPr kumimoji="1">
                <a:solidFill>
                  <a:schemeClr val="tx1"/>
                </a:solidFill>
                <a:latin typeface="Arial" charset="0"/>
                <a:ea typeface="ＭＳ Ｐゴシック" charset="-128"/>
              </a:defRPr>
            </a:lvl3pPr>
            <a:lvl4pPr marL="1600200" indent="-228600" eaLnBrk="0" hangingPunct="0">
              <a:defRPr kumimoji="1">
                <a:solidFill>
                  <a:schemeClr val="tx1"/>
                </a:solidFill>
                <a:latin typeface="Arial" charset="0"/>
                <a:ea typeface="ＭＳ Ｐゴシック" charset="-128"/>
              </a:defRPr>
            </a:lvl4pPr>
            <a:lvl5pPr marL="2057400" indent="-228600" eaLnBrk="0" hangingPunct="0">
              <a:defRPr kumimoji="1">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charset="-128"/>
              </a:defRPr>
            </a:lvl9pPr>
          </a:lstStyle>
          <a:p>
            <a:pPr eaLnBrk="1" hangingPunct="1">
              <a:defRPr/>
            </a:pPr>
            <a:r>
              <a:rPr lang="en-US" altLang="ja-JP" sz="1200" kern="0">
                <a:solidFill>
                  <a:srgbClr val="000000"/>
                </a:solidFill>
                <a:latin typeface="Meiryo UI" pitchFamily="50" charset="-128"/>
                <a:ea typeface="Meiryo UI" pitchFamily="50" charset="-128"/>
                <a:cs typeface="Meiryo UI" pitchFamily="50" charset="-128"/>
              </a:rPr>
              <a:t>MP</a:t>
            </a:r>
            <a:endParaRPr lang="ja-JP" altLang="en-US" sz="1600" kern="0">
              <a:solidFill>
                <a:srgbClr val="000000"/>
              </a:solidFill>
              <a:latin typeface="Meiryo UI" pitchFamily="50" charset="-128"/>
              <a:ea typeface="Meiryo UI" pitchFamily="50" charset="-128"/>
              <a:cs typeface="Meiryo UI" pitchFamily="50" charset="-128"/>
            </a:endParaRPr>
          </a:p>
        </p:txBody>
      </p:sp>
      <p:sp>
        <p:nvSpPr>
          <p:cNvPr id="129"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20. Necessary</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Support (1/5)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7" name="Rectangle 13"/>
          <p:cNvSpPr>
            <a:spLocks noChangeArrowheads="1"/>
          </p:cNvSpPr>
          <p:nvPr/>
        </p:nvSpPr>
        <p:spPr bwMode="auto">
          <a:xfrm>
            <a:off x="-22479" y="4199710"/>
            <a:ext cx="9109075"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ja-JP" sz="1600" b="1" u="sng">
                <a:latin typeface="Meiryo UI" panose="020B0604030504040204" pitchFamily="50" charset="-128"/>
                <a:ea typeface="Meiryo UI" panose="020B0604030504040204" pitchFamily="50" charset="-128"/>
                <a:cs typeface="Arial" pitchFamily="34" charset="0"/>
              </a:rPr>
              <a:t>On-site Support</a:t>
            </a:r>
          </a:p>
          <a:p>
            <a:pPr marL="609600" lvl="1" indent="-342900" algn="l">
              <a:buAutoNum type="arabicParenR"/>
            </a:pPr>
            <a:r>
              <a:rPr lang="en-US" altLang="ja-JP" sz="1400">
                <a:latin typeface="Meiryo UI" panose="020B0604030504040204" pitchFamily="50" charset="-128"/>
                <a:ea typeface="Meiryo UI" panose="020B0604030504040204" pitchFamily="50" charset="-128"/>
                <a:cs typeface="Arial" pitchFamily="34" charset="0"/>
              </a:rPr>
              <a:t>Honda requests</a:t>
            </a:r>
          </a:p>
          <a:p>
            <a:pPr marL="1066800" lvl="2" indent="-342900" algn="l">
              <a:buFont typeface="Arial" pitchFamily="34" charset="0"/>
              <a:buChar char="•"/>
            </a:pPr>
            <a:r>
              <a:rPr lang="en-US" altLang="ja-JP" sz="1400">
                <a:latin typeface="Meiryo UI" panose="020B0604030504040204" pitchFamily="50" charset="-128"/>
                <a:ea typeface="Meiryo UI" panose="020B0604030504040204" pitchFamily="50" charset="-128"/>
                <a:cs typeface="Arial" pitchFamily="34" charset="0"/>
              </a:rPr>
              <a:t>When prototype vehicle is assembled or starting bench test in Honda etc.,  Honda requests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for on-site support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engineer  will stay in Honda) </a:t>
            </a:r>
          </a:p>
          <a:p>
            <a:pPr marL="1066800" lvl="2" indent="-342900" algn="l">
              <a:buFont typeface="Arial" pitchFamily="34" charset="0"/>
              <a:buChar char="•"/>
            </a:pPr>
            <a:r>
              <a:rPr lang="en-US" altLang="ja-JP" sz="1400">
                <a:latin typeface="Meiryo UI" panose="020B0604030504040204" pitchFamily="50" charset="-128"/>
                <a:ea typeface="Meiryo UI" panose="020B0604030504040204" pitchFamily="50" charset="-128"/>
                <a:cs typeface="Arial" pitchFamily="34" charset="0"/>
              </a:rPr>
              <a:t>Honda will show this type of on-site support in KOM documents </a:t>
            </a:r>
          </a:p>
          <a:p>
            <a:pPr marL="609600" lvl="1" indent="-342900" algn="l">
              <a:buAutoNum type="arabicParenR" startAt="2"/>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responsibility</a:t>
            </a:r>
          </a:p>
          <a:p>
            <a:pPr marL="1066800" lvl="2" indent="-342900" algn="l">
              <a:buFont typeface="Arial" pitchFamily="34" charset="0"/>
              <a:buChar char="•"/>
            </a:pPr>
            <a:r>
              <a:rPr lang="en-US" altLang="ja-JP" sz="1400">
                <a:latin typeface="Meiryo UI" panose="020B0604030504040204" pitchFamily="50" charset="-128"/>
                <a:ea typeface="Meiryo UI" panose="020B0604030504040204" pitchFamily="50" charset="-128"/>
                <a:cs typeface="Arial" pitchFamily="34" charset="0"/>
              </a:rPr>
              <a:t>When official data release or PVER release, it will work well in Vehicle or Bench dyno or HILs. It is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responsibility especially before milestone event in Honda and to confirm it by sending engineer to Honda is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own roles.</a:t>
            </a:r>
          </a:p>
          <a:p>
            <a:pPr marL="1066800" lvl="2" indent="-342900" algn="l">
              <a:buFont typeface="Arial" pitchFamily="34" charset="0"/>
              <a:buChar cha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will show it in SOW, if necessary.</a:t>
            </a:r>
            <a:endParaRPr lang="ja-JP" altLang="en-US" sz="1400">
              <a:latin typeface="Meiryo UI" panose="020B0604030504040204" pitchFamily="50" charset="-128"/>
              <a:ea typeface="Meiryo UI" panose="020B0604030504040204" pitchFamily="50" charset="-128"/>
              <a:cs typeface="Arial" pitchFamily="34" charset="0"/>
            </a:endParaRPr>
          </a:p>
        </p:txBody>
      </p:sp>
      <p:cxnSp>
        <p:nvCxnSpPr>
          <p:cNvPr id="300" name="直線矢印コネクタ 299"/>
          <p:cNvCxnSpPr/>
          <p:nvPr/>
        </p:nvCxnSpPr>
        <p:spPr bwMode="auto">
          <a:xfrm>
            <a:off x="3310381" y="2307432"/>
            <a:ext cx="260968" cy="0"/>
          </a:xfrm>
          <a:prstGeom prst="straightConnector1">
            <a:avLst/>
          </a:prstGeom>
          <a:solidFill>
            <a:schemeClr val="accent1"/>
          </a:solidFill>
          <a:ln w="9525" cap="flat" cmpd="sng" algn="ctr">
            <a:solidFill>
              <a:srgbClr val="0070C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線矢印コネクタ 301"/>
          <p:cNvCxnSpPr/>
          <p:nvPr/>
        </p:nvCxnSpPr>
        <p:spPr bwMode="auto">
          <a:xfrm>
            <a:off x="6197609" y="2323151"/>
            <a:ext cx="260968" cy="0"/>
          </a:xfrm>
          <a:prstGeom prst="straightConnector1">
            <a:avLst/>
          </a:prstGeom>
          <a:solidFill>
            <a:schemeClr val="accent1"/>
          </a:solidFill>
          <a:ln w="9525" cap="flat" cmpd="sng" algn="ctr">
            <a:solidFill>
              <a:srgbClr val="0070C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3" name="テキスト ボックス 302"/>
          <p:cNvSpPr txBox="1"/>
          <p:nvPr/>
        </p:nvSpPr>
        <p:spPr>
          <a:xfrm>
            <a:off x="6004459" y="2356541"/>
            <a:ext cx="739696" cy="461665"/>
          </a:xfrm>
          <a:prstGeom prst="rect">
            <a:avLst/>
          </a:prstGeom>
          <a:noFill/>
        </p:spPr>
        <p:txBody>
          <a:bodyPr wrap="square" rtlCol="0">
            <a:spAutoFit/>
          </a:bodyPr>
          <a:lstStyle/>
          <a:p>
            <a:r>
              <a:rPr kumimoji="1" lang="en-US" altLang="ja-JP" sz="1200">
                <a:latin typeface="Meiryo UI" panose="020B0604030504040204" pitchFamily="50" charset="-128"/>
                <a:ea typeface="Meiryo UI" panose="020B0604030504040204" pitchFamily="50" charset="-128"/>
              </a:rPr>
              <a:t>Start Up</a:t>
            </a:r>
            <a:endParaRPr kumimoji="1" lang="ja-JP" altLang="en-US" sz="1200">
              <a:latin typeface="Meiryo UI" panose="020B0604030504040204" pitchFamily="50" charset="-128"/>
              <a:ea typeface="Meiryo UI" panose="020B0604030504040204" pitchFamily="50" charset="-128"/>
            </a:endParaRPr>
          </a:p>
        </p:txBody>
      </p:sp>
      <p:sp>
        <p:nvSpPr>
          <p:cNvPr id="43" name="テキスト ボックス 42"/>
          <p:cNvSpPr txBox="1"/>
          <p:nvPr/>
        </p:nvSpPr>
        <p:spPr>
          <a:xfrm>
            <a:off x="3094063" y="2312906"/>
            <a:ext cx="739696" cy="461665"/>
          </a:xfrm>
          <a:prstGeom prst="rect">
            <a:avLst/>
          </a:prstGeom>
          <a:noFill/>
        </p:spPr>
        <p:txBody>
          <a:bodyPr wrap="square" rtlCol="0">
            <a:spAutoFit/>
          </a:bodyPr>
          <a:lstStyle/>
          <a:p>
            <a:r>
              <a:rPr kumimoji="1" lang="en-US" altLang="ja-JP" sz="1200">
                <a:latin typeface="Meiryo UI" panose="020B0604030504040204" pitchFamily="50" charset="-128"/>
                <a:ea typeface="Meiryo UI" panose="020B0604030504040204" pitchFamily="50" charset="-128"/>
              </a:rPr>
              <a:t>Start Up</a:t>
            </a:r>
            <a:endParaRPr kumimoji="1" lang="ja-JP" altLang="en-US" sz="1200">
              <a:latin typeface="Meiryo UI" panose="020B0604030504040204" pitchFamily="50" charset="-128"/>
              <a:ea typeface="Meiryo UI" panose="020B0604030504040204" pitchFamily="50" charset="-128"/>
            </a:endParaRPr>
          </a:p>
        </p:txBody>
      </p:sp>
      <p:sp>
        <p:nvSpPr>
          <p:cNvPr id="44" name="Freeform 274"/>
          <p:cNvSpPr>
            <a:spLocks/>
          </p:cNvSpPr>
          <p:nvPr/>
        </p:nvSpPr>
        <p:spPr bwMode="auto">
          <a:xfrm>
            <a:off x="3571349" y="2066019"/>
            <a:ext cx="121915" cy="241413"/>
          </a:xfrm>
          <a:custGeom>
            <a:avLst/>
            <a:gdLst>
              <a:gd name="T0" fmla="*/ 2147483647 w 117"/>
              <a:gd name="T1" fmla="*/ 2147483647 h 89"/>
              <a:gd name="T2" fmla="*/ 2147483647 w 117"/>
              <a:gd name="T3" fmla="*/ 0 h 89"/>
              <a:gd name="T4" fmla="*/ 2147483647 w 117"/>
              <a:gd name="T5" fmla="*/ 0 h 89"/>
              <a:gd name="T6" fmla="*/ 2147483647 w 117"/>
              <a:gd name="T7" fmla="*/ 2147483647 h 89"/>
              <a:gd name="T8" fmla="*/ 2147483647 w 117"/>
              <a:gd name="T9" fmla="*/ 2147483647 h 89"/>
              <a:gd name="T10" fmla="*/ 0 w 117"/>
              <a:gd name="T11" fmla="*/ 2147483647 h 89"/>
              <a:gd name="T12" fmla="*/ 2147483647 w 117"/>
              <a:gd name="T13" fmla="*/ 2147483647 h 89"/>
              <a:gd name="T14" fmla="*/ 0 60000 65536"/>
              <a:gd name="T15" fmla="*/ 0 60000 65536"/>
              <a:gd name="T16" fmla="*/ 0 60000 65536"/>
              <a:gd name="T17" fmla="*/ 0 60000 65536"/>
              <a:gd name="T18" fmla="*/ 0 60000 65536"/>
              <a:gd name="T19" fmla="*/ 0 60000 65536"/>
              <a:gd name="T20" fmla="*/ 0 60000 65536"/>
              <a:gd name="connsiteX0" fmla="*/ 10000 w 10000"/>
              <a:gd name="connsiteY0" fmla="*/ 10000 h 10000"/>
              <a:gd name="connsiteX1" fmla="*/ 9915 w 10000"/>
              <a:gd name="connsiteY1" fmla="*/ 0 h 10000"/>
              <a:gd name="connsiteX2" fmla="*/ 3419 w 10000"/>
              <a:gd name="connsiteY2" fmla="*/ 0 h 10000"/>
              <a:gd name="connsiteX3" fmla="*/ 598 w 10000"/>
              <a:gd name="connsiteY3" fmla="*/ 4382 h 10000"/>
              <a:gd name="connsiteX4" fmla="*/ 0 w 10000"/>
              <a:gd name="connsiteY4" fmla="*/ 9888 h 10000"/>
              <a:gd name="connsiteX5" fmla="*/ 9658 w 10000"/>
              <a:gd name="connsiteY5" fmla="*/ 9888 h 10000"/>
              <a:gd name="connsiteX0" fmla="*/ 10000 w 10000"/>
              <a:gd name="connsiteY0" fmla="*/ 10000 h 10000"/>
              <a:gd name="connsiteX1" fmla="*/ 9915 w 10000"/>
              <a:gd name="connsiteY1" fmla="*/ 0 h 10000"/>
              <a:gd name="connsiteX2" fmla="*/ 3419 w 10000"/>
              <a:gd name="connsiteY2" fmla="*/ 0 h 10000"/>
              <a:gd name="connsiteX3" fmla="*/ 0 w 10000"/>
              <a:gd name="connsiteY3" fmla="*/ 9888 h 10000"/>
              <a:gd name="connsiteX4" fmla="*/ 9658 w 10000"/>
              <a:gd name="connsiteY4" fmla="*/ 9888 h 10000"/>
              <a:gd name="connsiteX0" fmla="*/ 10000 w 10044"/>
              <a:gd name="connsiteY0" fmla="*/ 10000 h 10000"/>
              <a:gd name="connsiteX1" fmla="*/ 10039 w 10044"/>
              <a:gd name="connsiteY1" fmla="*/ 137 h 10000"/>
              <a:gd name="connsiteX2" fmla="*/ 3419 w 10044"/>
              <a:gd name="connsiteY2" fmla="*/ 0 h 10000"/>
              <a:gd name="connsiteX3" fmla="*/ 0 w 10044"/>
              <a:gd name="connsiteY3" fmla="*/ 9888 h 10000"/>
              <a:gd name="connsiteX4" fmla="*/ 9658 w 10044"/>
              <a:gd name="connsiteY4" fmla="*/ 988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44" h="10000">
                <a:moveTo>
                  <a:pt x="10000" y="10000"/>
                </a:moveTo>
                <a:cubicBezTo>
                  <a:pt x="9972" y="6667"/>
                  <a:pt x="10067" y="3470"/>
                  <a:pt x="10039" y="137"/>
                </a:cubicBezTo>
                <a:lnTo>
                  <a:pt x="3419" y="0"/>
                </a:lnTo>
                <a:lnTo>
                  <a:pt x="0" y="9888"/>
                </a:lnTo>
                <a:lnTo>
                  <a:pt x="9658" y="9888"/>
                </a:lnTo>
              </a:path>
            </a:pathLst>
          </a:custGeom>
          <a:solidFill>
            <a:srgbClr val="FF9966"/>
          </a:solidFill>
          <a:ln>
            <a:noFill/>
          </a:ln>
          <a:effectLst/>
        </p:spPr>
        <p:txBody>
          <a:bodyPr wrap="none" lIns="0" tIns="0" rIns="0" bIns="0" anchor="ctr"/>
          <a:lstStyle/>
          <a:p>
            <a:pPr>
              <a:defRPr/>
            </a:pPr>
            <a:endParaRPr kumimoji="0" lang="ja-JP" altLang="en-US" sz="2000" kern="0">
              <a:solidFill>
                <a:srgbClr val="000000"/>
              </a:solidFill>
              <a:latin typeface="Meiryo UI" pitchFamily="50" charset="-128"/>
              <a:ea typeface="Meiryo UI" pitchFamily="50" charset="-128"/>
              <a:cs typeface="Meiryo UI" pitchFamily="50" charset="-128"/>
            </a:endParaRPr>
          </a:p>
        </p:txBody>
      </p:sp>
      <p:sp>
        <p:nvSpPr>
          <p:cNvPr id="45" name="テキスト ボックス 404"/>
          <p:cNvSpPr txBox="1">
            <a:spLocks noChangeArrowheads="1"/>
          </p:cNvSpPr>
          <p:nvPr/>
        </p:nvSpPr>
        <p:spPr bwMode="auto">
          <a:xfrm>
            <a:off x="3548161" y="2103171"/>
            <a:ext cx="24686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900">
                <a:solidFill>
                  <a:schemeClr val="tx1"/>
                </a:solidFill>
                <a:latin typeface="Times New Roman" pitchFamily="18" charset="0"/>
                <a:ea typeface="ＭＳ Ｐゴシック" charset="-128"/>
              </a:defRPr>
            </a:lvl1pPr>
            <a:lvl2pPr marL="742950" indent="-285750">
              <a:defRPr kumimoji="1" sz="900">
                <a:solidFill>
                  <a:schemeClr val="tx1"/>
                </a:solidFill>
                <a:latin typeface="Times New Roman" pitchFamily="18" charset="0"/>
                <a:ea typeface="ＭＳ Ｐゴシック" charset="-128"/>
              </a:defRPr>
            </a:lvl2pPr>
            <a:lvl3pPr marL="1143000" indent="-228600">
              <a:defRPr kumimoji="1" sz="900">
                <a:solidFill>
                  <a:schemeClr val="tx1"/>
                </a:solidFill>
                <a:latin typeface="Times New Roman" pitchFamily="18" charset="0"/>
                <a:ea typeface="ＭＳ Ｐゴシック" charset="-128"/>
              </a:defRPr>
            </a:lvl3pPr>
            <a:lvl4pPr marL="1600200" indent="-228600">
              <a:defRPr kumimoji="1" sz="900">
                <a:solidFill>
                  <a:schemeClr val="tx1"/>
                </a:solidFill>
                <a:latin typeface="Times New Roman" pitchFamily="18" charset="0"/>
                <a:ea typeface="ＭＳ Ｐゴシック" charset="-128"/>
              </a:defRPr>
            </a:lvl4pPr>
            <a:lvl5pPr marL="2057400" indent="-228600">
              <a:defRPr kumimoji="1" sz="900">
                <a:solidFill>
                  <a:schemeClr val="tx1"/>
                </a:solidFill>
                <a:latin typeface="Times New Roman" pitchFamily="18" charset="0"/>
                <a:ea typeface="ＭＳ Ｐゴシック" charset="-128"/>
              </a:defRPr>
            </a:lvl5pPr>
            <a:lvl6pPr marL="25146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6pPr>
            <a:lvl7pPr marL="29718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7pPr>
            <a:lvl8pPr marL="34290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8pPr>
            <a:lvl9pPr marL="3886200" indent="-228600" eaLnBrk="0" fontAlgn="base" hangingPunct="0">
              <a:spcBef>
                <a:spcPct val="50000"/>
              </a:spcBef>
              <a:spcAft>
                <a:spcPct val="0"/>
              </a:spcAft>
              <a:defRPr kumimoji="1" sz="900">
                <a:solidFill>
                  <a:schemeClr val="tx1"/>
                </a:solidFill>
                <a:latin typeface="Times New Roman" pitchFamily="18" charset="0"/>
                <a:ea typeface="ＭＳ Ｐゴシック" charset="-128"/>
              </a:defRPr>
            </a:lvl9pPr>
          </a:lstStyle>
          <a:p>
            <a:r>
              <a:rPr lang="en-US" altLang="ja-JP" sz="1000">
                <a:solidFill>
                  <a:srgbClr val="000000"/>
                </a:solidFill>
                <a:latin typeface="Meiryo UI" pitchFamily="50" charset="-128"/>
                <a:ea typeface="Meiryo UI" pitchFamily="50" charset="-128"/>
                <a:cs typeface="Meiryo UI" pitchFamily="50" charset="-128"/>
              </a:rPr>
              <a:t>0X2</a:t>
            </a:r>
          </a:p>
        </p:txBody>
      </p:sp>
      <p:sp>
        <p:nvSpPr>
          <p:cNvPr id="38" name="テキスト ボックス 37"/>
          <p:cNvSpPr txBox="1"/>
          <p:nvPr/>
        </p:nvSpPr>
        <p:spPr>
          <a:xfrm rot="21087493">
            <a:off x="685597" y="3056909"/>
            <a:ext cx="7817469" cy="830997"/>
          </a:xfrm>
          <a:prstGeom prst="rect">
            <a:avLst/>
          </a:prstGeom>
          <a:solidFill>
            <a:srgbClr val="00FF00"/>
          </a:solidFill>
        </p:spPr>
        <p:txBody>
          <a:bodyPr wrap="square" rtlCol="0">
            <a:spAutoFit/>
          </a:bodyPr>
          <a:lstStyle/>
          <a:p>
            <a:r>
              <a:rPr kumimoji="1" lang="en-US" altLang="ja-JP">
                <a:latin typeface="+mn-ea"/>
                <a:ea typeface="+mn-ea"/>
              </a:rPr>
              <a:t>Not Fixed</a:t>
            </a:r>
          </a:p>
          <a:p>
            <a:r>
              <a:rPr lang="en-US" altLang="ja-JP">
                <a:latin typeface="+mn-ea"/>
                <a:ea typeface="+mn-ea"/>
              </a:rPr>
              <a:t>0X support and cert support needed</a:t>
            </a:r>
            <a:endParaRPr kumimoji="1" lang="ja-JP" altLang="en-US">
              <a:latin typeface="+mn-ea"/>
              <a:ea typeface="+mn-ea"/>
            </a:endParaRPr>
          </a:p>
        </p:txBody>
      </p:sp>
    </p:spTree>
    <p:extLst>
      <p:ext uri="{BB962C8B-B14F-4D97-AF65-F5344CB8AC3E}">
        <p14:creationId xmlns:p14="http://schemas.microsoft.com/office/powerpoint/2010/main" val="229491412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7634235E-FA7C-E00C-58BD-CFE09716CB1E}"/>
              </a:ext>
            </a:extLst>
          </p:cNvPr>
          <p:cNvGraphicFramePr>
            <a:graphicFrameLocks noGrp="1"/>
          </p:cNvGraphicFramePr>
          <p:nvPr/>
        </p:nvGraphicFramePr>
        <p:xfrm>
          <a:off x="117565" y="1018466"/>
          <a:ext cx="8934993" cy="4656383"/>
        </p:xfrm>
        <a:graphic>
          <a:graphicData uri="http://schemas.openxmlformats.org/drawingml/2006/table">
            <a:tbl>
              <a:tblPr firstRow="1" bandRow="1">
                <a:tableStyleId>{5C22544A-7EE6-4342-B048-85BDC9FD1C3A}</a:tableStyleId>
              </a:tblPr>
              <a:tblGrid>
                <a:gridCol w="3194253">
                  <a:extLst>
                    <a:ext uri="{9D8B030D-6E8A-4147-A177-3AD203B41FA5}">
                      <a16:colId xmlns:a16="http://schemas.microsoft.com/office/drawing/2014/main" val="123933921"/>
                    </a:ext>
                  </a:extLst>
                </a:gridCol>
                <a:gridCol w="2112270">
                  <a:extLst>
                    <a:ext uri="{9D8B030D-6E8A-4147-A177-3AD203B41FA5}">
                      <a16:colId xmlns:a16="http://schemas.microsoft.com/office/drawing/2014/main" val="2401591218"/>
                    </a:ext>
                  </a:extLst>
                </a:gridCol>
                <a:gridCol w="1685791">
                  <a:extLst>
                    <a:ext uri="{9D8B030D-6E8A-4147-A177-3AD203B41FA5}">
                      <a16:colId xmlns:a16="http://schemas.microsoft.com/office/drawing/2014/main" val="2186150059"/>
                    </a:ext>
                  </a:extLst>
                </a:gridCol>
                <a:gridCol w="696569">
                  <a:extLst>
                    <a:ext uri="{9D8B030D-6E8A-4147-A177-3AD203B41FA5}">
                      <a16:colId xmlns:a16="http://schemas.microsoft.com/office/drawing/2014/main" val="846571682"/>
                    </a:ext>
                  </a:extLst>
                </a:gridCol>
                <a:gridCol w="717580">
                  <a:extLst>
                    <a:ext uri="{9D8B030D-6E8A-4147-A177-3AD203B41FA5}">
                      <a16:colId xmlns:a16="http://schemas.microsoft.com/office/drawing/2014/main" val="3173192542"/>
                    </a:ext>
                  </a:extLst>
                </a:gridCol>
                <a:gridCol w="528530">
                  <a:extLst>
                    <a:ext uri="{9D8B030D-6E8A-4147-A177-3AD203B41FA5}">
                      <a16:colId xmlns:a16="http://schemas.microsoft.com/office/drawing/2014/main" val="2884440178"/>
                    </a:ext>
                  </a:extLst>
                </a:gridCol>
              </a:tblGrid>
              <a:tr h="297728">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tx1"/>
                          </a:solidFill>
                          <a:latin typeface="Meiryo UI" panose="020B0604030504040204" pitchFamily="50" charset="-128"/>
                          <a:ea typeface="Meiryo UI" panose="020B0604030504040204" pitchFamily="50" charset="-128"/>
                          <a:cs typeface="Arial" panose="020B0604020202020204" pitchFamily="34" charset="0"/>
                        </a:rPr>
                        <a:t>Necessary information</a:t>
                      </a:r>
                    </a:p>
                    <a:p>
                      <a:pPr algn="ctr"/>
                      <a:r>
                        <a:rPr kumimoji="1" lang="ja-JP" altLang="en-US" sz="1400" b="1">
                          <a:solidFill>
                            <a:schemeClr val="tx1"/>
                          </a:solidFill>
                          <a:latin typeface="Meiryo UI" panose="020B0604030504040204" pitchFamily="50" charset="-128"/>
                          <a:ea typeface="Meiryo UI" panose="020B0604030504040204" pitchFamily="50" charset="-128"/>
                          <a:cs typeface="Arial" panose="020B0604020202020204" pitchFamily="34" charset="0"/>
                        </a:rPr>
                        <a:t>必要な情報</a:t>
                      </a: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2">
                  <a:txBody>
                    <a:bodyPr/>
                    <a:lstStyle/>
                    <a:p>
                      <a:pPr algn="ctr"/>
                      <a:r>
                        <a:rPr kumimoji="1" lang="en-US" altLang="ja-JP" sz="1400" b="1">
                          <a:solidFill>
                            <a:schemeClr val="tx1"/>
                          </a:solidFill>
                          <a:latin typeface="Meiryo UI" panose="020B0604030504040204" pitchFamily="50" charset="-128"/>
                          <a:ea typeface="Meiryo UI" panose="020B0604030504040204" pitchFamily="50" charset="-128"/>
                          <a:cs typeface="Arial" panose="020B0604020202020204" pitchFamily="34" charset="0"/>
                        </a:rPr>
                        <a:t>Reported  by </a:t>
                      </a:r>
                      <a:endParaRPr kumimoji="1" lang="ja-JP" altLang="en-US" sz="1400" b="1">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2">
                  <a:txBody>
                    <a:bodyPr/>
                    <a:lstStyle/>
                    <a:p>
                      <a:pPr algn="ctr"/>
                      <a:r>
                        <a:rPr kumimoji="1" lang="en-US" altLang="ja-JP" sz="1400" b="1">
                          <a:solidFill>
                            <a:schemeClr val="tx1"/>
                          </a:solidFill>
                          <a:latin typeface="Meiryo UI" panose="020B0604030504040204" pitchFamily="50" charset="-128"/>
                          <a:ea typeface="Meiryo UI" panose="020B0604030504040204" pitchFamily="50" charset="-128"/>
                          <a:cs typeface="Arial" panose="020B0604020202020204" pitchFamily="34" charset="0"/>
                        </a:rPr>
                        <a:t>Reporting</a:t>
                      </a:r>
                      <a:r>
                        <a:rPr kumimoji="1" lang="en-US" altLang="ja-JP" sz="1400" b="1" baseline="0">
                          <a:solidFill>
                            <a:schemeClr val="tx1"/>
                          </a:solidFill>
                          <a:latin typeface="Meiryo UI" panose="020B0604030504040204" pitchFamily="50" charset="-128"/>
                          <a:ea typeface="Meiryo UI" panose="020B0604030504040204" pitchFamily="50" charset="-128"/>
                          <a:cs typeface="Arial" panose="020B0604020202020204" pitchFamily="34" charset="0"/>
                        </a:rPr>
                        <a:t> timing</a:t>
                      </a:r>
                      <a:endParaRPr kumimoji="1" lang="ja-JP" altLang="en-US" sz="1400" b="1">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gridSpan="3">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Will be</a:t>
                      </a:r>
                      <a:r>
                        <a:rPr kumimoji="1" lang="en-US" altLang="ja-JP" sz="1100" baseline="0">
                          <a:solidFill>
                            <a:schemeClr val="tx1"/>
                          </a:solidFill>
                          <a:latin typeface="Meiryo UI" panose="020B0604030504040204" pitchFamily="50" charset="-128"/>
                          <a:cs typeface="Arial" panose="020B0604020202020204" pitchFamily="34" charset="0"/>
                        </a:rPr>
                        <a:t> used for</a:t>
                      </a:r>
                      <a:endParaRPr kumimoji="1" lang="ja-JP" altLang="en-US" sz="1100">
                        <a:solidFill>
                          <a:schemeClr val="tx1"/>
                        </a:solidFill>
                        <a:latin typeface="Meiryo UI" panose="020B060403050404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207430733"/>
                  </a:ext>
                </a:extLst>
              </a:tr>
              <a:tr h="297728">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050">
                          <a:solidFill>
                            <a:schemeClr val="tx1"/>
                          </a:solidFill>
                          <a:latin typeface="Meiryo UI" panose="020B0604030504040204" pitchFamily="50" charset="-128"/>
                          <a:cs typeface="Arial" panose="020B0604020202020204" pitchFamily="34" charset="0"/>
                        </a:rPr>
                        <a:t>Service</a:t>
                      </a:r>
                      <a:endParaRPr kumimoji="1" lang="ja-JP" altLang="en-US" sz="1050">
                        <a:solidFill>
                          <a:schemeClr val="tx1"/>
                        </a:solidFill>
                        <a:latin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050">
                          <a:solidFill>
                            <a:schemeClr val="tx1"/>
                          </a:solidFill>
                          <a:latin typeface="Meiryo UI" panose="020B0604030504040204" pitchFamily="50" charset="-128"/>
                          <a:cs typeface="Arial" panose="020B0604020202020204" pitchFamily="34" charset="0"/>
                        </a:rPr>
                        <a:t>Factory</a:t>
                      </a:r>
                      <a:endParaRPr kumimoji="1" lang="ja-JP" altLang="en-US" sz="1050">
                        <a:solidFill>
                          <a:schemeClr val="tx1"/>
                        </a:solidFill>
                        <a:latin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050">
                          <a:solidFill>
                            <a:schemeClr val="tx1"/>
                          </a:solidFill>
                          <a:latin typeface="Meiryo UI" panose="020B0604030504040204" pitchFamily="50" charset="-128"/>
                          <a:cs typeface="Arial" panose="020B0604020202020204" pitchFamily="34" charset="0"/>
                        </a:rPr>
                        <a:t>Cert</a:t>
                      </a:r>
                      <a:endParaRPr kumimoji="1" lang="ja-JP" altLang="en-US" sz="1050">
                        <a:solidFill>
                          <a:schemeClr val="tx1"/>
                        </a:solidFill>
                        <a:latin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5150334"/>
                  </a:ext>
                </a:extLst>
              </a:tr>
              <a:tr h="501322">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OBD2 </a:t>
                      </a:r>
                      <a:r>
                        <a:rPr lang="ja-JP" altLang="en-US"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モニターチェックリスト</a:t>
                      </a:r>
                    </a:p>
                    <a:p>
                      <a:pPr algn="l" fontAlgn="ct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OBD2</a:t>
                      </a:r>
                      <a:r>
                        <a:rPr lang="ja-JP" altLang="en-US"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monitor</a:t>
                      </a:r>
                      <a:r>
                        <a:rPr lang="ja-JP" altLang="en-US"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check</a:t>
                      </a:r>
                      <a:r>
                        <a:rPr lang="ja-JP" altLang="en-US"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chemeClr val="tx1"/>
                          </a:solidFill>
                          <a:effectLst/>
                          <a:latin typeface="Meiryo UI" panose="020B0604030504040204" pitchFamily="50" charset="-128"/>
                          <a:ea typeface="Meiryo UI" panose="020B0604030504040204" pitchFamily="50" charset="-128"/>
                          <a:cs typeface="Arial" panose="020B0604020202020204" pitchFamily="34" charset="0"/>
                        </a:rPr>
                        <a:t>list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 to “OBD-2</a:t>
                      </a:r>
                      <a:r>
                        <a:rPr lang="en-US" sz="12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information” file</a:t>
                      </a:r>
                      <a:endPar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latin typeface="Meiryo UI" panose="020B0604030504040204" pitchFamily="50" charset="-128"/>
                          <a:ea typeface="Meiryo UI" panose="020B0604030504040204" pitchFamily="50" charset="-128"/>
                          <a:cs typeface="Arial" panose="020B0604020202020204" pitchFamily="34" charset="0"/>
                        </a:rPr>
                        <a:t>MP1</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31007449"/>
                  </a:ext>
                </a:extLst>
              </a:tr>
              <a:tr h="431268">
                <a:tc>
                  <a:txBody>
                    <a:bodyPr/>
                    <a:lstStyle/>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Bit </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定義</a:t>
                      </a:r>
                      <a:endPar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l" fontAlgn="ct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Bit definition</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a:t>
                      </a:r>
                      <a:r>
                        <a:rPr lang="en-US" altLang="ja-JP" sz="12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to “Bit definition” file</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latin typeface="Meiryo UI" panose="020B0604030504040204" pitchFamily="50" charset="-128"/>
                          <a:ea typeface="Meiryo UI" panose="020B0604030504040204" pitchFamily="50" charset="-128"/>
                          <a:cs typeface="Arial" panose="020B0604020202020204" pitchFamily="34" charset="0"/>
                        </a:rPr>
                        <a:t>MP1</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41454021"/>
                  </a:ext>
                </a:extLst>
              </a:tr>
              <a:tr h="501322">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cs typeface="Arial" panose="020B0604020202020204" pitchFamily="34" charset="0"/>
                        </a:rPr>
                        <a:t>Service$06</a:t>
                      </a:r>
                      <a:endParaRPr kumimoji="1" lang="ja-JP" altLang="en-US" sz="1200">
                        <a:latin typeface="Meiryo UI" panose="020B0604030504040204" pitchFamily="50" charset="-128"/>
                        <a:ea typeface="Meiryo UI" panose="020B0604030504040204" pitchFamily="50" charset="-128"/>
                        <a:cs typeface="Arial" panose="020B0604020202020204" pitchFamily="34" charset="0"/>
                      </a:endParaRPr>
                    </a:p>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$06</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情報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r>
                        <a:rPr 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TID/MID/GST LIST)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a:t>
                      </a:r>
                      <a:r>
                        <a:rPr lang="en-US" altLang="ja-JP" sz="12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to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“Service$06</a:t>
                      </a: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a:t>
                      </a: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TID,MID,GST LIST”</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latin typeface="Meiryo UI" panose="020B0604030504040204" pitchFamily="50" charset="-128"/>
                          <a:ea typeface="Meiryo UI" panose="020B0604030504040204" pitchFamily="50" charset="-128"/>
                          <a:cs typeface="Arial" panose="020B0604020202020204" pitchFamily="34" charset="0"/>
                        </a:rPr>
                        <a:t>MP1</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041009534"/>
                  </a:ext>
                </a:extLst>
              </a:tr>
              <a:tr h="525403">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検知サイクル情報</a:t>
                      </a:r>
                      <a:endParaRPr kumimoji="1" lang="en-US" altLang="ja-JP" sz="1200">
                        <a:latin typeface="Meiryo UI" panose="020B0604030504040204" pitchFamily="50" charset="-128"/>
                        <a:ea typeface="Meiryo UI" panose="020B0604030504040204" pitchFamily="50" charset="-128"/>
                        <a:cs typeface="Arial" panose="020B0604020202020204" pitchFamily="34" charset="0"/>
                      </a:endParaRPr>
                    </a:p>
                    <a:p>
                      <a:pPr marL="0" marR="0" indent="0" algn="l" defTabSz="914400" rtl="0" eaLnBrk="1" fontAlgn="ctr" latinLnBrk="0" hangingPunct="1">
                        <a:lnSpc>
                          <a:spcPct val="100000"/>
                        </a:lnSpc>
                        <a:spcBef>
                          <a:spcPts val="0"/>
                        </a:spcBef>
                        <a:spcAft>
                          <a:spcPts val="0"/>
                        </a:spcAft>
                        <a:buClrTx/>
                        <a:buSzTx/>
                        <a:buFontTx/>
                        <a:buNone/>
                        <a:tabLst/>
                        <a:defRPr/>
                      </a:pPr>
                      <a:r>
                        <a:rPr kumimoji="1" lang="en-US" altLang="ja-JP" sz="1200">
                          <a:latin typeface="Meiryo UI" panose="020B0604030504040204" pitchFamily="50" charset="-128"/>
                          <a:ea typeface="Meiryo UI" panose="020B0604030504040204" pitchFamily="50" charset="-128"/>
                          <a:cs typeface="Arial" panose="020B0604020202020204" pitchFamily="34" charset="0"/>
                        </a:rPr>
                        <a:t>Driving</a:t>
                      </a:r>
                      <a:r>
                        <a:rPr kumimoji="1" lang="en-US" altLang="ja-JP" sz="1200" baseline="0">
                          <a:latin typeface="Meiryo UI" panose="020B0604030504040204" pitchFamily="50" charset="-128"/>
                          <a:ea typeface="Meiryo UI" panose="020B0604030504040204" pitchFamily="50" charset="-128"/>
                          <a:cs typeface="Arial" panose="020B0604020202020204" pitchFamily="34" charset="0"/>
                        </a:rPr>
                        <a:t> cycle for detection</a:t>
                      </a:r>
                      <a:endParaRPr kumimoji="1" lang="ja-JP" altLang="en-US" sz="1200">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Cal spec list</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200">
                          <a:latin typeface="Meiryo UI" panose="020B0604030504040204" pitchFamily="50" charset="-128"/>
                          <a:ea typeface="Meiryo UI" panose="020B0604030504040204" pitchFamily="50" charset="-128"/>
                          <a:cs typeface="Arial" panose="020B0604020202020204" pitchFamily="34" charset="0"/>
                        </a:rPr>
                        <a:t>Each</a:t>
                      </a:r>
                      <a:r>
                        <a:rPr kumimoji="1" lang="en-US" altLang="ja-JP" sz="1200" baseline="0">
                          <a:latin typeface="Meiryo UI" panose="020B0604030504040204" pitchFamily="50" charset="-128"/>
                          <a:ea typeface="Meiryo UI" panose="020B0604030504040204" pitchFamily="50" charset="-128"/>
                          <a:cs typeface="Arial" panose="020B0604020202020204" pitchFamily="34" charset="0"/>
                        </a:rPr>
                        <a:t> Hex release timing</a:t>
                      </a:r>
                      <a:endParaRPr kumimoji="1" lang="ja-JP" altLang="en-US" sz="12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408065121"/>
                  </a:ext>
                </a:extLst>
              </a:tr>
              <a:tr h="525403">
                <a:tc>
                  <a:txBody>
                    <a:bodyPr/>
                    <a:lstStyle/>
                    <a:p>
                      <a:pPr algn="l" fontAlgn="ct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入出力回路情報</a:t>
                      </a:r>
                    </a:p>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Input output circuitry information</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EMS3-1-7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22928178"/>
                  </a:ext>
                </a:extLst>
              </a:tr>
              <a:tr h="525403">
                <a:tc>
                  <a:txBody>
                    <a:bodyPr/>
                    <a:lstStyle/>
                    <a:p>
                      <a:pPr algn="l" fontAlgn="ctr"/>
                      <a:r>
                        <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サービスマニュアルトラシュー原案</a:t>
                      </a:r>
                    </a:p>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service manual troubleshoot draft</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EMS3-1-7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47460515"/>
                  </a:ext>
                </a:extLst>
              </a:tr>
              <a:tr h="525403">
                <a:tc>
                  <a:txBody>
                    <a:bodyPr/>
                    <a:lstStyle/>
                    <a:p>
                      <a:pPr algn="l" fontAlgn="ctr"/>
                      <a:r>
                        <a:rPr lang="fr-FR"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TC Info</a:t>
                      </a:r>
                    </a:p>
                    <a:p>
                      <a:pPr algn="l" fontAlgn="ctr"/>
                      <a:r>
                        <a:rPr lang="fr-FR"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trouble code information</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EMS6-1-7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055891911"/>
                  </a:ext>
                </a:extLst>
              </a:tr>
              <a:tr h="525403">
                <a:tc>
                  <a:txBody>
                    <a:bodyPr/>
                    <a:lstStyle/>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C-Table</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l" fontAlgn="ct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Comparison Table</a:t>
                      </a:r>
                      <a:endParaRPr lang="ja-JP" altLang="en-US"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2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EMS6-1-7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40003550"/>
                  </a:ext>
                </a:extLst>
              </a:tr>
            </a:tbl>
          </a:graphicData>
        </a:graphic>
      </p:graphicFrame>
      <p:sp>
        <p:nvSpPr>
          <p:cNvPr id="87" name="Rectangle 13"/>
          <p:cNvSpPr>
            <a:spLocks noChangeArrowheads="1"/>
          </p:cNvSpPr>
          <p:nvPr/>
        </p:nvSpPr>
        <p:spPr bwMode="auto">
          <a:xfrm>
            <a:off x="34930" y="609604"/>
            <a:ext cx="91090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Necessary</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Information</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for</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Service/Factory/Certification</a:t>
            </a:r>
            <a:endParaRPr kumimoji="1" lang="ja-JP" altLang="en-US" sz="16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8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20. Necessary</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Support (2/5)</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4" name="テキスト ボックス 3">
            <a:extLst>
              <a:ext uri="{FF2B5EF4-FFF2-40B4-BE49-F238E27FC236}">
                <a16:creationId xmlns:a16="http://schemas.microsoft.com/office/drawing/2014/main" id="{C9BD43C5-B0C7-5055-C63C-C56C75573A60}"/>
              </a:ext>
            </a:extLst>
          </p:cNvPr>
          <p:cNvSpPr txBox="1"/>
          <p:nvPr/>
        </p:nvSpPr>
        <p:spPr>
          <a:xfrm>
            <a:off x="9362384" y="44451"/>
            <a:ext cx="1511953" cy="400110"/>
          </a:xfrm>
          <a:prstGeom prst="rect">
            <a:avLst/>
          </a:prstGeom>
          <a:solidFill>
            <a:srgbClr val="FF99FF"/>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20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rPr>
              <a:t>インド</a:t>
            </a:r>
            <a:r>
              <a:rPr kumimoji="1" lang="en-US" altLang="ja-JP" sz="20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rPr>
              <a:t>NP1</a:t>
            </a:r>
            <a:r>
              <a:rPr kumimoji="1" lang="ja-JP" altLang="en-US" sz="20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rPr>
              <a:t>用</a:t>
            </a:r>
          </a:p>
        </p:txBody>
      </p:sp>
      <p:sp>
        <p:nvSpPr>
          <p:cNvPr id="5" name="テキスト ボックス 4">
            <a:extLst>
              <a:ext uri="{FF2B5EF4-FFF2-40B4-BE49-F238E27FC236}">
                <a16:creationId xmlns:a16="http://schemas.microsoft.com/office/drawing/2014/main" id="{944A7F4A-61B5-E25D-16E7-DF7DFB2E945A}"/>
              </a:ext>
            </a:extLst>
          </p:cNvPr>
          <p:cNvSpPr txBox="1"/>
          <p:nvPr/>
        </p:nvSpPr>
        <p:spPr>
          <a:xfrm>
            <a:off x="9248931" y="794270"/>
            <a:ext cx="2031325" cy="1200329"/>
          </a:xfrm>
          <a:prstGeom prst="rect">
            <a:avLst/>
          </a:prstGeom>
          <a:solidFill>
            <a:srgbClr val="FFFF00"/>
          </a:solid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rPr>
              <a:t>EM</a:t>
            </a:r>
            <a:r>
              <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rPr>
              <a:t>担当起票</a:t>
            </a:r>
            <a:endParaRPr kumimoji="1" lang="en-US" altLang="ja-JP"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rPr>
              <a:t>ECU</a:t>
            </a:r>
            <a:r>
              <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rPr>
              <a:t>担当起票</a:t>
            </a:r>
            <a:endParaRPr kumimoji="1" lang="en-US" altLang="ja-JP"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a:solidFill>
                  <a:srgbClr val="000000"/>
                </a:solidFill>
              </a:rPr>
              <a:t>→</a:t>
            </a:r>
            <a:r>
              <a:rPr lang="en-US" altLang="ja-JP">
                <a:solidFill>
                  <a:srgbClr val="000000"/>
                </a:solidFill>
              </a:rPr>
              <a:t>ECU</a:t>
            </a:r>
            <a:r>
              <a:rPr lang="ja-JP" altLang="en-US">
                <a:solidFill>
                  <a:srgbClr val="000000"/>
                </a:solidFill>
              </a:rPr>
              <a:t>を確認</a:t>
            </a:r>
            <a:endParaRPr kumimoji="1" lang="en-US" altLang="ja-JP" sz="2400" b="0" i="0" u="none" strike="noStrike" kern="1200" cap="none" spc="0" normalizeH="0" baseline="0" noProof="0">
              <a:ln>
                <a:noFill/>
              </a:ln>
              <a:solidFill>
                <a:srgbClr val="000000"/>
              </a:solidFill>
              <a:effectLst/>
              <a:uLnTx/>
              <a:uFillTx/>
              <a:latin typeface="Times New Roman" pitchFamily="18" charset="0"/>
              <a:ea typeface="ＭＳ Ｐゴシック" charset="-128"/>
              <a:cs typeface="+mn-cs"/>
            </a:endParaRPr>
          </a:p>
        </p:txBody>
      </p:sp>
      <p:sp>
        <p:nvSpPr>
          <p:cNvPr id="7" name="正方形/長方形 6">
            <a:extLst>
              <a:ext uri="{FF2B5EF4-FFF2-40B4-BE49-F238E27FC236}">
                <a16:creationId xmlns:a16="http://schemas.microsoft.com/office/drawing/2014/main" id="{8CDC0AAC-14E5-15D5-8B51-96452BDCD383}"/>
              </a:ext>
            </a:extLst>
          </p:cNvPr>
          <p:cNvSpPr/>
          <p:nvPr/>
        </p:nvSpPr>
        <p:spPr bwMode="auto">
          <a:xfrm>
            <a:off x="116074" y="2559341"/>
            <a:ext cx="8936486" cy="486486"/>
          </a:xfrm>
          <a:prstGeom prst="rect">
            <a:avLst/>
          </a:prstGeom>
          <a:solidFill>
            <a:schemeClr val="bg1">
              <a:lumMod val="50000"/>
              <a:alpha val="7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2" name="正方形/長方形 1">
            <a:extLst>
              <a:ext uri="{FF2B5EF4-FFF2-40B4-BE49-F238E27FC236}">
                <a16:creationId xmlns:a16="http://schemas.microsoft.com/office/drawing/2014/main" id="{3B2EEB0D-70D4-9616-677D-E10663EBA081}"/>
              </a:ext>
            </a:extLst>
          </p:cNvPr>
          <p:cNvSpPr/>
          <p:nvPr/>
        </p:nvSpPr>
        <p:spPr bwMode="auto">
          <a:xfrm>
            <a:off x="122478" y="1620613"/>
            <a:ext cx="8936486" cy="486486"/>
          </a:xfrm>
          <a:prstGeom prst="rect">
            <a:avLst/>
          </a:prstGeom>
          <a:solidFill>
            <a:schemeClr val="bg1">
              <a:lumMod val="50000"/>
              <a:alpha val="7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3" name="テキスト ボックス 2">
            <a:extLst>
              <a:ext uri="{FF2B5EF4-FFF2-40B4-BE49-F238E27FC236}">
                <a16:creationId xmlns:a16="http://schemas.microsoft.com/office/drawing/2014/main" id="{5D9324C8-EB0F-73A8-95E5-7BCD9AA309B3}"/>
              </a:ext>
            </a:extLst>
          </p:cNvPr>
          <p:cNvSpPr txBox="1"/>
          <p:nvPr/>
        </p:nvSpPr>
        <p:spPr>
          <a:xfrm rot="21087493">
            <a:off x="10268837" y="2571752"/>
            <a:ext cx="5416868" cy="461665"/>
          </a:xfrm>
          <a:prstGeom prst="rect">
            <a:avLst/>
          </a:prstGeom>
          <a:solidFill>
            <a:srgbClr val="00FF00"/>
          </a:solidFill>
        </p:spPr>
        <p:txBody>
          <a:bodyPr wrap="none" rtlCol="0">
            <a:spAutoFit/>
          </a:bodyPr>
          <a:lstStyle/>
          <a:p>
            <a:r>
              <a:rPr kumimoji="1" lang="ja-JP" altLang="en-US">
                <a:latin typeface="+mn-ea"/>
                <a:ea typeface="+mn-ea"/>
              </a:rPr>
              <a:t>機種ごとにアップデート・選択が必要</a:t>
            </a:r>
            <a:endParaRPr kumimoji="1" lang="en-US" altLang="ja-JP">
              <a:latin typeface="+mn-ea"/>
              <a:ea typeface="+mn-ea"/>
            </a:endParaRPr>
          </a:p>
        </p:txBody>
      </p:sp>
    </p:spTree>
    <p:extLst>
      <p:ext uri="{BB962C8B-B14F-4D97-AF65-F5344CB8AC3E}">
        <p14:creationId xmlns:p14="http://schemas.microsoft.com/office/powerpoint/2010/main" val="373150639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7" name="Rectangle 13"/>
          <p:cNvSpPr>
            <a:spLocks noChangeArrowheads="1"/>
          </p:cNvSpPr>
          <p:nvPr/>
        </p:nvSpPr>
        <p:spPr bwMode="auto">
          <a:xfrm>
            <a:off x="34930" y="609604"/>
            <a:ext cx="91090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Necessary</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Information</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for</a:t>
            </a:r>
            <a:r>
              <a:rPr kumimoji="1" lang="ja-JP" altLang="en-US"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800" b="1" i="0" u="sng"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Service/Factory/Certification</a:t>
            </a:r>
            <a:endParaRPr kumimoji="1" lang="ja-JP" altLang="en-US" sz="16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8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20. Necessary</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Support (3/5)</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graphicFrame>
        <p:nvGraphicFramePr>
          <p:cNvPr id="3" name="表 2"/>
          <p:cNvGraphicFramePr>
            <a:graphicFrameLocks noGrp="1"/>
          </p:cNvGraphicFramePr>
          <p:nvPr/>
        </p:nvGraphicFramePr>
        <p:xfrm>
          <a:off x="169820" y="1018466"/>
          <a:ext cx="8869677" cy="5363418"/>
        </p:xfrm>
        <a:graphic>
          <a:graphicData uri="http://schemas.openxmlformats.org/drawingml/2006/table">
            <a:tbl>
              <a:tblPr firstRow="1" bandRow="1">
                <a:tableStyleId>{5C22544A-7EE6-4342-B048-85BDC9FD1C3A}</a:tableStyleId>
              </a:tblPr>
              <a:tblGrid>
                <a:gridCol w="2807800">
                  <a:extLst>
                    <a:ext uri="{9D8B030D-6E8A-4147-A177-3AD203B41FA5}">
                      <a16:colId xmlns:a16="http://schemas.microsoft.com/office/drawing/2014/main" val="123933921"/>
                    </a:ext>
                  </a:extLst>
                </a:gridCol>
                <a:gridCol w="2492940">
                  <a:extLst>
                    <a:ext uri="{9D8B030D-6E8A-4147-A177-3AD203B41FA5}">
                      <a16:colId xmlns:a16="http://schemas.microsoft.com/office/drawing/2014/main" val="2401591218"/>
                    </a:ext>
                  </a:extLst>
                </a:gridCol>
                <a:gridCol w="1523791">
                  <a:extLst>
                    <a:ext uri="{9D8B030D-6E8A-4147-A177-3AD203B41FA5}">
                      <a16:colId xmlns:a16="http://schemas.microsoft.com/office/drawing/2014/main" val="2186150059"/>
                    </a:ext>
                  </a:extLst>
                </a:gridCol>
                <a:gridCol w="819481">
                  <a:extLst>
                    <a:ext uri="{9D8B030D-6E8A-4147-A177-3AD203B41FA5}">
                      <a16:colId xmlns:a16="http://schemas.microsoft.com/office/drawing/2014/main" val="846571682"/>
                    </a:ext>
                  </a:extLst>
                </a:gridCol>
                <a:gridCol w="705807">
                  <a:extLst>
                    <a:ext uri="{9D8B030D-6E8A-4147-A177-3AD203B41FA5}">
                      <a16:colId xmlns:a16="http://schemas.microsoft.com/office/drawing/2014/main" val="3173192542"/>
                    </a:ext>
                  </a:extLst>
                </a:gridCol>
                <a:gridCol w="519858">
                  <a:extLst>
                    <a:ext uri="{9D8B030D-6E8A-4147-A177-3AD203B41FA5}">
                      <a16:colId xmlns:a16="http://schemas.microsoft.com/office/drawing/2014/main" val="2884440178"/>
                    </a:ext>
                  </a:extLst>
                </a:gridCol>
              </a:tblGrid>
              <a:tr h="0">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Necessary information</a:t>
                      </a:r>
                    </a:p>
                    <a:p>
                      <a:pPr algn="ctr"/>
                      <a:r>
                        <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rPr>
                        <a:t>必要な情報</a:t>
                      </a: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2">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Reported  by </a:t>
                      </a:r>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2">
                  <a:txBody>
                    <a:bodyPr/>
                    <a:lstStyle/>
                    <a:p>
                      <a:pPr algn="ctr"/>
                      <a:r>
                        <a:rPr kumimoji="1" lang="en-US" altLang="ja-JP" sz="1400">
                          <a:solidFill>
                            <a:schemeClr val="tx1"/>
                          </a:solidFill>
                          <a:latin typeface="Meiryo UI" panose="020B0604030504040204" pitchFamily="50" charset="-128"/>
                          <a:ea typeface="Meiryo UI" panose="020B0604030504040204" pitchFamily="50" charset="-128"/>
                          <a:cs typeface="Arial" panose="020B0604020202020204" pitchFamily="34" charset="0"/>
                        </a:rPr>
                        <a:t>Reporting</a:t>
                      </a:r>
                      <a:r>
                        <a:rPr kumimoji="1" lang="en-US" altLang="ja-JP" sz="1400" baseline="0">
                          <a:solidFill>
                            <a:schemeClr val="tx1"/>
                          </a:solidFill>
                          <a:latin typeface="Meiryo UI" panose="020B0604030504040204" pitchFamily="50" charset="-128"/>
                          <a:ea typeface="Meiryo UI" panose="020B0604030504040204" pitchFamily="50" charset="-128"/>
                          <a:cs typeface="Arial" panose="020B0604020202020204" pitchFamily="34" charset="0"/>
                        </a:rPr>
                        <a:t> timing</a:t>
                      </a:r>
                      <a:endParaRPr kumimoji="1" lang="ja-JP" altLang="en-US" sz="1400">
                        <a:solidFill>
                          <a:schemeClr val="tx1"/>
                        </a:solidFill>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gridSpan="3">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Will be</a:t>
                      </a:r>
                      <a:r>
                        <a:rPr kumimoji="1" lang="en-US" altLang="ja-JP" sz="1100" baseline="0">
                          <a:solidFill>
                            <a:schemeClr val="tx1"/>
                          </a:solidFill>
                          <a:latin typeface="Meiryo UI" panose="020B0604030504040204" pitchFamily="50" charset="-128"/>
                          <a:cs typeface="Arial" panose="020B0604020202020204" pitchFamily="34" charset="0"/>
                        </a:rPr>
                        <a:t> used for</a:t>
                      </a:r>
                      <a:endParaRPr kumimoji="1" lang="ja-JP" altLang="en-US" sz="1100">
                        <a:solidFill>
                          <a:schemeClr val="tx1"/>
                        </a:solidFill>
                        <a:latin typeface="Meiryo UI" panose="020B060403050404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207430733"/>
                  </a:ext>
                </a:extLst>
              </a:tr>
              <a:tr h="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Service</a:t>
                      </a:r>
                      <a:endParaRPr kumimoji="1" lang="ja-JP" altLang="en-US" sz="1100">
                        <a:solidFill>
                          <a:schemeClr val="tx1"/>
                        </a:solidFill>
                        <a:latin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Factory</a:t>
                      </a:r>
                      <a:endParaRPr kumimoji="1" lang="ja-JP" altLang="en-US" sz="1100">
                        <a:solidFill>
                          <a:schemeClr val="tx1"/>
                        </a:solidFill>
                        <a:latin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100">
                          <a:solidFill>
                            <a:schemeClr val="tx1"/>
                          </a:solidFill>
                          <a:latin typeface="Meiryo UI" panose="020B0604030504040204" pitchFamily="50" charset="-128"/>
                          <a:cs typeface="Arial" panose="020B0604020202020204" pitchFamily="34" charset="0"/>
                        </a:rPr>
                        <a:t>Cert</a:t>
                      </a:r>
                      <a:endParaRPr kumimoji="1" lang="ja-JP" altLang="en-US" sz="1100">
                        <a:solidFill>
                          <a:schemeClr val="tx1"/>
                        </a:solidFill>
                        <a:latin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5150334"/>
                  </a:ext>
                </a:extLst>
              </a:tr>
              <a:tr h="432535">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O-Table</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TC Info </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一覧表）</a:t>
                      </a:r>
                    </a:p>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Overview Table, Delivery letter for TC Info</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EMS6-1-7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2949370"/>
                  </a:ext>
                </a:extLst>
              </a:tr>
              <a:tr h="432535">
                <a:tc>
                  <a:txBody>
                    <a:bodyPr/>
                    <a:lstStyle/>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多重検知禁止一覧</a:t>
                      </a:r>
                    </a:p>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summarized table of multiple detection prohibition</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EMS6-1-7</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049943377"/>
                  </a:ext>
                </a:extLst>
              </a:tr>
              <a:tr h="432535">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cs typeface="Arial" panose="020B0604020202020204" pitchFamily="34" charset="0"/>
                        </a:rPr>
                        <a:t>Fail safe matrix</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F/S</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マトリクス</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EMS3-1-16</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r>
                        <a:rPr kumimoji="1" lang="en-US" altLang="ja-JP" sz="1400">
                          <a:latin typeface="Meiryo UI" panose="020B0604030504040204" pitchFamily="50" charset="-128"/>
                          <a:ea typeface="Meiryo UI" panose="020B0604030504040204" pitchFamily="50" charset="-128"/>
                          <a:cs typeface="Arial" panose="020B0604020202020204" pitchFamily="34" charset="0"/>
                        </a:rPr>
                        <a:t>Defined in EMS index</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p>
                  </a:txBody>
                  <a:tcPr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956774663"/>
                  </a:ext>
                </a:extLst>
              </a:tr>
              <a:tr h="432535">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Misfire rate map</a:t>
                      </a:r>
                    </a:p>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失火判定マップ、</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(B</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判定</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3">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to “Misfire information” file</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anose="020B0604030504040204" pitchFamily="50" charset="-128"/>
                          <a:ea typeface="Meiryo UI" panose="020B0604030504040204" pitchFamily="50" charset="-128"/>
                          <a:cs typeface="Arial" panose="020B0604020202020204" pitchFamily="34" charset="0"/>
                        </a:rPr>
                        <a:t>MP1</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anose="020B0604020202020204" pitchFamily="34" charset="0"/>
                        </a:rPr>
                        <a:t>〇</a:t>
                      </a: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90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792131603"/>
                  </a:ext>
                </a:extLst>
              </a:tr>
              <a:tr h="432535">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Misfire detection </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chart</a:t>
                      </a:r>
                      <a:endPar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失火検知チャート</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デモテストモード</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vMerge="1">
                  <a:txBody>
                    <a:bodyPr/>
                    <a:lstStyle/>
                    <a:p>
                      <a:pPr algn="l" fontAlgn="ctr"/>
                      <a:endParaRPr lang="ja-JP" altLang="en-US" sz="1100" b="0" i="0" u="none" strike="noStrike">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36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4920463"/>
                  </a:ext>
                </a:extLst>
              </a:tr>
              <a:tr h="432535">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Misfire detection map</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失火検知率</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(1</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気筒、ランダム、ペア</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a:t>
                      </a: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vMerge="1">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ja-JP" altLang="en-US" sz="1100" b="0" i="0" u="none" strike="noStrike">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100" b="0" i="0" u="none" strike="noStrike">
                        <a:solidFill>
                          <a:srgbClr val="000000"/>
                        </a:solidFill>
                        <a:effectLst/>
                        <a:latin typeface="Arial" panose="020B0604020202020204" pitchFamily="34" charset="0"/>
                        <a:ea typeface="ＭＳ Ｐゴシック" panose="020B0600070205080204" pitchFamily="50" charset="-128"/>
                        <a:cs typeface="Arial" panose="020B0604020202020204" pitchFamily="34" charset="0"/>
                      </a:endParaRPr>
                    </a:p>
                  </a:txBody>
                  <a:tcP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36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23348285"/>
                  </a:ext>
                </a:extLst>
              </a:tr>
              <a:tr h="642828">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Readiness check</a:t>
                      </a: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レジネス　チェック</a:t>
                      </a:r>
                      <a:endPar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ja-JP" sz="1400">
                        <a:solidFill>
                          <a:srgbClr val="0000FF"/>
                        </a:solidFill>
                        <a:latin typeface="Meiryo UI" panose="020B0604030504040204" pitchFamily="50" charset="-128"/>
                        <a:ea typeface="Meiryo UI" panose="020B0604030504040204" pitchFamily="50" charset="-128"/>
                        <a:cs typeface="Arial"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issue the report based “Readiness</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check</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by HONDA requirement</a:t>
                      </a:r>
                    </a:p>
                    <a:p>
                      <a:pPr marL="0" marR="0" lvl="0" indent="0" algn="ctr" defTabSz="914400" rtl="0" eaLnBrk="1" fontAlgn="ctr" latinLnBrk="0" hangingPunct="1">
                        <a:lnSpc>
                          <a:spcPct val="100000"/>
                        </a:lnSpc>
                        <a:spcBef>
                          <a:spcPts val="0"/>
                        </a:spcBef>
                        <a:spcAft>
                          <a:spcPts val="0"/>
                        </a:spcAft>
                        <a:buClrTx/>
                        <a:buSzTx/>
                        <a:buFontTx/>
                        <a:buNone/>
                        <a:tabLst/>
                        <a:defRPr/>
                      </a:pPr>
                      <a:endPar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MP1</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36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285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67349055"/>
                  </a:ext>
                </a:extLst>
              </a:tr>
              <a:tr h="642828">
                <a:tc>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Service06</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cs typeface="Arial" panose="020B0604020202020204" pitchFamily="34" charset="0"/>
                        </a:rPr>
                        <a:t> info for service</a:t>
                      </a:r>
                      <a:endPar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p>
                      <a:pPr algn="l"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サービス開示用</a:t>
                      </a: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Service06</a:t>
                      </a:r>
                      <a:r>
                        <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情報</a:t>
                      </a:r>
                      <a:endPar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marL="36000"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Refer to “Service06 for service” file</a:t>
                      </a:r>
                    </a:p>
                  </a:txBody>
                  <a:tcPr marL="9525" marR="9525" marT="9525" marB="0"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ja-JP"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rPr>
                        <a:t>MP1</a:t>
                      </a:r>
                      <a:endParaRPr lang="ja-JP" altLang="en-US" sz="1400" b="0" i="0" u="none" strike="noStrike">
                        <a:solidFill>
                          <a:srgbClr val="000000"/>
                        </a:solidFill>
                        <a:effectLst/>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9050" cap="flat" cmpd="sng" algn="ctr">
                      <a:solidFill>
                        <a:schemeClr val="bg1">
                          <a:lumMod val="50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905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algn="ct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a:latin typeface="Meiryo UI" panose="020B0604030504040204" pitchFamily="50" charset="-128"/>
                        <a:ea typeface="Meiryo UI" panose="020B0604030504040204" pitchFamily="50" charset="-128"/>
                        <a:cs typeface="Arial" panose="020B0604020202020204" pitchFamily="34" charset="0"/>
                      </a:endParaRPr>
                    </a:p>
                  </a:txBody>
                  <a:tcPr marL="36000" anchor="ctr">
                    <a:lnL w="12700" cap="flat" cmpd="sng" algn="ctr">
                      <a:solidFill>
                        <a:schemeClr val="bg1">
                          <a:lumMod val="5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28575" cap="flat" cmpd="sng" algn="ctr">
                      <a:solidFill>
                        <a:schemeClr val="bg1">
                          <a:lumMod val="65000"/>
                        </a:schemeClr>
                      </a:solidFill>
                      <a:prstDash val="solid"/>
                      <a:round/>
                      <a:headEnd type="none" w="med" len="med"/>
                      <a:tailEnd type="none" w="med" len="med"/>
                    </a:lnT>
                    <a:lnB w="190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61205114"/>
                  </a:ext>
                </a:extLst>
              </a:tr>
            </a:tbl>
          </a:graphicData>
        </a:graphic>
      </p:graphicFrame>
      <p:sp>
        <p:nvSpPr>
          <p:cNvPr id="7" name="正方形/長方形 6">
            <a:extLst>
              <a:ext uri="{FF2B5EF4-FFF2-40B4-BE49-F238E27FC236}">
                <a16:creationId xmlns:a16="http://schemas.microsoft.com/office/drawing/2014/main" id="{D659973F-1758-AD24-F6F0-A511CA8EECC7}"/>
              </a:ext>
            </a:extLst>
          </p:cNvPr>
          <p:cNvSpPr/>
          <p:nvPr/>
        </p:nvSpPr>
        <p:spPr bwMode="auto">
          <a:xfrm>
            <a:off x="169820" y="4654446"/>
            <a:ext cx="8869677" cy="1727437"/>
          </a:xfrm>
          <a:prstGeom prst="rect">
            <a:avLst/>
          </a:prstGeom>
          <a:solidFill>
            <a:schemeClr val="bg1">
              <a:lumMod val="50000"/>
              <a:alpha val="7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8" name="正方形/長方形 7">
            <a:extLst>
              <a:ext uri="{FF2B5EF4-FFF2-40B4-BE49-F238E27FC236}">
                <a16:creationId xmlns:a16="http://schemas.microsoft.com/office/drawing/2014/main" id="{CCEF2D4B-49FC-1CC0-DE49-496A74A2BB83}"/>
              </a:ext>
            </a:extLst>
          </p:cNvPr>
          <p:cNvSpPr/>
          <p:nvPr/>
        </p:nvSpPr>
        <p:spPr bwMode="auto">
          <a:xfrm>
            <a:off x="169820" y="3805717"/>
            <a:ext cx="2813223" cy="848729"/>
          </a:xfrm>
          <a:prstGeom prst="rect">
            <a:avLst/>
          </a:prstGeom>
          <a:solidFill>
            <a:schemeClr val="bg1">
              <a:lumMod val="50000"/>
              <a:alpha val="7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9" name="正方形/長方形 8">
            <a:extLst>
              <a:ext uri="{FF2B5EF4-FFF2-40B4-BE49-F238E27FC236}">
                <a16:creationId xmlns:a16="http://schemas.microsoft.com/office/drawing/2014/main" id="{AA83E9A3-F3EE-D1FC-D69B-F05369A4022C}"/>
              </a:ext>
            </a:extLst>
          </p:cNvPr>
          <p:cNvSpPr/>
          <p:nvPr/>
        </p:nvSpPr>
        <p:spPr bwMode="auto">
          <a:xfrm>
            <a:off x="7000407" y="3796299"/>
            <a:ext cx="2033668" cy="864000"/>
          </a:xfrm>
          <a:prstGeom prst="rect">
            <a:avLst/>
          </a:prstGeom>
          <a:solidFill>
            <a:schemeClr val="bg1">
              <a:lumMod val="50000"/>
              <a:alpha val="7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Tree>
    <p:extLst>
      <p:ext uri="{BB962C8B-B14F-4D97-AF65-F5344CB8AC3E}">
        <p14:creationId xmlns:p14="http://schemas.microsoft.com/office/powerpoint/2010/main" val="393820500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7" name="Rectangle 13"/>
          <p:cNvSpPr>
            <a:spLocks noChangeArrowheads="1"/>
          </p:cNvSpPr>
          <p:nvPr/>
        </p:nvSpPr>
        <p:spPr bwMode="auto">
          <a:xfrm>
            <a:off x="34930" y="609604"/>
            <a:ext cx="91090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ja-JP" sz="1800" b="1" u="sng">
                <a:latin typeface="Meiryo UI" panose="020B0604030504040204" pitchFamily="50" charset="-128"/>
                <a:ea typeface="Meiryo UI" panose="020B0604030504040204" pitchFamily="50" charset="-128"/>
                <a:cs typeface="Arial" pitchFamily="34" charset="0"/>
              </a:rPr>
              <a:t>Necessary</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Information</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for</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Certification</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Application</a:t>
            </a:r>
            <a:endParaRPr lang="ja-JP" altLang="en-US" sz="1600" b="1">
              <a:latin typeface="Meiryo UI" panose="020B0604030504040204" pitchFamily="50" charset="-128"/>
              <a:ea typeface="Meiryo UI" panose="020B0604030504040204" pitchFamily="50" charset="-128"/>
              <a:cs typeface="Arial" pitchFamily="34" charset="0"/>
            </a:endParaRPr>
          </a:p>
        </p:txBody>
      </p:sp>
      <p:sp>
        <p:nvSpPr>
          <p:cNvPr id="8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20. Necessary</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Support (4/5)</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3" name="テキスト ボックス 2"/>
          <p:cNvSpPr txBox="1"/>
          <p:nvPr/>
        </p:nvSpPr>
        <p:spPr>
          <a:xfrm>
            <a:off x="250829" y="6216709"/>
            <a:ext cx="8087470" cy="523220"/>
          </a:xfrm>
          <a:prstGeom prst="rect">
            <a:avLst/>
          </a:prstGeom>
          <a:noFill/>
        </p:spPr>
        <p:txBody>
          <a:bodyPr wrap="none" rtlCol="0">
            <a:spAutoFit/>
          </a:bodyPr>
          <a:lstStyle/>
          <a:p>
            <a:pPr algn="l"/>
            <a:r>
              <a:rPr kumimoji="1"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will perform OBD demo test.</a:t>
            </a:r>
          </a:p>
          <a:p>
            <a:pPr algn="l"/>
            <a:r>
              <a:rPr lang="en-US" altLang="ja-JP" sz="1400">
                <a:latin typeface="Meiryo UI" panose="020B0604030504040204" pitchFamily="50" charset="-128"/>
                <a:ea typeface="Meiryo UI" panose="020B0604030504040204" pitchFamily="50" charset="-128"/>
              </a:rPr>
              <a:t>Honda might request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to inform how to use the tool or data setting for demo test.</a:t>
            </a:r>
          </a:p>
        </p:txBody>
      </p:sp>
      <p:graphicFrame>
        <p:nvGraphicFramePr>
          <p:cNvPr id="2" name="表 1">
            <a:extLst>
              <a:ext uri="{FF2B5EF4-FFF2-40B4-BE49-F238E27FC236}">
                <a16:creationId xmlns:a16="http://schemas.microsoft.com/office/drawing/2014/main" id="{C6B2547B-8895-DF05-72CA-19025F4C1668}"/>
              </a:ext>
            </a:extLst>
          </p:cNvPr>
          <p:cNvGraphicFramePr>
            <a:graphicFrameLocks noGrp="1"/>
          </p:cNvGraphicFramePr>
          <p:nvPr>
            <p:extLst>
              <p:ext uri="{D42A27DB-BD31-4B8C-83A1-F6EECF244321}">
                <p14:modId xmlns:p14="http://schemas.microsoft.com/office/powerpoint/2010/main" val="4207912606"/>
              </p:ext>
            </p:extLst>
          </p:nvPr>
        </p:nvGraphicFramePr>
        <p:xfrm>
          <a:off x="326571" y="1177428"/>
          <a:ext cx="7622943" cy="4770779"/>
        </p:xfrm>
        <a:graphic>
          <a:graphicData uri="http://schemas.openxmlformats.org/drawingml/2006/table">
            <a:tbl>
              <a:tblPr firstRow="1" bandRow="1"/>
              <a:tblGrid>
                <a:gridCol w="868118">
                  <a:extLst>
                    <a:ext uri="{9D8B030D-6E8A-4147-A177-3AD203B41FA5}">
                      <a16:colId xmlns:a16="http://schemas.microsoft.com/office/drawing/2014/main" val="2509350273"/>
                    </a:ext>
                  </a:extLst>
                </a:gridCol>
                <a:gridCol w="2299823">
                  <a:extLst>
                    <a:ext uri="{9D8B030D-6E8A-4147-A177-3AD203B41FA5}">
                      <a16:colId xmlns:a16="http://schemas.microsoft.com/office/drawing/2014/main" val="958017539"/>
                    </a:ext>
                  </a:extLst>
                </a:gridCol>
                <a:gridCol w="2227501">
                  <a:extLst>
                    <a:ext uri="{9D8B030D-6E8A-4147-A177-3AD203B41FA5}">
                      <a16:colId xmlns:a16="http://schemas.microsoft.com/office/drawing/2014/main" val="3891129836"/>
                    </a:ext>
                  </a:extLst>
                </a:gridCol>
                <a:gridCol w="2227501">
                  <a:extLst>
                    <a:ext uri="{9D8B030D-6E8A-4147-A177-3AD203B41FA5}">
                      <a16:colId xmlns:a16="http://schemas.microsoft.com/office/drawing/2014/main" val="2030558422"/>
                    </a:ext>
                  </a:extLst>
                </a:gridCol>
              </a:tblGrid>
              <a:tr h="857938">
                <a:tc gridSpan="2">
                  <a:txBody>
                    <a:bodyPr/>
                    <a:lstStyle>
                      <a:lvl1pPr marL="0" algn="l" defTabSz="914400" rtl="0" eaLnBrk="1" latinLnBrk="0" hangingPunct="1">
                        <a:defRPr kumimoji="1" sz="1800" b="1" kern="1200">
                          <a:solidFill>
                            <a:schemeClr val="lt1"/>
                          </a:solidFill>
                          <a:latin typeface="Arial"/>
                          <a:ea typeface="Meiryo UI"/>
                        </a:defRPr>
                      </a:lvl1pPr>
                      <a:lvl2pPr marL="457200" algn="l" defTabSz="914400" rtl="0" eaLnBrk="1" latinLnBrk="0" hangingPunct="1">
                        <a:defRPr kumimoji="1" sz="1800" b="1" kern="1200">
                          <a:solidFill>
                            <a:schemeClr val="lt1"/>
                          </a:solidFill>
                          <a:latin typeface="Arial"/>
                          <a:ea typeface="Meiryo UI"/>
                        </a:defRPr>
                      </a:lvl2pPr>
                      <a:lvl3pPr marL="914400" algn="l" defTabSz="914400" rtl="0" eaLnBrk="1" latinLnBrk="0" hangingPunct="1">
                        <a:defRPr kumimoji="1" sz="1800" b="1" kern="1200">
                          <a:solidFill>
                            <a:schemeClr val="lt1"/>
                          </a:solidFill>
                          <a:latin typeface="Arial"/>
                          <a:ea typeface="Meiryo UI"/>
                        </a:defRPr>
                      </a:lvl3pPr>
                      <a:lvl4pPr marL="1371600" algn="l" defTabSz="914400" rtl="0" eaLnBrk="1" latinLnBrk="0" hangingPunct="1">
                        <a:defRPr kumimoji="1" sz="1800" b="1" kern="1200">
                          <a:solidFill>
                            <a:schemeClr val="lt1"/>
                          </a:solidFill>
                          <a:latin typeface="Arial"/>
                          <a:ea typeface="Meiryo UI"/>
                        </a:defRPr>
                      </a:lvl4pPr>
                      <a:lvl5pPr marL="1828800" algn="l" defTabSz="914400" rtl="0" eaLnBrk="1" latinLnBrk="0" hangingPunct="1">
                        <a:defRPr kumimoji="1" sz="1800" b="1" kern="1200">
                          <a:solidFill>
                            <a:schemeClr val="lt1"/>
                          </a:solidFill>
                          <a:latin typeface="Arial"/>
                          <a:ea typeface="Meiryo UI"/>
                        </a:defRPr>
                      </a:lvl5pPr>
                      <a:lvl6pPr marL="2286000" algn="l" defTabSz="914400" rtl="0" eaLnBrk="1" latinLnBrk="0" hangingPunct="1">
                        <a:defRPr kumimoji="1" sz="1800" b="1" kern="1200">
                          <a:solidFill>
                            <a:schemeClr val="lt1"/>
                          </a:solidFill>
                          <a:latin typeface="Arial"/>
                          <a:ea typeface="Meiryo UI"/>
                        </a:defRPr>
                      </a:lvl6pPr>
                      <a:lvl7pPr marL="2743200" algn="l" defTabSz="914400" rtl="0" eaLnBrk="1" latinLnBrk="0" hangingPunct="1">
                        <a:defRPr kumimoji="1" sz="1800" b="1" kern="1200">
                          <a:solidFill>
                            <a:schemeClr val="lt1"/>
                          </a:solidFill>
                          <a:latin typeface="Arial"/>
                          <a:ea typeface="Meiryo UI"/>
                        </a:defRPr>
                      </a:lvl7pPr>
                      <a:lvl8pPr marL="3200400" algn="l" defTabSz="914400" rtl="0" eaLnBrk="1" latinLnBrk="0" hangingPunct="1">
                        <a:defRPr kumimoji="1" sz="1800" b="1" kern="1200">
                          <a:solidFill>
                            <a:schemeClr val="lt1"/>
                          </a:solidFill>
                          <a:latin typeface="Arial"/>
                          <a:ea typeface="Meiryo UI"/>
                        </a:defRPr>
                      </a:lvl8pPr>
                      <a:lvl9pPr marL="3657600" algn="l" defTabSz="914400" rtl="0" eaLnBrk="1" latinLnBrk="0" hangingPunct="1">
                        <a:defRPr kumimoji="1" sz="1800" b="1" kern="1200">
                          <a:solidFill>
                            <a:schemeClr val="lt1"/>
                          </a:solidFill>
                          <a:latin typeface="Arial"/>
                          <a:ea typeface="Meiryo UI"/>
                        </a:defRPr>
                      </a:lvl9pPr>
                    </a:lstStyle>
                    <a:p>
                      <a:pPr algn="ctr" fontAlgn="ct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hMerge="1">
                  <a:txBody>
                    <a:bodyPr/>
                    <a:lstStyle/>
                    <a:p>
                      <a:endParaRPr kumimoji="1" lang="ja-JP" altLang="en-US"/>
                    </a:p>
                  </a:txBody>
                  <a:tcPr/>
                </a:tc>
                <a:tc>
                  <a:txBody>
                    <a:bodyPr/>
                    <a:lstStyle>
                      <a:lvl1pPr marL="0" algn="l" defTabSz="914400" rtl="0" eaLnBrk="1" latinLnBrk="0" hangingPunct="1">
                        <a:defRPr kumimoji="1" sz="1800" b="1" kern="1200">
                          <a:solidFill>
                            <a:schemeClr val="lt1"/>
                          </a:solidFill>
                          <a:latin typeface="Arial"/>
                          <a:ea typeface="Meiryo UI"/>
                        </a:defRPr>
                      </a:lvl1pPr>
                      <a:lvl2pPr marL="457200" algn="l" defTabSz="914400" rtl="0" eaLnBrk="1" latinLnBrk="0" hangingPunct="1">
                        <a:defRPr kumimoji="1" sz="1800" b="1" kern="1200">
                          <a:solidFill>
                            <a:schemeClr val="lt1"/>
                          </a:solidFill>
                          <a:latin typeface="Arial"/>
                          <a:ea typeface="Meiryo UI"/>
                        </a:defRPr>
                      </a:lvl2pPr>
                      <a:lvl3pPr marL="914400" algn="l" defTabSz="914400" rtl="0" eaLnBrk="1" latinLnBrk="0" hangingPunct="1">
                        <a:defRPr kumimoji="1" sz="1800" b="1" kern="1200">
                          <a:solidFill>
                            <a:schemeClr val="lt1"/>
                          </a:solidFill>
                          <a:latin typeface="Arial"/>
                          <a:ea typeface="Meiryo UI"/>
                        </a:defRPr>
                      </a:lvl3pPr>
                      <a:lvl4pPr marL="1371600" algn="l" defTabSz="914400" rtl="0" eaLnBrk="1" latinLnBrk="0" hangingPunct="1">
                        <a:defRPr kumimoji="1" sz="1800" b="1" kern="1200">
                          <a:solidFill>
                            <a:schemeClr val="lt1"/>
                          </a:solidFill>
                          <a:latin typeface="Arial"/>
                          <a:ea typeface="Meiryo UI"/>
                        </a:defRPr>
                      </a:lvl4pPr>
                      <a:lvl5pPr marL="1828800" algn="l" defTabSz="914400" rtl="0" eaLnBrk="1" latinLnBrk="0" hangingPunct="1">
                        <a:defRPr kumimoji="1" sz="1800" b="1" kern="1200">
                          <a:solidFill>
                            <a:schemeClr val="lt1"/>
                          </a:solidFill>
                          <a:latin typeface="Arial"/>
                          <a:ea typeface="Meiryo UI"/>
                        </a:defRPr>
                      </a:lvl5pPr>
                      <a:lvl6pPr marL="2286000" algn="l" defTabSz="914400" rtl="0" eaLnBrk="1" latinLnBrk="0" hangingPunct="1">
                        <a:defRPr kumimoji="1" sz="1800" b="1" kern="1200">
                          <a:solidFill>
                            <a:schemeClr val="lt1"/>
                          </a:solidFill>
                          <a:latin typeface="Arial"/>
                          <a:ea typeface="Meiryo UI"/>
                        </a:defRPr>
                      </a:lvl6pPr>
                      <a:lvl7pPr marL="2743200" algn="l" defTabSz="914400" rtl="0" eaLnBrk="1" latinLnBrk="0" hangingPunct="1">
                        <a:defRPr kumimoji="1" sz="1800" b="1" kern="1200">
                          <a:solidFill>
                            <a:schemeClr val="lt1"/>
                          </a:solidFill>
                          <a:latin typeface="Arial"/>
                          <a:ea typeface="Meiryo UI"/>
                        </a:defRPr>
                      </a:lvl7pPr>
                      <a:lvl8pPr marL="3200400" algn="l" defTabSz="914400" rtl="0" eaLnBrk="1" latinLnBrk="0" hangingPunct="1">
                        <a:defRPr kumimoji="1" sz="1800" b="1" kern="1200">
                          <a:solidFill>
                            <a:schemeClr val="lt1"/>
                          </a:solidFill>
                          <a:latin typeface="Arial"/>
                          <a:ea typeface="Meiryo UI"/>
                        </a:defRPr>
                      </a:lvl8pPr>
                      <a:lvl9pPr marL="3657600" algn="l" defTabSz="914400" rtl="0" eaLnBrk="1" latinLnBrk="0" hangingPunct="1">
                        <a:defRPr kumimoji="1" sz="1800" b="1" kern="1200">
                          <a:solidFill>
                            <a:schemeClr val="lt1"/>
                          </a:solidFill>
                          <a:latin typeface="Arial"/>
                          <a:ea typeface="Meiryo UI"/>
                        </a:defRPr>
                      </a:lvl9pPr>
                    </a:lstStyle>
                    <a:p>
                      <a:pPr algn="ctr" fontAlgn="ctr"/>
                      <a:r>
                        <a:rPr lang="en-US" altLang="ja-JP" sz="1800" b="0" i="0" u="none" strike="noStrike">
                          <a:solidFill>
                            <a:schemeClr val="bg1"/>
                          </a:solidFill>
                          <a:effectLst/>
                          <a:latin typeface="Meiryo UI" panose="020B0604030504040204" pitchFamily="50" charset="-128"/>
                          <a:ea typeface="Meiryo UI" panose="020B0604030504040204" pitchFamily="50" charset="-128"/>
                        </a:rPr>
                        <a:t>India</a:t>
                      </a:r>
                      <a:endParaRPr lang="en-US" sz="1800" b="0" i="0" u="none" strike="noStrike">
                        <a:solidFill>
                          <a:schemeClr val="bg1"/>
                        </a:solidFill>
                        <a:effectLst/>
                        <a:latin typeface="Meiryo UI" panose="020B0604030504040204" pitchFamily="50" charset="-128"/>
                        <a:ea typeface="Meiryo UI" panose="020B0604030504040204" pitchFamily="50" charset="-128"/>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Arial"/>
                          <a:ea typeface="Meiryo UI"/>
                        </a:defRPr>
                      </a:lvl1pPr>
                      <a:lvl2pPr marL="457200" algn="l" defTabSz="914400" rtl="0" eaLnBrk="1" latinLnBrk="0" hangingPunct="1">
                        <a:defRPr kumimoji="1" sz="1800" b="1" kern="1200">
                          <a:solidFill>
                            <a:schemeClr val="lt1"/>
                          </a:solidFill>
                          <a:latin typeface="Arial"/>
                          <a:ea typeface="Meiryo UI"/>
                        </a:defRPr>
                      </a:lvl2pPr>
                      <a:lvl3pPr marL="914400" algn="l" defTabSz="914400" rtl="0" eaLnBrk="1" latinLnBrk="0" hangingPunct="1">
                        <a:defRPr kumimoji="1" sz="1800" b="1" kern="1200">
                          <a:solidFill>
                            <a:schemeClr val="lt1"/>
                          </a:solidFill>
                          <a:latin typeface="Arial"/>
                          <a:ea typeface="Meiryo UI"/>
                        </a:defRPr>
                      </a:lvl3pPr>
                      <a:lvl4pPr marL="1371600" algn="l" defTabSz="914400" rtl="0" eaLnBrk="1" latinLnBrk="0" hangingPunct="1">
                        <a:defRPr kumimoji="1" sz="1800" b="1" kern="1200">
                          <a:solidFill>
                            <a:schemeClr val="lt1"/>
                          </a:solidFill>
                          <a:latin typeface="Arial"/>
                          <a:ea typeface="Meiryo UI"/>
                        </a:defRPr>
                      </a:lvl4pPr>
                      <a:lvl5pPr marL="1828800" algn="l" defTabSz="914400" rtl="0" eaLnBrk="1" latinLnBrk="0" hangingPunct="1">
                        <a:defRPr kumimoji="1" sz="1800" b="1" kern="1200">
                          <a:solidFill>
                            <a:schemeClr val="lt1"/>
                          </a:solidFill>
                          <a:latin typeface="Arial"/>
                          <a:ea typeface="Meiryo UI"/>
                        </a:defRPr>
                      </a:lvl5pPr>
                      <a:lvl6pPr marL="2286000" algn="l" defTabSz="914400" rtl="0" eaLnBrk="1" latinLnBrk="0" hangingPunct="1">
                        <a:defRPr kumimoji="1" sz="1800" b="1" kern="1200">
                          <a:solidFill>
                            <a:schemeClr val="lt1"/>
                          </a:solidFill>
                          <a:latin typeface="Arial"/>
                          <a:ea typeface="Meiryo UI"/>
                        </a:defRPr>
                      </a:lvl6pPr>
                      <a:lvl7pPr marL="2743200" algn="l" defTabSz="914400" rtl="0" eaLnBrk="1" latinLnBrk="0" hangingPunct="1">
                        <a:defRPr kumimoji="1" sz="1800" b="1" kern="1200">
                          <a:solidFill>
                            <a:schemeClr val="lt1"/>
                          </a:solidFill>
                          <a:latin typeface="Arial"/>
                          <a:ea typeface="Meiryo UI"/>
                        </a:defRPr>
                      </a:lvl7pPr>
                      <a:lvl8pPr marL="3200400" algn="l" defTabSz="914400" rtl="0" eaLnBrk="1" latinLnBrk="0" hangingPunct="1">
                        <a:defRPr kumimoji="1" sz="1800" b="1" kern="1200">
                          <a:solidFill>
                            <a:schemeClr val="lt1"/>
                          </a:solidFill>
                          <a:latin typeface="Arial"/>
                          <a:ea typeface="Meiryo UI"/>
                        </a:defRPr>
                      </a:lvl8pPr>
                      <a:lvl9pPr marL="3657600" algn="l" defTabSz="914400" rtl="0" eaLnBrk="1" latinLnBrk="0" hangingPunct="1">
                        <a:defRPr kumimoji="1" sz="1800" b="1" kern="1200">
                          <a:solidFill>
                            <a:schemeClr val="lt1"/>
                          </a:solidFill>
                          <a:latin typeface="Arial"/>
                          <a:ea typeface="Meiryo UI"/>
                        </a:defRPr>
                      </a:lvl9pPr>
                    </a:lstStyle>
                    <a:p>
                      <a:pPr algn="ctr" fontAlgn="ctr"/>
                      <a:r>
                        <a:rPr lang="en-US" altLang="ja-JP" sz="1800" b="0" i="0" u="none" strike="noStrike">
                          <a:solidFill>
                            <a:schemeClr val="bg1"/>
                          </a:solidFill>
                          <a:effectLst/>
                          <a:latin typeface="Meiryo UI" panose="020B0604030504040204" pitchFamily="50" charset="-128"/>
                          <a:ea typeface="Meiryo UI" panose="020B0604030504040204" pitchFamily="50" charset="-128"/>
                        </a:rPr>
                        <a:t>South</a:t>
                      </a:r>
                      <a:r>
                        <a:rPr lang="ja-JP" altLang="en-US" sz="1800" b="0" i="0" u="none" strike="noStrike">
                          <a:solidFill>
                            <a:schemeClr val="bg1"/>
                          </a:solidFill>
                          <a:effectLst/>
                          <a:latin typeface="Meiryo UI" panose="020B0604030504040204" pitchFamily="50" charset="-128"/>
                          <a:ea typeface="Meiryo UI" panose="020B0604030504040204" pitchFamily="50" charset="-128"/>
                        </a:rPr>
                        <a:t> </a:t>
                      </a:r>
                      <a:r>
                        <a:rPr lang="en-US" altLang="ja-JP" sz="1800" b="0" i="0" u="none" strike="noStrike">
                          <a:solidFill>
                            <a:schemeClr val="bg1"/>
                          </a:solidFill>
                          <a:effectLst/>
                          <a:latin typeface="Meiryo UI" panose="020B0604030504040204" pitchFamily="50" charset="-128"/>
                          <a:ea typeface="Meiryo UI" panose="020B0604030504040204" pitchFamily="50" charset="-128"/>
                        </a:rPr>
                        <a:t>Africa</a:t>
                      </a:r>
                      <a:endParaRPr lang="en-US" sz="1800" b="0" i="0" u="none" strike="noStrike">
                        <a:solidFill>
                          <a:schemeClr val="bg1"/>
                        </a:solidFill>
                        <a:effectLst/>
                        <a:latin typeface="Meiryo UI" panose="020B0604030504040204" pitchFamily="50" charset="-128"/>
                        <a:ea typeface="Meiryo UI" panose="020B0604030504040204" pitchFamily="50" charset="-128"/>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2197485392"/>
                  </a:ext>
                </a:extLst>
              </a:tr>
              <a:tr h="590268">
                <a:tc gridSpan="2">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Cert</a:t>
                      </a:r>
                      <a:r>
                        <a:rPr lang="en-US" altLang="ja-JP" sz="1400" b="0" i="0" u="none" strike="noStrike" baseline="0">
                          <a:solidFill>
                            <a:srgbClr val="000000"/>
                          </a:solidFill>
                          <a:effectLst/>
                          <a:latin typeface="Meiryo UI" panose="020B0604030504040204" pitchFamily="50" charset="-128"/>
                          <a:ea typeface="Meiryo UI" panose="020B0604030504040204" pitchFamily="50" charset="-128"/>
                        </a:rPr>
                        <a:t> test schedule</a:t>
                      </a:r>
                      <a:endParaRPr lang="en-US" altLang="ja-JP" sz="14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hMerge="1">
                  <a:txBody>
                    <a:bodyPr/>
                    <a:lstStyle/>
                    <a:p>
                      <a:endParaRPr kumimoji="1" lang="ja-JP" altLang="en-US"/>
                    </a:p>
                  </a:txBody>
                  <a:tcPr/>
                </a:tc>
                <a:tc>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Apr-Sep 2024</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algn="ctr" fontAlgn="ctr"/>
                      <a:r>
                        <a:rPr lang="en-US" altLang="ja-JP" sz="1600" b="0" i="0" u="none" strike="noStrike">
                          <a:solidFill>
                            <a:schemeClr val="tx1"/>
                          </a:solidFill>
                          <a:effectLst/>
                          <a:latin typeface="Meiryo UI" panose="020B0604030504040204" pitchFamily="50" charset="-128"/>
                          <a:ea typeface="Meiryo UI" panose="020B0604030504040204" pitchFamily="50" charset="-128"/>
                        </a:rPr>
                        <a:t>Apr-Sep 2024</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312624869"/>
                  </a:ext>
                </a:extLst>
              </a:tr>
              <a:tr h="485765">
                <a:tc gridSpan="2">
                  <a:txBody>
                    <a:bodyPr/>
                    <a:lstStyle/>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Cert test</a:t>
                      </a:r>
                    </a:p>
                    <a:p>
                      <a:pPr algn="ctr"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location</a:t>
                      </a: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hMerge="1">
                  <a:txBody>
                    <a:bodyPr/>
                    <a:lstStyle/>
                    <a:p>
                      <a:endParaRPr kumimoji="1" lang="ja-JP" alt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India/Japan</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cs typeface="+mn-cs"/>
                        </a:rPr>
                        <a:t>Japan</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273915914"/>
                  </a:ext>
                </a:extLst>
              </a:tr>
              <a:tr h="628277">
                <a:tc rowSpan="4">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a:solidFill>
                            <a:schemeClr val="tx1"/>
                          </a:solidFill>
                          <a:effectLst/>
                          <a:latin typeface="Meiryo UI" panose="020B0604030504040204" pitchFamily="50" charset="-128"/>
                          <a:ea typeface="Meiryo UI" panose="020B0604030504040204" pitchFamily="50" charset="-128"/>
                        </a:rPr>
                        <a:t>Need</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a:solidFill>
                            <a:schemeClr val="tx1"/>
                          </a:solidFill>
                          <a:latin typeface="Meiryo UI" panose="020B0604030504040204" pitchFamily="50" charset="-128"/>
                          <a:ea typeface="Meiryo UI" panose="020B0604030504040204" pitchFamily="50" charset="-128"/>
                          <a:cs typeface="Arial" pitchFamily="34" charset="0"/>
                        </a:rPr>
                        <a:t>BOSCH</a:t>
                      </a:r>
                      <a:r>
                        <a:rPr lang="ja-JP" altLang="en-US" sz="1400">
                          <a:solidFill>
                            <a:schemeClr val="tx1"/>
                          </a:solidFill>
                          <a:latin typeface="Meiryo UI" panose="020B0604030504040204" pitchFamily="50" charset="-128"/>
                          <a:ea typeface="Meiryo UI" panose="020B0604030504040204" pitchFamily="50" charset="-128"/>
                          <a:cs typeface="Arial" pitchFamily="34" charset="0"/>
                        </a:rPr>
                        <a:t> </a:t>
                      </a:r>
                      <a:endParaRPr lang="en-US" altLang="ja-JP" sz="1400">
                        <a:solidFill>
                          <a:schemeClr val="tx1"/>
                        </a:solidFill>
                        <a:latin typeface="Meiryo UI" panose="020B0604030504040204" pitchFamily="50" charset="-128"/>
                        <a:ea typeface="Meiryo UI" panose="020B0604030504040204" pitchFamily="50" charset="-128"/>
                        <a:cs typeface="Arial" pitchFamily="34" charset="0"/>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baseline="0">
                          <a:solidFill>
                            <a:schemeClr val="tx1"/>
                          </a:solidFill>
                          <a:effectLst/>
                          <a:latin typeface="Meiryo UI" panose="020B0604030504040204" pitchFamily="50" charset="-128"/>
                          <a:ea typeface="Meiryo UI" panose="020B0604030504040204" pitchFamily="50" charset="-128"/>
                        </a:rPr>
                        <a:t>support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400" b="0" i="0" u="none" strike="noStrike">
                          <a:solidFill>
                            <a:schemeClr val="tx1"/>
                          </a:solidFill>
                          <a:effectLst/>
                          <a:latin typeface="Meiryo UI" panose="020B0604030504040204" pitchFamily="50" charset="-128"/>
                          <a:ea typeface="Meiryo UI" panose="020B0604030504040204" pitchFamily="50" charset="-128"/>
                        </a:rPr>
                        <a:t>For</a:t>
                      </a:r>
                    </a:p>
                  </a:txBody>
                  <a:tcPr marL="9525" marR="9525" marT="9525" marB="0" anchor="ctr">
                    <a:lnL w="12700" cmpd="sng">
                      <a:solidFill>
                        <a:sysClr val="window" lastClr="FFFFFF"/>
                      </a:solidFill>
                    </a:lnL>
                    <a:lnR w="12700" cap="flat" cmpd="sng" algn="ctr">
                      <a:solidFill>
                        <a:schemeClr val="bg1"/>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algn="l" fontAlgn="ctr"/>
                      <a:r>
                        <a:rPr lang="en-US" sz="1400" b="0" i="0" u="none" strike="noStrike">
                          <a:solidFill>
                            <a:srgbClr val="000000"/>
                          </a:solidFill>
                          <a:effectLst/>
                          <a:latin typeface="Meiryo UI" panose="020B0604030504040204" pitchFamily="50" charset="-128"/>
                          <a:ea typeface="Meiryo UI" panose="020B0604030504040204" pitchFamily="50" charset="-128"/>
                        </a:rPr>
                        <a:t>- In case of emission failure, analyze and countermeasure </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algn="ctr" fontAlgn="ctr"/>
                      <a:r>
                        <a:rPr lang="en-US" altLang="ja-JP" sz="1600" b="0" i="0" u="none" strike="noStrike">
                          <a:solidFill>
                            <a:schemeClr val="tx1"/>
                          </a:solidFill>
                          <a:effectLst/>
                          <a:latin typeface="Meiryo UI" panose="020B0604030504040204" pitchFamily="50" charset="-128"/>
                          <a:ea typeface="Meiryo UI" panose="020B0604030504040204" pitchFamily="50" charset="-128"/>
                        </a:rPr>
                        <a:t>Yes</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Arial"/>
                          <a:ea typeface="Meiryo UI"/>
                        </a:defRPr>
                      </a:lvl1pPr>
                      <a:lvl2pPr marL="457200" algn="l" defTabSz="914400" rtl="0" eaLnBrk="1" latinLnBrk="0" hangingPunct="1">
                        <a:defRPr kumimoji="1" sz="1800" kern="1200">
                          <a:solidFill>
                            <a:schemeClr val="dk1"/>
                          </a:solidFill>
                          <a:latin typeface="Arial"/>
                          <a:ea typeface="Meiryo UI"/>
                        </a:defRPr>
                      </a:lvl2pPr>
                      <a:lvl3pPr marL="914400" algn="l" defTabSz="914400" rtl="0" eaLnBrk="1" latinLnBrk="0" hangingPunct="1">
                        <a:defRPr kumimoji="1" sz="1800" kern="1200">
                          <a:solidFill>
                            <a:schemeClr val="dk1"/>
                          </a:solidFill>
                          <a:latin typeface="Arial"/>
                          <a:ea typeface="Meiryo UI"/>
                        </a:defRPr>
                      </a:lvl3pPr>
                      <a:lvl4pPr marL="1371600" algn="l" defTabSz="914400" rtl="0" eaLnBrk="1" latinLnBrk="0" hangingPunct="1">
                        <a:defRPr kumimoji="1" sz="1800" kern="1200">
                          <a:solidFill>
                            <a:schemeClr val="dk1"/>
                          </a:solidFill>
                          <a:latin typeface="Arial"/>
                          <a:ea typeface="Meiryo UI"/>
                        </a:defRPr>
                      </a:lvl4pPr>
                      <a:lvl5pPr marL="1828800" algn="l" defTabSz="914400" rtl="0" eaLnBrk="1" latinLnBrk="0" hangingPunct="1">
                        <a:defRPr kumimoji="1" sz="1800" kern="1200">
                          <a:solidFill>
                            <a:schemeClr val="dk1"/>
                          </a:solidFill>
                          <a:latin typeface="Arial"/>
                          <a:ea typeface="Meiryo UI"/>
                        </a:defRPr>
                      </a:lvl5pPr>
                      <a:lvl6pPr marL="2286000" algn="l" defTabSz="914400" rtl="0" eaLnBrk="1" latinLnBrk="0" hangingPunct="1">
                        <a:defRPr kumimoji="1" sz="1800" kern="1200">
                          <a:solidFill>
                            <a:schemeClr val="dk1"/>
                          </a:solidFill>
                          <a:latin typeface="Arial"/>
                          <a:ea typeface="Meiryo UI"/>
                        </a:defRPr>
                      </a:lvl6pPr>
                      <a:lvl7pPr marL="2743200" algn="l" defTabSz="914400" rtl="0" eaLnBrk="1" latinLnBrk="0" hangingPunct="1">
                        <a:defRPr kumimoji="1" sz="1800" kern="1200">
                          <a:solidFill>
                            <a:schemeClr val="dk1"/>
                          </a:solidFill>
                          <a:latin typeface="Arial"/>
                          <a:ea typeface="Meiryo UI"/>
                        </a:defRPr>
                      </a:lvl7pPr>
                      <a:lvl8pPr marL="3200400" algn="l" defTabSz="914400" rtl="0" eaLnBrk="1" latinLnBrk="0" hangingPunct="1">
                        <a:defRPr kumimoji="1" sz="1800" kern="1200">
                          <a:solidFill>
                            <a:schemeClr val="dk1"/>
                          </a:solidFill>
                          <a:latin typeface="Arial"/>
                          <a:ea typeface="Meiryo UI"/>
                        </a:defRPr>
                      </a:lvl8pPr>
                      <a:lvl9pPr marL="3657600" algn="l" defTabSz="914400" rtl="0" eaLnBrk="1" latinLnBrk="0" hangingPunct="1">
                        <a:defRPr kumimoji="1" sz="1800" kern="1200">
                          <a:solidFill>
                            <a:schemeClr val="dk1"/>
                          </a:solidFill>
                          <a:latin typeface="Arial"/>
                          <a:ea typeface="Meiryo UI"/>
                        </a:defRPr>
                      </a:lvl9pPr>
                    </a:lstStyle>
                    <a:p>
                      <a:pPr algn="ctr" fontAlgn="ctr"/>
                      <a:r>
                        <a:rPr lang="en-US" altLang="ja-JP" sz="1600" b="0" i="0" u="none" strike="noStrike">
                          <a:solidFill>
                            <a:schemeClr val="tx1"/>
                          </a:solidFill>
                          <a:effectLst/>
                          <a:latin typeface="Meiryo UI" panose="020B0604030504040204" pitchFamily="50" charset="-128"/>
                          <a:ea typeface="Meiryo UI" panose="020B0604030504040204" pitchFamily="50" charset="-128"/>
                        </a:rPr>
                        <a:t>Yes</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3873392467"/>
                  </a:ext>
                </a:extLst>
              </a:tr>
              <a:tr h="787289">
                <a:tc vMerge="1">
                  <a:txBody>
                    <a:bodyPr/>
                    <a:lstStyle/>
                    <a:p>
                      <a:endParaRPr kumimoji="1" lang="ja-JP" altLang="en-US"/>
                    </a:p>
                  </a:txBody>
                  <a:tcPr/>
                </a:tc>
                <a:tc>
                  <a:txBody>
                    <a:bodyPr/>
                    <a:lstStyle/>
                    <a:p>
                      <a:pPr algn="l" fontAlgn="ctr"/>
                      <a:r>
                        <a:rPr lang="en-US" altLang="ja-JP" sz="1400" b="0" i="0" u="none" strike="noStrike">
                          <a:solidFill>
                            <a:schemeClr val="tx1"/>
                          </a:solidFill>
                          <a:effectLst/>
                          <a:latin typeface="Meiryo UI" panose="020B0604030504040204" pitchFamily="50" charset="-128"/>
                          <a:ea typeface="Meiryo UI" panose="020B0604030504040204" pitchFamily="50" charset="-128"/>
                        </a:rPr>
                        <a:t>- OBD</a:t>
                      </a:r>
                      <a:r>
                        <a:rPr lang="ja-JP" altLang="en-US" sz="1400" b="0" i="0" u="none" strike="noStrike" baseline="0">
                          <a:solidFill>
                            <a:schemeClr val="tx1"/>
                          </a:solidFill>
                          <a:effectLst/>
                          <a:latin typeface="Meiryo UI" panose="020B0604030504040204" pitchFamily="50" charset="-128"/>
                          <a:ea typeface="Meiryo UI" panose="020B0604030504040204" pitchFamily="50" charset="-128"/>
                        </a:rPr>
                        <a:t> </a:t>
                      </a:r>
                      <a:r>
                        <a:rPr lang="en-US" altLang="ja-JP" sz="1400" b="0" i="0" u="none" strike="noStrike" baseline="0">
                          <a:solidFill>
                            <a:schemeClr val="tx1"/>
                          </a:solidFill>
                          <a:effectLst/>
                          <a:latin typeface="Meiryo UI" panose="020B0604030504040204" pitchFamily="50" charset="-128"/>
                          <a:ea typeface="Meiryo UI" panose="020B0604030504040204" pitchFamily="50" charset="-128"/>
                        </a:rPr>
                        <a:t>demo test</a:t>
                      </a:r>
                      <a:endParaRPr lang="en-US" altLang="ja-JP" sz="1400" b="0" i="0" u="none" strike="dblStrike" baseline="0">
                        <a:solidFill>
                          <a:schemeClr val="tx1"/>
                        </a:solidFill>
                        <a:effectLst/>
                        <a:latin typeface="Meiryo UI" panose="020B0604030504040204" pitchFamily="50" charset="-128"/>
                        <a:ea typeface="Meiryo UI" panose="020B0604030504040204" pitchFamily="50" charset="-128"/>
                      </a:endParaRPr>
                    </a:p>
                    <a:p>
                      <a:pPr marL="0" marR="0" indent="0" algn="l" defTabSz="914400" rtl="0" eaLnBrk="1" fontAlgn="ctr" latinLnBrk="0" hangingPunct="1">
                        <a:lnSpc>
                          <a:spcPct val="100000"/>
                        </a:lnSpc>
                        <a:spcBef>
                          <a:spcPts val="0"/>
                        </a:spcBef>
                        <a:spcAft>
                          <a:spcPts val="0"/>
                        </a:spcAft>
                        <a:buClrTx/>
                        <a:buSzTx/>
                        <a:buFontTx/>
                        <a:buNone/>
                        <a:tabLst/>
                        <a:defRPr/>
                      </a:pPr>
                      <a:r>
                        <a:rPr lang="en-US" altLang="ja-JP" sz="1400" b="0" i="0" u="none" strike="noStrike" baseline="0">
                          <a:solidFill>
                            <a:schemeClr val="tx1"/>
                          </a:solidFill>
                          <a:effectLst/>
                          <a:latin typeface="Meiryo UI" panose="020B0604030504040204" pitchFamily="50" charset="-128"/>
                          <a:ea typeface="Meiryo UI" panose="020B0604030504040204" pitchFamily="50" charset="-128"/>
                        </a:rPr>
                        <a:t>- </a:t>
                      </a:r>
                      <a:r>
                        <a:rPr lang="en-US" altLang="ja-JP" sz="1400" b="0" i="0" u="none" strike="noStrike">
                          <a:solidFill>
                            <a:schemeClr val="tx1"/>
                          </a:solidFill>
                          <a:effectLst/>
                          <a:latin typeface="Meiryo UI" panose="020B0604030504040204" pitchFamily="50" charset="-128"/>
                          <a:ea typeface="Meiryo UI" panose="020B0604030504040204" pitchFamily="50" charset="-128"/>
                        </a:rPr>
                        <a:t>OBD</a:t>
                      </a:r>
                      <a:r>
                        <a:rPr lang="ja-JP" altLang="en-US" sz="1400" b="0" i="0" u="none" strike="noStrike" baseline="0">
                          <a:solidFill>
                            <a:schemeClr val="tx1"/>
                          </a:solidFill>
                          <a:effectLst/>
                          <a:latin typeface="Meiryo UI" panose="020B0604030504040204" pitchFamily="50" charset="-128"/>
                          <a:ea typeface="Meiryo UI" panose="020B0604030504040204" pitchFamily="50" charset="-128"/>
                        </a:rPr>
                        <a:t> </a:t>
                      </a:r>
                      <a:r>
                        <a:rPr lang="en-US" altLang="ja-JP" sz="1400" b="0" i="0" u="none" strike="noStrike" baseline="0">
                          <a:solidFill>
                            <a:schemeClr val="tx1"/>
                          </a:solidFill>
                          <a:effectLst/>
                          <a:latin typeface="Meiryo UI" panose="020B0604030504040204" pitchFamily="50" charset="-128"/>
                          <a:ea typeface="Meiryo UI" panose="020B0604030504040204" pitchFamily="50" charset="-128"/>
                        </a:rPr>
                        <a:t>tool for demo test( if new item/system there)</a:t>
                      </a:r>
                      <a:endParaRPr lang="en-US" altLang="ja-JP" sz="1400" b="0" i="0" u="none" strike="noStrike">
                        <a:solidFill>
                          <a:schemeClr val="tx1"/>
                        </a:solidFill>
                        <a:effectLst/>
                        <a:latin typeface="Meiryo UI" panose="020B0604030504040204" pitchFamily="50" charset="-128"/>
                        <a:ea typeface="Meiryo UI" panose="020B0604030504040204" pitchFamily="50" charset="-128"/>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chemeClr val="tx1"/>
                          </a:solidFill>
                          <a:effectLst/>
                          <a:latin typeface="Meiryo UI" panose="020B0604030504040204" pitchFamily="50" charset="-128"/>
                          <a:ea typeface="Meiryo UI" panose="020B0604030504040204" pitchFamily="50" charset="-128"/>
                        </a:rPr>
                        <a:t>Yes</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chemeClr val="tx1"/>
                          </a:solidFill>
                          <a:effectLst/>
                          <a:latin typeface="Meiryo UI" panose="020B0604030504040204" pitchFamily="50" charset="-128"/>
                          <a:ea typeface="Meiryo UI" panose="020B0604030504040204" pitchFamily="50" charset="-128"/>
                        </a:rPr>
                        <a:t>No</a:t>
                      </a:r>
                    </a:p>
                  </a:txBody>
                  <a:tcPr marL="9525" marR="9525" marT="9525" marB="0" anchor="ctr">
                    <a:lnL w="12700" cmpd="sng">
                      <a:solidFill>
                        <a:sysClr val="window" lastClr="FFFFFF"/>
                      </a:solidFill>
                    </a:lnL>
                    <a:lnR w="12700" cmpd="sng">
                      <a:solidFill>
                        <a:sysClr val="window" lastClr="FFFFFF"/>
                      </a:solidFill>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954799068"/>
                  </a:ext>
                </a:extLst>
              </a:tr>
              <a:tr h="662119">
                <a:tc vMerge="1">
                  <a:txBody>
                    <a:bodyPr/>
                    <a:lstStyle/>
                    <a:p>
                      <a:endParaRPr kumimoji="1" lang="ja-JP" altLang="en-US"/>
                    </a:p>
                  </a:txBody>
                  <a:tcPr/>
                </a:tc>
                <a:tc>
                  <a:txBody>
                    <a:bodyPr/>
                    <a:lstStyle/>
                    <a:p>
                      <a:pPr algn="l" fontAlgn="ctr"/>
                      <a:r>
                        <a:rPr lang="en-US" altLang="ja-JP" sz="1400" b="0" i="0" u="none" strike="noStrike">
                          <a:solidFill>
                            <a:schemeClr val="tx1"/>
                          </a:solidFill>
                          <a:effectLst/>
                          <a:latin typeface="Meiryo UI" panose="020B0604030504040204" pitchFamily="50" charset="-128"/>
                          <a:ea typeface="Meiryo UI" panose="020B0604030504040204" pitchFamily="50" charset="-128"/>
                        </a:rPr>
                        <a:t>PVE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chemeClr val="tx1"/>
                          </a:solidFill>
                          <a:effectLst/>
                          <a:latin typeface="Meiryo UI" panose="020B0604030504040204" pitchFamily="50" charset="-128"/>
                          <a:ea typeface="Meiryo UI" panose="020B0604030504040204" pitchFamily="50" charset="-128"/>
                        </a:rPr>
                        <a:t>No</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chemeClr val="tx1"/>
                          </a:solidFill>
                          <a:effectLst/>
                          <a:latin typeface="Meiryo UI" panose="020B0604030504040204" pitchFamily="50" charset="-128"/>
                          <a:ea typeface="Meiryo UI" panose="020B0604030504040204" pitchFamily="50" charset="-128"/>
                        </a:rPr>
                        <a:t>No</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018608392"/>
                  </a:ext>
                </a:extLst>
              </a:tr>
              <a:tr h="662119">
                <a:tc vMerge="1">
                  <a:txBody>
                    <a:bodyPr/>
                    <a:lstStyle/>
                    <a:p>
                      <a:pPr algn="ctr" fontAlgn="ctr"/>
                      <a:endParaRPr lang="en-US" sz="14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12700" cmpd="sng">
                      <a:solidFill>
                        <a:sysClr val="window" lastClr="FFFFFF"/>
                      </a:solidFill>
                    </a:lnL>
                    <a:lnR w="12700" cap="flat" cmpd="sng" algn="ctr">
                      <a:solidFill>
                        <a:schemeClr val="bg1"/>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pPr algn="l" fontAlgn="ctr"/>
                      <a:r>
                        <a:rPr lang="en-US" altLang="ja-JP" sz="1400" b="0" i="0" u="none" strike="noStrike">
                          <a:solidFill>
                            <a:schemeClr val="tx1"/>
                          </a:solidFill>
                          <a:effectLst/>
                          <a:latin typeface="Meiryo UI" panose="020B0604030504040204" pitchFamily="50" charset="-128"/>
                          <a:ea typeface="Meiryo UI" panose="020B0604030504040204" pitchFamily="50" charset="-128"/>
                        </a:rPr>
                        <a:t>others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algn="ctr" fontAlgn="ctr"/>
                      <a:r>
                        <a:rPr lang="en-US" altLang="ja-JP" sz="1400" b="0" i="0" u="none" strike="noStrike">
                          <a:solidFill>
                            <a:schemeClr val="tx1"/>
                          </a:solidFill>
                          <a:effectLst/>
                          <a:latin typeface="Meiryo UI" panose="020B0604030504040204" pitchFamily="50" charset="-128"/>
                          <a:ea typeface="Meiryo UI" panose="020B0604030504040204" pitchFamily="50" charset="-128"/>
                        </a:rPr>
                        <a:t>NA</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pPr algn="ctr" fontAlgn="ctr"/>
                      <a:r>
                        <a:rPr lang="en-US" altLang="ja-JP" sz="1400" b="0" i="0" u="none" strike="noStrike">
                          <a:solidFill>
                            <a:schemeClr val="tx1"/>
                          </a:solidFill>
                          <a:effectLst/>
                          <a:latin typeface="Meiryo UI" panose="020B0604030504040204" pitchFamily="50" charset="-128"/>
                          <a:ea typeface="Meiryo UI" panose="020B0604030504040204" pitchFamily="50" charset="-128"/>
                        </a:rPr>
                        <a:t>NA</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350703927"/>
                  </a:ext>
                </a:extLst>
              </a:tr>
            </a:tbl>
          </a:graphicData>
        </a:graphic>
      </p:graphicFrame>
    </p:spTree>
    <p:extLst>
      <p:ext uri="{BB962C8B-B14F-4D97-AF65-F5344CB8AC3E}">
        <p14:creationId xmlns:p14="http://schemas.microsoft.com/office/powerpoint/2010/main" val="185590947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13"/>
          <p:cNvSpPr>
            <a:spLocks noChangeArrowheads="1"/>
          </p:cNvSpPr>
          <p:nvPr/>
        </p:nvSpPr>
        <p:spPr bwMode="auto">
          <a:xfrm>
            <a:off x="0" y="549616"/>
            <a:ext cx="9109075" cy="13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en-US" altLang="ja-JP" sz="1800" b="1" u="sng">
                <a:latin typeface="Meiryo UI" panose="020B0604030504040204" pitchFamily="50" charset="-128"/>
                <a:ea typeface="Meiryo UI" panose="020B0604030504040204" pitchFamily="50" charset="-128"/>
                <a:cs typeface="Arial" pitchFamily="34" charset="0"/>
              </a:rPr>
              <a:t>Other</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Requirements, Correlation Items</a:t>
            </a:r>
            <a:endParaRPr lang="ja-JP" altLang="en-US" sz="1800" b="1" u="sng">
              <a:latin typeface="Meiryo UI" panose="020B0604030504040204" pitchFamily="50" charset="-128"/>
              <a:ea typeface="Meiryo UI" panose="020B0604030504040204" pitchFamily="50" charset="-128"/>
              <a:cs typeface="Arial" pitchFamily="34" charset="0"/>
            </a:endParaRPr>
          </a:p>
          <a:p>
            <a:pPr marL="552450" lvl="1" indent="-285750" algn="l">
              <a:spcBef>
                <a:spcPts val="300"/>
              </a:spcBef>
              <a:buFontTx/>
              <a:buChar char="-"/>
            </a:pPr>
            <a:r>
              <a:rPr lang="en-US" altLang="ja-JP" sz="1400">
                <a:latin typeface="Meiryo UI" panose="020B0604030504040204" pitchFamily="50" charset="-128"/>
                <a:ea typeface="Meiryo UI" panose="020B0604030504040204" pitchFamily="50" charset="-128"/>
                <a:cs typeface="Arial" pitchFamily="34" charset="0"/>
              </a:rPr>
              <a:t>When any failures or problems related to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EMS occur on Honda test vehicles,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shall analyze and solve them as soon as possible with experts or special team.</a:t>
            </a:r>
          </a:p>
          <a:p>
            <a:pPr marL="552450" lvl="1" indent="-285750" algn="l">
              <a:spcBef>
                <a:spcPts val="300"/>
              </a:spcBef>
              <a:buFontTx/>
              <a:buChar char="-"/>
            </a:pPr>
            <a:r>
              <a:rPr lang="en-US" altLang="ja-JP" sz="1400">
                <a:latin typeface="Meiryo UI" panose="020B0604030504040204" pitchFamily="50" charset="-128"/>
                <a:ea typeface="Meiryo UI" panose="020B0604030504040204" pitchFamily="50" charset="-128"/>
                <a:cs typeface="Arial" pitchFamily="34" charset="0"/>
              </a:rPr>
              <a:t>To avoid any market problem,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and Honda shall carry out joint verification of ECU software and calibration or joint test for EMS quality maturation.</a:t>
            </a:r>
          </a:p>
        </p:txBody>
      </p:sp>
      <p:sp>
        <p:nvSpPr>
          <p:cNvPr id="8" name="Rectangle 13"/>
          <p:cNvSpPr>
            <a:spLocks noChangeArrowheads="1"/>
          </p:cNvSpPr>
          <p:nvPr/>
        </p:nvSpPr>
        <p:spPr bwMode="auto">
          <a:xfrm>
            <a:off x="35496" y="2727114"/>
            <a:ext cx="910850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600"/>
              </a:spcBef>
            </a:pPr>
            <a:r>
              <a:rPr lang="ja-JP" altLang="en-US" sz="1800" b="1" u="sng">
                <a:latin typeface="Meiryo UI" panose="020B0604030504040204" pitchFamily="50" charset="-128"/>
                <a:ea typeface="Meiryo UI" panose="020B0604030504040204" pitchFamily="50" charset="-128"/>
              </a:rPr>
              <a:t>その他の要求・調整項目</a:t>
            </a:r>
            <a:endParaRPr lang="en-US" altLang="ja-JP" sz="1800" b="1" u="sng">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en-US" altLang="ja-JP" sz="1400">
                <a:latin typeface="Meiryo UI" panose="020B0604030504040204" pitchFamily="50" charset="-128"/>
                <a:ea typeface="Meiryo UI" panose="020B0604030504040204" pitchFamily="50" charset="-128"/>
              </a:rPr>
              <a:t>Honda </a:t>
            </a:r>
            <a:r>
              <a:rPr lang="ja-JP" altLang="en-US" sz="1400">
                <a:latin typeface="Meiryo UI" panose="020B0604030504040204" pitchFamily="50" charset="-128"/>
                <a:ea typeface="Meiryo UI" panose="020B0604030504040204" pitchFamily="50" charset="-128"/>
              </a:rPr>
              <a:t>テスト車両に</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関連不具合が発覚した場合、</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は専門家や解析チームを編成して</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迅速に解決すること</a:t>
            </a:r>
            <a:endParaRPr lang="en-US" altLang="ja-JP" sz="1400">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rPr>
              <a:t>市場品質不具合を発生させない様、</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と</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で合同</a:t>
            </a:r>
            <a:r>
              <a:rPr lang="en-US" altLang="ja-JP" sz="1400">
                <a:latin typeface="Meiryo UI" panose="020B0604030504040204" pitchFamily="50" charset="-128"/>
                <a:ea typeface="Meiryo UI" panose="020B0604030504040204" pitchFamily="50" charset="-128"/>
              </a:rPr>
              <a:t>SW/</a:t>
            </a:r>
            <a:r>
              <a:rPr lang="ja-JP" altLang="en-US" sz="1400">
                <a:latin typeface="Meiryo UI" panose="020B0604030504040204" pitchFamily="50" charset="-128"/>
                <a:ea typeface="Meiryo UI" panose="020B0604030504040204" pitchFamily="50" charset="-128"/>
              </a:rPr>
              <a:t>データ</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完成車検証を実施すること</a:t>
            </a:r>
            <a:endParaRPr lang="en-US" altLang="ja-JP" sz="1400">
              <a:latin typeface="Meiryo UI" panose="020B0604030504040204" pitchFamily="50" charset="-128"/>
              <a:ea typeface="Meiryo UI" panose="020B0604030504040204" pitchFamily="50" charset="-128"/>
            </a:endParaRPr>
          </a:p>
        </p:txBody>
      </p:sp>
      <p:sp>
        <p:nvSpPr>
          <p:cNvPr id="10"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20. Necessary</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Support (5/5)</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68606780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328623538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Box 7"/>
          <p:cNvSpPr txBox="1">
            <a:spLocks noChangeArrowheads="1"/>
          </p:cNvSpPr>
          <p:nvPr/>
        </p:nvSpPr>
        <p:spPr bwMode="auto">
          <a:xfrm>
            <a:off x="35496" y="568436"/>
            <a:ext cx="9004001" cy="4819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914400" indent="-45720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pPr>
            <a:r>
              <a:rPr lang="en-US" altLang="ja-JP" sz="1800" b="1" u="sng">
                <a:latin typeface="Meiryo UI" panose="020B0604030504040204" pitchFamily="50" charset="-128"/>
                <a:ea typeface="Meiryo UI" panose="020B0604030504040204" pitchFamily="50" charset="-128"/>
                <a:cs typeface="Arial" pitchFamily="34" charset="0"/>
              </a:rPr>
              <a:t>Prototype Production and</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Test Expense</a:t>
            </a:r>
            <a:endParaRPr lang="ja-JP" altLang="en-US" sz="1800" b="1" u="sng">
              <a:latin typeface="Meiryo UI" panose="020B0604030504040204" pitchFamily="50" charset="-128"/>
              <a:ea typeface="Meiryo UI" panose="020B0604030504040204" pitchFamily="50" charset="-128"/>
              <a:cs typeface="Arial" pitchFamily="34" charset="0"/>
            </a:endParaRP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Honda bears cost for verification tests performed by Honda and samples and test pieces for the tests. </a:t>
            </a:r>
            <a:endParaRPr lang="ja-JP" altLang="en-US" sz="1400">
              <a:latin typeface="Meiryo UI" panose="020B0604030504040204" pitchFamily="50" charset="-128"/>
              <a:ea typeface="Meiryo UI" panose="020B0604030504040204" pitchFamily="50" charset="-128"/>
              <a:cs typeface="Arial" pitchFamily="34" charset="0"/>
            </a:endParaRPr>
          </a:p>
          <a:p>
            <a:pPr marL="800100" lvl="1" indent="-342900" algn="l" eaLnBrk="1" hangingPunct="1">
              <a:lnSpc>
                <a:spcPct val="120000"/>
              </a:lnSpc>
              <a:buFont typeface="+mj-lt"/>
              <a:buAutoNum type="arabicPeriod"/>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bears cost for verification tests performed by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products samples/test pieces.</a:t>
            </a:r>
            <a:endParaRPr lang="ja-JP" altLang="en-US" sz="1400">
              <a:latin typeface="Meiryo UI" panose="020B0604030504040204" pitchFamily="50" charset="-128"/>
              <a:ea typeface="Meiryo UI" panose="020B0604030504040204" pitchFamily="50" charset="-128"/>
              <a:cs typeface="Arial" pitchFamily="34" charset="0"/>
            </a:endParaRP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All vehicles/engines/non-</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parts necessary for calibration work will be provided by Honda.</a:t>
            </a: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All parts for test engines and vehicles shall not have initial failure through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internal evaluation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supply evaluation results to Honda)</a:t>
            </a: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Prototypes and samples including upper/lower limit spec. or sample with thermocouple are supplied to Honda at appropriate prices. Price shall be agreed between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and Honda before the official order.</a:t>
            </a: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Connecting liability test is performed by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recommended  method and specification  items. If there is a differences between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spec. and HES, request to evaluate it to third party by Honda payment.</a:t>
            </a:r>
          </a:p>
          <a:p>
            <a:pPr marL="800100" lvl="1" indent="-342900" algn="l" eaLnBrk="1" hangingPunct="1">
              <a:lnSpc>
                <a:spcPct val="120000"/>
              </a:lnSpc>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Development Cost of ECU software/hardware/calibration define “7. Major judgment &amp; timing” , and prototype parts shall be ordered by the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contract separately ( same as normal parts order)</a:t>
            </a: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3584457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35500" y="541718"/>
            <a:ext cx="9108504" cy="377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ja-JP" altLang="en-US" sz="1800" b="1" u="sng">
                <a:latin typeface="Meiryo UI" panose="020B0604030504040204" pitchFamily="50" charset="-128"/>
                <a:ea typeface="Meiryo UI" panose="020B0604030504040204" pitchFamily="50" charset="-128"/>
              </a:rPr>
              <a:t>開発費、試作品およびテスト費用</a:t>
            </a:r>
          </a:p>
          <a:p>
            <a:pPr marL="723900" indent="-282575" algn="l" eaLnBrk="1" hangingPunct="1">
              <a:lnSpc>
                <a:spcPct val="120000"/>
              </a:lnSpc>
              <a:spcBef>
                <a:spcPts val="600"/>
              </a:spcBef>
              <a:buFont typeface="+mj-lt"/>
              <a:buAutoNum type="arabicPeriod"/>
            </a:pP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は自社で実施する検査、ﾃｽﾄ、及びその試作品やﾃｽﾄﾋﾟｰｽ作成の費用を負担する。</a:t>
            </a:r>
          </a:p>
          <a:p>
            <a:pPr marL="723900" indent="-282575" algn="l" eaLnBrk="1" hangingPunct="1">
              <a:lnSpc>
                <a:spcPct val="120000"/>
              </a:lnSpc>
              <a:spcBef>
                <a:spcPts val="600"/>
              </a:spcBef>
              <a:buFont typeface="+mj-lt"/>
              <a:buAutoNum type="arabicPeriod"/>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製品に対し、自社で実施する検査、ﾃｽﾄ、及びその試作品やﾃｽﾄﾋﾟｰｽ作成費用を負担する。</a:t>
            </a:r>
            <a:endParaRPr lang="en-US" altLang="ja-JP" sz="1400">
              <a:latin typeface="Meiryo UI" panose="020B0604030504040204" pitchFamily="50" charset="-128"/>
              <a:ea typeface="Meiryo UI" panose="020B0604030504040204" pitchFamily="50" charset="-128"/>
            </a:endParaRPr>
          </a:p>
          <a:p>
            <a:pPr marL="723900" indent="-282575" algn="l" eaLnBrk="1" hangingPunct="1">
              <a:lnSpc>
                <a:spcPct val="120000"/>
              </a:lnSpc>
              <a:spcBef>
                <a:spcPts val="600"/>
              </a:spcBef>
              <a:buFont typeface="+mj-lt"/>
              <a:buAutoNum type="arabicPeriod"/>
            </a:pPr>
            <a:r>
              <a:rPr lang="ja-JP" altLang="en-US" sz="1400">
                <a:latin typeface="Meiryo UI" panose="020B0604030504040204" pitchFamily="50" charset="-128"/>
                <a:ea typeface="Meiryo UI" panose="020B0604030504040204" pitchFamily="50" charset="-128"/>
              </a:rPr>
              <a:t>ｷｬﾘﾌﾞﾚｰｼｮﾝに必要な車両</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ｴﾝｼﾞﾝ</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部品（</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製以外）は、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から供給する。</a:t>
            </a:r>
            <a:endParaRPr lang="en-US" altLang="ja-JP" sz="1400">
              <a:latin typeface="Meiryo UI" panose="020B0604030504040204" pitchFamily="50" charset="-128"/>
              <a:ea typeface="Meiryo UI" panose="020B0604030504040204" pitchFamily="50" charset="-128"/>
            </a:endParaRPr>
          </a:p>
          <a:p>
            <a:pPr marL="723900" indent="-282575" algn="l" eaLnBrk="1" hangingPunct="1">
              <a:lnSpc>
                <a:spcPct val="120000"/>
              </a:lnSpc>
              <a:spcBef>
                <a:spcPts val="600"/>
              </a:spcBef>
              <a:buFont typeface="+mj-lt"/>
              <a:buAutoNum type="arabicPeriod"/>
            </a:pPr>
            <a:r>
              <a:rPr lang="ja-JP" altLang="en-US" sz="1400">
                <a:latin typeface="Meiryo UI" panose="020B0604030504040204" pitchFamily="50" charset="-128"/>
                <a:ea typeface="Meiryo UI" panose="020B0604030504040204" pitchFamily="50" charset="-128"/>
              </a:rPr>
              <a:t>ﾃｽﾄ車両への適用部品（</a:t>
            </a:r>
            <a:r>
              <a:rPr lang="en-US" altLang="ja-JP" sz="1400">
                <a:latin typeface="Meiryo UI" panose="020B0604030504040204" pitchFamily="50" charset="-128"/>
                <a:ea typeface="Meiryo UI" panose="020B0604030504040204" pitchFamily="50" charset="-128"/>
              </a:rPr>
              <a:t>ECU</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etc.</a:t>
            </a:r>
            <a:r>
              <a:rPr lang="ja-JP" altLang="en-US" sz="1400">
                <a:latin typeface="Meiryo UI" panose="020B0604030504040204" pitchFamily="50" charset="-128"/>
                <a:ea typeface="Meiryo UI" panose="020B0604030504040204" pitchFamily="50" charset="-128"/>
              </a:rPr>
              <a:t>）は、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社内評価を終了させ、初期不具合発生なき事。</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（検査データを添付すること）</a:t>
            </a:r>
            <a:endParaRPr lang="en-US" altLang="ja-JP" sz="1400">
              <a:latin typeface="Meiryo UI" panose="020B0604030504040204" pitchFamily="50" charset="-128"/>
              <a:ea typeface="Meiryo UI" panose="020B0604030504040204" pitchFamily="50" charset="-128"/>
            </a:endParaRPr>
          </a:p>
          <a:p>
            <a:pPr marL="723900" indent="-282575" algn="l" eaLnBrk="1" hangingPunct="1">
              <a:lnSpc>
                <a:spcPct val="120000"/>
              </a:lnSpc>
              <a:spcBef>
                <a:spcPts val="600"/>
              </a:spcBef>
              <a:buFont typeface="+mj-lt"/>
              <a:buAutoNum type="arabicPeriod"/>
            </a:pP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要求に伴い、</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要求に依る試作品やサンプル（熱伝対付）は、適正価格（資材整合）で</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へ</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供給すること。</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と</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（資材）間で、必要に応じて事前価格を合意を行う。</a:t>
            </a:r>
          </a:p>
          <a:p>
            <a:pPr marL="723900" indent="-282575" algn="l" eaLnBrk="1" hangingPunct="1">
              <a:lnSpc>
                <a:spcPct val="120000"/>
              </a:lnSpc>
              <a:spcBef>
                <a:spcPts val="600"/>
              </a:spcBef>
              <a:buFont typeface="+mj-lt"/>
              <a:buAutoNum type="arabicPeriod"/>
            </a:pPr>
            <a:r>
              <a:rPr lang="ja-JP" altLang="en-US" sz="1400">
                <a:latin typeface="Meiryo UI" panose="020B0604030504040204" pitchFamily="50" charset="-128"/>
                <a:ea typeface="Meiryo UI" panose="020B0604030504040204" pitchFamily="50" charset="-128"/>
              </a:rPr>
              <a:t>接続信頼性試験については、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が市場保証する</a:t>
            </a:r>
            <a:r>
              <a:rPr lang="en-US" altLang="ja-JP" sz="1400">
                <a:latin typeface="Meiryo UI" panose="020B0604030504040204" pitchFamily="50" charset="-128"/>
                <a:ea typeface="Meiryo UI" panose="020B0604030504040204" pitchFamily="50" charset="-128"/>
              </a:rPr>
              <a:t>Spec</a:t>
            </a:r>
            <a:r>
              <a:rPr lang="ja-JP" altLang="en-US" sz="1400">
                <a:latin typeface="Meiryo UI" panose="020B0604030504040204" pitchFamily="50" charset="-128"/>
                <a:ea typeface="Meiryo UI" panose="020B0604030504040204" pitchFamily="50" charset="-128"/>
              </a:rPr>
              <a:t>項目を主とし、</a:t>
            </a:r>
            <a:r>
              <a:rPr lang="en-US" altLang="ja-JP" sz="1400">
                <a:latin typeface="Meiryo UI" panose="020B0604030504040204" pitchFamily="50" charset="-128"/>
                <a:ea typeface="Meiryo UI" panose="020B0604030504040204" pitchFamily="50" charset="-128"/>
              </a:rPr>
              <a:t>HES</a:t>
            </a:r>
            <a:r>
              <a:rPr lang="ja-JP" altLang="en-US" sz="1400">
                <a:latin typeface="Meiryo UI" panose="020B0604030504040204" pitchFamily="50" charset="-128"/>
                <a:ea typeface="Meiryo UI" panose="020B0604030504040204" pitchFamily="50" charset="-128"/>
              </a:rPr>
              <a:t>との差の領域は第３者機関へ</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依頼する。費用は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負担とする。</a:t>
            </a:r>
          </a:p>
          <a:p>
            <a:pPr marL="723900" indent="-282575" algn="l" eaLnBrk="1" hangingPunct="1">
              <a:lnSpc>
                <a:spcPct val="120000"/>
              </a:lnSpc>
              <a:spcBef>
                <a:spcPts val="600"/>
              </a:spcBef>
              <a:buFont typeface="+mj-lt"/>
              <a:buAutoNum type="arabicPeriod"/>
            </a:pPr>
            <a:r>
              <a:rPr lang="ja-JP" altLang="en-US" sz="1400">
                <a:latin typeface="Meiryo UI" panose="020B0604030504040204" pitchFamily="50" charset="-128"/>
                <a:ea typeface="Meiryo UI" panose="020B0604030504040204" pitchFamily="50" charset="-128"/>
              </a:rPr>
              <a:t>開発費は「</a:t>
            </a:r>
            <a:r>
              <a:rPr lang="en-US" altLang="ja-JP" sz="1400">
                <a:latin typeface="Meiryo UI" panose="020B0604030504040204" pitchFamily="50" charset="-128"/>
                <a:ea typeface="Meiryo UI" panose="020B0604030504040204" pitchFamily="50" charset="-128"/>
              </a:rPr>
              <a:t>7. Major judgment &amp; timing</a:t>
            </a:r>
            <a:r>
              <a:rPr lang="ja-JP" altLang="en-US" sz="1400">
                <a:latin typeface="Meiryo UI" panose="020B0604030504040204" pitchFamily="50" charset="-128"/>
                <a:ea typeface="Meiryo UI" panose="020B0604030504040204" pitchFamily="50" charset="-128"/>
              </a:rPr>
              <a:t>」に記された定義に依る。試作品費用は、試作部品</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発注伝票にて支払われる。</a:t>
            </a:r>
            <a:endParaRPr lang="en-US" altLang="ja-JP" sz="1400">
              <a:latin typeface="Meiryo UI" panose="020B0604030504040204" pitchFamily="50" charset="-128"/>
              <a:ea typeface="Meiryo UI" panose="020B0604030504040204" pitchFamily="50" charset="-128"/>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(2/16)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126758185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13"/>
          <p:cNvSpPr>
            <a:spLocks noChangeArrowheads="1"/>
          </p:cNvSpPr>
          <p:nvPr/>
        </p:nvSpPr>
        <p:spPr bwMode="auto">
          <a:xfrm>
            <a:off x="34930" y="518163"/>
            <a:ext cx="9109075" cy="3070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ts val="300"/>
              </a:spcBef>
            </a:pPr>
            <a:r>
              <a:rPr lang="en-US" altLang="ja-JP" sz="1800" b="1" u="sng">
                <a:latin typeface="Meiryo UI" panose="020B0604030504040204" pitchFamily="50" charset="-128"/>
                <a:ea typeface="Meiryo UI" panose="020B0604030504040204" pitchFamily="50" charset="-128"/>
                <a:cs typeface="Arial" pitchFamily="34" charset="0"/>
              </a:rPr>
              <a:t>Other</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Requirements, Correlation Items</a:t>
            </a:r>
            <a:endParaRPr lang="ja-JP" altLang="en-US" sz="1800" b="1" u="sng">
              <a:latin typeface="Meiryo UI" panose="020B0604030504040204" pitchFamily="50" charset="-128"/>
              <a:ea typeface="Meiryo UI" panose="020B0604030504040204" pitchFamily="50" charset="-128"/>
              <a:cs typeface="Arial" pitchFamily="34" charset="0"/>
            </a:endParaRPr>
          </a:p>
          <a:p>
            <a:pPr marL="552450" lvl="1" indent="-285750" algn="l">
              <a:spcBef>
                <a:spcPts val="300"/>
              </a:spcBef>
              <a:buFontTx/>
              <a:buChar char="-"/>
            </a:pPr>
            <a:r>
              <a:rPr lang="en-US" altLang="ja-JP" sz="1400">
                <a:latin typeface="Meiryo UI" panose="020B0604030504040204" pitchFamily="50" charset="-128"/>
                <a:ea typeface="Meiryo UI" panose="020B0604030504040204" pitchFamily="50" charset="-128"/>
                <a:cs typeface="Arial" pitchFamily="34" charset="0"/>
              </a:rPr>
              <a:t>Verification of interface area</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Verification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test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results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and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discussion/agreement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results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shall</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be</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recorded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in EMS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sheet.</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parts application, feasibility of interfaces such as stay, harness, fuel hose need to be verified,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and Honda shall discuss and decide countermeasures for concerns as needed.</a:t>
            </a:r>
          </a:p>
          <a:p>
            <a:pPr marL="552450" lvl="1" indent="-285750" algn="l">
              <a:spcBef>
                <a:spcPts val="300"/>
              </a:spcBef>
              <a:buFontTx/>
              <a:buChar char="-"/>
            </a:pPr>
            <a:r>
              <a:rPr lang="en-US" altLang="ja-JP" sz="1400">
                <a:latin typeface="Meiryo UI" panose="020B0604030504040204" pitchFamily="50" charset="-128"/>
                <a:ea typeface="Meiryo UI" panose="020B0604030504040204" pitchFamily="50" charset="-128"/>
                <a:cs typeface="Arial" pitchFamily="34" charset="0"/>
              </a:rPr>
              <a:t>Verify system reliability by analysis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tool</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such</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FTA</a:t>
            </a:r>
            <a:r>
              <a:rPr lang="ja-JP" altLang="en-US" sz="1400">
                <a:latin typeface="Meiryo UI" panose="020B0604030504040204" pitchFamily="50" charset="-128"/>
                <a:ea typeface="Meiryo UI" panose="020B0604030504040204" pitchFamily="50" charset="-128"/>
                <a:cs typeface="Arial" pitchFamily="34" charset="0"/>
              </a:rPr>
              <a:t>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Extract concerns by tools such as FTA analysis at first stage of development.</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Fundamental viewpoint is to prove that there is no failure mode which directly causes serious</a:t>
            </a:r>
            <a:br>
              <a:rPr lang="en-US" altLang="ja-JP" sz="1400">
                <a:latin typeface="Meiryo UI" panose="020B0604030504040204" pitchFamily="50" charset="-128"/>
                <a:ea typeface="Meiryo UI" panose="020B0604030504040204" pitchFamily="50" charset="-128"/>
                <a:cs typeface="Arial" pitchFamily="34" charset="0"/>
              </a:rPr>
            </a:b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 phenomenon such as engine stall, engine racing, fire, etc.</a:t>
            </a:r>
          </a:p>
          <a:p>
            <a:pPr marL="552450" lvl="1" indent="-285750" algn="l">
              <a:spcBef>
                <a:spcPts val="300"/>
              </a:spcBef>
              <a:buFontTx/>
              <a:buChar char="-"/>
            </a:pPr>
            <a:r>
              <a:rPr lang="en-US" altLang="ja-JP" sz="1400">
                <a:latin typeface="Meiryo UI" panose="020B0604030504040204" pitchFamily="50" charset="-128"/>
                <a:ea typeface="Meiryo UI" panose="020B0604030504040204" pitchFamily="50" charset="-128"/>
                <a:cs typeface="Arial" pitchFamily="34" charset="0"/>
              </a:rPr>
              <a:t>Necessary information for calibration</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EMS input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signals for calibration (sensor signal, tolerance, sensing allowance area etc.)</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need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be discussed and defined at first stage of development.</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10" name="Rectangle 13"/>
          <p:cNvSpPr>
            <a:spLocks noChangeArrowheads="1"/>
          </p:cNvSpPr>
          <p:nvPr/>
        </p:nvSpPr>
        <p:spPr bwMode="auto">
          <a:xfrm>
            <a:off x="35495" y="3861048"/>
            <a:ext cx="9213007"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300"/>
              </a:spcBef>
            </a:pPr>
            <a:r>
              <a:rPr lang="ja-JP" altLang="en-US" sz="1800" b="1" u="sng">
                <a:latin typeface="Meiryo UI" panose="020B0604030504040204" pitchFamily="50" charset="-128"/>
                <a:ea typeface="Meiryo UI" panose="020B0604030504040204" pitchFamily="50" charset="-128"/>
              </a:rPr>
              <a:t>その他の要求・調整項目</a:t>
            </a:r>
            <a:endParaRPr lang="en-US" altLang="ja-JP" sz="1800" b="1">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rPr>
              <a:t>狭間領域の検証</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検証結果・協議結果は</a:t>
            </a:r>
            <a:r>
              <a:rPr lang="en-US" altLang="ja-JP" sz="1400">
                <a:latin typeface="Meiryo UI" panose="020B0604030504040204" pitchFamily="50" charset="-128"/>
                <a:ea typeface="Meiryo UI" panose="020B0604030504040204" pitchFamily="50" charset="-128"/>
              </a:rPr>
              <a:t>EMS</a:t>
            </a:r>
            <a:r>
              <a:rPr lang="ja-JP" altLang="en-US" sz="1400">
                <a:latin typeface="Meiryo UI" panose="020B0604030504040204" pitchFamily="50" charset="-128"/>
                <a:ea typeface="Meiryo UI" panose="020B0604030504040204" pitchFamily="50" charset="-128"/>
              </a:rPr>
              <a:t>ｼｰﾄに記載して管理すること</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部品搭載に当たり、ｽﾃｰ</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ﾊｰﾈｽ</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燃料ﾎｰｽといった界面取付構造の成立性について検証を行い、</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   懸案項目については両社間の協議によって対策を決定する。</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（例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Injector</a:t>
            </a:r>
            <a:r>
              <a:rPr lang="ja-JP" altLang="en-US" sz="1400">
                <a:latin typeface="Meiryo UI" panose="020B0604030504040204" pitchFamily="50" charset="-128"/>
                <a:ea typeface="Meiryo UI" panose="020B0604030504040204" pitchFamily="50" charset="-128"/>
              </a:rPr>
              <a:t>シール構造部、締め付け部）</a:t>
            </a:r>
            <a:endParaRPr lang="en-US" altLang="ja-JP" sz="1400" strike="dblStrike">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en-US" altLang="ja-JP" sz="1400">
                <a:latin typeface="Meiryo UI" panose="020B0604030504040204" pitchFamily="50" charset="-128"/>
                <a:ea typeface="Meiryo UI" panose="020B0604030504040204" pitchFamily="50" charset="-128"/>
              </a:rPr>
              <a:t>FTA</a:t>
            </a:r>
            <a:r>
              <a:rPr lang="ja-JP" altLang="en-US" sz="1400">
                <a:latin typeface="Meiryo UI" panose="020B0604030504040204" pitchFamily="50" charset="-128"/>
                <a:ea typeface="Meiryo UI" panose="020B0604030504040204" pitchFamily="50" charset="-128"/>
              </a:rPr>
              <a:t>ﾂｰﾙなどを用いたｼｽﾃﾑ信頼性検証</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開発初期段階に於いて、</a:t>
            </a:r>
            <a:r>
              <a:rPr lang="en-US" altLang="ja-JP" sz="1400">
                <a:latin typeface="Meiryo UI" panose="020B0604030504040204" pitchFamily="50" charset="-128"/>
                <a:ea typeface="Meiryo UI" panose="020B0604030504040204" pitchFamily="50" charset="-128"/>
              </a:rPr>
              <a:t>FTA</a:t>
            </a:r>
            <a:r>
              <a:rPr lang="ja-JP" altLang="en-US" sz="1400">
                <a:latin typeface="Meiryo UI" panose="020B0604030504040204" pitchFamily="50" charset="-128"/>
                <a:ea typeface="Meiryo UI" panose="020B0604030504040204" pitchFamily="50" charset="-128"/>
              </a:rPr>
              <a:t>検証などを用い課題抽出を行う。</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基本的観点は、１次故障で重大事象</a:t>
            </a:r>
            <a:r>
              <a:rPr lang="en-US" altLang="ja-JP" sz="1400">
                <a:latin typeface="Meiryo UI" panose="020B0604030504040204" pitchFamily="50" charset="-128"/>
                <a:ea typeface="Meiryo UI" panose="020B0604030504040204" pitchFamily="50" charset="-128"/>
              </a:rPr>
              <a:t>(ENG</a:t>
            </a:r>
            <a:r>
              <a:rPr lang="ja-JP" altLang="en-US" sz="1400">
                <a:latin typeface="Meiryo UI" panose="020B0604030504040204" pitchFamily="50" charset="-128"/>
                <a:ea typeface="Meiryo UI" panose="020B0604030504040204" pitchFamily="50" charset="-128"/>
              </a:rPr>
              <a:t>停止、</a:t>
            </a:r>
            <a:r>
              <a:rPr lang="en-US" altLang="ja-JP" sz="1400">
                <a:latin typeface="Meiryo UI" panose="020B0604030504040204" pitchFamily="50" charset="-128"/>
                <a:ea typeface="Meiryo UI" panose="020B0604030504040204" pitchFamily="50" charset="-128"/>
              </a:rPr>
              <a:t>ENG</a:t>
            </a:r>
            <a:r>
              <a:rPr lang="ja-JP" altLang="en-US" sz="1400">
                <a:latin typeface="Meiryo UI" panose="020B0604030504040204" pitchFamily="50" charset="-128"/>
                <a:ea typeface="Meiryo UI" panose="020B0604030504040204" pitchFamily="50" charset="-128"/>
              </a:rPr>
              <a:t>吹き上がり、火災</a:t>
            </a:r>
            <a:r>
              <a:rPr lang="en-US" altLang="ja-JP" sz="1400">
                <a:latin typeface="Meiryo UI" panose="020B0604030504040204" pitchFamily="50" charset="-128"/>
                <a:ea typeface="Meiryo UI" panose="020B0604030504040204" pitchFamily="50" charset="-128"/>
              </a:rPr>
              <a:t>etc.)</a:t>
            </a:r>
            <a:r>
              <a:rPr lang="ja-JP" altLang="en-US" sz="1400">
                <a:latin typeface="Meiryo UI" panose="020B0604030504040204" pitchFamily="50" charset="-128"/>
                <a:ea typeface="Meiryo UI" panose="020B0604030504040204" pitchFamily="50" charset="-128"/>
              </a:rPr>
              <a:t>に至らない事を提示すること</a:t>
            </a:r>
            <a:endParaRPr lang="en-US" altLang="ja-JP" sz="1400">
              <a:latin typeface="Meiryo UI" panose="020B0604030504040204" pitchFamily="50" charset="-128"/>
              <a:ea typeface="Meiryo UI" panose="020B0604030504040204" pitchFamily="50" charset="-128"/>
            </a:endParaRPr>
          </a:p>
          <a:p>
            <a:pPr marL="534988" lvl="1" indent="-285750" algn="l">
              <a:spcBef>
                <a:spcPts val="600"/>
              </a:spcBef>
              <a:buFontTx/>
              <a:buChar char="-"/>
            </a:pPr>
            <a:r>
              <a:rPr lang="ja-JP" altLang="en-US" sz="1400">
                <a:latin typeface="Meiryo UI" panose="020B0604030504040204" pitchFamily="50" charset="-128"/>
                <a:ea typeface="Meiryo UI" panose="020B0604030504040204" pitchFamily="50" charset="-128"/>
              </a:rPr>
              <a:t>キャリブレーション必要情報</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キャリブレーションに必要な入力信号（センサー信号</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情報</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公差、センシング許容範囲</a:t>
            </a:r>
            <a:r>
              <a:rPr lang="en-US" altLang="ja-JP" sz="1400">
                <a:latin typeface="Meiryo UI" panose="020B0604030504040204" pitchFamily="50" charset="-128"/>
                <a:ea typeface="Meiryo UI" panose="020B0604030504040204" pitchFamily="50" charset="-128"/>
              </a:rPr>
              <a:t>etc. </a:t>
            </a:r>
            <a:r>
              <a:rPr lang="ja-JP" altLang="en-US" sz="1400">
                <a:latin typeface="Meiryo UI" panose="020B0604030504040204" pitchFamily="50" charset="-128"/>
                <a:ea typeface="Meiryo UI" panose="020B0604030504040204" pitchFamily="50" charset="-128"/>
              </a:rPr>
              <a:t>）は、</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開発初期段階で打合せ</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整合のこと</a:t>
            </a:r>
            <a:endParaRPr lang="en-US" altLang="ja-JP" sz="1400">
              <a:latin typeface="Meiryo UI" panose="020B0604030504040204" pitchFamily="50" charset="-128"/>
              <a:ea typeface="Meiryo UI" panose="020B0604030504040204" pitchFamily="50" charset="-128"/>
            </a:endParaRPr>
          </a:p>
        </p:txBody>
      </p:sp>
      <p:sp>
        <p:nvSpPr>
          <p:cNvPr id="16"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(3/16)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09044434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Rectangle 13"/>
          <p:cNvSpPr>
            <a:spLocks noChangeArrowheads="1"/>
          </p:cNvSpPr>
          <p:nvPr/>
        </p:nvSpPr>
        <p:spPr bwMode="auto">
          <a:xfrm>
            <a:off x="34931" y="537688"/>
            <a:ext cx="8534304"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a:latin typeface="Meiryo UI" panose="020B0604030504040204" pitchFamily="50" charset="-128"/>
                <a:ea typeface="Meiryo UI" panose="020B0604030504040204" pitchFamily="50" charset="-128"/>
                <a:cs typeface="Arial" pitchFamily="34" charset="0"/>
              </a:rPr>
              <a:t>Other</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Requirements, Correlation Items</a:t>
            </a:r>
            <a:endParaRPr lang="ja-JP" altLang="en-US" sz="1800" b="1" u="sng">
              <a:latin typeface="Meiryo UI" panose="020B0604030504040204" pitchFamily="50" charset="-128"/>
              <a:ea typeface="Meiryo UI" panose="020B0604030504040204" pitchFamily="50" charset="-128"/>
              <a:cs typeface="Arial" pitchFamily="34" charset="0"/>
            </a:endParaRPr>
          </a:p>
          <a:p>
            <a:pPr marL="552450" lvl="1" indent="-285750" algn="l">
              <a:buFontTx/>
              <a:buChar char="-"/>
            </a:pPr>
            <a:r>
              <a:rPr lang="en-US" altLang="ja-JP" sz="1400">
                <a:latin typeface="Meiryo UI" panose="020B0604030504040204" pitchFamily="50" charset="-128"/>
                <a:ea typeface="Meiryo UI" panose="020B0604030504040204" pitchFamily="50" charset="-128"/>
                <a:cs typeface="Arial" pitchFamily="34" charset="0"/>
              </a:rPr>
              <a:t>Honda operating tests</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If there are any test which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can not conduct, Honda will performs. In that case,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has to inform Honda of necessary items for Honda to perform in advance, basically within 3 months after Kick-off meeting. Example; </a:t>
            </a:r>
          </a:p>
          <a:p>
            <a:pPr marL="1009650" lvl="2" indent="-285750" algn="l">
              <a:buFontTx/>
              <a:buChar char="-"/>
            </a:pPr>
            <a:r>
              <a:rPr lang="en-US" altLang="ja-JP" sz="1400">
                <a:latin typeface="Meiryo UI" panose="020B0604030504040204" pitchFamily="50" charset="-128"/>
                <a:ea typeface="Meiryo UI" panose="020B0604030504040204" pitchFamily="50" charset="-128"/>
                <a:cs typeface="Arial" pitchFamily="34" charset="0"/>
              </a:rPr>
              <a:t>Countermeasure for radio noise</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Countermeasure for vehicle-durability(lust, rough road)</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Countermeasure for crash safety, etc.</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Altitude form sea level to up to 2500m high. </a:t>
            </a:r>
          </a:p>
          <a:p>
            <a:pPr marL="1009650" lvl="2" indent="-285750" algn="l">
              <a:buFontTx/>
              <a:buChar char="-"/>
            </a:pPr>
            <a:r>
              <a:rPr lang="en-US" altLang="ja-JP" sz="1400">
                <a:latin typeface="Meiryo UI" panose="020B0604030504040204" pitchFamily="50" charset="-128"/>
                <a:ea typeface="Meiryo UI" panose="020B0604030504040204" pitchFamily="50" charset="-128"/>
                <a:cs typeface="Arial" pitchFamily="34" charset="0"/>
              </a:rPr>
              <a:t>Temp. from minimum -28 </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and up to +35 </a:t>
            </a:r>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 Humidity control not available. </a:t>
            </a:r>
          </a:p>
          <a:p>
            <a:pPr marL="1009650" lvl="2" indent="-285750" algn="l">
              <a:buFontTx/>
              <a:buChar char="-"/>
            </a:pPr>
            <a:r>
              <a:rPr lang="en-US" altLang="ja-JP" sz="1400">
                <a:latin typeface="Meiryo UI" panose="020B0604030504040204" pitchFamily="50" charset="-128"/>
                <a:ea typeface="Meiryo UI" panose="020B0604030504040204" pitchFamily="50" charset="-128"/>
                <a:cs typeface="Arial" pitchFamily="34" charset="0"/>
              </a:rPr>
              <a:t>Simulation tests and calibration activities for altitudes higher than 2500m to be performed at Honda facility Low pressure chamber. Execution of tests done by Honda, evaluation and test specification done by Bosch. </a:t>
            </a:r>
          </a:p>
          <a:p>
            <a:pPr marL="538163" lvl="2" indent="-285750" algn="l">
              <a:buFontTx/>
              <a:buChar char="-"/>
            </a:pPr>
            <a:r>
              <a:rPr lang="en-US" altLang="ja-JP" sz="1400">
                <a:latin typeface="Meiryo UI" panose="020B0604030504040204" pitchFamily="50" charset="-128"/>
                <a:ea typeface="Meiryo UI" panose="020B0604030504040204" pitchFamily="50" charset="-128"/>
                <a:cs typeface="Arial" pitchFamily="34" charset="0"/>
              </a:rPr>
              <a:t>When Honda conducts durability test /bench test, Honda sends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EMS parts for analysis after test.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will analysis and report to Honda by agreed due date.</a:t>
            </a:r>
          </a:p>
          <a:p>
            <a:pPr marL="538163" lvl="2" indent="-285750" algn="l">
              <a:buFontTx/>
              <a:buChar char="-"/>
            </a:pPr>
            <a:r>
              <a:rPr lang="en-US" altLang="ja-JP" sz="1400">
                <a:latin typeface="Meiryo UI" panose="020B0604030504040204" pitchFamily="50" charset="-128"/>
                <a:ea typeface="Meiryo UI" panose="020B0604030504040204" pitchFamily="50" charset="-128"/>
                <a:cs typeface="Arial" pitchFamily="34" charset="0"/>
              </a:rPr>
              <a:t>For the tests conducted by Honda, the cost description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shall be described in the SOW.</a:t>
            </a:r>
          </a:p>
          <a:p>
            <a:pPr marL="538163" lvl="2" indent="-285750" algn="l">
              <a:buFontTx/>
              <a:buChar char="-"/>
            </a:pPr>
            <a:r>
              <a:rPr lang="en-US" altLang="ja-JP" sz="1400">
                <a:latin typeface="Meiryo UI" panose="020B0604030504040204" pitchFamily="50" charset="-128"/>
                <a:ea typeface="Meiryo UI" panose="020B0604030504040204" pitchFamily="50" charset="-128"/>
                <a:cs typeface="Arial" pitchFamily="34" charset="0"/>
              </a:rPr>
              <a:t>The cost of rework for tests conducted at Honda facility shall be discussed separately and</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described in the boundary condition.</a:t>
            </a: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(4/16)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239653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Rectangle 13"/>
          <p:cNvSpPr>
            <a:spLocks noChangeArrowheads="1"/>
          </p:cNvSpPr>
          <p:nvPr/>
        </p:nvSpPr>
        <p:spPr bwMode="auto">
          <a:xfrm>
            <a:off x="226295" y="537688"/>
            <a:ext cx="9000835" cy="3362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ts val="300"/>
              </a:spcBef>
            </a:pPr>
            <a:r>
              <a:rPr lang="ja-JP" altLang="en-US" sz="1800" b="1" u="sng">
                <a:latin typeface="Meiryo UI" panose="020B0604030504040204" pitchFamily="50" charset="-128"/>
                <a:ea typeface="Meiryo UI" panose="020B0604030504040204" pitchFamily="50" charset="-128"/>
              </a:rPr>
              <a:t>その他の要求・調整項目</a:t>
            </a:r>
            <a:endParaRPr lang="en-US" altLang="ja-JP" sz="1800" b="1" u="sng">
              <a:latin typeface="Meiryo UI" panose="020B0604030504040204" pitchFamily="50" charset="-128"/>
              <a:ea typeface="Meiryo UI" panose="020B0604030504040204" pitchFamily="50" charset="-128"/>
            </a:endParaRPr>
          </a:p>
          <a:p>
            <a:pPr marL="344488" lvl="1" algn="l">
              <a:spcBef>
                <a:spcPts val="300"/>
              </a:spcBef>
            </a:pP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実施テスト</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要求仕様書で委託したテストに於いて</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で受託出来ないテスト項目については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で実施する為、</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開発初期段階でその旨を打ち上げのこと。（</a:t>
            </a:r>
            <a:r>
              <a:rPr lang="en-US" altLang="ja-JP" sz="1400">
                <a:latin typeface="Meiryo UI" panose="020B0604030504040204" pitchFamily="50" charset="-128"/>
                <a:ea typeface="Meiryo UI" panose="020B0604030504040204" pitchFamily="50" charset="-128"/>
              </a:rPr>
              <a:t>Kick-off </a:t>
            </a:r>
            <a:r>
              <a:rPr lang="ja-JP" altLang="en-US" sz="1400">
                <a:latin typeface="Meiryo UI" panose="020B0604030504040204" pitchFamily="50" charset="-128"/>
                <a:ea typeface="Meiryo UI" panose="020B0604030504040204" pitchFamily="50" charset="-128"/>
              </a:rPr>
              <a:t>後</a:t>
            </a:r>
            <a:r>
              <a:rPr lang="en-US" altLang="ja-JP" sz="1400">
                <a:latin typeface="Meiryo UI" panose="020B0604030504040204" pitchFamily="50" charset="-128"/>
                <a:ea typeface="Meiryo UI" panose="020B0604030504040204" pitchFamily="50" charset="-128"/>
              </a:rPr>
              <a:t>3</a:t>
            </a:r>
            <a:r>
              <a:rPr lang="ja-JP" altLang="en-US" sz="1400">
                <a:latin typeface="Meiryo UI" panose="020B0604030504040204" pitchFamily="50" charset="-128"/>
                <a:ea typeface="Meiryo UI" panose="020B0604030504040204" pitchFamily="50" charset="-128"/>
              </a:rPr>
              <a:t>ヶ月以内）</a:t>
            </a:r>
            <a:endParaRPr lang="en-US" altLang="ja-JP" sz="1400">
              <a:latin typeface="Meiryo UI" panose="020B0604030504040204" pitchFamily="50" charset="-128"/>
              <a:ea typeface="Meiryo UI" panose="020B0604030504040204" pitchFamily="50" charset="-128"/>
            </a:endParaRPr>
          </a:p>
          <a:p>
            <a:pPr marL="627063" lvl="1" indent="-9525" algn="l">
              <a:spcBef>
                <a:spcPts val="300"/>
              </a:spcBef>
            </a:pP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例：委託先が受託出来ない項目</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電波障害対策</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実走耐久対策（錆耐久、悪路耐久）</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 衝突安全対策 </a:t>
            </a:r>
            <a:r>
              <a:rPr lang="en-US" altLang="ja-JP" sz="1400">
                <a:latin typeface="Meiryo UI" panose="020B0604030504040204" pitchFamily="50" charset="-128"/>
                <a:ea typeface="Meiryo UI" panose="020B0604030504040204" pitchFamily="50" charset="-128"/>
              </a:rPr>
              <a:t>etc.</a:t>
            </a:r>
          </a:p>
          <a:p>
            <a:pPr marL="627063" lvl="1" indent="-9525" algn="l">
              <a:spcBef>
                <a:spcPts val="300"/>
              </a:spcBef>
            </a:pPr>
            <a:r>
              <a:rPr lang="en-US" altLang="ja-JP" sz="1400">
                <a:latin typeface="Meiryo UI" panose="020B0604030504040204" pitchFamily="50" charset="-128"/>
                <a:ea typeface="Meiryo UI" panose="020B0604030504040204" pitchFamily="50" charset="-128"/>
              </a:rPr>
              <a:t>     - </a:t>
            </a:r>
            <a:r>
              <a:rPr lang="ja-JP" altLang="en-US" sz="1400">
                <a:latin typeface="Meiryo UI" panose="020B0604030504040204" pitchFamily="50" charset="-128"/>
                <a:ea typeface="Meiryo UI" panose="020B0604030504040204" pitchFamily="50" charset="-128"/>
              </a:rPr>
              <a:t>高地条件</a:t>
            </a:r>
            <a:r>
              <a:rPr lang="en-US" altLang="ja-JP" sz="1400">
                <a:latin typeface="Meiryo UI" panose="020B0604030504040204" pitchFamily="50" charset="-128"/>
                <a:ea typeface="Meiryo UI" panose="020B0604030504040204" pitchFamily="50" charset="-128"/>
              </a:rPr>
              <a:t>2500m</a:t>
            </a:r>
            <a:r>
              <a:rPr lang="ja-JP" altLang="en-US" sz="1400">
                <a:latin typeface="Meiryo UI" panose="020B0604030504040204" pitchFamily="50" charset="-128"/>
                <a:ea typeface="Meiryo UI" panose="020B0604030504040204" pitchFamily="50" charset="-128"/>
              </a:rPr>
              <a:t>以上（</a:t>
            </a:r>
            <a:r>
              <a:rPr lang="en-US" altLang="ja-JP" sz="1400">
                <a:latin typeface="Meiryo UI" panose="020B0604030504040204" pitchFamily="50" charset="-128"/>
                <a:ea typeface="Meiryo UI" panose="020B0604030504040204" pitchFamily="50" charset="-128"/>
              </a:rPr>
              <a:t>2500m</a:t>
            </a:r>
            <a:r>
              <a:rPr lang="ja-JP" altLang="en-US" sz="1400">
                <a:latin typeface="Meiryo UI" panose="020B0604030504040204" pitchFamily="50" charset="-128"/>
                <a:ea typeface="Meiryo UI" panose="020B0604030504040204" pitchFamily="50" charset="-128"/>
              </a:rPr>
              <a:t>以上の試験は、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設備を借用し、実施する）</a:t>
            </a:r>
            <a:endParaRPr lang="en-US" altLang="ja-JP" sz="1400">
              <a:latin typeface="Meiryo UI" panose="020B0604030504040204" pitchFamily="50" charset="-128"/>
              <a:ea typeface="Meiryo UI" panose="020B0604030504040204" pitchFamily="50" charset="-128"/>
            </a:endParaRPr>
          </a:p>
          <a:p>
            <a:pPr marL="627063" lvl="1" indent="-9525" algn="l">
              <a:spcBef>
                <a:spcPts val="3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温度条件 </a:t>
            </a:r>
            <a:r>
              <a:rPr lang="en-US" altLang="ja-JP" sz="1400">
                <a:latin typeface="Meiryo UI" panose="020B0604030504040204" pitchFamily="50" charset="-128"/>
                <a:ea typeface="Meiryo UI" panose="020B0604030504040204" pitchFamily="50" charset="-128"/>
              </a:rPr>
              <a:t>-28</a:t>
            </a: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+35</a:t>
            </a:r>
            <a:r>
              <a:rPr lang="ja-JP" altLang="en-US" sz="1400">
                <a:latin typeface="Meiryo UI" panose="020B0604030504040204" pitchFamily="50" charset="-128"/>
                <a:ea typeface="Meiryo UI" panose="020B0604030504040204" pitchFamily="50" charset="-128"/>
              </a:rPr>
              <a:t>℃以外、及び湿度ｺﾝﾄﾛｰﾙ設備が無い為、借用し実施する</a:t>
            </a:r>
            <a:endParaRPr lang="en-US" altLang="ja-JP" sz="1400">
              <a:latin typeface="Meiryo UI" panose="020B0604030504040204" pitchFamily="50" charset="-128"/>
              <a:ea typeface="Meiryo UI" panose="020B0604030504040204" pitchFamily="50" charset="-128"/>
            </a:endParaRPr>
          </a:p>
          <a:p>
            <a:pPr marL="169863" indent="-9525" algn="l">
              <a:spcBef>
                <a:spcPts val="300"/>
              </a:spcBef>
            </a:pP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で行った耐久テスト・ベンチテストの</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EMS</a:t>
            </a:r>
            <a:r>
              <a:rPr lang="ja-JP" altLang="en-US" sz="1400">
                <a:latin typeface="Meiryo UI" panose="020B0604030504040204" pitchFamily="50" charset="-128"/>
                <a:ea typeface="Meiryo UI" panose="020B0604030504040204" pitchFamily="50" charset="-128"/>
              </a:rPr>
              <a:t>部品解析に際しては、</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へ</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　　返却し解析を実施する。（指定期日までに解析レポートを提出厳守）</a:t>
            </a:r>
            <a:endParaRPr lang="en-US" altLang="ja-JP" sz="1400">
              <a:latin typeface="Meiryo UI" panose="020B0604030504040204" pitchFamily="50" charset="-128"/>
              <a:ea typeface="Meiryo UI" panose="020B0604030504040204" pitchFamily="50" charset="-128"/>
            </a:endParaRPr>
          </a:p>
          <a:p>
            <a:pPr marL="169863" indent="-9525" algn="l"/>
            <a:r>
              <a:rPr lang="ja-JP" altLang="en-US" sz="1200">
                <a:latin typeface="+mn-ea"/>
              </a:rPr>
              <a:t>　　 </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で実施する試験については、費用の説明を</a:t>
            </a:r>
            <a:r>
              <a:rPr lang="en-US" altLang="ja-JP" sz="1400">
                <a:latin typeface="Meiryo UI" panose="020B0604030504040204" pitchFamily="50" charset="-128"/>
                <a:ea typeface="Meiryo UI" panose="020B0604030504040204" pitchFamily="50" charset="-128"/>
              </a:rPr>
              <a:t>SOW</a:t>
            </a:r>
            <a:r>
              <a:rPr lang="ja-JP" altLang="en-US" sz="1400">
                <a:latin typeface="Meiryo UI" panose="020B0604030504040204" pitchFamily="50" charset="-128"/>
                <a:ea typeface="Meiryo UI" panose="020B0604030504040204" pitchFamily="50" charset="-128"/>
              </a:rPr>
              <a:t>に記載する。</a:t>
            </a:r>
            <a:endParaRPr lang="en-US" altLang="ja-JP" sz="1400">
              <a:latin typeface="Meiryo UI" panose="020B0604030504040204" pitchFamily="50" charset="-128"/>
              <a:ea typeface="Meiryo UI" panose="020B0604030504040204" pitchFamily="50" charset="-128"/>
            </a:endParaRPr>
          </a:p>
          <a:p>
            <a:pPr marL="169863" indent="-9525" algn="l"/>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設備で実施した試験の手戻り作業の費用に関しては、別途議論しバウンダリーコンディションに記載する。</a:t>
            </a:r>
            <a:endParaRPr lang="en-US" altLang="ja-JP" sz="1400">
              <a:latin typeface="Meiryo UI" panose="020B0604030504040204" pitchFamily="50" charset="-128"/>
              <a:ea typeface="Meiryo UI" panose="020B0604030504040204" pitchFamily="50" charset="-128"/>
            </a:endParaRPr>
          </a:p>
        </p:txBody>
      </p:sp>
      <p:sp>
        <p:nvSpPr>
          <p:cNvPr id="5"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(5/16)</a:t>
            </a:r>
            <a:endParaRPr lang="en-US" altLang="ja-JP" sz="1100">
              <a:solidFill>
                <a:srgbClr val="FFFFFF"/>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57447362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13"/>
          <p:cNvSpPr>
            <a:spLocks noChangeArrowheads="1"/>
          </p:cNvSpPr>
          <p:nvPr/>
        </p:nvSpPr>
        <p:spPr bwMode="auto">
          <a:xfrm>
            <a:off x="0" y="531225"/>
            <a:ext cx="9039498"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a:latin typeface="Meiryo UI" panose="020B0604030504040204" pitchFamily="50" charset="-128"/>
                <a:ea typeface="Meiryo UI" panose="020B0604030504040204" pitchFamily="50" charset="-128"/>
                <a:cs typeface="Arial" pitchFamily="34" charset="0"/>
              </a:rPr>
              <a:t>Rules</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Relating Test Engines and Vehicles</a:t>
            </a:r>
            <a:endParaRPr lang="ja-JP" altLang="en-US" sz="1800" b="1" u="sng">
              <a:latin typeface="Meiryo UI" panose="020B0604030504040204" pitchFamily="50" charset="-128"/>
              <a:ea typeface="Meiryo UI" panose="020B0604030504040204" pitchFamily="50" charset="-128"/>
              <a:cs typeface="Arial" pitchFamily="34" charset="0"/>
            </a:endParaRPr>
          </a:p>
          <a:p>
            <a:pPr marL="95250" indent="-285750" algn="l">
              <a:buFont typeface="Wingdings" panose="05000000000000000000" pitchFamily="2" charset="2"/>
              <a:buChar char="l"/>
            </a:pPr>
            <a:r>
              <a:rPr lang="en-US" altLang="ja-JP" sz="1400">
                <a:latin typeface="Meiryo UI" panose="020B0604030504040204" pitchFamily="50" charset="-128"/>
                <a:ea typeface="Meiryo UI" panose="020B0604030504040204" pitchFamily="50" charset="-128"/>
                <a:cs typeface="Arial" pitchFamily="34" charset="0"/>
              </a:rPr>
              <a:t>Lending test engines and vehicles</a:t>
            </a:r>
            <a:r>
              <a:rPr lang="ja-JP" altLang="en-US" sz="1400">
                <a:latin typeface="Meiryo UI" panose="020B0604030504040204" pitchFamily="50" charset="-128"/>
                <a:ea typeface="Meiryo UI" panose="020B0604030504040204" pitchFamily="50" charset="-128"/>
                <a:cs typeface="Arial" pitchFamily="34" charset="0"/>
              </a:rPr>
              <a:t>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Specification difference between prototype and mass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production engine/vehicle will be explained.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Modifications and parts replacements may occur as needed even during development.</a:t>
            </a:r>
          </a:p>
          <a:p>
            <a:pPr marL="95250" indent="-12700" algn="l">
              <a:buFontTx/>
              <a:buChar char="-"/>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In such case, necessary effort for parts replacement and impact on Calibration work package to </a:t>
            </a:r>
          </a:p>
          <a:p>
            <a:pPr marL="82550" algn="l"/>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be handled as change request.</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It is prohibited to detach and/or analyze any</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parts mounted on test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engines/vehicles without </a:t>
            </a:r>
            <a:r>
              <a:rPr lang="ja-JP" altLang="en-US" sz="1400">
                <a:latin typeface="Meiryo UI" panose="020B0604030504040204" pitchFamily="50" charset="-128"/>
                <a:ea typeface="Meiryo UI" panose="020B0604030504040204" pitchFamily="50" charset="-128"/>
                <a:cs typeface="Arial" pitchFamily="34" charset="0"/>
              </a:rPr>
              <a:t> </a:t>
            </a:r>
            <a:endParaRPr lang="en-US" altLang="ja-JP" sz="1400">
              <a:latin typeface="Meiryo UI" panose="020B0604030504040204" pitchFamily="50" charset="-128"/>
              <a:ea typeface="Meiryo UI" panose="020B0604030504040204" pitchFamily="50" charset="-128"/>
              <a:cs typeface="Arial" pitchFamily="34" charset="0"/>
            </a:endParaRPr>
          </a:p>
          <a:p>
            <a:pPr marL="82550" algn="l"/>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permission.</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For confidentiality reasons, test engines/vehicles and related resources need to be under control</a:t>
            </a:r>
          </a:p>
          <a:p>
            <a:pPr marL="82550" algn="l"/>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 strictly.</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To avoid development suspension,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shall control spare parts in stock and place an order to </a:t>
            </a:r>
            <a:br>
              <a:rPr lang="en-US" altLang="ja-JP" sz="1400">
                <a:latin typeface="Meiryo UI" panose="020B0604030504040204" pitchFamily="50" charset="-128"/>
                <a:ea typeface="Meiryo UI" panose="020B0604030504040204" pitchFamily="50" charset="-128"/>
                <a:cs typeface="Arial" pitchFamily="34" charset="0"/>
              </a:rPr>
            </a:b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Honda well ahead of time. </a:t>
            </a:r>
          </a:p>
          <a:p>
            <a:pPr marL="95250" indent="-12700" algn="l">
              <a:buFontTx/>
              <a:buChar char="-"/>
            </a:pP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After development completed, the lending test engines and vehicles has to scrape or return to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Honda with discuss to both party. The result has to communicated by the official paper. </a:t>
            </a:r>
            <a:br>
              <a:rPr lang="en-US" altLang="ja-JP" sz="1400">
                <a:latin typeface="Meiryo UI" panose="020B0604030504040204" pitchFamily="50" charset="-128"/>
                <a:ea typeface="Meiryo UI" panose="020B0604030504040204" pitchFamily="50" charset="-128"/>
                <a:cs typeface="Arial" pitchFamily="34" charset="0"/>
              </a:rPr>
            </a:b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*Contain in quote about scrapping cost and transportation cost in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working.</a:t>
            </a:r>
          </a:p>
        </p:txBody>
      </p:sp>
      <p:sp>
        <p:nvSpPr>
          <p:cNvPr id="7"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(6/16)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Rectangle 13">
            <a:extLst>
              <a:ext uri="{FF2B5EF4-FFF2-40B4-BE49-F238E27FC236}">
                <a16:creationId xmlns:a16="http://schemas.microsoft.com/office/drawing/2014/main" id="{00361AAC-D9D2-4808-A8BC-CCC637F88C39}"/>
              </a:ext>
            </a:extLst>
          </p:cNvPr>
          <p:cNvSpPr>
            <a:spLocks noChangeArrowheads="1"/>
          </p:cNvSpPr>
          <p:nvPr/>
        </p:nvSpPr>
        <p:spPr bwMode="auto">
          <a:xfrm>
            <a:off x="24990" y="3996279"/>
            <a:ext cx="9108504" cy="2706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ts val="600"/>
              </a:spcBef>
            </a:pPr>
            <a:r>
              <a:rPr lang="ja-JP" altLang="en-US" sz="1600" b="1" u="sng">
                <a:latin typeface="Meiryo UI" panose="020B0604030504040204" pitchFamily="50" charset="-128"/>
                <a:ea typeface="Meiryo UI" panose="020B0604030504040204" pitchFamily="50" charset="-128"/>
              </a:rPr>
              <a:t>テストエンジン・車両に関する規定</a:t>
            </a:r>
            <a:endParaRPr lang="en-US" altLang="ja-JP" sz="1600" b="1">
              <a:latin typeface="Meiryo UI" panose="020B0604030504040204" pitchFamily="50" charset="-128"/>
              <a:ea typeface="Meiryo UI" panose="020B0604030504040204" pitchFamily="50" charset="-128"/>
            </a:endParaRPr>
          </a:p>
          <a:p>
            <a:pPr marL="77788" indent="-285750" algn="l">
              <a:lnSpc>
                <a:spcPts val="1900"/>
              </a:lnSpc>
              <a:spcBef>
                <a:spcPts val="600"/>
              </a:spcBef>
              <a:buFont typeface="Wingdings" panose="05000000000000000000" pitchFamily="2" charset="2"/>
              <a:buChar char="l"/>
            </a:pPr>
            <a:r>
              <a:rPr lang="ja-JP" altLang="en-US" sz="1400">
                <a:latin typeface="Meiryo UI" panose="020B0604030504040204" pitchFamily="50" charset="-128"/>
                <a:ea typeface="Meiryo UI" panose="020B0604030504040204" pitchFamily="50" charset="-128"/>
              </a:rPr>
              <a:t>貸与エンジン</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車両について</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貸与エンジン</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貸与車両は、最終量産仕様に限りなく近づけた試作エンジン</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車両の為、仕様差説明を行います。</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開発途中においても、必要に応じて組み替えを実施することがあります。</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部品交換に依る</a:t>
            </a:r>
            <a:r>
              <a:rPr lang="en-US" altLang="ja-JP" sz="1400">
                <a:latin typeface="Meiryo UI" panose="020B0604030504040204" pitchFamily="50" charset="-128"/>
                <a:ea typeface="Meiryo UI" panose="020B0604030504040204" pitchFamily="50" charset="-128"/>
              </a:rPr>
              <a:t>Calibration</a:t>
            </a:r>
            <a:r>
              <a:rPr lang="ja-JP" altLang="en-US" sz="1400">
                <a:latin typeface="Meiryo UI" panose="020B0604030504040204" pitchFamily="50" charset="-128"/>
                <a:ea typeface="Meiryo UI" panose="020B0604030504040204" pitchFamily="50" charset="-128"/>
              </a:rPr>
              <a:t>業務への影響が発生する場合、変更要求書を作成し調整する。</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貸与エンジン</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車両に搭載されている部品は、許可無く取り外し、分解解析を禁止致します。</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機密保持の為、貸与エンジン</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車両に関わる要員管理、車両駐車時管理等、徹底を実施のこと。</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テストが滞らない様、</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はスペアパーツを管理し、在庫切れにならない様に</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に追加発注を行うこと。</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cs typeface="Meiryo UI" pitchFamily="50" charset="-128"/>
              </a:rPr>
              <a:t> </a:t>
            </a:r>
            <a:r>
              <a:rPr lang="ja-JP" altLang="en-US" sz="1400">
                <a:latin typeface="Meiryo UI" panose="020B0604030504040204" pitchFamily="50" charset="-128"/>
                <a:ea typeface="Meiryo UI" panose="020B0604030504040204" pitchFamily="50" charset="-128"/>
                <a:cs typeface="Meiryo UI" pitchFamily="50" charset="-128"/>
              </a:rPr>
              <a:t>開発完了後、双方協議の基、貸与車</a:t>
            </a:r>
            <a:r>
              <a:rPr lang="en-US" altLang="ja-JP" sz="1400">
                <a:latin typeface="Meiryo UI" panose="020B0604030504040204" pitchFamily="50" charset="-128"/>
                <a:ea typeface="Meiryo UI" panose="020B0604030504040204" pitchFamily="50" charset="-128"/>
                <a:cs typeface="Meiryo UI" pitchFamily="50" charset="-128"/>
              </a:rPr>
              <a:t>/</a:t>
            </a:r>
            <a:r>
              <a:rPr lang="ja-JP" altLang="en-US" sz="1400">
                <a:latin typeface="Meiryo UI" panose="020B0604030504040204" pitchFamily="50" charset="-128"/>
                <a:ea typeface="Meiryo UI" panose="020B0604030504040204" pitchFamily="50" charset="-128"/>
                <a:cs typeface="Meiryo UI" pitchFamily="50" charset="-128"/>
              </a:rPr>
              <a:t>貸与エンジン返却、廃却処理を行う事。結果は、必ず書面にて交わす事。</a:t>
            </a:r>
            <a:br>
              <a:rPr lang="en-US" altLang="ja-JP" sz="1400">
                <a:latin typeface="Meiryo UI" panose="020B0604030504040204" pitchFamily="50" charset="-128"/>
                <a:ea typeface="Meiryo UI" panose="020B0604030504040204" pitchFamily="50" charset="-128"/>
                <a:cs typeface="Meiryo UI" pitchFamily="50" charset="-128"/>
              </a:rPr>
            </a:br>
            <a:r>
              <a:rPr lang="ja-JP" altLang="en-US" sz="1400">
                <a:latin typeface="Meiryo UI" panose="020B0604030504040204" pitchFamily="50" charset="-128"/>
                <a:ea typeface="Meiryo UI" panose="020B0604030504040204" pitchFamily="50" charset="-128"/>
                <a:cs typeface="Meiryo UI" pitchFamily="50" charset="-128"/>
              </a:rPr>
              <a:t>  </a:t>
            </a:r>
            <a:r>
              <a:rPr lang="en-US" altLang="ja-JP" sz="1400">
                <a:latin typeface="Meiryo UI" panose="020B0604030504040204" pitchFamily="50" charset="-128"/>
                <a:ea typeface="Meiryo UI" panose="020B0604030504040204" pitchFamily="50" charset="-128"/>
                <a:cs typeface="Meiryo UI" pitchFamily="50" charset="-128"/>
              </a:rPr>
              <a:t>※</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Meiryo UI" pitchFamily="50" charset="-128"/>
              </a:rPr>
              <a:t>での廃却費用や、輸送の費用については、見積りに入れること</a:t>
            </a:r>
            <a:endParaRPr lang="en-US" altLang="ja-JP" sz="1400">
              <a:latin typeface="Meiryo UI" panose="020B0604030504040204" pitchFamily="50" charset="-128"/>
              <a:ea typeface="Meiryo UI" panose="020B0604030504040204" pitchFamily="50" charset="-128"/>
              <a:cs typeface="Meiryo UI" pitchFamily="50" charset="-128"/>
            </a:endParaRPr>
          </a:p>
        </p:txBody>
      </p:sp>
    </p:spTree>
    <p:extLst>
      <p:ext uri="{BB962C8B-B14F-4D97-AF65-F5344CB8AC3E}">
        <p14:creationId xmlns:p14="http://schemas.microsoft.com/office/powerpoint/2010/main" val="67509702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13"/>
          <p:cNvSpPr>
            <a:spLocks noChangeArrowheads="1"/>
          </p:cNvSpPr>
          <p:nvPr/>
        </p:nvSpPr>
        <p:spPr bwMode="auto">
          <a:xfrm>
            <a:off x="0" y="531225"/>
            <a:ext cx="9039498"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ja-JP" sz="1800" b="1" u="sng">
                <a:latin typeface="Meiryo UI" panose="020B0604030504040204" pitchFamily="50" charset="-128"/>
                <a:ea typeface="Meiryo UI" panose="020B0604030504040204" pitchFamily="50" charset="-128"/>
                <a:cs typeface="Arial" pitchFamily="34" charset="0"/>
              </a:rPr>
              <a:t>Rules</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Relating Test Engines and Vehicles</a:t>
            </a:r>
            <a:endParaRPr lang="ja-JP" altLang="en-US" sz="1800" b="1" u="sng">
              <a:latin typeface="Meiryo UI" panose="020B0604030504040204" pitchFamily="50" charset="-128"/>
              <a:ea typeface="Meiryo UI" panose="020B0604030504040204" pitchFamily="50" charset="-128"/>
              <a:cs typeface="Arial" pitchFamily="34" charset="0"/>
            </a:endParaRPr>
          </a:p>
          <a:p>
            <a:pPr marL="95250" indent="-285750" algn="l">
              <a:buFont typeface="Wingdings" panose="05000000000000000000" pitchFamily="2" charset="2"/>
              <a:buChar char="l"/>
            </a:pPr>
            <a:r>
              <a:rPr lang="en-US" altLang="ja-JP" sz="1400">
                <a:latin typeface="Meiryo UI" panose="020B0604030504040204" pitchFamily="50" charset="-128"/>
                <a:ea typeface="Meiryo UI" panose="020B0604030504040204" pitchFamily="50" charset="-128"/>
                <a:cs typeface="Arial" pitchFamily="34" charset="0"/>
              </a:rPr>
              <a:t>Public road driving</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test &amp; verification</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It is necessary to get permission from Honda in advance to carry out public road driving with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test vehicles.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Honda has an internal examination board which inspects test vehicle’s safety, regulation conformity,</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etc.</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without getting a permission from this board, public road driving can NOT be carried out.</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To pass the Honda internal examination,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shall provide necessary information to Honda</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as needed.</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In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case of malfunction occurs with vehicle due to accident or so, both parties shall</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discuss and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decide how to handle the vehicle and how to recover development delay.</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acknowledges the lending vehicle is prototype, and entire test vehicle operation control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including the test course and the public road shall follow the low, rule, regulation, safety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requirement by</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solidFill>
                  <a:srgbClr val="0000FF"/>
                </a:solidFill>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own responsibility.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Honda has to announce if prototype vehicle has some trouble during development, and discuss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for countermeasure by both party. </a:t>
            </a:r>
            <a:endParaRPr lang="ja-JP" altLang="en-US" sz="1400">
              <a:latin typeface="Meiryo UI" panose="020B0604030504040204" pitchFamily="50" charset="-128"/>
              <a:ea typeface="Meiryo UI" panose="020B0604030504040204" pitchFamily="50" charset="-128"/>
              <a:cs typeface="Arial" pitchFamily="34" charset="0"/>
            </a:endParaRPr>
          </a:p>
        </p:txBody>
      </p:sp>
      <p:sp>
        <p:nvSpPr>
          <p:cNvPr id="7"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(7/16)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5" name="Rectangle 13">
            <a:extLst>
              <a:ext uri="{FF2B5EF4-FFF2-40B4-BE49-F238E27FC236}">
                <a16:creationId xmlns:a16="http://schemas.microsoft.com/office/drawing/2014/main" id="{67FE188B-1E5B-4C16-9938-EA9DAD6CEEFF}"/>
              </a:ext>
            </a:extLst>
          </p:cNvPr>
          <p:cNvSpPr>
            <a:spLocks noChangeArrowheads="1"/>
          </p:cNvSpPr>
          <p:nvPr/>
        </p:nvSpPr>
        <p:spPr bwMode="auto">
          <a:xfrm>
            <a:off x="35496" y="4060380"/>
            <a:ext cx="9108504" cy="2706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ts val="600"/>
              </a:spcBef>
            </a:pPr>
            <a:r>
              <a:rPr lang="ja-JP" altLang="en-US" sz="1600" b="1" u="sng">
                <a:latin typeface="Meiryo UI" panose="020B0604030504040204" pitchFamily="50" charset="-128"/>
                <a:ea typeface="Meiryo UI" panose="020B0604030504040204" pitchFamily="50" charset="-128"/>
              </a:rPr>
              <a:t>テストエンジン・車両に関する規定</a:t>
            </a:r>
            <a:endParaRPr lang="en-US" altLang="ja-JP" sz="1400">
              <a:latin typeface="Meiryo UI" panose="020B0604030504040204" pitchFamily="50" charset="-128"/>
              <a:ea typeface="Meiryo UI" panose="020B0604030504040204" pitchFamily="50" charset="-128"/>
            </a:endParaRPr>
          </a:p>
          <a:p>
            <a:pPr marL="77788" indent="-285750" algn="l">
              <a:lnSpc>
                <a:spcPts val="1900"/>
              </a:lnSpc>
              <a:spcBef>
                <a:spcPts val="600"/>
              </a:spcBef>
              <a:spcAft>
                <a:spcPts val="300"/>
              </a:spcAft>
              <a:buFont typeface="Wingdings" panose="05000000000000000000" pitchFamily="2" charset="2"/>
              <a:buChar char="l"/>
            </a:pPr>
            <a:r>
              <a:rPr lang="ja-JP" altLang="en-US" sz="1400">
                <a:latin typeface="Meiryo UI" panose="020B0604030504040204" pitchFamily="50" charset="-128"/>
                <a:ea typeface="Meiryo UI" panose="020B0604030504040204" pitchFamily="50" charset="-128"/>
              </a:rPr>
              <a:t>一般公道走行について</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貸与テスト車両で公道走行をする場合、事前に</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の許可を得る必要があります。</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内部には車両審査会が存在し、テスト車両の安全性や法規適合性を審査します。</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   この審査会で承認を得たテスト車両以外は、一般公道を走行することが許されません。</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 </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内部の車両審査を通過する為に、</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は必要情報を</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に提供すること。</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rPr>
              <a:t>事故等によって車両機能に問題が生じた場合は、両社によって車両の取り扱いと開発遅延リカバリーを協議する</a:t>
            </a:r>
            <a:br>
              <a:rPr lang="en-US" altLang="ja-JP" sz="1400">
                <a:latin typeface="Meiryo UI" panose="020B0604030504040204" pitchFamily="50" charset="-128"/>
                <a:ea typeface="Meiryo UI" panose="020B0604030504040204" pitchFamily="50" charset="-128"/>
              </a:rPr>
            </a:br>
            <a:r>
              <a:rPr lang="en-US" altLang="ja-JP" sz="1400">
                <a:latin typeface="Meiryo UI" panose="020B0604030504040204" pitchFamily="50" charset="-128"/>
                <a:ea typeface="Meiryo UI" panose="020B0604030504040204" pitchFamily="50" charset="-128"/>
              </a:rPr>
              <a:t>- </a:t>
            </a:r>
            <a:r>
              <a:rPr lang="ja-JP" altLang="en-US" sz="1400">
                <a:latin typeface="Meiryo UI" panose="020B0604030504040204" pitchFamily="50" charset="-128"/>
                <a:ea typeface="Meiryo UI" panose="020B0604030504040204" pitchFamily="50" charset="-128"/>
                <a:cs typeface="Meiryo UI" pitchFamily="50" charset="-128"/>
              </a:rPr>
              <a:t>貸与車輌は、プロトタイプ車輌である事を理解し、全ての運行管理は、テストコース・公道に於いても、法律・ルールを尊守し</a:t>
            </a:r>
            <a:br>
              <a:rPr lang="en-US" altLang="ja-JP" sz="1400">
                <a:latin typeface="Meiryo UI" panose="020B0604030504040204" pitchFamily="50" charset="-128"/>
                <a:ea typeface="Meiryo UI" panose="020B0604030504040204" pitchFamily="50" charset="-128"/>
                <a:cs typeface="Meiryo UI" pitchFamily="50" charset="-128"/>
              </a:rPr>
            </a:br>
            <a:r>
              <a:rPr lang="ja-JP" altLang="en-US" sz="1400">
                <a:latin typeface="Meiryo UI" panose="020B0604030504040204" pitchFamily="50" charset="-128"/>
                <a:ea typeface="Meiryo UI" panose="020B0604030504040204" pitchFamily="50" charset="-128"/>
                <a:cs typeface="Meiryo UI" pitchFamily="50" charset="-128"/>
              </a:rPr>
              <a:t>  安全を確保した上で、</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Meiryo UI" pitchFamily="50" charset="-128"/>
              </a:rPr>
              <a:t>責任の基にて行う。</a:t>
            </a:r>
            <a:br>
              <a:rPr lang="en-US" altLang="ja-JP" sz="1400">
                <a:latin typeface="Meiryo UI" panose="020B0604030504040204" pitchFamily="50" charset="-128"/>
                <a:ea typeface="Meiryo UI" panose="020B0604030504040204" pitchFamily="50" charset="-128"/>
                <a:cs typeface="Meiryo UI" pitchFamily="50" charset="-128"/>
              </a:rPr>
            </a:br>
            <a:r>
              <a:rPr lang="en-US" altLang="ja-JP" sz="1400">
                <a:latin typeface="Meiryo UI" panose="020B0604030504040204" pitchFamily="50" charset="-128"/>
                <a:ea typeface="Meiryo UI" panose="020B0604030504040204" pitchFamily="50" charset="-128"/>
                <a:cs typeface="Meiryo UI" pitchFamily="50" charset="-128"/>
              </a:rPr>
              <a:t>- Honda</a:t>
            </a:r>
            <a:r>
              <a:rPr lang="ja-JP" altLang="en-US" sz="1400">
                <a:latin typeface="Meiryo UI" panose="020B0604030504040204" pitchFamily="50" charset="-128"/>
                <a:ea typeface="Meiryo UI" panose="020B0604030504040204" pitchFamily="50" charset="-128"/>
                <a:cs typeface="Meiryo UI" pitchFamily="50" charset="-128"/>
              </a:rPr>
              <a:t>は、開発期間中にプロトタイプ車に不具合が判った時、速やかに</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cs typeface="Meiryo UI" pitchFamily="50" charset="-128"/>
              </a:rPr>
              <a:t>へ連絡し双方協議のもと対処する。</a:t>
            </a:r>
            <a:endParaRPr lang="ja-JP" altLang="en-US" sz="14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2802162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(8/16)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7" name="テキスト ボックス 6"/>
          <p:cNvSpPr txBox="1"/>
          <p:nvPr/>
        </p:nvSpPr>
        <p:spPr>
          <a:xfrm>
            <a:off x="250829" y="566647"/>
            <a:ext cx="8712968" cy="1231106"/>
          </a:xfrm>
          <a:prstGeom prst="rect">
            <a:avLst/>
          </a:prstGeom>
          <a:noFill/>
        </p:spPr>
        <p:txBody>
          <a:bodyPr wrap="square" rtlCol="0">
            <a:spAutoFit/>
          </a:bodyPr>
          <a:lstStyle/>
          <a:p>
            <a:pPr algn="l" fontAlgn="auto">
              <a:spcBef>
                <a:spcPts val="0"/>
              </a:spcBef>
              <a:spcAft>
                <a:spcPts val="0"/>
              </a:spcAft>
              <a:defRPr/>
            </a:pPr>
            <a:r>
              <a:rPr lang="en-US" altLang="ja-JP" sz="1600">
                <a:solidFill>
                  <a:prstClr val="black"/>
                </a:solidFill>
                <a:latin typeface="Meiryo UI" pitchFamily="50" charset="-128"/>
                <a:ea typeface="Meiryo UI" pitchFamily="50" charset="-128"/>
                <a:cs typeface="Meiryo UI" pitchFamily="50" charset="-128"/>
              </a:rPr>
              <a:t>&lt; Concept &gt;</a:t>
            </a:r>
          </a:p>
          <a:p>
            <a:pPr algn="l" fontAlgn="auto">
              <a:spcBef>
                <a:spcPts val="0"/>
              </a:spcBef>
              <a:spcAft>
                <a:spcPts val="0"/>
              </a:spcAft>
              <a:defRPr/>
            </a:pPr>
            <a:r>
              <a:rPr lang="en-US" altLang="ja-JP" sz="1400">
                <a:solidFill>
                  <a:prstClr val="black"/>
                </a:solidFill>
                <a:latin typeface="Meiryo UI" pitchFamily="50" charset="-128"/>
                <a:ea typeface="Meiryo UI" pitchFamily="50" charset="-128"/>
                <a:cs typeface="Meiryo UI" pitchFamily="50" charset="-128"/>
              </a:rPr>
              <a:t>To avoid calibration re-work or suspension, and to secure accuracy of test result, maintenance and daily check shall be performed appropriately.</a:t>
            </a:r>
          </a:p>
          <a:p>
            <a:pPr algn="l" fontAlgn="auto">
              <a:spcBef>
                <a:spcPts val="0"/>
              </a:spcBef>
              <a:spcAft>
                <a:spcPts val="0"/>
              </a:spcAft>
              <a:defRPr/>
            </a:pPr>
            <a:endParaRPr lang="en-US" altLang="ja-JP" sz="1400">
              <a:solidFill>
                <a:prstClr val="black"/>
              </a:solidFill>
              <a:latin typeface="Meiryo UI" pitchFamily="50" charset="-128"/>
              <a:ea typeface="Meiryo UI" pitchFamily="50" charset="-128"/>
              <a:cs typeface="Meiryo UI" pitchFamily="50" charset="-128"/>
            </a:endParaRPr>
          </a:p>
          <a:p>
            <a:pPr algn="l" fontAlgn="auto">
              <a:spcBef>
                <a:spcPts val="0"/>
              </a:spcBef>
              <a:spcAft>
                <a:spcPts val="0"/>
              </a:spcAft>
              <a:defRPr/>
            </a:pPr>
            <a:r>
              <a:rPr lang="en-US" altLang="ja-JP" sz="1600">
                <a:solidFill>
                  <a:prstClr val="black"/>
                </a:solidFill>
                <a:latin typeface="Meiryo UI" pitchFamily="50" charset="-128"/>
                <a:ea typeface="Meiryo UI" pitchFamily="50" charset="-128"/>
                <a:cs typeface="Meiryo UI" pitchFamily="50" charset="-128"/>
              </a:rPr>
              <a:t>&lt; Responsibility&gt;</a:t>
            </a:r>
          </a:p>
        </p:txBody>
      </p:sp>
      <p:graphicFrame>
        <p:nvGraphicFramePr>
          <p:cNvPr id="9" name="表 8"/>
          <p:cNvGraphicFramePr>
            <a:graphicFrameLocks noGrp="1"/>
          </p:cNvGraphicFramePr>
          <p:nvPr>
            <p:extLst>
              <p:ext uri="{D42A27DB-BD31-4B8C-83A1-F6EECF244321}">
                <p14:modId xmlns:p14="http://schemas.microsoft.com/office/powerpoint/2010/main" val="3022576390"/>
              </p:ext>
            </p:extLst>
          </p:nvPr>
        </p:nvGraphicFramePr>
        <p:xfrm>
          <a:off x="250830" y="1740638"/>
          <a:ext cx="8712968" cy="1833880"/>
        </p:xfrm>
        <a:graphic>
          <a:graphicData uri="http://schemas.openxmlformats.org/drawingml/2006/table">
            <a:tbl>
              <a:tblPr firstRow="1" bandRow="1"/>
              <a:tblGrid>
                <a:gridCol w="2232247">
                  <a:extLst>
                    <a:ext uri="{9D8B030D-6E8A-4147-A177-3AD203B41FA5}">
                      <a16:colId xmlns:a16="http://schemas.microsoft.com/office/drawing/2014/main" val="20000"/>
                    </a:ext>
                  </a:extLst>
                </a:gridCol>
                <a:gridCol w="6480721">
                  <a:extLst>
                    <a:ext uri="{9D8B030D-6E8A-4147-A177-3AD203B41FA5}">
                      <a16:colId xmlns:a16="http://schemas.microsoft.com/office/drawing/2014/main" val="20001"/>
                    </a:ext>
                  </a:extLst>
                </a:gridCol>
              </a:tblGrid>
              <a:tr h="37084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anose="020B0604030504040204" pitchFamily="50" charset="-128"/>
                          <a:ea typeface="Meiryo UI" panose="020B0604030504040204" pitchFamily="50" charset="-128"/>
                        </a:rPr>
                        <a:t>Responsibility</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anose="020B0604030504040204" pitchFamily="50" charset="-128"/>
                          <a:ea typeface="Meiryo UI" panose="020B0604030504040204" pitchFamily="50" charset="-128"/>
                        </a:rPr>
                        <a:t>Consigned entrustee</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285750" indent="-285750">
                        <a:buFont typeface="Wingdings" pitchFamily="2" charset="2"/>
                        <a:buChar char="l"/>
                      </a:pPr>
                      <a:r>
                        <a:rPr kumimoji="1" lang="en-US" altLang="ja-JP" sz="1400">
                          <a:latin typeface="Meiryo UI" panose="020B0604030504040204" pitchFamily="50" charset="-128"/>
                          <a:ea typeface="Meiryo UI" panose="020B0604030504040204" pitchFamily="50" charset="-128"/>
                        </a:rPr>
                        <a:t>To perform</a:t>
                      </a:r>
                      <a:r>
                        <a:rPr kumimoji="1" lang="en-US" altLang="ja-JP" sz="1400" baseline="0">
                          <a:latin typeface="Meiryo UI" panose="020B0604030504040204" pitchFamily="50" charset="-128"/>
                          <a:ea typeface="Meiryo UI" panose="020B0604030504040204" pitchFamily="50" charset="-128"/>
                        </a:rPr>
                        <a:t> facility &amp; engine maintenance</a:t>
                      </a:r>
                    </a:p>
                    <a:p>
                      <a:pPr marL="285750" indent="-285750">
                        <a:buFont typeface="Wingdings" pitchFamily="2" charset="2"/>
                        <a:buChar char="l"/>
                      </a:pPr>
                      <a:r>
                        <a:rPr kumimoji="1" lang="en-US" altLang="ja-JP" sz="1400" baseline="0">
                          <a:latin typeface="Meiryo UI" panose="020B0604030504040204" pitchFamily="50" charset="-128"/>
                          <a:ea typeface="Meiryo UI" panose="020B0604030504040204" pitchFamily="50" charset="-128"/>
                        </a:rPr>
                        <a:t>To perform daily check (check menu is shown in following pages)</a:t>
                      </a:r>
                    </a:p>
                    <a:p>
                      <a:pPr marL="285750" indent="-285750">
                        <a:buFont typeface="Wingdings" pitchFamily="2" charset="2"/>
                        <a:buChar char="l"/>
                      </a:pPr>
                      <a:r>
                        <a:rPr kumimoji="1" lang="en-US" altLang="ja-JP" sz="1400" baseline="0">
                          <a:latin typeface="Meiryo UI" panose="020B0604030504040204" pitchFamily="50" charset="-128"/>
                          <a:ea typeface="Meiryo UI" panose="020B0604030504040204" pitchFamily="50" charset="-128"/>
                        </a:rPr>
                        <a:t>To find if there are any problems with facility and engine</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anose="020B0604030504040204" pitchFamily="50" charset="-128"/>
                          <a:ea typeface="Meiryo UI" panose="020B0604030504040204" pitchFamily="50" charset="-128"/>
                        </a:rPr>
                        <a:t>Honda</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285750" indent="-285750">
                        <a:buFont typeface="Wingdings" pitchFamily="2" charset="2"/>
                        <a:buChar char="l"/>
                      </a:pPr>
                      <a:r>
                        <a:rPr kumimoji="1" lang="en-US" altLang="ja-JP" sz="1400">
                          <a:latin typeface="Meiryo UI" panose="020B0604030504040204" pitchFamily="50" charset="-128"/>
                          <a:ea typeface="Meiryo UI" panose="020B0604030504040204" pitchFamily="50" charset="-128"/>
                        </a:rPr>
                        <a:t>To assess how</a:t>
                      </a:r>
                      <a:r>
                        <a:rPr kumimoji="1" lang="en-US" altLang="ja-JP" sz="1400" baseline="0">
                          <a:latin typeface="Meiryo UI" panose="020B0604030504040204" pitchFamily="50" charset="-128"/>
                          <a:ea typeface="Meiryo UI" panose="020B0604030504040204" pitchFamily="50" charset="-128"/>
                        </a:rPr>
                        <a:t> engine get deteriorated based on daily check result from consigned entrustee</a:t>
                      </a:r>
                    </a:p>
                    <a:p>
                      <a:pPr marL="285750" indent="-285750">
                        <a:buFont typeface="Wingdings" pitchFamily="2" charset="2"/>
                        <a:buChar char="l"/>
                      </a:pPr>
                      <a:r>
                        <a:rPr kumimoji="1" lang="en-US" altLang="ja-JP" sz="1400" baseline="0">
                          <a:latin typeface="Meiryo UI" panose="020B0604030504040204" pitchFamily="50" charset="-128"/>
                          <a:ea typeface="Meiryo UI" panose="020B0604030504040204" pitchFamily="50" charset="-128"/>
                        </a:rPr>
                        <a:t>To find timing to replace current engine with new one</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bl>
          </a:graphicData>
        </a:graphic>
      </p:graphicFrame>
      <p:sp>
        <p:nvSpPr>
          <p:cNvPr id="5" name="テキスト ボックス 4"/>
          <p:cNvSpPr txBox="1"/>
          <p:nvPr/>
        </p:nvSpPr>
        <p:spPr>
          <a:xfrm>
            <a:off x="259536" y="3788827"/>
            <a:ext cx="8712968" cy="1231106"/>
          </a:xfrm>
          <a:prstGeom prst="rect">
            <a:avLst/>
          </a:prstGeom>
          <a:noFill/>
        </p:spPr>
        <p:txBody>
          <a:bodyPr wrap="square" rtlCol="0">
            <a:spAutoFit/>
          </a:bodyPr>
          <a:lstStyle/>
          <a:p>
            <a:pPr algn="l" fontAlgn="auto">
              <a:spcBef>
                <a:spcPts val="0"/>
              </a:spcBef>
              <a:spcAft>
                <a:spcPts val="0"/>
              </a:spcAft>
              <a:defRPr/>
            </a:pPr>
            <a:r>
              <a:rPr lang="en-US" altLang="ja-JP" sz="1600">
                <a:solidFill>
                  <a:prstClr val="black"/>
                </a:solidFill>
                <a:latin typeface="Meiryo UI" pitchFamily="50" charset="-128"/>
                <a:ea typeface="Meiryo UI" pitchFamily="50" charset="-128"/>
                <a:cs typeface="Meiryo UI" pitchFamily="50" charset="-128"/>
              </a:rPr>
              <a:t>&lt; </a:t>
            </a:r>
            <a:r>
              <a:rPr lang="ja-JP" altLang="en-US" sz="1600">
                <a:solidFill>
                  <a:prstClr val="black"/>
                </a:solidFill>
                <a:latin typeface="Meiryo UI" pitchFamily="50" charset="-128"/>
                <a:ea typeface="Meiryo UI" pitchFamily="50" charset="-128"/>
                <a:cs typeface="Meiryo UI" pitchFamily="50" charset="-128"/>
              </a:rPr>
              <a:t>コンセプト</a:t>
            </a:r>
            <a:r>
              <a:rPr lang="en-US" altLang="ja-JP" sz="1600">
                <a:solidFill>
                  <a:prstClr val="black"/>
                </a:solidFill>
                <a:latin typeface="Meiryo UI" pitchFamily="50" charset="-128"/>
                <a:ea typeface="Meiryo UI" pitchFamily="50" charset="-128"/>
                <a:cs typeface="Meiryo UI" pitchFamily="50" charset="-128"/>
              </a:rPr>
              <a:t> &gt;</a:t>
            </a:r>
          </a:p>
          <a:p>
            <a:pPr algn="l" fontAlgn="auto">
              <a:spcBef>
                <a:spcPts val="0"/>
              </a:spcBef>
              <a:spcAft>
                <a:spcPts val="0"/>
              </a:spcAft>
              <a:defRPr/>
            </a:pPr>
            <a:r>
              <a:rPr lang="ja-JP" altLang="en-US" sz="1400">
                <a:solidFill>
                  <a:prstClr val="black"/>
                </a:solidFill>
                <a:latin typeface="Meiryo UI" pitchFamily="50" charset="-128"/>
                <a:ea typeface="Meiryo UI" pitchFamily="50" charset="-128"/>
                <a:cs typeface="Meiryo UI" pitchFamily="50" charset="-128"/>
              </a:rPr>
              <a:t>キャリブレーションのやり直しや中断を回避し、テスト結果の精度を確保するために、メンテナンスと毎日のチェックを適切に</a:t>
            </a:r>
            <a:endParaRPr lang="en-US" altLang="ja-JP" sz="1400">
              <a:solidFill>
                <a:prstClr val="black"/>
              </a:solidFill>
              <a:latin typeface="Meiryo UI" pitchFamily="50" charset="-128"/>
              <a:ea typeface="Meiryo UI" pitchFamily="50" charset="-128"/>
              <a:cs typeface="Meiryo UI" pitchFamily="50" charset="-128"/>
            </a:endParaRPr>
          </a:p>
          <a:p>
            <a:pPr algn="l" fontAlgn="auto">
              <a:spcBef>
                <a:spcPts val="0"/>
              </a:spcBef>
              <a:spcAft>
                <a:spcPts val="0"/>
              </a:spcAft>
              <a:defRPr/>
            </a:pPr>
            <a:r>
              <a:rPr lang="ja-JP" altLang="en-US" sz="1400">
                <a:solidFill>
                  <a:prstClr val="black"/>
                </a:solidFill>
                <a:latin typeface="Meiryo UI" pitchFamily="50" charset="-128"/>
                <a:ea typeface="Meiryo UI" pitchFamily="50" charset="-128"/>
                <a:cs typeface="Meiryo UI" pitchFamily="50" charset="-128"/>
              </a:rPr>
              <a:t>実行する必要があります。</a:t>
            </a:r>
            <a:endParaRPr lang="en-US" altLang="ja-JP" sz="1400">
              <a:solidFill>
                <a:prstClr val="black"/>
              </a:solidFill>
              <a:latin typeface="Meiryo UI" pitchFamily="50" charset="-128"/>
              <a:ea typeface="Meiryo UI" pitchFamily="50" charset="-128"/>
              <a:cs typeface="Meiryo UI" pitchFamily="50" charset="-128"/>
            </a:endParaRPr>
          </a:p>
          <a:p>
            <a:pPr algn="l" fontAlgn="auto">
              <a:spcBef>
                <a:spcPts val="0"/>
              </a:spcBef>
              <a:spcAft>
                <a:spcPts val="0"/>
              </a:spcAft>
              <a:defRPr/>
            </a:pPr>
            <a:endParaRPr lang="en-US" altLang="ja-JP" sz="1400">
              <a:solidFill>
                <a:prstClr val="black"/>
              </a:solidFill>
              <a:latin typeface="Meiryo UI" pitchFamily="50" charset="-128"/>
              <a:ea typeface="Meiryo UI" pitchFamily="50" charset="-128"/>
              <a:cs typeface="Meiryo UI" pitchFamily="50" charset="-128"/>
            </a:endParaRPr>
          </a:p>
          <a:p>
            <a:pPr algn="l" fontAlgn="auto">
              <a:spcBef>
                <a:spcPts val="0"/>
              </a:spcBef>
              <a:spcAft>
                <a:spcPts val="0"/>
              </a:spcAft>
              <a:defRPr/>
            </a:pPr>
            <a:r>
              <a:rPr lang="en-US" altLang="ja-JP" sz="1600">
                <a:solidFill>
                  <a:prstClr val="black"/>
                </a:solidFill>
                <a:latin typeface="Meiryo UI" pitchFamily="50" charset="-128"/>
                <a:ea typeface="Meiryo UI" pitchFamily="50" charset="-128"/>
                <a:cs typeface="Meiryo UI" pitchFamily="50" charset="-128"/>
              </a:rPr>
              <a:t>&lt; </a:t>
            </a:r>
            <a:r>
              <a:rPr lang="ja-JP" altLang="en-US" sz="1600">
                <a:solidFill>
                  <a:prstClr val="black"/>
                </a:solidFill>
                <a:latin typeface="Meiryo UI" pitchFamily="50" charset="-128"/>
                <a:ea typeface="Meiryo UI" pitchFamily="50" charset="-128"/>
                <a:cs typeface="Meiryo UI" pitchFamily="50" charset="-128"/>
              </a:rPr>
              <a:t>責任区</a:t>
            </a:r>
            <a:r>
              <a:rPr lang="en-US" altLang="ja-JP" sz="1600">
                <a:solidFill>
                  <a:prstClr val="black"/>
                </a:solidFill>
                <a:latin typeface="Meiryo UI" pitchFamily="50" charset="-128"/>
                <a:ea typeface="Meiryo UI" pitchFamily="50" charset="-128"/>
                <a:cs typeface="Meiryo UI" pitchFamily="50" charset="-128"/>
              </a:rPr>
              <a:t>&gt;</a:t>
            </a:r>
          </a:p>
        </p:txBody>
      </p:sp>
      <p:graphicFrame>
        <p:nvGraphicFramePr>
          <p:cNvPr id="6" name="表 5"/>
          <p:cNvGraphicFramePr>
            <a:graphicFrameLocks noGrp="1"/>
          </p:cNvGraphicFramePr>
          <p:nvPr>
            <p:extLst>
              <p:ext uri="{D42A27DB-BD31-4B8C-83A1-F6EECF244321}">
                <p14:modId xmlns:p14="http://schemas.microsoft.com/office/powerpoint/2010/main" val="3655165988"/>
              </p:ext>
            </p:extLst>
          </p:nvPr>
        </p:nvGraphicFramePr>
        <p:xfrm>
          <a:off x="259537" y="4975881"/>
          <a:ext cx="8712968" cy="1620520"/>
        </p:xfrm>
        <a:graphic>
          <a:graphicData uri="http://schemas.openxmlformats.org/drawingml/2006/table">
            <a:tbl>
              <a:tblPr firstRow="1" bandRow="1"/>
              <a:tblGrid>
                <a:gridCol w="2232247">
                  <a:extLst>
                    <a:ext uri="{9D8B030D-6E8A-4147-A177-3AD203B41FA5}">
                      <a16:colId xmlns:a16="http://schemas.microsoft.com/office/drawing/2014/main" val="20000"/>
                    </a:ext>
                  </a:extLst>
                </a:gridCol>
                <a:gridCol w="6480721">
                  <a:extLst>
                    <a:ext uri="{9D8B030D-6E8A-4147-A177-3AD203B41FA5}">
                      <a16:colId xmlns:a16="http://schemas.microsoft.com/office/drawing/2014/main" val="20001"/>
                    </a:ext>
                  </a:extLst>
                </a:gridCol>
              </a:tblGrid>
              <a:tr h="37084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anose="020B0604030504040204" pitchFamily="50" charset="-128"/>
                          <a:ea typeface="Meiryo UI" panose="020B0604030504040204" pitchFamily="50" charset="-128"/>
                        </a:rPr>
                        <a:t>Responsibility</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285750" indent="-285750">
                        <a:buFont typeface="Wingdings" pitchFamily="2" charset="2"/>
                        <a:buChar char="l"/>
                      </a:pPr>
                      <a:r>
                        <a:rPr kumimoji="1" lang="ja-JP" altLang="en-US" sz="1400">
                          <a:latin typeface="Meiryo UI" panose="020B0604030504040204" pitchFamily="50" charset="-128"/>
                          <a:ea typeface="Meiryo UI" panose="020B0604030504040204" pitchFamily="50" charset="-128"/>
                        </a:rPr>
                        <a:t>設備運用とエンジンメンテナンス</a:t>
                      </a:r>
                      <a:endParaRPr kumimoji="1" lang="en-US" altLang="ja-JP" sz="1400" baseline="0">
                        <a:latin typeface="Meiryo UI" panose="020B0604030504040204" pitchFamily="50" charset="-128"/>
                        <a:ea typeface="Meiryo UI" panose="020B0604030504040204" pitchFamily="50" charset="-128"/>
                      </a:endParaRPr>
                    </a:p>
                    <a:p>
                      <a:pPr marL="285750" indent="-285750">
                        <a:buFont typeface="Wingdings" pitchFamily="2" charset="2"/>
                        <a:buChar char="l"/>
                      </a:pPr>
                      <a:r>
                        <a:rPr kumimoji="1" lang="ja-JP" altLang="en-US" sz="1400" baseline="0">
                          <a:latin typeface="Meiryo UI" panose="020B0604030504040204" pitchFamily="50" charset="-128"/>
                          <a:ea typeface="Meiryo UI" panose="020B0604030504040204" pitchFamily="50" charset="-128"/>
                        </a:rPr>
                        <a:t>日々の確認</a:t>
                      </a:r>
                      <a:r>
                        <a:rPr kumimoji="1" lang="en-US" altLang="ja-JP" sz="1400" baseline="0">
                          <a:latin typeface="Meiryo UI" panose="020B0604030504040204" pitchFamily="50" charset="-128"/>
                          <a:ea typeface="Meiryo UI" panose="020B0604030504040204" pitchFamily="50" charset="-128"/>
                        </a:rPr>
                        <a:t>(</a:t>
                      </a:r>
                      <a:r>
                        <a:rPr kumimoji="1" lang="ja-JP" altLang="en-US" sz="1400" baseline="0">
                          <a:latin typeface="Meiryo UI" panose="020B0604030504040204" pitchFamily="50" charset="-128"/>
                          <a:ea typeface="Meiryo UI" panose="020B0604030504040204" pitchFamily="50" charset="-128"/>
                        </a:rPr>
                        <a:t>メンテナンスページを参照</a:t>
                      </a:r>
                      <a:r>
                        <a:rPr kumimoji="1" lang="en-US" altLang="ja-JP" sz="1400" baseline="0">
                          <a:latin typeface="Meiryo UI" panose="020B0604030504040204" pitchFamily="50" charset="-128"/>
                          <a:ea typeface="Meiryo UI" panose="020B0604030504040204" pitchFamily="50" charset="-128"/>
                        </a:rPr>
                        <a:t>)</a:t>
                      </a:r>
                    </a:p>
                    <a:p>
                      <a:pPr marL="285750" indent="-285750">
                        <a:buFont typeface="Wingdings" pitchFamily="2" charset="2"/>
                        <a:buChar char="l"/>
                      </a:pPr>
                      <a:r>
                        <a:rPr kumimoji="1" lang="ja-JP" altLang="en-US" sz="1400" baseline="0">
                          <a:latin typeface="Meiryo UI" panose="020B0604030504040204" pitchFamily="50" charset="-128"/>
                          <a:ea typeface="Meiryo UI" panose="020B0604030504040204" pitchFamily="50" charset="-128"/>
                        </a:rPr>
                        <a:t>設備またはエンジンの不具合の状況確認</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anose="020B0604030504040204" pitchFamily="50" charset="-128"/>
                          <a:ea typeface="Meiryo UI" panose="020B0604030504040204" pitchFamily="50" charset="-128"/>
                        </a:rPr>
                        <a:t>Honda</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285750" marR="0" indent="-285750" algn="l" defTabSz="914400" rtl="0" eaLnBrk="1" fontAlgn="auto" latinLnBrk="0" hangingPunct="1">
                        <a:lnSpc>
                          <a:spcPct val="100000"/>
                        </a:lnSpc>
                        <a:spcBef>
                          <a:spcPts val="0"/>
                        </a:spcBef>
                        <a:spcAft>
                          <a:spcPts val="0"/>
                        </a:spcAft>
                        <a:buClrTx/>
                        <a:buSzTx/>
                        <a:buFont typeface="Wingdings" pitchFamily="2" charset="2"/>
                        <a:buChar char="l"/>
                        <a:tabLst/>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ja-JP" altLang="en-US" sz="1400">
                          <a:latin typeface="Meiryo UI" panose="020B0604030504040204" pitchFamily="50" charset="-128"/>
                          <a:ea typeface="Meiryo UI" panose="020B0604030504040204" pitchFamily="50" charset="-128"/>
                        </a:rPr>
                        <a:t>からの毎日のチェック結果に基づいて、エンジンがどのように劣化するかを評価する</a:t>
                      </a:r>
                      <a:endParaRPr kumimoji="1" lang="en-US" altLang="ja-JP" sz="1400">
                        <a:latin typeface="Meiryo UI" panose="020B0604030504040204" pitchFamily="50" charset="-128"/>
                        <a:ea typeface="Meiryo UI" panose="020B0604030504040204" pitchFamily="50" charset="-128"/>
                      </a:endParaRPr>
                    </a:p>
                    <a:p>
                      <a:pPr marL="285750" indent="-285750">
                        <a:buFont typeface="Wingdings" pitchFamily="2" charset="2"/>
                        <a:buChar char="l"/>
                      </a:pPr>
                      <a:r>
                        <a:rPr kumimoji="1" lang="ja-JP" altLang="en-US" sz="1400" baseline="0">
                          <a:latin typeface="Meiryo UI" panose="020B0604030504040204" pitchFamily="50" charset="-128"/>
                          <a:ea typeface="Meiryo UI" panose="020B0604030504040204" pitchFamily="50" charset="-128"/>
                        </a:rPr>
                        <a:t>エンジン交換または新規投入の時期の確認</a:t>
                      </a:r>
                      <a:endParaRPr kumimoji="1" lang="ja-JP" altLang="en-US" sz="140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8677145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(9/16)</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12" name="表 11"/>
          <p:cNvGraphicFramePr>
            <a:graphicFrameLocks noGrp="1"/>
          </p:cNvGraphicFramePr>
          <p:nvPr>
            <p:extLst>
              <p:ext uri="{D42A27DB-BD31-4B8C-83A1-F6EECF244321}">
                <p14:modId xmlns:p14="http://schemas.microsoft.com/office/powerpoint/2010/main" val="215976638"/>
              </p:ext>
            </p:extLst>
          </p:nvPr>
        </p:nvGraphicFramePr>
        <p:xfrm>
          <a:off x="74685" y="928153"/>
          <a:ext cx="9031992" cy="2865120"/>
        </p:xfrm>
        <a:graphic>
          <a:graphicData uri="http://schemas.openxmlformats.org/drawingml/2006/table">
            <a:tbl>
              <a:tblPr firstRow="1" bandRow="1"/>
              <a:tblGrid>
                <a:gridCol w="2851468">
                  <a:extLst>
                    <a:ext uri="{9D8B030D-6E8A-4147-A177-3AD203B41FA5}">
                      <a16:colId xmlns:a16="http://schemas.microsoft.com/office/drawing/2014/main" val="20000"/>
                    </a:ext>
                  </a:extLst>
                </a:gridCol>
                <a:gridCol w="3750872">
                  <a:extLst>
                    <a:ext uri="{9D8B030D-6E8A-4147-A177-3AD203B41FA5}">
                      <a16:colId xmlns:a16="http://schemas.microsoft.com/office/drawing/2014/main" val="20001"/>
                    </a:ext>
                  </a:extLst>
                </a:gridCol>
                <a:gridCol w="2429652">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Measurement</a:t>
                      </a:r>
                      <a:r>
                        <a:rPr kumimoji="1" lang="en-US" altLang="ja-JP" sz="1400" baseline="0">
                          <a:latin typeface="Meiryo UI" pitchFamily="50" charset="-128"/>
                          <a:ea typeface="Meiryo UI" pitchFamily="50" charset="-128"/>
                          <a:cs typeface="Meiryo UI" pitchFamily="50" charset="-128"/>
                        </a:rPr>
                        <a:t>  condition</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Daily</a:t>
                      </a:r>
                      <a:r>
                        <a:rPr kumimoji="1" lang="en-US" altLang="ja-JP" sz="1400" baseline="0">
                          <a:latin typeface="Meiryo UI" pitchFamily="50" charset="-128"/>
                          <a:ea typeface="Meiryo UI" pitchFamily="50" charset="-128"/>
                          <a:cs typeface="Meiryo UI" pitchFamily="50" charset="-128"/>
                        </a:rPr>
                        <a:t> Check Items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Notes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Exhaust Gas Analyzer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A/F,</a:t>
                      </a:r>
                      <a:r>
                        <a:rPr kumimoji="1" lang="en-US" altLang="ja-JP" sz="1400" baseline="0">
                          <a:latin typeface="Meiryo UI" pitchFamily="50" charset="-128"/>
                          <a:ea typeface="Meiryo UI" pitchFamily="50" charset="-128"/>
                          <a:cs typeface="Meiryo UI" pitchFamily="50" charset="-128"/>
                        </a:rPr>
                        <a:t> </a:t>
                      </a:r>
                      <a:r>
                        <a:rPr kumimoji="1" lang="en-US" altLang="ja-JP" sz="1400">
                          <a:latin typeface="Meiryo UI" pitchFamily="50" charset="-128"/>
                          <a:ea typeface="Meiryo UI" pitchFamily="50" charset="-128"/>
                          <a:cs typeface="Meiryo UI" pitchFamily="50" charset="-128"/>
                        </a:rPr>
                        <a:t>CO, HC, CO2, NOx, (O2)</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Fuel Flow</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Fuel Flow</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Dynamo </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Torque, Dynamo</a:t>
                      </a:r>
                      <a:r>
                        <a:rPr kumimoji="1" lang="en-US" altLang="ja-JP" sz="1400" baseline="0">
                          <a:latin typeface="Meiryo UI" pitchFamily="50" charset="-128"/>
                          <a:ea typeface="Meiryo UI" pitchFamily="50" charset="-128"/>
                          <a:cs typeface="Meiryo UI" pitchFamily="50" charset="-128"/>
                        </a:rPr>
                        <a:t> Speed</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Intake Air Condition</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Temperature, humidity, KPS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Cylinder Pressure Sensor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MFB</a:t>
                      </a:r>
                      <a:r>
                        <a:rPr kumimoji="1" lang="en-US" altLang="ja-JP" sz="1400" baseline="0">
                          <a:latin typeface="Meiryo UI" pitchFamily="50" charset="-128"/>
                          <a:ea typeface="Meiryo UI" pitchFamily="50" charset="-128"/>
                          <a:cs typeface="Meiryo UI" pitchFamily="50" charset="-128"/>
                        </a:rPr>
                        <a:t>50%</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Pressure</a:t>
                      </a:r>
                      <a:r>
                        <a:rPr kumimoji="1" lang="en-US" altLang="ja-JP" sz="1400" baseline="0">
                          <a:latin typeface="Meiryo UI" pitchFamily="50" charset="-128"/>
                          <a:ea typeface="Meiryo UI" pitchFamily="50" charset="-128"/>
                          <a:cs typeface="Meiryo UI" pitchFamily="50" charset="-128"/>
                        </a:rPr>
                        <a:t> Sensor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Exhaust</a:t>
                      </a:r>
                      <a:r>
                        <a:rPr kumimoji="1" lang="en-US" altLang="ja-JP" sz="1400" baseline="0">
                          <a:latin typeface="Meiryo UI" pitchFamily="50" charset="-128"/>
                          <a:ea typeface="Meiryo UI" pitchFamily="50" charset="-128"/>
                          <a:cs typeface="Meiryo UI" pitchFamily="50" charset="-128"/>
                        </a:rPr>
                        <a:t>, Intake manifold</a:t>
                      </a:r>
                    </a:p>
                    <a:p>
                      <a:r>
                        <a:rPr kumimoji="1" lang="en-US" altLang="ja-JP" sz="1400" baseline="0">
                          <a:latin typeface="Meiryo UI" pitchFamily="50" charset="-128"/>
                          <a:ea typeface="Meiryo UI" pitchFamily="50" charset="-128"/>
                          <a:cs typeface="Meiryo UI" pitchFamily="50" charset="-128"/>
                        </a:rPr>
                        <a:t>Engine Oil, </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Temperature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Exhaust,</a:t>
                      </a:r>
                      <a:r>
                        <a:rPr kumimoji="1" lang="en-US" altLang="ja-JP" sz="1400" baseline="0">
                          <a:latin typeface="Meiryo UI" pitchFamily="50" charset="-128"/>
                          <a:ea typeface="Meiryo UI" pitchFamily="50" charset="-128"/>
                          <a:cs typeface="Meiryo UI" pitchFamily="50" charset="-128"/>
                        </a:rPr>
                        <a:t> Intake manifold, </a:t>
                      </a:r>
                    </a:p>
                    <a:p>
                      <a:r>
                        <a:rPr kumimoji="1" lang="en-US" altLang="ja-JP" sz="1400" baseline="0">
                          <a:latin typeface="Meiryo UI" pitchFamily="50" charset="-128"/>
                          <a:ea typeface="Meiryo UI" pitchFamily="50" charset="-128"/>
                          <a:cs typeface="Meiryo UI" pitchFamily="50" charset="-128"/>
                        </a:rPr>
                        <a:t>CAT, Coolant out, Engine Oil</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7"/>
                  </a:ext>
                </a:extLst>
              </a:tr>
            </a:tbl>
          </a:graphicData>
        </a:graphic>
      </p:graphicFrame>
      <p:graphicFrame>
        <p:nvGraphicFramePr>
          <p:cNvPr id="13" name="表 12"/>
          <p:cNvGraphicFramePr>
            <a:graphicFrameLocks noGrp="1"/>
          </p:cNvGraphicFramePr>
          <p:nvPr>
            <p:extLst>
              <p:ext uri="{D42A27DB-BD31-4B8C-83A1-F6EECF244321}">
                <p14:modId xmlns:p14="http://schemas.microsoft.com/office/powerpoint/2010/main" val="316544980"/>
              </p:ext>
            </p:extLst>
          </p:nvPr>
        </p:nvGraphicFramePr>
        <p:xfrm>
          <a:off x="67797" y="3869090"/>
          <a:ext cx="9040707" cy="2590800"/>
        </p:xfrm>
        <a:graphic>
          <a:graphicData uri="http://schemas.openxmlformats.org/drawingml/2006/table">
            <a:tbl>
              <a:tblPr firstRow="1" bandRow="1"/>
              <a:tblGrid>
                <a:gridCol w="2848019">
                  <a:extLst>
                    <a:ext uri="{9D8B030D-6E8A-4147-A177-3AD203B41FA5}">
                      <a16:colId xmlns:a16="http://schemas.microsoft.com/office/drawing/2014/main" val="20000"/>
                    </a:ext>
                  </a:extLst>
                </a:gridCol>
                <a:gridCol w="3751684">
                  <a:extLst>
                    <a:ext uri="{9D8B030D-6E8A-4147-A177-3AD203B41FA5}">
                      <a16:colId xmlns:a16="http://schemas.microsoft.com/office/drawing/2014/main" val="20001"/>
                    </a:ext>
                  </a:extLst>
                </a:gridCol>
                <a:gridCol w="2441004">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Engine</a:t>
                      </a:r>
                      <a:r>
                        <a:rPr kumimoji="1" lang="en-US" altLang="ja-JP" sz="1400" baseline="0">
                          <a:latin typeface="Meiryo UI" pitchFamily="50" charset="-128"/>
                          <a:ea typeface="Meiryo UI" pitchFamily="50" charset="-128"/>
                          <a:cs typeface="Meiryo UI" pitchFamily="50" charset="-128"/>
                        </a:rPr>
                        <a:t> condition</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Daily</a:t>
                      </a:r>
                      <a:r>
                        <a:rPr kumimoji="1" lang="en-US" altLang="ja-JP" sz="1400" baseline="0">
                          <a:latin typeface="Meiryo UI" pitchFamily="50" charset="-128"/>
                          <a:ea typeface="Meiryo UI" pitchFamily="50" charset="-128"/>
                          <a:cs typeface="Meiryo UI" pitchFamily="50" charset="-128"/>
                        </a:rPr>
                        <a:t> Check Items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Notes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Air</a:t>
                      </a:r>
                      <a:r>
                        <a:rPr lang="en-US" altLang="ja-JP" sz="1400" baseline="0">
                          <a:latin typeface="Meiryo UI" pitchFamily="50" charset="-128"/>
                          <a:ea typeface="Meiryo UI" pitchFamily="50" charset="-128"/>
                          <a:cs typeface="Meiryo UI" pitchFamily="50" charset="-128"/>
                        </a:rPr>
                        <a:t> amount</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Air Flow meter, </a:t>
                      </a:r>
                    </a:p>
                    <a:p>
                      <a:r>
                        <a:rPr lang="en-US" altLang="ja-JP" sz="1400">
                          <a:latin typeface="Meiryo UI" pitchFamily="50" charset="-128"/>
                          <a:ea typeface="Meiryo UI" pitchFamily="50" charset="-128"/>
                          <a:cs typeface="Meiryo UI" pitchFamily="50" charset="-128"/>
                        </a:rPr>
                        <a:t>ECU recognition air / Actual air ratio (※)</a:t>
                      </a:r>
                    </a:p>
                    <a:p>
                      <a:r>
                        <a:rPr lang="en-US" altLang="ja-JP" sz="1400">
                          <a:latin typeface="Meiryo UI" pitchFamily="50" charset="-128"/>
                          <a:ea typeface="Meiryo UI" pitchFamily="50" charset="-128"/>
                          <a:cs typeface="Meiryo UI" pitchFamily="50" charset="-128"/>
                        </a:rPr>
                        <a:t>Power and atmospheric pressure (※)</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200">
                          <a:latin typeface="Meiryo UI" pitchFamily="50" charset="-128"/>
                          <a:ea typeface="Meiryo UI" pitchFamily="50" charset="-128"/>
                          <a:cs typeface="Meiryo UI" pitchFamily="50" charset="-128"/>
                        </a:rPr>
                        <a:t>(※)</a:t>
                      </a:r>
                    </a:p>
                    <a:p>
                      <a:r>
                        <a:rPr lang="en-US" altLang="ja-JP" sz="1200">
                          <a:latin typeface="Meiryo UI" pitchFamily="50" charset="-128"/>
                          <a:ea typeface="Meiryo UI" pitchFamily="50" charset="-128"/>
                          <a:cs typeface="Meiryo UI" pitchFamily="50" charset="-128"/>
                        </a:rPr>
                        <a:t>-WOT at power peak Ne</a:t>
                      </a:r>
                    </a:p>
                    <a:p>
                      <a:r>
                        <a:rPr lang="en-US" altLang="ja-JP" sz="1200">
                          <a:latin typeface="Meiryo UI" pitchFamily="50" charset="-128"/>
                          <a:ea typeface="Meiryo UI" pitchFamily="50" charset="-128"/>
                          <a:cs typeface="Meiryo UI" pitchFamily="50" charset="-128"/>
                        </a:rPr>
                        <a:t>-Share once every 2 weeks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knocking</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Ignition</a:t>
                      </a:r>
                      <a:r>
                        <a:rPr kumimoji="1" lang="en-US" altLang="ja-JP" sz="1400" baseline="0">
                          <a:latin typeface="Meiryo UI" pitchFamily="50" charset="-128"/>
                          <a:ea typeface="Meiryo UI" pitchFamily="50" charset="-128"/>
                          <a:cs typeface="Meiryo UI" pitchFamily="50" charset="-128"/>
                        </a:rPr>
                        <a:t> timing</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Measurement</a:t>
                      </a:r>
                      <a:r>
                        <a:rPr kumimoji="1" lang="en-US" altLang="ja-JP" sz="1400" baseline="0">
                          <a:latin typeface="Meiryo UI" pitchFamily="50" charset="-128"/>
                          <a:ea typeface="Meiryo UI" pitchFamily="50" charset="-128"/>
                          <a:cs typeface="Meiryo UI" pitchFamily="50" charset="-128"/>
                        </a:rPr>
                        <a:t> sensor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a:latin typeface="Meiryo UI" pitchFamily="50" charset="-128"/>
                          <a:ea typeface="Meiryo UI" pitchFamily="50" charset="-128"/>
                          <a:cs typeface="Meiryo UI" pitchFamily="50" charset="-128"/>
                        </a:rPr>
                        <a:t>Fuel pressure, UEGO </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a:latin typeface="Meiryo UI" pitchFamily="50" charset="-128"/>
                          <a:ea typeface="Meiryo UI" pitchFamily="50" charset="-128"/>
                          <a:cs typeface="Meiryo UI" pitchFamily="50" charset="-128"/>
                        </a:rPr>
                        <a:t>Intake Manifold Pressure,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a:latin typeface="Meiryo UI" pitchFamily="50" charset="-128"/>
                          <a:ea typeface="Meiryo UI" pitchFamily="50" charset="-128"/>
                          <a:cs typeface="Meiryo UI" pitchFamily="50" charset="-128"/>
                        </a:rPr>
                        <a:t>Intake Manifold Temperature,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Device position</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In</a:t>
                      </a:r>
                      <a:r>
                        <a:rPr kumimoji="1" lang="en-US" altLang="ja-JP" sz="1400" baseline="0">
                          <a:latin typeface="Meiryo UI" pitchFamily="50" charset="-128"/>
                          <a:ea typeface="Meiryo UI" pitchFamily="50" charset="-128"/>
                          <a:cs typeface="Meiryo UI" pitchFamily="50" charset="-128"/>
                        </a:rPr>
                        <a:t> cam, Ex cam, VTEC, Throttle, (</a:t>
                      </a:r>
                      <a:r>
                        <a:rPr lang="en-US" altLang="ja-JP" sz="1400">
                          <a:effectLst/>
                          <a:latin typeface="Meiryo UI" pitchFamily="50" charset="-128"/>
                          <a:ea typeface="Meiryo UI" pitchFamily="50" charset="-128"/>
                          <a:cs typeface="Meiryo UI" pitchFamily="50" charset="-128"/>
                        </a:rPr>
                        <a:t>Waste Gate</a:t>
                      </a:r>
                      <a:r>
                        <a:rPr lang="en-US" altLang="ja-JP" sz="1400" baseline="0">
                          <a:effectLst/>
                          <a:latin typeface="Meiryo UI" pitchFamily="50" charset="-128"/>
                          <a:ea typeface="Meiryo UI" pitchFamily="50" charset="-128"/>
                          <a:cs typeface="Meiryo UI" pitchFamily="50" charset="-128"/>
                        </a:rPr>
                        <a:t> </a:t>
                      </a:r>
                      <a:r>
                        <a:rPr lang="en-US" altLang="ja-JP" sz="1400">
                          <a:effectLst/>
                          <a:latin typeface="Meiryo UI" pitchFamily="50" charset="-128"/>
                          <a:ea typeface="Meiryo UI" pitchFamily="50" charset="-128"/>
                          <a:cs typeface="Meiryo UI" pitchFamily="50" charset="-128"/>
                        </a:rPr>
                        <a:t>Lift</a:t>
                      </a:r>
                      <a:r>
                        <a:rPr kumimoji="1" lang="en-US" altLang="ja-JP" sz="1400" baseline="0">
                          <a:latin typeface="Meiryo UI" pitchFamily="50" charset="-128"/>
                          <a:ea typeface="Meiryo UI" pitchFamily="50" charset="-128"/>
                          <a:cs typeface="Meiryo UI" pitchFamily="50" charset="-128"/>
                        </a:rPr>
                        <a:t>)</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bl>
          </a:graphicData>
        </a:graphic>
      </p:graphicFrame>
      <p:sp>
        <p:nvSpPr>
          <p:cNvPr id="14" name="テキスト ボックス 13"/>
          <p:cNvSpPr txBox="1"/>
          <p:nvPr/>
        </p:nvSpPr>
        <p:spPr>
          <a:xfrm>
            <a:off x="74685" y="560650"/>
            <a:ext cx="3384376" cy="369332"/>
          </a:xfrm>
          <a:prstGeom prst="rect">
            <a:avLst/>
          </a:prstGeom>
          <a:noFill/>
        </p:spPr>
        <p:txBody>
          <a:bodyPr wrap="square" rtlCol="0">
            <a:spAutoFit/>
          </a:bodyPr>
          <a:lstStyle/>
          <a:p>
            <a:pPr algn="l" fontAlgn="auto">
              <a:spcBef>
                <a:spcPts val="0"/>
              </a:spcBef>
              <a:spcAft>
                <a:spcPts val="0"/>
              </a:spcAft>
            </a:pPr>
            <a:r>
              <a:rPr lang="en-US" altLang="ja-JP" sz="1800" b="1" u="sng">
                <a:solidFill>
                  <a:prstClr val="black"/>
                </a:solidFill>
                <a:latin typeface="Meiryo UI" pitchFamily="50" charset="-128"/>
                <a:ea typeface="Meiryo UI" pitchFamily="50" charset="-128"/>
                <a:cs typeface="Meiryo UI" pitchFamily="50" charset="-128"/>
              </a:rPr>
              <a:t>Daily Check Items</a:t>
            </a:r>
            <a:endParaRPr lang="ja-JP" altLang="en-US" sz="1800" b="1" u="sng">
              <a:solidFill>
                <a:prstClr val="black"/>
              </a:solidFill>
              <a:latin typeface="Meiryo UI" pitchFamily="50" charset="-128"/>
              <a:ea typeface="Meiryo UI" pitchFamily="50" charset="-128"/>
              <a:cs typeface="Meiryo UI" pitchFamily="50" charset="-128"/>
            </a:endParaRPr>
          </a:p>
        </p:txBody>
      </p:sp>
      <p:sp>
        <p:nvSpPr>
          <p:cNvPr id="15" name="テキスト ボックス 14"/>
          <p:cNvSpPr txBox="1"/>
          <p:nvPr/>
        </p:nvSpPr>
        <p:spPr>
          <a:xfrm>
            <a:off x="74685" y="6483724"/>
            <a:ext cx="8530046" cy="338554"/>
          </a:xfrm>
          <a:prstGeom prst="rect">
            <a:avLst/>
          </a:prstGeom>
          <a:noFill/>
        </p:spPr>
        <p:txBody>
          <a:bodyPr wrap="square" rtlCol="0">
            <a:spAutoFit/>
          </a:bodyPr>
          <a:lstStyle/>
          <a:p>
            <a:pPr fontAlgn="auto">
              <a:spcBef>
                <a:spcPts val="0"/>
              </a:spcBef>
              <a:spcAft>
                <a:spcPts val="0"/>
              </a:spcAft>
            </a:pPr>
            <a:r>
              <a:rPr lang="en-US" altLang="ja-JP" sz="1600" b="1">
                <a:latin typeface="Meiryo UI" panose="020B0604030504040204" pitchFamily="50" charset="-128"/>
                <a:ea typeface="Meiryo UI" panose="020B0604030504040204" pitchFamily="50" charset="-128"/>
              </a:rPr>
              <a:t>※</a:t>
            </a:r>
            <a:r>
              <a:rPr lang="ja-JP" altLang="en-US" sz="1600" b="1">
                <a:latin typeface="Meiryo UI" panose="020B0604030504040204" pitchFamily="50" charset="-128"/>
                <a:ea typeface="Meiryo UI" panose="020B0604030504040204" pitchFamily="50" charset="-128"/>
              </a:rPr>
              <a:t> </a:t>
            </a:r>
            <a:r>
              <a:rPr lang="en-US" altLang="ja-JP" sz="1600" b="1">
                <a:latin typeface="Meiryo UI" panose="020B0604030504040204" pitchFamily="50" charset="-128"/>
                <a:ea typeface="Meiryo UI" panose="020B0604030504040204" pitchFamily="50" charset="-128"/>
              </a:rPr>
              <a:t>If </a:t>
            </a:r>
            <a:r>
              <a:rPr lang="en-US" altLang="ja-JP" sz="1600" b="1">
                <a:solidFill>
                  <a:srgbClr val="0000FF"/>
                </a:solidFill>
                <a:latin typeface="Meiryo UI" panose="020B0604030504040204" pitchFamily="50" charset="-128"/>
                <a:ea typeface="Meiryo UI" panose="020B0604030504040204" pitchFamily="50" charset="-128"/>
              </a:rPr>
              <a:t>Bosch</a:t>
            </a:r>
            <a:r>
              <a:rPr lang="en-US" altLang="ja-JP" sz="1600" b="1">
                <a:latin typeface="Meiryo UI" panose="020B0604030504040204" pitchFamily="50" charset="-128"/>
                <a:ea typeface="Meiryo UI" panose="020B0604030504040204" pitchFamily="50" charset="-128"/>
              </a:rPr>
              <a:t> has  original check items, please add them on the list. </a:t>
            </a:r>
            <a:endParaRPr lang="ja-JP" altLang="en-US" sz="1600"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2828364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(10/16)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9" name="テキスト ボックス 8"/>
          <p:cNvSpPr txBox="1"/>
          <p:nvPr/>
        </p:nvSpPr>
        <p:spPr>
          <a:xfrm>
            <a:off x="179512" y="529383"/>
            <a:ext cx="38884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sng"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rPr>
              <a:t>Daily Check Condition</a:t>
            </a:r>
            <a:endParaRPr kumimoji="1" lang="ja-JP" altLang="en-US" sz="1800" b="1" i="0" u="sng"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endParaRP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2" y="3605783"/>
            <a:ext cx="6135563"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テキスト ボックス 15"/>
          <p:cNvSpPr txBox="1"/>
          <p:nvPr/>
        </p:nvSpPr>
        <p:spPr>
          <a:xfrm>
            <a:off x="65212" y="3275111"/>
            <a:ext cx="205886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i="0"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rPr>
              <a:t>Daily check Example</a:t>
            </a:r>
            <a:endParaRPr kumimoji="1" lang="ja-JP" altLang="en-US" sz="1400" i="0"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endParaRPr>
          </a:p>
        </p:txBody>
      </p:sp>
      <p:pic>
        <p:nvPicPr>
          <p:cNvPr id="3" name="図 2">
            <a:extLst>
              <a:ext uri="{FF2B5EF4-FFF2-40B4-BE49-F238E27FC236}">
                <a16:creationId xmlns:a16="http://schemas.microsoft.com/office/drawing/2014/main" id="{0F4E2F19-CA24-4B6D-1922-38B58947E0D6}"/>
              </a:ext>
            </a:extLst>
          </p:cNvPr>
          <p:cNvPicPr>
            <a:picLocks noChangeAspect="1"/>
          </p:cNvPicPr>
          <p:nvPr/>
        </p:nvPicPr>
        <p:blipFill>
          <a:blip r:embed="rId4"/>
          <a:stretch>
            <a:fillRect/>
          </a:stretch>
        </p:blipFill>
        <p:spPr>
          <a:xfrm>
            <a:off x="6303149" y="3491936"/>
            <a:ext cx="2747618" cy="1630515"/>
          </a:xfrm>
          <a:prstGeom prst="rect">
            <a:avLst/>
          </a:prstGeom>
        </p:spPr>
      </p:pic>
      <p:pic>
        <p:nvPicPr>
          <p:cNvPr id="4" name="図 3">
            <a:extLst>
              <a:ext uri="{FF2B5EF4-FFF2-40B4-BE49-F238E27FC236}">
                <a16:creationId xmlns:a16="http://schemas.microsoft.com/office/drawing/2014/main" id="{59DBA402-915C-C87C-619A-77C99C4AD304}"/>
              </a:ext>
            </a:extLst>
          </p:cNvPr>
          <p:cNvPicPr>
            <a:picLocks noChangeAspect="1"/>
          </p:cNvPicPr>
          <p:nvPr/>
        </p:nvPicPr>
        <p:blipFill>
          <a:blip r:embed="rId5"/>
          <a:stretch>
            <a:fillRect/>
          </a:stretch>
        </p:blipFill>
        <p:spPr>
          <a:xfrm>
            <a:off x="6303149" y="5107169"/>
            <a:ext cx="2747618" cy="1678995"/>
          </a:xfrm>
          <a:prstGeom prst="rect">
            <a:avLst/>
          </a:prstGeom>
        </p:spPr>
      </p:pic>
      <p:pic>
        <p:nvPicPr>
          <p:cNvPr id="5" name="table">
            <a:extLst>
              <a:ext uri="{FF2B5EF4-FFF2-40B4-BE49-F238E27FC236}">
                <a16:creationId xmlns:a16="http://schemas.microsoft.com/office/drawing/2014/main" id="{54F6CE03-2E38-62FF-AFD2-A0F4401CE305}"/>
              </a:ext>
            </a:extLst>
          </p:cNvPr>
          <p:cNvPicPr>
            <a:picLocks noChangeAspect="1"/>
          </p:cNvPicPr>
          <p:nvPr/>
        </p:nvPicPr>
        <p:blipFill>
          <a:blip r:embed="rId6"/>
          <a:stretch>
            <a:fillRect/>
          </a:stretch>
        </p:blipFill>
        <p:spPr>
          <a:xfrm>
            <a:off x="179512" y="984338"/>
            <a:ext cx="8812654" cy="1630827"/>
          </a:xfrm>
          <a:prstGeom prst="rect">
            <a:avLst/>
          </a:prstGeom>
        </p:spPr>
      </p:pic>
    </p:spTree>
    <p:extLst>
      <p:ext uri="{BB962C8B-B14F-4D97-AF65-F5344CB8AC3E}">
        <p14:creationId xmlns:p14="http://schemas.microsoft.com/office/powerpoint/2010/main" val="373215941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(11/16)</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15" name="表 14"/>
          <p:cNvGraphicFramePr>
            <a:graphicFrameLocks noGrp="1"/>
          </p:cNvGraphicFramePr>
          <p:nvPr>
            <p:extLst>
              <p:ext uri="{D42A27DB-BD31-4B8C-83A1-F6EECF244321}">
                <p14:modId xmlns:p14="http://schemas.microsoft.com/office/powerpoint/2010/main" val="3562361955"/>
              </p:ext>
            </p:extLst>
          </p:nvPr>
        </p:nvGraphicFramePr>
        <p:xfrm>
          <a:off x="74685" y="973657"/>
          <a:ext cx="9033819" cy="3992880"/>
        </p:xfrm>
        <a:graphic>
          <a:graphicData uri="http://schemas.openxmlformats.org/drawingml/2006/table">
            <a:tbl>
              <a:tblPr firstRow="1" bandRow="1"/>
              <a:tblGrid>
                <a:gridCol w="2346579">
                  <a:extLst>
                    <a:ext uri="{9D8B030D-6E8A-4147-A177-3AD203B41FA5}">
                      <a16:colId xmlns:a16="http://schemas.microsoft.com/office/drawing/2014/main" val="20000"/>
                    </a:ext>
                  </a:extLst>
                </a:gridCol>
                <a:gridCol w="3666363">
                  <a:extLst>
                    <a:ext uri="{9D8B030D-6E8A-4147-A177-3AD203B41FA5}">
                      <a16:colId xmlns:a16="http://schemas.microsoft.com/office/drawing/2014/main" val="20001"/>
                    </a:ext>
                  </a:extLst>
                </a:gridCol>
                <a:gridCol w="3020877">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Maintenance</a:t>
                      </a:r>
                      <a:r>
                        <a:rPr kumimoji="1" lang="en-US" altLang="ja-JP" sz="1400" baseline="0">
                          <a:latin typeface="Meiryo UI" pitchFamily="50" charset="-128"/>
                          <a:ea typeface="Meiryo UI" pitchFamily="50" charset="-128"/>
                          <a:cs typeface="Meiryo UI" pitchFamily="50" charset="-128"/>
                        </a:rPr>
                        <a:t>  items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Schedule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Notes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Engine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200">
                          <a:solidFill>
                            <a:schemeClr val="tx1"/>
                          </a:solidFill>
                          <a:latin typeface="Meiryo UI" pitchFamily="50" charset="-128"/>
                          <a:ea typeface="Meiryo UI" pitchFamily="50" charset="-128"/>
                          <a:cs typeface="Meiryo UI" pitchFamily="50" charset="-128"/>
                        </a:rPr>
                        <a:t>When engine has damaged, or</a:t>
                      </a:r>
                      <a:r>
                        <a:rPr kumimoji="1" lang="en-US" altLang="ja-JP" sz="1200" baseline="0">
                          <a:solidFill>
                            <a:schemeClr val="tx1"/>
                          </a:solidFill>
                          <a:latin typeface="Meiryo UI" pitchFamily="50" charset="-128"/>
                          <a:ea typeface="Meiryo UI" pitchFamily="50" charset="-128"/>
                          <a:cs typeface="Meiryo UI" pitchFamily="50" charset="-128"/>
                        </a:rPr>
                        <a:t> severe deterioration observed.</a:t>
                      </a:r>
                      <a:endParaRPr kumimoji="1" lang="en-US" altLang="ja-JP" sz="1200">
                        <a:solidFill>
                          <a:schemeClr val="tx1"/>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aseline="0">
                          <a:latin typeface="Meiryo UI" pitchFamily="50" charset="-128"/>
                          <a:ea typeface="Meiryo UI" pitchFamily="50" charset="-128"/>
                          <a:cs typeface="Meiryo UI" pitchFamily="50" charset="-128"/>
                        </a:rPr>
                        <a:t>Please request necessary numbers of engine in advance based on calibration plan.</a:t>
                      </a:r>
                    </a:p>
                  </a:txBody>
                  <a:tcPr>
                    <a:lnL w="12700" cmpd="sng">
                      <a:solidFill>
                        <a:sysClr val="window" lastClr="FFFFFF"/>
                      </a:solidFill>
                    </a:lnL>
                    <a:lnR w="12700" cmpd="sng">
                      <a:solidFill>
                        <a:sysClr val="window" lastClr="FFFFFF"/>
                      </a:solidFill>
                    </a:lnR>
                    <a:lnT w="381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Engine Oil</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200">
                          <a:latin typeface="Meiryo UI" pitchFamily="50" charset="-128"/>
                          <a:ea typeface="Meiryo UI" pitchFamily="50" charset="-128"/>
                          <a:cs typeface="Meiryo UI" pitchFamily="50" charset="-128"/>
                        </a:rPr>
                        <a:t>Check</a:t>
                      </a:r>
                      <a:r>
                        <a:rPr kumimoji="1" lang="en-US" altLang="ja-JP" sz="1200" baseline="0">
                          <a:latin typeface="Meiryo UI" pitchFamily="50" charset="-128"/>
                          <a:ea typeface="Meiryo UI" pitchFamily="50" charset="-128"/>
                          <a:cs typeface="Meiryo UI" pitchFamily="50" charset="-128"/>
                        </a:rPr>
                        <a:t> oil level gage and add necessary amount to upper level everyday.</a:t>
                      </a:r>
                    </a:p>
                    <a:p>
                      <a:r>
                        <a:rPr kumimoji="1" lang="en-US" altLang="ja-JP" sz="1200" baseline="0">
                          <a:latin typeface="Meiryo UI" pitchFamily="50" charset="-128"/>
                          <a:ea typeface="Meiryo UI" pitchFamily="50" charset="-128"/>
                          <a:cs typeface="Meiryo UI" pitchFamily="50" charset="-128"/>
                        </a:rPr>
                        <a:t>Change engine oil first after break-in, and then change it every 5000km.</a:t>
                      </a:r>
                      <a:endParaRPr kumimoji="1" lang="ja-JP" altLang="en-US" sz="12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200">
                          <a:solidFill>
                            <a:schemeClr val="tx1"/>
                          </a:solidFill>
                          <a:latin typeface="Meiryo UI" pitchFamily="50" charset="-128"/>
                          <a:ea typeface="Meiryo UI" pitchFamily="50" charset="-128"/>
                          <a:cs typeface="Meiryo UI" pitchFamily="50" charset="-128"/>
                        </a:rPr>
                        <a:t>Necessary amount of engine oil</a:t>
                      </a:r>
                    </a:p>
                    <a:p>
                      <a:endParaRPr kumimoji="1" lang="en-US" altLang="ja-JP" sz="1200">
                        <a:solidFill>
                          <a:srgbClr val="FF0000"/>
                        </a:solidFill>
                        <a:latin typeface="Meiryo UI" pitchFamily="50" charset="-128"/>
                        <a:ea typeface="Meiryo UI" pitchFamily="50" charset="-128"/>
                        <a:cs typeface="Meiryo UI" pitchFamily="50" charset="-128"/>
                      </a:endParaRPr>
                    </a:p>
                    <a:p>
                      <a:r>
                        <a:rPr kumimoji="1" lang="en-US" altLang="ja-JP" sz="1200">
                          <a:solidFill>
                            <a:schemeClr val="tx1"/>
                          </a:solidFill>
                          <a:latin typeface="Meiryo UI" pitchFamily="50" charset="-128"/>
                          <a:ea typeface="Meiryo UI" pitchFamily="50" charset="-128"/>
                          <a:cs typeface="Meiryo UI" pitchFamily="50" charset="-128"/>
                        </a:rPr>
                        <a:t>3.0 litter (w/o oil filter</a:t>
                      </a:r>
                      <a:r>
                        <a:rPr kumimoji="1" lang="en-US" altLang="ja-JP" sz="1200" baseline="0">
                          <a:solidFill>
                            <a:schemeClr val="tx1"/>
                          </a:solidFill>
                          <a:latin typeface="Meiryo UI" pitchFamily="50" charset="-128"/>
                          <a:ea typeface="Meiryo UI" pitchFamily="50" charset="-128"/>
                          <a:cs typeface="Meiryo UI" pitchFamily="50" charset="-128"/>
                        </a:rPr>
                        <a:t> change)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solidFill>
                            <a:schemeClr val="tx1"/>
                          </a:solidFill>
                          <a:latin typeface="Meiryo UI" pitchFamily="50" charset="-128"/>
                          <a:ea typeface="Meiryo UI" pitchFamily="50" charset="-128"/>
                          <a:cs typeface="Meiryo UI" pitchFamily="50" charset="-128"/>
                        </a:rPr>
                        <a:t>3.8 litter (with oil filter</a:t>
                      </a:r>
                      <a:r>
                        <a:rPr kumimoji="1" lang="en-US" altLang="ja-JP" sz="1200" baseline="0">
                          <a:solidFill>
                            <a:schemeClr val="tx1"/>
                          </a:solidFill>
                          <a:latin typeface="Meiryo UI" pitchFamily="50" charset="-128"/>
                          <a:ea typeface="Meiryo UI" pitchFamily="50" charset="-128"/>
                          <a:cs typeface="Meiryo UI" pitchFamily="50" charset="-128"/>
                        </a:rPr>
                        <a:t> change)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Oil Filter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200" baseline="0">
                          <a:latin typeface="Meiryo UI" pitchFamily="50" charset="-128"/>
                          <a:ea typeface="Meiryo UI" pitchFamily="50" charset="-128"/>
                          <a:cs typeface="Meiryo UI" pitchFamily="50" charset="-128"/>
                        </a:rPr>
                        <a:t>Should be replaced every 10000km</a:t>
                      </a:r>
                      <a:endParaRPr kumimoji="1" lang="ja-JP" altLang="en-US" sz="12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2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219864">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Tappet Clearance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200">
                          <a:latin typeface="Meiryo UI" pitchFamily="50" charset="-128"/>
                          <a:ea typeface="Meiryo UI" pitchFamily="50" charset="-128"/>
                          <a:cs typeface="Meiryo UI" pitchFamily="50" charset="-128"/>
                        </a:rPr>
                        <a:t>Should be</a:t>
                      </a:r>
                      <a:r>
                        <a:rPr kumimoji="1" lang="en-US" altLang="ja-JP" sz="1200" baseline="0">
                          <a:latin typeface="Meiryo UI" pitchFamily="50" charset="-128"/>
                          <a:ea typeface="Meiryo UI" pitchFamily="50" charset="-128"/>
                          <a:cs typeface="Meiryo UI" pitchFamily="50" charset="-128"/>
                        </a:rPr>
                        <a:t> checked &amp; adjusted </a:t>
                      </a:r>
                      <a:r>
                        <a:rPr lang="en-US" altLang="ja-JP" sz="1200">
                          <a:solidFill>
                            <a:schemeClr val="tx2"/>
                          </a:solidFill>
                          <a:ea typeface="HG創英角ｺﾞｼｯｸUB" pitchFamily="49" charset="-128"/>
                        </a:rPr>
                        <a:t>After start-up and test (EMS requirement toughness verification) or every 25000km.</a:t>
                      </a:r>
                      <a:endParaRPr kumimoji="1" lang="ja-JP" altLang="en-US" sz="1200" b="0" i="0" u="none" strike="noStrike" cap="none" normalizeH="0" baseline="0">
                        <a:ln>
                          <a:noFill/>
                        </a:ln>
                        <a:solidFill>
                          <a:schemeClr val="tx2"/>
                        </a:solidFill>
                        <a:effectLst/>
                        <a:ea typeface="HG創英角ｺﾞｼｯｸUB" pitchFamily="49"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200">
                          <a:latin typeface="Meiryo UI" pitchFamily="50" charset="-128"/>
                          <a:ea typeface="Meiryo UI" pitchFamily="50" charset="-128"/>
                          <a:cs typeface="Meiryo UI" pitchFamily="50" charset="-128"/>
                        </a:rPr>
                        <a:t>IN ; 0.17</a:t>
                      </a:r>
                    </a:p>
                    <a:p>
                      <a:r>
                        <a:rPr kumimoji="1" lang="en-US" altLang="ja-JP" sz="1200">
                          <a:latin typeface="Meiryo UI" pitchFamily="50" charset="-128"/>
                          <a:ea typeface="Meiryo UI" pitchFamily="50" charset="-128"/>
                          <a:cs typeface="Meiryo UI" pitchFamily="50" charset="-128"/>
                        </a:rPr>
                        <a:t>EX ; 0.28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Spark Plug Gap</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itchFamily="50" charset="-128"/>
                          <a:ea typeface="Meiryo UI" pitchFamily="50" charset="-128"/>
                          <a:cs typeface="Meiryo UI" pitchFamily="50" charset="-128"/>
                        </a:rPr>
                        <a:t>Should be checked every 20000km</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itchFamily="50" charset="-128"/>
                          <a:ea typeface="Meiryo UI" pitchFamily="50" charset="-128"/>
                          <a:cs typeface="Meiryo UI" pitchFamily="50" charset="-128"/>
                        </a:rPr>
                        <a:t>To be replaced 40000km.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200">
                          <a:latin typeface="Meiryo UI" pitchFamily="50" charset="-128"/>
                          <a:ea typeface="Meiryo UI" pitchFamily="50" charset="-128"/>
                          <a:cs typeface="Meiryo UI" pitchFamily="50" charset="-128"/>
                        </a:rPr>
                        <a:t>In case </a:t>
                      </a:r>
                      <a:r>
                        <a:rPr kumimoji="1" lang="en-US" altLang="ja-JP" sz="1200" baseline="0">
                          <a:latin typeface="Meiryo UI" pitchFamily="50" charset="-128"/>
                          <a:ea typeface="Meiryo UI" pitchFamily="50" charset="-128"/>
                          <a:cs typeface="Meiryo UI" pitchFamily="50" charset="-128"/>
                        </a:rPr>
                        <a:t>the gap is expanded by 0.2mm from the beginning, plug should be replaced.</a:t>
                      </a:r>
                      <a:endParaRPr kumimoji="1" lang="ja-JP" altLang="en-US" sz="12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Air Filter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itchFamily="50" charset="-128"/>
                          <a:ea typeface="Meiryo UI" pitchFamily="50" charset="-128"/>
                          <a:cs typeface="Meiryo UI" pitchFamily="50" charset="-128"/>
                        </a:rPr>
                        <a:t>Should be checked every 10000km</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itchFamily="50" charset="-128"/>
                          <a:ea typeface="Meiryo UI" pitchFamily="50" charset="-128"/>
                          <a:cs typeface="Meiryo UI" pitchFamily="50" charset="-128"/>
                        </a:rPr>
                        <a:t>To be replaced 40000km.</a:t>
                      </a: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200" b="1">
                          <a:solidFill>
                            <a:srgbClr val="FF0000"/>
                          </a:solidFill>
                          <a:latin typeface="Meiryo UI" pitchFamily="50" charset="-128"/>
                          <a:ea typeface="Meiryo UI" pitchFamily="50" charset="-128"/>
                          <a:cs typeface="Meiryo UI"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Meiryo UI" pitchFamily="50" charset="-128"/>
                          <a:ea typeface="Meiryo UI" pitchFamily="50" charset="-128"/>
                          <a:cs typeface="Meiryo UI" pitchFamily="50" charset="-128"/>
                        </a:rPr>
                        <a:t>In case there</a:t>
                      </a:r>
                      <a:r>
                        <a:rPr kumimoji="1" lang="en-US" altLang="ja-JP" sz="1200" baseline="0">
                          <a:latin typeface="Meiryo UI" pitchFamily="50" charset="-128"/>
                          <a:ea typeface="Meiryo UI" pitchFamily="50" charset="-128"/>
                          <a:cs typeface="Meiryo UI" pitchFamily="50" charset="-128"/>
                        </a:rPr>
                        <a:t> are much dust, filter should be replaced with new one.</a:t>
                      </a:r>
                      <a:endParaRPr kumimoji="1" lang="ja-JP" altLang="en-US" sz="12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bl>
          </a:graphicData>
        </a:graphic>
      </p:graphicFrame>
      <p:sp>
        <p:nvSpPr>
          <p:cNvPr id="18" name="テキスト ボックス 17"/>
          <p:cNvSpPr txBox="1"/>
          <p:nvPr/>
        </p:nvSpPr>
        <p:spPr>
          <a:xfrm>
            <a:off x="74685" y="545993"/>
            <a:ext cx="5533951" cy="369332"/>
          </a:xfrm>
          <a:prstGeom prst="rect">
            <a:avLst/>
          </a:prstGeom>
          <a:noFill/>
        </p:spPr>
        <p:txBody>
          <a:bodyPr wrap="none" rtlCol="0">
            <a:spAutoFit/>
          </a:bodyPr>
          <a:lstStyle/>
          <a:p>
            <a:pPr algn="l" fontAlgn="auto">
              <a:spcBef>
                <a:spcPts val="0"/>
              </a:spcBef>
              <a:spcAft>
                <a:spcPts val="0"/>
              </a:spcAft>
            </a:pPr>
            <a:r>
              <a:rPr lang="en-US" altLang="ja-JP" sz="1800" b="1" u="sng">
                <a:solidFill>
                  <a:prstClr val="black"/>
                </a:solidFill>
                <a:latin typeface="Meiryo UI" pitchFamily="50" charset="-128"/>
                <a:ea typeface="Meiryo UI" pitchFamily="50" charset="-128"/>
                <a:cs typeface="Meiryo UI" pitchFamily="50" charset="-128"/>
              </a:rPr>
              <a:t>Maintenance Schedule in Engine Test Bench</a:t>
            </a:r>
            <a:endParaRPr lang="ja-JP" altLang="en-US" sz="1800" b="1" u="sng">
              <a:solidFill>
                <a:prstClr val="black"/>
              </a:solidFill>
              <a:latin typeface="Meiryo UI" pitchFamily="50" charset="-128"/>
              <a:ea typeface="Meiryo UI" pitchFamily="50" charset="-128"/>
              <a:cs typeface="Meiryo UI" pitchFamily="50" charset="-128"/>
            </a:endParaRPr>
          </a:p>
        </p:txBody>
      </p:sp>
      <p:sp>
        <p:nvSpPr>
          <p:cNvPr id="19" name="テキスト ボックス 18"/>
          <p:cNvSpPr txBox="1"/>
          <p:nvPr/>
        </p:nvSpPr>
        <p:spPr>
          <a:xfrm>
            <a:off x="250829" y="5536033"/>
            <a:ext cx="6289382" cy="307777"/>
          </a:xfrm>
          <a:prstGeom prst="rect">
            <a:avLst/>
          </a:prstGeom>
          <a:noFill/>
        </p:spPr>
        <p:txBody>
          <a:bodyPr wrap="square" rtlCol="0">
            <a:spAutoFit/>
          </a:bodyPr>
          <a:lstStyle/>
          <a:p>
            <a:pPr algn="l" fontAlgn="auto">
              <a:spcBef>
                <a:spcPts val="0"/>
              </a:spcBef>
              <a:spcAft>
                <a:spcPts val="0"/>
              </a:spcAft>
            </a:pPr>
            <a:r>
              <a:rPr lang="en-US" altLang="ja-JP" sz="1400">
                <a:latin typeface="Meiryo UI" panose="020B0604030504040204" pitchFamily="50" charset="-128"/>
                <a:ea typeface="Meiryo UI" panose="020B0604030504040204" pitchFamily="50" charset="-128"/>
              </a:rPr>
              <a:t>Please check and replace them before maintenance interval.</a:t>
            </a:r>
            <a:endParaRPr lang="ja-JP" altLang="en-US" sz="1400">
              <a:latin typeface="Meiryo UI" panose="020B0604030504040204" pitchFamily="50" charset="-128"/>
              <a:ea typeface="Meiryo UI" panose="020B0604030504040204" pitchFamily="50" charset="-128"/>
            </a:endParaRPr>
          </a:p>
        </p:txBody>
      </p:sp>
      <p:sp>
        <p:nvSpPr>
          <p:cNvPr id="20" name="テキスト ボックス 19"/>
          <p:cNvSpPr txBox="1"/>
          <p:nvPr/>
        </p:nvSpPr>
        <p:spPr>
          <a:xfrm>
            <a:off x="250829" y="5969107"/>
            <a:ext cx="8477790" cy="738664"/>
          </a:xfrm>
          <a:prstGeom prst="rect">
            <a:avLst/>
          </a:prstGeom>
          <a:noFill/>
        </p:spPr>
        <p:txBody>
          <a:bodyPr wrap="square" rtlCol="0">
            <a:spAutoFit/>
          </a:bodyPr>
          <a:lstStyle/>
          <a:p>
            <a:pPr algn="l" fontAlgn="auto">
              <a:spcBef>
                <a:spcPts val="0"/>
              </a:spcBef>
              <a:spcAft>
                <a:spcPts val="0"/>
              </a:spcAft>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is not required to report the interval maintenance results continuously. </a:t>
            </a:r>
          </a:p>
          <a:p>
            <a:pPr algn="l" fontAlgn="auto">
              <a:spcBef>
                <a:spcPts val="0"/>
              </a:spcBef>
              <a:spcAft>
                <a:spcPts val="0"/>
              </a:spcAft>
              <a:defRPr/>
            </a:pPr>
            <a:r>
              <a:rPr lang="en-US" altLang="ja-JP" sz="1400">
                <a:latin typeface="Meiryo UI" panose="020B0604030504040204" pitchFamily="50" charset="-128"/>
                <a:ea typeface="Meiryo UI" panose="020B0604030504040204" pitchFamily="50" charset="-128"/>
              </a:rPr>
              <a:t>But in case Honda request to show it,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is required to show the daily check history and maintenance history.</a:t>
            </a:r>
            <a:endParaRPr lang="ja-JP" altLang="en-US" sz="140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DC906431-AB53-15A7-F222-A3C20AE8315B}"/>
              </a:ext>
            </a:extLst>
          </p:cNvPr>
          <p:cNvSpPr txBox="1"/>
          <p:nvPr/>
        </p:nvSpPr>
        <p:spPr>
          <a:xfrm>
            <a:off x="38990" y="5091834"/>
            <a:ext cx="9210184" cy="523220"/>
          </a:xfrm>
          <a:prstGeom prst="rect">
            <a:avLst/>
          </a:prstGeom>
          <a:noFill/>
        </p:spPr>
        <p:txBody>
          <a:bodyPr wrap="square">
            <a:spAutoFit/>
          </a:bodyPr>
          <a:lstStyle/>
          <a:p>
            <a:pPr algn="l"/>
            <a:r>
              <a:rPr kumimoji="1" lang="en-US" altLang="ja-JP" sz="1400" b="1">
                <a:solidFill>
                  <a:srgbClr val="FF0000"/>
                </a:solidFill>
                <a:latin typeface="Meiryo UI" pitchFamily="50" charset="-128"/>
                <a:ea typeface="Meiryo UI" pitchFamily="50" charset="-128"/>
                <a:cs typeface="Meiryo UI" pitchFamily="50" charset="-128"/>
              </a:rPr>
              <a:t>※</a:t>
            </a:r>
            <a:r>
              <a:rPr kumimoji="1" lang="en-US" altLang="ja-JP" sz="1400">
                <a:latin typeface="Meiryo UI" pitchFamily="50" charset="-128"/>
                <a:ea typeface="Meiryo UI" pitchFamily="50" charset="-128"/>
                <a:cs typeface="Meiryo UI" pitchFamily="50" charset="-128"/>
              </a:rPr>
              <a:t> Don’t remove the air cleaner element and AFM unnecessarily to avoid VG/FG characteristics shifting</a:t>
            </a:r>
          </a:p>
          <a:p>
            <a:pPr algn="l"/>
            <a:r>
              <a:rPr kumimoji="1" lang="en-US" altLang="ja-JP" sz="1400">
                <a:latin typeface="Meiryo UI" pitchFamily="50" charset="-128"/>
                <a:ea typeface="Meiryo UI" pitchFamily="50" charset="-128"/>
                <a:cs typeface="Meiryo UI" pitchFamily="50" charset="-128"/>
              </a:rPr>
              <a:t>    in case of Air cleaner Assy with AFM which has exclusive VG/FG data</a:t>
            </a:r>
          </a:p>
        </p:txBody>
      </p:sp>
    </p:spTree>
    <p:extLst>
      <p:ext uri="{BB962C8B-B14F-4D97-AF65-F5344CB8AC3E}">
        <p14:creationId xmlns:p14="http://schemas.microsoft.com/office/powerpoint/2010/main" val="209789132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(12/16)</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5" name="表 4"/>
          <p:cNvGraphicFramePr>
            <a:graphicFrameLocks noGrp="1"/>
          </p:cNvGraphicFramePr>
          <p:nvPr>
            <p:extLst>
              <p:ext uri="{D42A27DB-BD31-4B8C-83A1-F6EECF244321}">
                <p14:modId xmlns:p14="http://schemas.microsoft.com/office/powerpoint/2010/main" val="3935951210"/>
              </p:ext>
            </p:extLst>
          </p:nvPr>
        </p:nvGraphicFramePr>
        <p:xfrm>
          <a:off x="67801" y="1163281"/>
          <a:ext cx="9040707" cy="2334960"/>
        </p:xfrm>
        <a:graphic>
          <a:graphicData uri="http://schemas.openxmlformats.org/drawingml/2006/table">
            <a:tbl>
              <a:tblPr firstRow="1" bandRow="1"/>
              <a:tblGrid>
                <a:gridCol w="1878565">
                  <a:extLst>
                    <a:ext uri="{9D8B030D-6E8A-4147-A177-3AD203B41FA5}">
                      <a16:colId xmlns:a16="http://schemas.microsoft.com/office/drawing/2014/main" val="20000"/>
                    </a:ext>
                  </a:extLst>
                </a:gridCol>
                <a:gridCol w="3500845">
                  <a:extLst>
                    <a:ext uri="{9D8B030D-6E8A-4147-A177-3AD203B41FA5}">
                      <a16:colId xmlns:a16="http://schemas.microsoft.com/office/drawing/2014/main" val="20001"/>
                    </a:ext>
                  </a:extLst>
                </a:gridCol>
                <a:gridCol w="3661297">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Interval</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baseline="0">
                          <a:latin typeface="Meiryo UI" pitchFamily="50" charset="-128"/>
                          <a:ea typeface="Meiryo UI" pitchFamily="50" charset="-128"/>
                          <a:cs typeface="Meiryo UI" pitchFamily="50" charset="-128"/>
                        </a:rPr>
                        <a:t>Check Items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400">
                          <a:latin typeface="Meiryo UI" pitchFamily="50" charset="-128"/>
                          <a:ea typeface="Meiryo UI" pitchFamily="50" charset="-128"/>
                          <a:cs typeface="Meiryo UI" pitchFamily="50" charset="-128"/>
                        </a:rPr>
                        <a:t>Notes</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50400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Pre-operation</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Engine</a:t>
                      </a:r>
                      <a:r>
                        <a:rPr lang="en-US" altLang="ja-JP" sz="1400" baseline="0">
                          <a:latin typeface="Meiryo UI" pitchFamily="50" charset="-128"/>
                          <a:ea typeface="Meiryo UI" pitchFamily="50" charset="-128"/>
                          <a:cs typeface="Meiryo UI" pitchFamily="50" charset="-128"/>
                        </a:rPr>
                        <a:t> oil level, coolant level</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rowSpan="3">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Operation</a:t>
                      </a:r>
                      <a:r>
                        <a:rPr lang="ja-JP" altLang="en-US" sz="1400">
                          <a:latin typeface="Meiryo UI" pitchFamily="50" charset="-128"/>
                          <a:ea typeface="Meiryo UI" pitchFamily="50" charset="-128"/>
                          <a:cs typeface="Meiryo UI" pitchFamily="50" charset="-128"/>
                        </a:rPr>
                        <a:t> </a:t>
                      </a:r>
                      <a:r>
                        <a:rPr lang="en-US" altLang="ja-JP" sz="1400">
                          <a:latin typeface="Meiryo UI" pitchFamily="50" charset="-128"/>
                          <a:ea typeface="Meiryo UI" pitchFamily="50" charset="-128"/>
                          <a:cs typeface="Meiryo UI" pitchFamily="50" charset="-128"/>
                        </a:rPr>
                        <a:t>points</a:t>
                      </a:r>
                      <a:r>
                        <a:rPr lang="ja-JP" altLang="en-US" sz="1400">
                          <a:latin typeface="Meiryo UI" pitchFamily="50" charset="-128"/>
                          <a:ea typeface="Meiryo UI" pitchFamily="50" charset="-128"/>
                          <a:cs typeface="Meiryo UI" pitchFamily="50" charset="-128"/>
                        </a:rPr>
                        <a:t> </a:t>
                      </a:r>
                      <a:r>
                        <a:rPr lang="en-US" altLang="ja-JP" sz="1400">
                          <a:latin typeface="Meiryo UI" pitchFamily="50" charset="-128"/>
                          <a:ea typeface="Meiryo UI" pitchFamily="50" charset="-128"/>
                          <a:cs typeface="Meiryo UI" pitchFamily="50" charset="-128"/>
                        </a:rPr>
                        <a:t>are</a:t>
                      </a:r>
                      <a:r>
                        <a:rPr lang="en-US" altLang="ja-JP" sz="1400" baseline="0">
                          <a:latin typeface="Meiryo UI" pitchFamily="50" charset="-128"/>
                          <a:ea typeface="Meiryo UI" pitchFamily="50" charset="-128"/>
                          <a:cs typeface="Meiryo UI" pitchFamily="50" charset="-128"/>
                        </a:rPr>
                        <a:t> shown in next page</a:t>
                      </a:r>
                      <a:endParaRPr lang="ja-JP" altLang="en-US" sz="1400">
                        <a:latin typeface="Meiryo UI" pitchFamily="50" charset="-128"/>
                        <a:ea typeface="Meiryo UI" pitchFamily="50" charset="-128"/>
                        <a:cs typeface="Meiryo UI" pitchFamily="50" charset="-128"/>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50400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Pre-operation</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Tire</a:t>
                      </a:r>
                      <a:r>
                        <a:rPr kumimoji="1" lang="en-US" altLang="ja-JP" sz="1400" baseline="0">
                          <a:latin typeface="Meiryo UI" pitchFamily="50" charset="-128"/>
                          <a:ea typeface="Meiryo UI" pitchFamily="50" charset="-128"/>
                          <a:cs typeface="Meiryo UI" pitchFamily="50" charset="-128"/>
                        </a:rPr>
                        <a:t> pressure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vMerge="1">
                  <a:txBody>
                    <a:bodyPr/>
                    <a:lstStyle/>
                    <a:p>
                      <a:endParaRPr kumimoji="1" lang="ja-JP" altLang="en-US" sz="1600">
                        <a:latin typeface="Meiryo UI" pitchFamily="50" charset="-128"/>
                        <a:ea typeface="Meiryo UI" pitchFamily="50" charset="-128"/>
                        <a:cs typeface="Meiryo UI" pitchFamily="50" charset="-128"/>
                      </a:endParaRPr>
                    </a:p>
                  </a:txBody>
                  <a:tcPr/>
                </a:tc>
                <a:extLst>
                  <a:ext uri="{0D108BD9-81ED-4DB2-BD59-A6C34878D82A}">
                    <a16:rowId xmlns:a16="http://schemas.microsoft.com/office/drawing/2014/main" val="10002"/>
                  </a:ext>
                </a:extLst>
              </a:tr>
              <a:tr h="50400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lang="en-US" altLang="ja-JP" sz="1400">
                          <a:latin typeface="Meiryo UI" pitchFamily="50" charset="-128"/>
                          <a:ea typeface="Meiryo UI" pitchFamily="50" charset="-128"/>
                          <a:cs typeface="Meiryo UI" pitchFamily="50" charset="-128"/>
                        </a:rPr>
                        <a:t>Pre-operation</a:t>
                      </a:r>
                      <a:endParaRPr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kumimoji="1" lang="en-US" altLang="ja-JP" sz="1400" baseline="0">
                          <a:latin typeface="Meiryo UI" pitchFamily="50" charset="-128"/>
                          <a:ea typeface="Meiryo UI" pitchFamily="50" charset="-128"/>
                          <a:cs typeface="Meiryo UI" pitchFamily="50" charset="-128"/>
                        </a:rPr>
                        <a:t>Torque of wheel nut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vMerge="1">
                  <a:txBody>
                    <a:bodyPr/>
                    <a:lstStyle/>
                    <a:p>
                      <a:endParaRPr kumimoji="1" lang="ja-JP" altLang="en-US" sz="1600">
                        <a:latin typeface="Meiryo UI" pitchFamily="50" charset="-128"/>
                        <a:ea typeface="Meiryo UI" pitchFamily="50" charset="-128"/>
                        <a:cs typeface="Meiryo UI" pitchFamily="50" charset="-128"/>
                      </a:endParaRPr>
                    </a:p>
                  </a:txBody>
                  <a:tcPr/>
                </a:tc>
                <a:extLst>
                  <a:ext uri="{0D108BD9-81ED-4DB2-BD59-A6C34878D82A}">
                    <a16:rowId xmlns:a16="http://schemas.microsoft.com/office/drawing/2014/main" val="10003"/>
                  </a:ext>
                </a:extLst>
              </a:tr>
              <a:tr h="504000">
                <a:tc>
                  <a:txBody>
                    <a:bodyPr/>
                    <a:lstStyle/>
                    <a:p>
                      <a:r>
                        <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r>
                        <a:rPr kumimoji="1" lang="en-US" altLang="ja-JP" sz="1400">
                          <a:latin typeface="Meiryo UI" pitchFamily="50" charset="-128"/>
                          <a:ea typeface="Meiryo UI" pitchFamily="50" charset="-128"/>
                          <a:cs typeface="Meiryo UI" pitchFamily="50" charset="-128"/>
                        </a:rPr>
                        <a:t>Noise &amp; vibration</a:t>
                      </a:r>
                      <a:endParaRPr kumimoji="1" lang="ja-JP" altLang="en-US" sz="1400">
                        <a:latin typeface="Meiryo UI" pitchFamily="50" charset="-128"/>
                        <a:ea typeface="Meiryo UI" pitchFamily="50" charset="-128"/>
                        <a:cs typeface="Meiryo UI" pitchFamily="50" charset="-128"/>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a:latin typeface="Meiryo UI" pitchFamily="50" charset="-128"/>
                          <a:ea typeface="Meiryo UI" pitchFamily="50" charset="-128"/>
                          <a:cs typeface="Meiryo UI" pitchFamily="50" charset="-128"/>
                        </a:rPr>
                        <a:t>Please contact Honda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a:latin typeface="Meiryo UI" pitchFamily="50" charset="-128"/>
                          <a:ea typeface="Meiryo UI" pitchFamily="50" charset="-128"/>
                          <a:cs typeface="Meiryo UI" pitchFamily="50" charset="-128"/>
                        </a:rPr>
                        <a:t>if there are any problems</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688833"/>
                  </a:ext>
                </a:extLst>
              </a:tr>
            </a:tbl>
          </a:graphicData>
        </a:graphic>
      </p:graphicFrame>
      <p:sp>
        <p:nvSpPr>
          <p:cNvPr id="6" name="テキスト ボックス 5"/>
          <p:cNvSpPr txBox="1"/>
          <p:nvPr/>
        </p:nvSpPr>
        <p:spPr>
          <a:xfrm>
            <a:off x="67800" y="579943"/>
            <a:ext cx="5837699" cy="369332"/>
          </a:xfrm>
          <a:prstGeom prst="rect">
            <a:avLst/>
          </a:prstGeom>
          <a:noFill/>
        </p:spPr>
        <p:txBody>
          <a:bodyPr wrap="square" rtlCol="0">
            <a:spAutoFit/>
          </a:bodyPr>
          <a:lstStyle/>
          <a:p>
            <a:pPr algn="l" fontAlgn="auto">
              <a:spcBef>
                <a:spcPts val="0"/>
              </a:spcBef>
              <a:spcAft>
                <a:spcPts val="0"/>
              </a:spcAft>
              <a:defRPr/>
            </a:pPr>
            <a:r>
              <a:rPr lang="en-US" altLang="ja-JP" sz="1800" b="1" u="sng">
                <a:solidFill>
                  <a:prstClr val="black"/>
                </a:solidFill>
                <a:latin typeface="Meiryo UI" pitchFamily="50" charset="-128"/>
                <a:ea typeface="Meiryo UI" pitchFamily="50" charset="-128"/>
                <a:cs typeface="Meiryo UI" pitchFamily="50" charset="-128"/>
              </a:rPr>
              <a:t>Daily/Weekly/Monthly Check Menu for Vehicle</a:t>
            </a:r>
            <a:endParaRPr lang="ja-JP" altLang="en-US" sz="1800" b="1" u="sng">
              <a:solidFill>
                <a:prstClr val="black"/>
              </a:solidFill>
              <a:latin typeface="Meiryo UI" pitchFamily="50" charset="-128"/>
              <a:ea typeface="Meiryo UI" pitchFamily="50" charset="-128"/>
              <a:cs typeface="Meiryo UI" pitchFamily="50" charset="-128"/>
            </a:endParaRPr>
          </a:p>
        </p:txBody>
      </p:sp>
      <p:sp>
        <p:nvSpPr>
          <p:cNvPr id="8" name="テキスト ボックス 7"/>
          <p:cNvSpPr txBox="1"/>
          <p:nvPr/>
        </p:nvSpPr>
        <p:spPr>
          <a:xfrm>
            <a:off x="201182" y="3934486"/>
            <a:ext cx="7466715" cy="1384995"/>
          </a:xfrm>
          <a:prstGeom prst="rect">
            <a:avLst/>
          </a:prstGeom>
          <a:noFill/>
        </p:spPr>
        <p:txBody>
          <a:bodyPr wrap="square" rtlCol="0">
            <a:spAutoFit/>
          </a:bodyPr>
          <a:lstStyle/>
          <a:p>
            <a:pPr algn="l" fontAlgn="auto">
              <a:spcBef>
                <a:spcPts val="0"/>
              </a:spcBef>
              <a:spcAft>
                <a:spcPts val="0"/>
              </a:spcAft>
              <a:defRPr/>
            </a:pPr>
            <a:r>
              <a:rPr lang="en-US" altLang="ja-JP" sz="1400">
                <a:latin typeface="Meiryo UI" panose="020B0604030504040204" pitchFamily="50" charset="-128"/>
                <a:ea typeface="Meiryo UI" panose="020B0604030504040204" pitchFamily="50" charset="-128"/>
              </a:rPr>
              <a:t>Check items can be discussed between Honda and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rPr>
              <a:t>.</a:t>
            </a:r>
          </a:p>
          <a:p>
            <a:pPr algn="l" fontAlgn="auto">
              <a:spcBef>
                <a:spcPts val="0"/>
              </a:spcBef>
              <a:spcAft>
                <a:spcPts val="0"/>
              </a:spcAft>
              <a:defRPr/>
            </a:pPr>
            <a:r>
              <a:rPr lang="en-US" altLang="ja-JP" sz="1400">
                <a:latin typeface="Meiryo UI" panose="020B0604030504040204" pitchFamily="50" charset="-128"/>
                <a:ea typeface="Meiryo UI" panose="020B0604030504040204" pitchFamily="50" charset="-128"/>
              </a:rPr>
              <a:t>If no discussion is held, please follow this material.</a:t>
            </a:r>
          </a:p>
          <a:p>
            <a:pPr algn="l" fontAlgn="auto">
              <a:spcBef>
                <a:spcPts val="0"/>
              </a:spcBef>
              <a:spcAft>
                <a:spcPts val="0"/>
              </a:spcAft>
              <a:defRPr/>
            </a:pPr>
            <a:endParaRPr lang="en-US" altLang="ja-JP" sz="1400">
              <a:latin typeface="Meiryo UI" panose="020B0604030504040204" pitchFamily="50" charset="-128"/>
              <a:ea typeface="Meiryo UI" panose="020B0604030504040204" pitchFamily="50" charset="-128"/>
            </a:endParaRPr>
          </a:p>
          <a:p>
            <a:pPr algn="l" fontAlgn="auto">
              <a:spcBef>
                <a:spcPts val="0"/>
              </a:spcBef>
              <a:spcAft>
                <a:spcPts val="0"/>
              </a:spcAft>
              <a:defRPr/>
            </a:pPr>
            <a:r>
              <a:rPr lang="en-US" altLang="ja-JP" sz="1400">
                <a:latin typeface="Meiryo UI" panose="020B0604030504040204" pitchFamily="50" charset="-128"/>
                <a:ea typeface="Meiryo UI" panose="020B0604030504040204" pitchFamily="50" charset="-128"/>
              </a:rPr>
              <a:t> If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has own daily check menu, please report its result together.</a:t>
            </a:r>
          </a:p>
          <a:p>
            <a:pPr algn="l" fontAlgn="auto">
              <a:spcBef>
                <a:spcPts val="0"/>
              </a:spcBef>
              <a:spcAft>
                <a:spcPts val="0"/>
              </a:spcAft>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is not required to report continuously. </a:t>
            </a:r>
          </a:p>
          <a:p>
            <a:pPr algn="l" fontAlgn="auto">
              <a:spcBef>
                <a:spcPts val="0"/>
              </a:spcBef>
              <a:spcAft>
                <a:spcPts val="0"/>
              </a:spcAft>
              <a:defRPr/>
            </a:pPr>
            <a:r>
              <a:rPr lang="en-US" altLang="ja-JP" sz="1400">
                <a:latin typeface="Meiryo UI" panose="020B0604030504040204" pitchFamily="50" charset="-128"/>
                <a:ea typeface="Meiryo UI" panose="020B0604030504040204" pitchFamily="50" charset="-128"/>
              </a:rPr>
              <a:t>But in case Honda request to show it,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is required to show the report</a:t>
            </a:r>
            <a:endParaRPr lang="ja-JP" altLang="en-US" sz="14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73522715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(13/16)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6" name="テキスト ボックス 5"/>
          <p:cNvSpPr txBox="1"/>
          <p:nvPr/>
        </p:nvSpPr>
        <p:spPr>
          <a:xfrm>
            <a:off x="74685" y="538190"/>
            <a:ext cx="8089277" cy="369332"/>
          </a:xfrm>
          <a:prstGeom prst="rect">
            <a:avLst/>
          </a:prstGeom>
          <a:noFill/>
        </p:spPr>
        <p:txBody>
          <a:bodyPr wrap="square" rtlCol="0">
            <a:spAutoFit/>
          </a:bodyPr>
          <a:lstStyle/>
          <a:p>
            <a:pPr algn="l" fontAlgn="auto">
              <a:spcBef>
                <a:spcPts val="0"/>
              </a:spcBef>
              <a:spcAft>
                <a:spcPts val="0"/>
              </a:spcAft>
              <a:defRPr/>
            </a:pPr>
            <a:r>
              <a:rPr lang="en-US" altLang="ja-JP" sz="1800" b="1" u="sng">
                <a:solidFill>
                  <a:prstClr val="black"/>
                </a:solidFill>
                <a:latin typeface="Meiryo UI" pitchFamily="50" charset="-128"/>
                <a:ea typeface="Meiryo UI" pitchFamily="50" charset="-128"/>
                <a:cs typeface="Meiryo UI" pitchFamily="50" charset="-128"/>
              </a:rPr>
              <a:t>Maintenance Interval for Engine in the Vehicle</a:t>
            </a:r>
            <a:endParaRPr lang="ja-JP" altLang="en-US" sz="1800" b="1" u="sng">
              <a:solidFill>
                <a:prstClr val="black"/>
              </a:solidFill>
              <a:latin typeface="Meiryo UI" pitchFamily="50" charset="-128"/>
              <a:ea typeface="Meiryo UI" pitchFamily="50" charset="-128"/>
              <a:cs typeface="Meiryo UI" pitchFamily="50" charset="-128"/>
            </a:endParaRPr>
          </a:p>
        </p:txBody>
      </p:sp>
      <p:sp>
        <p:nvSpPr>
          <p:cNvPr id="8" name="テキスト ボックス 7"/>
          <p:cNvSpPr txBox="1"/>
          <p:nvPr/>
        </p:nvSpPr>
        <p:spPr>
          <a:xfrm>
            <a:off x="4" y="6107398"/>
            <a:ext cx="9144000" cy="523220"/>
          </a:xfrm>
          <a:prstGeom prst="rect">
            <a:avLst/>
          </a:prstGeom>
          <a:noFill/>
        </p:spPr>
        <p:txBody>
          <a:bodyPr wrap="square" rtlCol="0">
            <a:spAutoFit/>
          </a:bodyPr>
          <a:lstStyle/>
          <a:p>
            <a:pPr algn="l" fontAlgn="auto">
              <a:spcBef>
                <a:spcPts val="0"/>
              </a:spcBef>
              <a:spcAft>
                <a:spcPts val="0"/>
              </a:spcAft>
              <a:defRPr/>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is not required to reported the interval maintenance results continuously. </a:t>
            </a:r>
          </a:p>
          <a:p>
            <a:pPr algn="l" fontAlgn="auto">
              <a:spcBef>
                <a:spcPts val="0"/>
              </a:spcBef>
              <a:spcAft>
                <a:spcPts val="0"/>
              </a:spcAft>
              <a:defRPr/>
            </a:pPr>
            <a:r>
              <a:rPr lang="en-US" altLang="ja-JP" sz="1400">
                <a:latin typeface="Meiryo UI" panose="020B0604030504040204" pitchFamily="50" charset="-128"/>
                <a:ea typeface="Meiryo UI" panose="020B0604030504040204" pitchFamily="50" charset="-128"/>
              </a:rPr>
              <a:t>But in case Honda request to show it,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is required to show the report</a:t>
            </a:r>
            <a:endParaRPr lang="ja-JP" altLang="en-US" sz="1400">
              <a:latin typeface="Meiryo UI" panose="020B0604030504040204" pitchFamily="50" charset="-128"/>
              <a:ea typeface="Meiryo UI" panose="020B0604030504040204" pitchFamily="50" charset="-128"/>
            </a:endParaRPr>
          </a:p>
        </p:txBody>
      </p:sp>
      <p:graphicFrame>
        <p:nvGraphicFramePr>
          <p:cNvPr id="2" name="表 1">
            <a:extLst>
              <a:ext uri="{FF2B5EF4-FFF2-40B4-BE49-F238E27FC236}">
                <a16:creationId xmlns:a16="http://schemas.microsoft.com/office/drawing/2014/main" id="{F78E434A-2185-E41A-2CB7-68017B392128}"/>
              </a:ext>
            </a:extLst>
          </p:cNvPr>
          <p:cNvGraphicFramePr>
            <a:graphicFrameLocks noGrp="1"/>
          </p:cNvGraphicFramePr>
          <p:nvPr/>
        </p:nvGraphicFramePr>
        <p:xfrm>
          <a:off x="74685" y="1024719"/>
          <a:ext cx="8923787" cy="4724400"/>
        </p:xfrm>
        <a:graphic>
          <a:graphicData uri="http://schemas.openxmlformats.org/drawingml/2006/table">
            <a:tbl>
              <a:tblPr firstRow="1" bandRow="1"/>
              <a:tblGrid>
                <a:gridCol w="2346579">
                  <a:extLst>
                    <a:ext uri="{9D8B030D-6E8A-4147-A177-3AD203B41FA5}">
                      <a16:colId xmlns:a16="http://schemas.microsoft.com/office/drawing/2014/main" val="20000"/>
                    </a:ext>
                  </a:extLst>
                </a:gridCol>
                <a:gridCol w="3522336">
                  <a:extLst>
                    <a:ext uri="{9D8B030D-6E8A-4147-A177-3AD203B41FA5}">
                      <a16:colId xmlns:a16="http://schemas.microsoft.com/office/drawing/2014/main" val="20001"/>
                    </a:ext>
                  </a:extLst>
                </a:gridCol>
                <a:gridCol w="3054872">
                  <a:extLst>
                    <a:ext uri="{9D8B030D-6E8A-4147-A177-3AD203B41FA5}">
                      <a16:colId xmlns:a16="http://schemas.microsoft.com/office/drawing/2014/main" val="20002"/>
                    </a:ext>
                  </a:extLst>
                </a:gridCol>
              </a:tblGrid>
              <a:tr h="180020">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600">
                          <a:latin typeface="Meiryo UI" pitchFamily="50" charset="-128"/>
                          <a:ea typeface="Meiryo UI" pitchFamily="50" charset="-128"/>
                          <a:cs typeface="Meiryo UI" pitchFamily="50" charset="-128"/>
                        </a:rPr>
                        <a:t>Maintenance</a:t>
                      </a:r>
                      <a:r>
                        <a:rPr kumimoji="1" lang="en-US" altLang="ja-JP" sz="1600" baseline="0">
                          <a:latin typeface="Meiryo UI" pitchFamily="50" charset="-128"/>
                          <a:ea typeface="Meiryo UI" pitchFamily="50" charset="-128"/>
                          <a:cs typeface="Meiryo UI" pitchFamily="50" charset="-128"/>
                        </a:rPr>
                        <a:t>  items</a:t>
                      </a:r>
                      <a:endParaRPr kumimoji="1" lang="ja-JP" altLang="en-US" sz="16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600">
                          <a:latin typeface="Meiryo UI" pitchFamily="50" charset="-128"/>
                          <a:ea typeface="Meiryo UI" pitchFamily="50" charset="-128"/>
                          <a:cs typeface="Meiryo UI" pitchFamily="50" charset="-128"/>
                        </a:rPr>
                        <a:t>Interval</a:t>
                      </a:r>
                      <a:endParaRPr kumimoji="1" lang="ja-JP" altLang="en-US" sz="16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kumimoji="1" sz="1800" b="1" kern="1200">
                          <a:solidFill>
                            <a:schemeClr val="lt1"/>
                          </a:solidFill>
                          <a:latin typeface="Calibri"/>
                        </a:defRPr>
                      </a:lvl1pPr>
                      <a:lvl2pPr marL="457200" algn="l" defTabSz="914400" rtl="0" eaLnBrk="1" latinLnBrk="0" hangingPunct="1">
                        <a:defRPr kumimoji="1" sz="1800" b="1" kern="1200">
                          <a:solidFill>
                            <a:schemeClr val="lt1"/>
                          </a:solidFill>
                          <a:latin typeface="Calibri"/>
                        </a:defRPr>
                      </a:lvl2pPr>
                      <a:lvl3pPr marL="914400" algn="l" defTabSz="914400" rtl="0" eaLnBrk="1" latinLnBrk="0" hangingPunct="1">
                        <a:defRPr kumimoji="1" sz="1800" b="1" kern="1200">
                          <a:solidFill>
                            <a:schemeClr val="lt1"/>
                          </a:solidFill>
                          <a:latin typeface="Calibri"/>
                        </a:defRPr>
                      </a:lvl3pPr>
                      <a:lvl4pPr marL="1371600" algn="l" defTabSz="914400" rtl="0" eaLnBrk="1" latinLnBrk="0" hangingPunct="1">
                        <a:defRPr kumimoji="1" sz="1800" b="1" kern="1200">
                          <a:solidFill>
                            <a:schemeClr val="lt1"/>
                          </a:solidFill>
                          <a:latin typeface="Calibri"/>
                        </a:defRPr>
                      </a:lvl4pPr>
                      <a:lvl5pPr marL="1828800" algn="l" defTabSz="914400" rtl="0" eaLnBrk="1" latinLnBrk="0" hangingPunct="1">
                        <a:defRPr kumimoji="1" sz="1800" b="1" kern="1200">
                          <a:solidFill>
                            <a:schemeClr val="lt1"/>
                          </a:solidFill>
                          <a:latin typeface="Calibri"/>
                        </a:defRPr>
                      </a:lvl5pPr>
                      <a:lvl6pPr marL="2286000" algn="l" defTabSz="914400" rtl="0" eaLnBrk="1" latinLnBrk="0" hangingPunct="1">
                        <a:defRPr kumimoji="1" sz="1800" b="1" kern="1200">
                          <a:solidFill>
                            <a:schemeClr val="lt1"/>
                          </a:solidFill>
                          <a:latin typeface="Calibri"/>
                        </a:defRPr>
                      </a:lvl6pPr>
                      <a:lvl7pPr marL="2743200" algn="l" defTabSz="914400" rtl="0" eaLnBrk="1" latinLnBrk="0" hangingPunct="1">
                        <a:defRPr kumimoji="1" sz="1800" b="1" kern="1200">
                          <a:solidFill>
                            <a:schemeClr val="lt1"/>
                          </a:solidFill>
                          <a:latin typeface="Calibri"/>
                        </a:defRPr>
                      </a:lvl7pPr>
                      <a:lvl8pPr marL="3200400" algn="l" defTabSz="914400" rtl="0" eaLnBrk="1" latinLnBrk="0" hangingPunct="1">
                        <a:defRPr kumimoji="1" sz="1800" b="1" kern="1200">
                          <a:solidFill>
                            <a:schemeClr val="lt1"/>
                          </a:solidFill>
                          <a:latin typeface="Calibri"/>
                        </a:defRPr>
                      </a:lvl8pPr>
                      <a:lvl9pPr marL="3657600" algn="l" defTabSz="914400" rtl="0" eaLnBrk="1" latinLnBrk="0" hangingPunct="1">
                        <a:defRPr kumimoji="1" sz="1800" b="1" kern="1200">
                          <a:solidFill>
                            <a:schemeClr val="lt1"/>
                          </a:solidFill>
                          <a:latin typeface="Calibri"/>
                        </a:defRPr>
                      </a:lvl9pPr>
                    </a:lstStyle>
                    <a:p>
                      <a:r>
                        <a:rPr kumimoji="1" lang="en-US" altLang="ja-JP" sz="1600">
                          <a:latin typeface="Meiryo UI" pitchFamily="50" charset="-128"/>
                          <a:ea typeface="Meiryo UI" pitchFamily="50" charset="-128"/>
                          <a:cs typeface="Meiryo UI" pitchFamily="50" charset="-128"/>
                        </a:rPr>
                        <a:t>Notes</a:t>
                      </a:r>
                      <a:endParaRPr kumimoji="1" lang="ja-JP" altLang="en-US" sz="16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Engine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solidFill>
                            <a:srgbClr val="FF0000"/>
                          </a:solidFill>
                          <a:latin typeface="Meiryo UI" pitchFamily="50" charset="-128"/>
                          <a:ea typeface="Meiryo UI" pitchFamily="50" charset="-128"/>
                          <a:cs typeface="Meiryo UI" pitchFamily="50" charset="-128"/>
                        </a:rPr>
                        <a:t>When engine has damaged, or</a:t>
                      </a:r>
                      <a:r>
                        <a:rPr kumimoji="1" lang="en-US" altLang="ja-JP" sz="1400" baseline="0">
                          <a:solidFill>
                            <a:srgbClr val="FF0000"/>
                          </a:solidFill>
                          <a:latin typeface="Meiryo UI" pitchFamily="50" charset="-128"/>
                          <a:ea typeface="Meiryo UI" pitchFamily="50" charset="-128"/>
                          <a:cs typeface="Meiryo UI" pitchFamily="50" charset="-128"/>
                        </a:rPr>
                        <a:t> severe deterioration observed.</a:t>
                      </a:r>
                      <a:endParaRPr kumimoji="1" lang="en-US" altLang="ja-JP" sz="1400">
                        <a:solidFill>
                          <a:srgbClr val="FF0000"/>
                        </a:solidFill>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a:latin typeface="Meiryo UI" pitchFamily="50" charset="-128"/>
                          <a:ea typeface="Meiryo UI" pitchFamily="50" charset="-128"/>
                          <a:cs typeface="Meiryo UI" pitchFamily="50" charset="-128"/>
                        </a:rPr>
                        <a:t>Please request necessary numbers of engine in advance based on calibration plan.</a:t>
                      </a:r>
                    </a:p>
                  </a:txBody>
                  <a:tcPr>
                    <a:lnL w="12700" cmpd="sng">
                      <a:solidFill>
                        <a:sysClr val="window" lastClr="FFFFFF"/>
                      </a:solidFill>
                    </a:lnL>
                    <a:lnR w="12700" cmpd="sng">
                      <a:solidFill>
                        <a:sysClr val="window" lastClr="FFFFFF"/>
                      </a:solidFill>
                    </a:lnR>
                    <a:lnT w="381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1"/>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Engine Oil</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Check</a:t>
                      </a:r>
                      <a:r>
                        <a:rPr kumimoji="1" lang="en-US" altLang="ja-JP" sz="1400" baseline="0">
                          <a:latin typeface="Meiryo UI" pitchFamily="50" charset="-128"/>
                          <a:ea typeface="Meiryo UI" pitchFamily="50" charset="-128"/>
                          <a:cs typeface="Meiryo UI" pitchFamily="50" charset="-128"/>
                        </a:rPr>
                        <a:t> oil level gage and add necessary amount to upper level everyday.</a:t>
                      </a:r>
                    </a:p>
                    <a:p>
                      <a:r>
                        <a:rPr kumimoji="1" lang="en-US" altLang="ja-JP" sz="1400" baseline="0">
                          <a:latin typeface="Meiryo UI" pitchFamily="50" charset="-128"/>
                          <a:ea typeface="Meiryo UI" pitchFamily="50" charset="-128"/>
                          <a:cs typeface="Meiryo UI" pitchFamily="50" charset="-128"/>
                        </a:rPr>
                        <a:t>Change engine oil first after break-in, and then change it every 5000km.</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solidFill>
                            <a:schemeClr val="tx1"/>
                          </a:solidFill>
                          <a:latin typeface="Meiryo UI" pitchFamily="50" charset="-128"/>
                          <a:ea typeface="Meiryo UI" pitchFamily="50" charset="-128"/>
                          <a:cs typeface="Meiryo UI" pitchFamily="50" charset="-128"/>
                        </a:rPr>
                        <a:t>Necessary amount of engine oil</a:t>
                      </a:r>
                    </a:p>
                    <a:p>
                      <a:endParaRPr kumimoji="1" lang="en-US" altLang="ja-JP" sz="1400">
                        <a:solidFill>
                          <a:srgbClr val="FF0000"/>
                        </a:solidFill>
                        <a:latin typeface="Meiryo UI" pitchFamily="50" charset="-128"/>
                        <a:ea typeface="Meiryo UI" pitchFamily="50" charset="-128"/>
                        <a:cs typeface="Meiryo UI" pitchFamily="50" charset="-128"/>
                      </a:endParaRPr>
                    </a:p>
                    <a:p>
                      <a:r>
                        <a:rPr kumimoji="1" lang="en-US" altLang="ja-JP" sz="1400">
                          <a:solidFill>
                            <a:schemeClr val="tx1"/>
                          </a:solidFill>
                          <a:latin typeface="Meiryo UI" pitchFamily="50" charset="-128"/>
                          <a:ea typeface="Meiryo UI" pitchFamily="50" charset="-128"/>
                          <a:cs typeface="Meiryo UI" pitchFamily="50" charset="-128"/>
                        </a:rPr>
                        <a:t>3.0 litter (w/o oil filter</a:t>
                      </a:r>
                      <a:r>
                        <a:rPr kumimoji="1" lang="en-US" altLang="ja-JP" sz="1400" baseline="0">
                          <a:solidFill>
                            <a:schemeClr val="tx1"/>
                          </a:solidFill>
                          <a:latin typeface="Meiryo UI" pitchFamily="50" charset="-128"/>
                          <a:ea typeface="Meiryo UI" pitchFamily="50" charset="-128"/>
                          <a:cs typeface="Meiryo UI" pitchFamily="50" charset="-128"/>
                        </a:rPr>
                        <a:t> change)</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solidFill>
                            <a:schemeClr val="tx1"/>
                          </a:solidFill>
                          <a:latin typeface="Meiryo UI" pitchFamily="50" charset="-128"/>
                          <a:ea typeface="Meiryo UI" pitchFamily="50" charset="-128"/>
                          <a:cs typeface="Meiryo UI" pitchFamily="50" charset="-128"/>
                        </a:rPr>
                        <a:t>3.8 litter (with oil filter</a:t>
                      </a:r>
                      <a:r>
                        <a:rPr kumimoji="1" lang="en-US" altLang="ja-JP" sz="1400" baseline="0">
                          <a:solidFill>
                            <a:schemeClr val="tx1"/>
                          </a:solidFill>
                          <a:latin typeface="Meiryo UI" pitchFamily="50" charset="-128"/>
                          <a:ea typeface="Meiryo UI" pitchFamily="50" charset="-128"/>
                          <a:cs typeface="Meiryo UI" pitchFamily="50" charset="-128"/>
                        </a:rPr>
                        <a:t> change)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2"/>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Oil Filter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baseline="0">
                          <a:latin typeface="Meiryo UI" pitchFamily="50" charset="-128"/>
                          <a:ea typeface="Meiryo UI" pitchFamily="50" charset="-128"/>
                          <a:cs typeface="Meiryo UI" pitchFamily="50" charset="-128"/>
                        </a:rPr>
                        <a:t>Should be replaced every 10000km</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3"/>
                  </a:ext>
                </a:extLst>
              </a:tr>
              <a:tr h="219864">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Tappet clearance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400">
                          <a:latin typeface="Meiryo UI" pitchFamily="50" charset="-128"/>
                          <a:ea typeface="Meiryo UI" pitchFamily="50" charset="-128"/>
                          <a:cs typeface="Meiryo UI" pitchFamily="50" charset="-128"/>
                        </a:rPr>
                        <a:t>Should be</a:t>
                      </a:r>
                      <a:r>
                        <a:rPr kumimoji="1" lang="en-US" altLang="ja-JP" sz="1400" baseline="0">
                          <a:latin typeface="Meiryo UI" pitchFamily="50" charset="-128"/>
                          <a:ea typeface="Meiryo UI" pitchFamily="50" charset="-128"/>
                          <a:cs typeface="Meiryo UI" pitchFamily="50" charset="-128"/>
                        </a:rPr>
                        <a:t> checked &amp; adjusted </a:t>
                      </a:r>
                      <a:r>
                        <a:rPr lang="en-US" altLang="ja-JP" sz="1400">
                          <a:solidFill>
                            <a:schemeClr val="tx2"/>
                          </a:solidFill>
                          <a:ea typeface="HG創英角ｺﾞｼｯｸUB" pitchFamily="49" charset="-128"/>
                        </a:rPr>
                        <a:t>After start-up and test (EMS requirement toughness verification) or every 25000km.</a:t>
                      </a:r>
                      <a:endParaRPr kumimoji="1" lang="ja-JP" altLang="en-US" sz="1400" b="0" i="0" u="none" strike="noStrike" cap="none" normalizeH="0" baseline="0">
                        <a:ln>
                          <a:noFill/>
                        </a:ln>
                        <a:solidFill>
                          <a:schemeClr val="tx2"/>
                        </a:solidFill>
                        <a:effectLst/>
                        <a:ea typeface="HG創英角ｺﾞｼｯｸUB" pitchFamily="49" charset="-128"/>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IN ; 0.17</a:t>
                      </a:r>
                    </a:p>
                    <a:p>
                      <a:r>
                        <a:rPr kumimoji="1" lang="en-US" altLang="ja-JP" sz="1400">
                          <a:latin typeface="Meiryo UI" pitchFamily="50" charset="-128"/>
                          <a:ea typeface="Meiryo UI" pitchFamily="50" charset="-128"/>
                          <a:cs typeface="Meiryo UI" pitchFamily="50" charset="-128"/>
                        </a:rPr>
                        <a:t>EX ; 0.28</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Spark plug gap</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itchFamily="50" charset="-128"/>
                          <a:ea typeface="Meiryo UI" pitchFamily="50" charset="-128"/>
                          <a:cs typeface="Meiryo UI" pitchFamily="50" charset="-128"/>
                        </a:rPr>
                        <a:t>Should be checked every 20000km</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itchFamily="50" charset="-128"/>
                          <a:ea typeface="Meiryo UI" pitchFamily="50" charset="-128"/>
                          <a:cs typeface="Meiryo UI" pitchFamily="50" charset="-128"/>
                        </a:rPr>
                        <a:t>To be replaced 40000km.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In case </a:t>
                      </a:r>
                      <a:r>
                        <a:rPr kumimoji="1" lang="en-US" altLang="ja-JP" sz="1400" baseline="0">
                          <a:latin typeface="Meiryo UI" pitchFamily="50" charset="-128"/>
                          <a:ea typeface="Meiryo UI" pitchFamily="50" charset="-128"/>
                          <a:cs typeface="Meiryo UI" pitchFamily="50" charset="-128"/>
                        </a:rPr>
                        <a:t>the gap is expanded by 0.2mm from the beginning, plug should be replaced.</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0005"/>
                  </a:ext>
                </a:extLst>
              </a:tr>
              <a:tr h="180020">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Air filter</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itchFamily="50" charset="-128"/>
                          <a:ea typeface="Meiryo UI" pitchFamily="50" charset="-128"/>
                          <a:cs typeface="Meiryo UI" pitchFamily="50" charset="-128"/>
                        </a:rPr>
                        <a:t>Should be checked every 10000km</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eiryo UI" pitchFamily="50" charset="-128"/>
                          <a:ea typeface="Meiryo UI" pitchFamily="50" charset="-128"/>
                          <a:cs typeface="Meiryo UI" pitchFamily="50" charset="-128"/>
                        </a:rPr>
                        <a:t>To be replaced 40000km.</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kumimoji="1" sz="1800" kern="1200">
                          <a:solidFill>
                            <a:schemeClr val="dk1"/>
                          </a:solidFill>
                          <a:latin typeface="Calibri"/>
                        </a:defRPr>
                      </a:lvl1pPr>
                      <a:lvl2pPr marL="457200" algn="l" defTabSz="914400" rtl="0" eaLnBrk="1" latinLnBrk="0" hangingPunct="1">
                        <a:defRPr kumimoji="1" sz="1800" kern="1200">
                          <a:solidFill>
                            <a:schemeClr val="dk1"/>
                          </a:solidFill>
                          <a:latin typeface="Calibri"/>
                        </a:defRPr>
                      </a:lvl2pPr>
                      <a:lvl3pPr marL="914400" algn="l" defTabSz="914400" rtl="0" eaLnBrk="1" latinLnBrk="0" hangingPunct="1">
                        <a:defRPr kumimoji="1" sz="1800" kern="1200">
                          <a:solidFill>
                            <a:schemeClr val="dk1"/>
                          </a:solidFill>
                          <a:latin typeface="Calibri"/>
                        </a:defRPr>
                      </a:lvl3pPr>
                      <a:lvl4pPr marL="1371600" algn="l" defTabSz="914400" rtl="0" eaLnBrk="1" latinLnBrk="0" hangingPunct="1">
                        <a:defRPr kumimoji="1" sz="1800" kern="1200">
                          <a:solidFill>
                            <a:schemeClr val="dk1"/>
                          </a:solidFill>
                          <a:latin typeface="Calibri"/>
                        </a:defRPr>
                      </a:lvl4pPr>
                      <a:lvl5pPr marL="1828800" algn="l" defTabSz="914400" rtl="0" eaLnBrk="1" latinLnBrk="0" hangingPunct="1">
                        <a:defRPr kumimoji="1" sz="1800" kern="1200">
                          <a:solidFill>
                            <a:schemeClr val="dk1"/>
                          </a:solidFill>
                          <a:latin typeface="Calibri"/>
                        </a:defRPr>
                      </a:lvl5pPr>
                      <a:lvl6pPr marL="2286000" algn="l" defTabSz="914400" rtl="0" eaLnBrk="1" latinLnBrk="0" hangingPunct="1">
                        <a:defRPr kumimoji="1" sz="1800" kern="1200">
                          <a:solidFill>
                            <a:schemeClr val="dk1"/>
                          </a:solidFill>
                          <a:latin typeface="Calibri"/>
                        </a:defRPr>
                      </a:lvl6pPr>
                      <a:lvl7pPr marL="2743200" algn="l" defTabSz="914400" rtl="0" eaLnBrk="1" latinLnBrk="0" hangingPunct="1">
                        <a:defRPr kumimoji="1" sz="1800" kern="1200">
                          <a:solidFill>
                            <a:schemeClr val="dk1"/>
                          </a:solidFill>
                          <a:latin typeface="Calibri"/>
                        </a:defRPr>
                      </a:lvl7pPr>
                      <a:lvl8pPr marL="3200400" algn="l" defTabSz="914400" rtl="0" eaLnBrk="1" latinLnBrk="0" hangingPunct="1">
                        <a:defRPr kumimoji="1" sz="1800" kern="1200">
                          <a:solidFill>
                            <a:schemeClr val="dk1"/>
                          </a:solidFill>
                          <a:latin typeface="Calibri"/>
                        </a:defRPr>
                      </a:lvl8pPr>
                      <a:lvl9pPr marL="3657600" algn="l" defTabSz="914400" rtl="0" eaLnBrk="1" latinLnBrk="0" hangingPunct="1">
                        <a:defRPr kumimoji="1" sz="1800" kern="1200">
                          <a:solidFill>
                            <a:schemeClr val="dk1"/>
                          </a:solidFill>
                          <a:latin typeface="Calibri"/>
                        </a:defRPr>
                      </a:lvl9pPr>
                    </a:lstStyle>
                    <a:p>
                      <a:r>
                        <a:rPr kumimoji="1" lang="en-US" altLang="ja-JP" sz="1400">
                          <a:latin typeface="Meiryo UI" pitchFamily="50" charset="-128"/>
                          <a:ea typeface="Meiryo UI" pitchFamily="50" charset="-128"/>
                          <a:cs typeface="Meiryo UI" pitchFamily="50" charset="-128"/>
                        </a:rPr>
                        <a:t>In case there</a:t>
                      </a:r>
                      <a:r>
                        <a:rPr kumimoji="1" lang="en-US" altLang="ja-JP" sz="1400" baseline="0">
                          <a:latin typeface="Meiryo UI" pitchFamily="50" charset="-128"/>
                          <a:ea typeface="Meiryo UI" pitchFamily="50" charset="-128"/>
                          <a:cs typeface="Meiryo UI" pitchFamily="50" charset="-128"/>
                        </a:rPr>
                        <a:t> are much dust, filter should be replaced with new one.</a:t>
                      </a:r>
                      <a:endParaRPr kumimoji="1" lang="ja-JP" altLang="en-US" sz="1400">
                        <a:latin typeface="Meiryo UI" pitchFamily="50" charset="-128"/>
                        <a:ea typeface="Meiryo UI" pitchFamily="50" charset="-128"/>
                        <a:cs typeface="Meiryo UI"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1586736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 Box 2"/>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(14/16)</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8" name="テキスト ボックス 7"/>
          <p:cNvSpPr txBox="1"/>
          <p:nvPr/>
        </p:nvSpPr>
        <p:spPr>
          <a:xfrm>
            <a:off x="146327" y="531996"/>
            <a:ext cx="8399419" cy="4647426"/>
          </a:xfrm>
          <a:prstGeom prst="rect">
            <a:avLst/>
          </a:prstGeom>
          <a:noFill/>
        </p:spPr>
        <p:txBody>
          <a:bodyPr wrap="square" rtlCol="0">
            <a:spAutoFit/>
          </a:bodyPr>
          <a:lstStyle/>
          <a:p>
            <a:pPr algn="l">
              <a:spcBef>
                <a:spcPts val="300"/>
              </a:spcBef>
            </a:pPr>
            <a:r>
              <a:rPr lang="en-US" altLang="ja-JP" sz="1800" b="1" u="sng">
                <a:latin typeface="Meiryo UI" panose="020B0604030504040204" pitchFamily="50" charset="-128"/>
                <a:ea typeface="Meiryo UI" panose="020B0604030504040204" pitchFamily="50" charset="-128"/>
              </a:rPr>
              <a:t>Spare Parts List</a:t>
            </a:r>
          </a:p>
          <a:p>
            <a:pPr algn="l">
              <a:spcBef>
                <a:spcPts val="300"/>
              </a:spcBef>
            </a:pPr>
            <a:endParaRPr kumimoji="1"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Spare parts</a:t>
            </a:r>
            <a:r>
              <a:rPr lang="ja-JP" altLang="en-US" sz="1400">
                <a:latin typeface="Meiryo UI" panose="020B0604030504040204" pitchFamily="50" charset="-128"/>
                <a:ea typeface="Meiryo UI" panose="020B0604030504040204" pitchFamily="50" charset="-128"/>
              </a:rPr>
              <a:t>の要求と管理</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a:latin typeface="Meiryo UI" panose="020B0604030504040204" pitchFamily="50" charset="-128"/>
                <a:ea typeface="Meiryo UI" panose="020B0604030504040204" pitchFamily="50" charset="-128"/>
              </a:rPr>
              <a:t> shall request which parts is needed, quantity of </a:t>
            </a:r>
            <a:r>
              <a:rPr lang="en-US" altLang="ja-JP" sz="1400">
                <a:latin typeface="Meiryo UI" panose="020B0604030504040204" pitchFamily="50" charset="-128"/>
                <a:ea typeface="Meiryo UI" panose="020B0604030504040204" pitchFamily="50" charset="-128"/>
              </a:rPr>
              <a:t>spare parts and timing </a:t>
            </a:r>
            <a:r>
              <a:rPr kumimoji="1" lang="en-US" altLang="ja-JP" sz="1400">
                <a:latin typeface="Meiryo UI" panose="020B0604030504040204" pitchFamily="50" charset="-128"/>
                <a:ea typeface="Meiryo UI" panose="020B0604030504040204" pitchFamily="50" charset="-128"/>
              </a:rPr>
              <a:t>to Honda at the quotation timing.</a:t>
            </a: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kumimoji="1" lang="en-US" altLang="ja-JP" sz="1400">
                <a:latin typeface="Meiryo UI" panose="020B0604030504040204" pitchFamily="50" charset="-128"/>
                <a:ea typeface="Meiryo UI" panose="020B0604030504040204" pitchFamily="50" charset="-128"/>
              </a:rPr>
              <a:t> and Honda shall discuss if they are really needed.</a:t>
            </a:r>
          </a:p>
          <a:p>
            <a:pPr algn="l">
              <a:spcBef>
                <a:spcPts val="300"/>
              </a:spcBef>
            </a:pPr>
            <a:r>
              <a:rPr kumimoji="1" lang="en-US" altLang="ja-JP" sz="1400">
                <a:latin typeface="Meiryo UI" panose="020B0604030504040204" pitchFamily="50" charset="-128"/>
                <a:ea typeface="Meiryo UI" panose="020B0604030504040204" pitchFamily="50" charset="-128"/>
              </a:rPr>
              <a:t>Honda is required to provide the agreed spare parts at agreed timing.</a:t>
            </a: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r>
              <a:rPr kumimoji="1" lang="en-US" altLang="ja-JP" sz="1400">
                <a:latin typeface="Meiryo UI" panose="020B0604030504040204" pitchFamily="50" charset="-128"/>
                <a:ea typeface="Meiryo UI" panose="020B0604030504040204" pitchFamily="50" charset="-128"/>
              </a:rPr>
              <a:t>Spare parts shall be checked with the attached excel file by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a:t>
            </a:r>
            <a:r>
              <a:rPr kumimoji="1" lang="en-US" altLang="ja-JP" sz="1400">
                <a:latin typeface="Meiryo UI" panose="020B0604030504040204" pitchFamily="50" charset="-128"/>
                <a:ea typeface="Meiryo UI" panose="020B0604030504040204" pitchFamily="50" charset="-128"/>
              </a:rPr>
              <a:t>.</a:t>
            </a:r>
          </a:p>
          <a:p>
            <a:pPr algn="l">
              <a:spcBef>
                <a:spcPts val="300"/>
              </a:spcBef>
            </a:pPr>
            <a:r>
              <a:rPr lang="en-US" altLang="ja-JP" sz="1400">
                <a:latin typeface="Meiryo UI" panose="020B0604030504040204" pitchFamily="50" charset="-128"/>
                <a:ea typeface="Meiryo UI" panose="020B0604030504040204" pitchFamily="50" charset="-128"/>
              </a:rPr>
              <a:t>Once it is updated by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rPr>
              <a:t> , it shall be shared with Honda.</a:t>
            </a:r>
          </a:p>
          <a:p>
            <a:pPr algn="l">
              <a:spcBef>
                <a:spcPts val="300"/>
              </a:spcBef>
            </a:pPr>
            <a:endParaRPr kumimoji="1" lang="en-US" altLang="ja-JP" sz="1400">
              <a:latin typeface="Meiryo UI" panose="020B0604030504040204" pitchFamily="50" charset="-128"/>
              <a:ea typeface="Meiryo UI" panose="020B0604030504040204" pitchFamily="50" charset="-128"/>
            </a:endParaRP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に必要なスペアパーツと個数と時期を見積提出時期に要求すること。</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と</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は協議を行い、必要性を検討する。</a:t>
            </a:r>
            <a:endParaRPr lang="en-US" altLang="ja-JP" sz="1400">
              <a:latin typeface="Meiryo UI" panose="020B0604030504040204" pitchFamily="50" charset="-128"/>
              <a:ea typeface="Meiryo UI" panose="020B0604030504040204" pitchFamily="50" charset="-128"/>
            </a:endParaRPr>
          </a:p>
          <a:p>
            <a:pPr algn="l">
              <a:spcBef>
                <a:spcPts val="300"/>
              </a:spcBef>
            </a:pP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は合意したスペアパーツを合意したタイミングで供給すること。</a:t>
            </a:r>
            <a:endParaRPr lang="en-US" altLang="ja-JP" sz="1400">
              <a:latin typeface="Meiryo UI" panose="020B0604030504040204" pitchFamily="50" charset="-128"/>
              <a:ea typeface="Meiryo UI" panose="020B0604030504040204" pitchFamily="50" charset="-128"/>
            </a:endParaRPr>
          </a:p>
          <a:p>
            <a:pPr algn="l">
              <a:spcBef>
                <a:spcPts val="300"/>
              </a:spcBef>
            </a:pP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スペアパーツの管理は添付エクセルにて管理する。</a:t>
            </a:r>
            <a:endParaRPr lang="en-US" altLang="ja-JP" sz="1400">
              <a:latin typeface="Meiryo UI" panose="020B0604030504040204" pitchFamily="50" charset="-128"/>
              <a:ea typeface="Meiryo UI" panose="020B0604030504040204" pitchFamily="50" charset="-128"/>
            </a:endParaRPr>
          </a:p>
          <a:p>
            <a:pPr algn="l">
              <a:spcBef>
                <a:spcPts val="300"/>
              </a:spcBef>
            </a:pPr>
            <a:r>
              <a:rPr lang="ja-JP" altLang="en-US" sz="1400">
                <a:latin typeface="Meiryo UI" panose="020B0604030504040204" pitchFamily="50" charset="-128"/>
                <a:ea typeface="Meiryo UI" panose="020B0604030504040204" pitchFamily="50" charset="-128"/>
              </a:rPr>
              <a:t>ファイルが更新された場合は、</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とこのファイルを共有すること</a:t>
            </a:r>
            <a:endParaRPr lang="en-US" altLang="ja-JP" sz="1400">
              <a:latin typeface="Meiryo UI" panose="020B0604030504040204" pitchFamily="50" charset="-128"/>
              <a:ea typeface="Meiryo UI" panose="020B0604030504040204" pitchFamily="50" charset="-128"/>
            </a:endParaRPr>
          </a:p>
        </p:txBody>
      </p:sp>
      <p:sp>
        <p:nvSpPr>
          <p:cNvPr id="5" name="コンテンツ プレースホルダー 2"/>
          <p:cNvSpPr txBox="1">
            <a:spLocks/>
          </p:cNvSpPr>
          <p:nvPr>
            <p:custDataLst>
              <p:tags r:id="rId1"/>
            </p:custDataLst>
          </p:nvPr>
        </p:nvSpPr>
        <p:spPr bwMode="auto">
          <a:xfrm>
            <a:off x="5096425" y="5802678"/>
            <a:ext cx="3826368" cy="508473"/>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spAutoFit/>
          </a:bodyPr>
          <a:lstStyle>
            <a:lvl1pPr marL="251460" indent="-251460" algn="l" rtl="0" eaLnBrk="1" fontAlgn="base" hangingPunct="1">
              <a:lnSpc>
                <a:spcPts val="2300"/>
              </a:lnSpc>
              <a:spcBef>
                <a:spcPts val="500"/>
              </a:spcBef>
              <a:spcAft>
                <a:spcPct val="0"/>
              </a:spcAft>
              <a:buClrTx/>
              <a:buSzPct val="100000"/>
              <a:buFontTx/>
              <a:buNone/>
              <a:defRPr kumimoji="1" sz="1800" b="0" i="0" u="none">
                <a:solidFill>
                  <a:schemeClr val="tx1"/>
                </a:solidFill>
                <a:latin typeface="Bosch Office Sans" panose="020B0604020202020204" pitchFamily="34" charset="0"/>
                <a:ea typeface="+mn-ea"/>
                <a:cs typeface="Arial" pitchFamily="34" charset="0"/>
              </a:defRPr>
            </a:lvl1pPr>
            <a:lvl2pPr marL="467360" indent="-467360" algn="l" rtl="0" eaLnBrk="1" fontAlgn="base" hangingPunct="1">
              <a:lnSpc>
                <a:spcPts val="2000"/>
              </a:lnSpc>
              <a:spcBef>
                <a:spcPts val="500"/>
              </a:spcBef>
              <a:spcAft>
                <a:spcPct val="0"/>
              </a:spcAft>
              <a:buClrTx/>
              <a:buSzPct val="100000"/>
              <a:buFontTx/>
              <a:buNone/>
              <a:defRPr kumimoji="1" sz="1600" b="0" i="0" u="none">
                <a:solidFill>
                  <a:schemeClr val="tx1"/>
                </a:solidFill>
                <a:latin typeface="Bosch Office Sans" panose="020B0604020202020204" pitchFamily="34" charset="0"/>
                <a:cs typeface="Arial" pitchFamily="34" charset="0"/>
              </a:defRPr>
            </a:lvl2pPr>
            <a:lvl3pPr marL="647700" indent="-647700" algn="l" rtl="0" eaLnBrk="1" fontAlgn="base" hangingPunct="1">
              <a:lnSpc>
                <a:spcPts val="1700"/>
              </a:lnSpc>
              <a:spcBef>
                <a:spcPts val="500"/>
              </a:spcBef>
              <a:spcAft>
                <a:spcPct val="0"/>
              </a:spcAft>
              <a:buClrTx/>
              <a:buSzPct val="100000"/>
              <a:buFontTx/>
              <a:buNone/>
              <a:defRPr kumimoji="1" sz="1400" b="0" i="0" u="none">
                <a:solidFill>
                  <a:schemeClr val="tx1"/>
                </a:solidFill>
                <a:latin typeface="Bosch Office Sans" panose="020B0604020202020204" pitchFamily="34" charset="0"/>
                <a:cs typeface="Arial" pitchFamily="34" charset="0"/>
              </a:defRPr>
            </a:lvl3pPr>
            <a:lvl4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4pPr>
            <a:lvl5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5pPr>
            <a:lvl6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6pPr>
            <a:lvl7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7pPr>
            <a:lvl8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8pPr>
            <a:lvl9pPr marL="863600" indent="-863600" algn="l" rtl="0" eaLnBrk="1" fontAlgn="base" hangingPunct="1">
              <a:lnSpc>
                <a:spcPts val="1600"/>
              </a:lnSpc>
              <a:spcBef>
                <a:spcPts val="500"/>
              </a:spcBef>
              <a:spcAft>
                <a:spcPct val="0"/>
              </a:spcAft>
              <a:buClrTx/>
              <a:buSzPct val="100000"/>
              <a:buFontTx/>
              <a:buNone/>
              <a:defRPr kumimoji="1" sz="1300" b="0" i="0" u="none">
                <a:solidFill>
                  <a:schemeClr val="tx1"/>
                </a:solidFill>
                <a:latin typeface="Bosch Office Sans" panose="020B0604020202020204" pitchFamily="34" charset="0"/>
                <a:cs typeface="Arial" pitchFamily="34" charset="0"/>
              </a:defRPr>
            </a:lvl9pPr>
          </a:lstStyle>
          <a:p>
            <a:pPr marL="0" indent="0">
              <a:lnSpc>
                <a:spcPct val="105000"/>
              </a:lnSpc>
              <a:spcBef>
                <a:spcPts val="600"/>
              </a:spcBef>
              <a:spcAft>
                <a:spcPts val="0"/>
              </a:spcAft>
            </a:pPr>
            <a:r>
              <a:rPr lang="en-US" altLang="ja-JP" sz="1400" b="1" kern="0">
                <a:latin typeface="Meiryo UI" panose="020B0604030504040204" pitchFamily="50" charset="-128"/>
              </a:rPr>
              <a:t>※</a:t>
            </a:r>
            <a:r>
              <a:rPr lang="ja-JP" altLang="en-US" sz="1400" b="1" kern="0">
                <a:latin typeface="Meiryo UI" panose="020B0604030504040204" pitchFamily="50" charset="-128"/>
              </a:rPr>
              <a:t> </a:t>
            </a:r>
            <a:r>
              <a:rPr lang="en-US" altLang="ja-JP" sz="1400" b="1" kern="0">
                <a:latin typeface="Meiryo UI" panose="020B0604030504040204" pitchFamily="50" charset="-128"/>
              </a:rPr>
              <a:t>Refer to “Spare parts list” excel file.</a:t>
            </a:r>
          </a:p>
          <a:p>
            <a:pPr marL="0" indent="0">
              <a:lnSpc>
                <a:spcPct val="105000"/>
              </a:lnSpc>
              <a:spcBef>
                <a:spcPts val="600"/>
              </a:spcBef>
              <a:spcAft>
                <a:spcPts val="0"/>
              </a:spcAft>
            </a:pPr>
            <a:r>
              <a:rPr lang="en-US" sz="1400" b="1" kern="0">
                <a:latin typeface="Meiryo UI" panose="020B0604030504040204" pitchFamily="50" charset="-128"/>
              </a:rPr>
              <a:t>In folder : “21. Miscellaneous guideline”</a:t>
            </a:r>
          </a:p>
        </p:txBody>
      </p:sp>
    </p:spTree>
    <p:extLst>
      <p:ext uri="{BB962C8B-B14F-4D97-AF65-F5344CB8AC3E}">
        <p14:creationId xmlns:p14="http://schemas.microsoft.com/office/powerpoint/2010/main" val="32949252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0" y="3949451"/>
            <a:ext cx="8948057" cy="2608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ja-JP" altLang="en-US" sz="1800" b="1" u="sng">
                <a:latin typeface="Meiryo UI" panose="020B0604030504040204" pitchFamily="50" charset="-128"/>
                <a:ea typeface="Meiryo UI" panose="020B0604030504040204" pitchFamily="50" charset="-128"/>
              </a:rPr>
              <a:t>輸出入に関するガイドライン</a:t>
            </a:r>
          </a:p>
          <a:p>
            <a:pPr marL="803275" indent="-360363" algn="l" eaLnBrk="1" hangingPunct="1">
              <a:lnSpc>
                <a:spcPct val="120000"/>
              </a:lnSpc>
              <a:spcBef>
                <a:spcPts val="300"/>
              </a:spcBef>
              <a:buFont typeface="+mj-lt"/>
              <a:buAutoNum type="arabicPeriod"/>
            </a:pPr>
            <a:r>
              <a:rPr lang="ja-JP" altLang="en-US" sz="1400">
                <a:latin typeface="Meiryo UI" panose="020B0604030504040204" pitchFamily="50" charset="-128"/>
                <a:ea typeface="Meiryo UI" panose="020B0604030504040204" pitchFamily="50" charset="-128"/>
              </a:rPr>
              <a:t>テスト車両およびエンジンの輸出入に掛かる費用負担は、</a:t>
            </a:r>
            <a:r>
              <a:rPr lang="en-US" altLang="ja-JP" sz="1400">
                <a:latin typeface="Meiryo UI" panose="020B0604030504040204" pitchFamily="50" charset="-128"/>
                <a:ea typeface="Meiryo UI" panose="020B0604030504040204" pitchFamily="50" charset="-128"/>
              </a:rPr>
              <a:t>ICC</a:t>
            </a:r>
            <a:r>
              <a:rPr lang="ja-JP" altLang="en-US" sz="1400">
                <a:latin typeface="Meiryo UI" panose="020B0604030504040204" pitchFamily="50" charset="-128"/>
                <a:ea typeface="Meiryo UI" panose="020B0604030504040204" pitchFamily="50" charset="-128"/>
              </a:rPr>
              <a:t>制定のインコタームズ</a:t>
            </a:r>
            <a:r>
              <a:rPr lang="en-US" altLang="ja-JP" sz="1400">
                <a:latin typeface="Meiryo UI" panose="020B0604030504040204" pitchFamily="50" charset="-128"/>
                <a:ea typeface="Meiryo UI" panose="020B0604030504040204" pitchFamily="50" charset="-128"/>
              </a:rPr>
              <a:t>2020</a:t>
            </a:r>
            <a:r>
              <a:rPr lang="ja-JP" altLang="en-US" sz="1400">
                <a:latin typeface="Meiryo UI" panose="020B0604030504040204" pitchFamily="50" charset="-128"/>
                <a:ea typeface="Meiryo UI" panose="020B0604030504040204" pitchFamily="50" charset="-128"/>
              </a:rPr>
              <a:t>に準じ、</a:t>
            </a:r>
            <a:r>
              <a:rPr lang="en-US" altLang="ja-JP" sz="1400">
                <a:latin typeface="Meiryo UI" panose="020B0604030504040204" pitchFamily="50" charset="-128"/>
                <a:ea typeface="Meiryo UI" panose="020B0604030504040204" pitchFamily="50" charset="-128"/>
              </a:rPr>
              <a:t>DAP</a:t>
            </a:r>
            <a:r>
              <a:rPr lang="ja-JP" altLang="en-US" sz="1400">
                <a:latin typeface="Meiryo UI" panose="020B0604030504040204" pitchFamily="50" charset="-128"/>
                <a:ea typeface="Meiryo UI" panose="020B0604030504040204" pitchFamily="50" charset="-128"/>
              </a:rPr>
              <a:t>を</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基本とする。またデータ適合に必要な</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ではない部品は全て</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から供給する。</a:t>
            </a:r>
            <a:endParaRPr lang="en-US" altLang="ja-JP" sz="1400">
              <a:latin typeface="Meiryo UI" panose="020B0604030504040204" pitchFamily="50" charset="-128"/>
              <a:ea typeface="Meiryo UI" panose="020B0604030504040204" pitchFamily="50" charset="-128"/>
            </a:endParaRPr>
          </a:p>
          <a:p>
            <a:pPr marL="803275" indent="-360363" algn="l" eaLnBrk="1" hangingPunct="1">
              <a:lnSpc>
                <a:spcPct val="120000"/>
              </a:lnSpc>
              <a:spcBef>
                <a:spcPts val="300"/>
              </a:spcBef>
              <a:buFont typeface="+mj-lt"/>
              <a:buAutoNum type="arabicPeriod"/>
            </a:pP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から</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にエンジン</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車両を供給する場合、組み換えやエンジン載せ替えを想定し、一般輸入を</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基本とする。</a:t>
            </a:r>
            <a:br>
              <a:rPr lang="en-US" altLang="ja-JP" sz="1400">
                <a:latin typeface="Meiryo UI" panose="020B0604030504040204" pitchFamily="50" charset="-128"/>
                <a:ea typeface="Meiryo UI" panose="020B0604030504040204" pitchFamily="50" charset="-128"/>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ja-JP" altLang="en-US" sz="1400">
                <a:latin typeface="Meiryo UI" panose="020B0604030504040204" pitchFamily="50" charset="-128"/>
                <a:ea typeface="Meiryo UI" panose="020B0604030504040204" pitchFamily="50" charset="-128"/>
              </a:rPr>
              <a:t>は自己責任の元で一時輸入を選択しても良いが、一般輸入へ切り替える必要が生じた場合は</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その費用を負担すること。</a:t>
            </a:r>
            <a:endParaRPr lang="en-US" altLang="ja-JP" sz="1400">
              <a:latin typeface="Meiryo UI" panose="020B0604030504040204" pitchFamily="50" charset="-128"/>
              <a:ea typeface="Meiryo UI" panose="020B0604030504040204" pitchFamily="50" charset="-128"/>
            </a:endParaRPr>
          </a:p>
          <a:p>
            <a:pPr marL="442912" indent="0" algn="l" eaLnBrk="1" hangingPunct="1">
              <a:lnSpc>
                <a:spcPct val="120000"/>
              </a:lnSpc>
              <a:spcBef>
                <a:spcPts val="300"/>
              </a:spcBef>
            </a:pP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中国製作車両に於いては、輸出入規定に１年間と言う枠組みがある為、１年を超える試作車両使用が</a:t>
            </a:r>
            <a:br>
              <a:rPr lang="en-US" altLang="ja-JP" sz="1400">
                <a:latin typeface="Meiryo UI" panose="020B0604030504040204" pitchFamily="50" charset="-128"/>
                <a:ea typeface="Meiryo UI" panose="020B0604030504040204" pitchFamily="50" charset="-128"/>
              </a:rPr>
            </a:br>
            <a:r>
              <a:rPr lang="ja-JP" altLang="en-US" sz="1400">
                <a:latin typeface="Meiryo UI" panose="020B0604030504040204" pitchFamily="50" charset="-128"/>
                <a:ea typeface="Meiryo UI" panose="020B0604030504040204" pitchFamily="50" charset="-128"/>
              </a:rPr>
              <a:t>必要と判断された場合、再度輸出入を実施する事がある。）</a:t>
            </a:r>
            <a:endParaRPr lang="en-US" altLang="ja-JP" sz="1400">
              <a:latin typeface="Meiryo UI" panose="020B0604030504040204" pitchFamily="50" charset="-128"/>
              <a:ea typeface="Meiryo UI" panose="020B0604030504040204" pitchFamily="50" charset="-128"/>
            </a:endParaRPr>
          </a:p>
        </p:txBody>
      </p:sp>
      <p:sp>
        <p:nvSpPr>
          <p:cNvPr id="7" name="Text Box 7"/>
          <p:cNvSpPr txBox="1">
            <a:spLocks noChangeArrowheads="1"/>
          </p:cNvSpPr>
          <p:nvPr/>
        </p:nvSpPr>
        <p:spPr bwMode="auto">
          <a:xfrm>
            <a:off x="35496" y="548680"/>
            <a:ext cx="9108504" cy="3096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914400" indent="-45720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l" eaLnBrk="1" hangingPunct="1">
              <a:lnSpc>
                <a:spcPct val="120000"/>
              </a:lnSpc>
              <a:spcBef>
                <a:spcPts val="300"/>
              </a:spcBef>
            </a:pPr>
            <a:r>
              <a:rPr lang="en-US" altLang="ja-JP" sz="1800" b="1" u="sng">
                <a:latin typeface="Meiryo UI" panose="020B0604030504040204" pitchFamily="50" charset="-128"/>
                <a:ea typeface="Meiryo UI" panose="020B0604030504040204" pitchFamily="50" charset="-128"/>
                <a:cs typeface="Arial" pitchFamily="34" charset="0"/>
              </a:rPr>
              <a:t>Guideline</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of</a:t>
            </a:r>
            <a:r>
              <a:rPr lang="ja-JP" altLang="en-US" sz="1800" b="1" u="sng">
                <a:latin typeface="Meiryo UI" panose="020B0604030504040204" pitchFamily="50" charset="-128"/>
                <a:ea typeface="Meiryo UI" panose="020B0604030504040204" pitchFamily="50" charset="-128"/>
                <a:cs typeface="Arial" pitchFamily="34" charset="0"/>
              </a:rPr>
              <a:t> </a:t>
            </a:r>
            <a:r>
              <a:rPr lang="en-US" altLang="ja-JP" sz="1800" b="1" u="sng">
                <a:latin typeface="Meiryo UI" panose="020B0604030504040204" pitchFamily="50" charset="-128"/>
                <a:ea typeface="Meiryo UI" panose="020B0604030504040204" pitchFamily="50" charset="-128"/>
                <a:cs typeface="Arial" pitchFamily="34" charset="0"/>
              </a:rPr>
              <a:t>Import/Export</a:t>
            </a:r>
            <a:endParaRPr lang="ja-JP" altLang="en-US" sz="1800" b="1" u="sng">
              <a:latin typeface="Meiryo UI" panose="020B0604030504040204" pitchFamily="50" charset="-128"/>
              <a:ea typeface="Meiryo UI" panose="020B0604030504040204" pitchFamily="50" charset="-128"/>
              <a:cs typeface="Arial" pitchFamily="34" charset="0"/>
            </a:endParaRPr>
          </a:p>
          <a:p>
            <a:pPr marL="800100" lvl="1" indent="-342900" algn="l" eaLnBrk="1" hangingPunct="1">
              <a:lnSpc>
                <a:spcPct val="120000"/>
              </a:lnSpc>
              <a:spcBef>
                <a:spcPts val="300"/>
              </a:spcBef>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Export and import of test vehicles</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and engines shall follow the Incoterms 2020</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and the DAP shall be standard.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And all non-</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parts necessary for calibration work will be provided by Honda.</a:t>
            </a:r>
          </a:p>
          <a:p>
            <a:pPr marL="800100" lvl="1" indent="-342900" algn="l" eaLnBrk="1" hangingPunct="1">
              <a:lnSpc>
                <a:spcPct val="120000"/>
              </a:lnSpc>
              <a:spcBef>
                <a:spcPts val="300"/>
              </a:spcBef>
              <a:buFont typeface="+mj-lt"/>
              <a:buAutoNum type="arabicPeriod"/>
            </a:pPr>
            <a:r>
              <a:rPr lang="en-US" altLang="ja-JP" sz="1400">
                <a:latin typeface="Meiryo UI" panose="020B0604030504040204" pitchFamily="50" charset="-128"/>
                <a:ea typeface="Meiryo UI" panose="020B0604030504040204" pitchFamily="50" charset="-128"/>
                <a:cs typeface="Arial" pitchFamily="34" charset="0"/>
              </a:rPr>
              <a:t>When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imports test engines/vehicles from Honda, regular import is standard because there is possibility of modifications, upgrades, engine replacements. </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can</a:t>
            </a:r>
            <a:r>
              <a:rPr lang="ja-JP" altLang="en-US" sz="1400">
                <a:latin typeface="Meiryo UI" panose="020B0604030504040204" pitchFamily="50" charset="-128"/>
                <a:ea typeface="Meiryo UI" panose="020B0604030504040204" pitchFamily="50" charset="-128"/>
                <a:cs typeface="Arial" pitchFamily="34" charset="0"/>
              </a:rPr>
              <a:t> </a:t>
            </a:r>
            <a:r>
              <a:rPr lang="en-US" altLang="ja-JP" sz="1400">
                <a:latin typeface="Meiryo UI" panose="020B0604030504040204" pitchFamily="50" charset="-128"/>
                <a:ea typeface="Meiryo UI" panose="020B0604030504040204" pitchFamily="50" charset="-128"/>
                <a:cs typeface="Arial" pitchFamily="34" charset="0"/>
              </a:rPr>
              <a:t>choose  temporary imports at own risk, but at the necessity of changing to regular import </a:t>
            </a:r>
            <a:r>
              <a:rPr lang="en-US" altLang="ja-JP" sz="1400">
                <a:solidFill>
                  <a:srgbClr val="0000FF"/>
                </a:solidFill>
                <a:latin typeface="Meiryo UI" panose="020B0604030504040204" pitchFamily="50" charset="-128"/>
                <a:ea typeface="Meiryo UI" panose="020B0604030504040204" pitchFamily="50" charset="-128"/>
                <a:cs typeface="Arial" pitchFamily="34" charset="0"/>
              </a:rPr>
              <a:t>Bosch</a:t>
            </a:r>
            <a:r>
              <a:rPr lang="en-US" altLang="ja-JP" sz="1400">
                <a:latin typeface="Meiryo UI" panose="020B0604030504040204" pitchFamily="50" charset="-128"/>
                <a:ea typeface="Meiryo UI" panose="020B0604030504040204" pitchFamily="50" charset="-128"/>
                <a:cs typeface="Arial" pitchFamily="34" charset="0"/>
              </a:rPr>
              <a:t> shall bear the cost.</a:t>
            </a:r>
          </a:p>
          <a:p>
            <a:pPr marL="457200" lvl="1" indent="0" algn="l" eaLnBrk="1" hangingPunct="1">
              <a:lnSpc>
                <a:spcPct val="120000"/>
              </a:lnSpc>
              <a:spcBef>
                <a:spcPts val="300"/>
              </a:spcBef>
            </a:pPr>
            <a:r>
              <a:rPr lang="ja-JP" altLang="en-US" sz="1400">
                <a:latin typeface="Meiryo UI" panose="020B0604030504040204" pitchFamily="50" charset="-128"/>
                <a:ea typeface="Meiryo UI" panose="020B0604030504040204" pitchFamily="50" charset="-128"/>
                <a:cs typeface="Arial" pitchFamily="34" charset="0"/>
              </a:rPr>
              <a:t>（</a:t>
            </a:r>
            <a:r>
              <a:rPr lang="en-US" altLang="ja-JP" sz="1400">
                <a:latin typeface="Meiryo UI" panose="020B0604030504040204" pitchFamily="50" charset="-128"/>
                <a:ea typeface="Meiryo UI" panose="020B0604030504040204" pitchFamily="50" charset="-128"/>
                <a:cs typeface="Arial" pitchFamily="34" charset="0"/>
              </a:rPr>
              <a:t>For China build vehicle special process may be necessary, limited time importation-less than</a:t>
            </a:r>
            <a:br>
              <a:rPr lang="en-US" altLang="ja-JP" sz="1400">
                <a:latin typeface="Meiryo UI" panose="020B0604030504040204" pitchFamily="50" charset="-128"/>
                <a:ea typeface="Meiryo UI" panose="020B0604030504040204" pitchFamily="50" charset="-128"/>
                <a:cs typeface="Arial" pitchFamily="34" charset="0"/>
              </a:rPr>
            </a:br>
            <a:r>
              <a:rPr lang="en-US" altLang="ja-JP" sz="1400">
                <a:latin typeface="Meiryo UI" panose="020B0604030504040204" pitchFamily="50" charset="-128"/>
                <a:ea typeface="Meiryo UI" panose="020B0604030504040204" pitchFamily="50" charset="-128"/>
                <a:cs typeface="Arial" pitchFamily="34" charset="0"/>
              </a:rPr>
              <a:t> 1 year, for importation / exportation, In case necessary vehicle can be returned and exported again.)</a:t>
            </a:r>
          </a:p>
        </p:txBody>
      </p:sp>
      <p:sp>
        <p:nvSpPr>
          <p:cNvPr id="12"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chemeClr val="bg1"/>
                </a:solidFill>
                <a:latin typeface="Meiryo UI" panose="020B0604030504040204" pitchFamily="50" charset="-128"/>
                <a:ea typeface="Meiryo UI" panose="020B0604030504040204" pitchFamily="50" charset="-128"/>
                <a:cs typeface="Arial" pitchFamily="34" charset="0"/>
              </a:rPr>
              <a:t>21.</a:t>
            </a:r>
            <a:r>
              <a:rPr lang="ja-JP" altLang="en-US" sz="200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a:solidFill>
                  <a:schemeClr val="bg1"/>
                </a:solidFill>
                <a:latin typeface="Meiryo UI" panose="020B0604030504040204" pitchFamily="50" charset="-128"/>
                <a:ea typeface="Meiryo UI" panose="020B0604030504040204" pitchFamily="50" charset="-128"/>
                <a:cs typeface="Arial" pitchFamily="34" charset="0"/>
              </a:rPr>
              <a:t>Miscellaneous</a:t>
            </a:r>
            <a:r>
              <a:rPr lang="ja-JP" altLang="en-US" sz="200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a:t>
            </a:r>
            <a:r>
              <a:rPr lang="ja-JP" altLang="en-US" sz="2000">
                <a:solidFill>
                  <a:schemeClr val="bg1"/>
                </a:solidFill>
                <a:latin typeface="Meiryo UI" panose="020B0604030504040204" pitchFamily="50" charset="-128"/>
                <a:ea typeface="Meiryo UI" panose="020B0604030504040204" pitchFamily="50" charset="-128"/>
                <a:cs typeface="Arial" pitchFamily="34" charset="0"/>
              </a:rPr>
              <a:t> </a:t>
            </a:r>
            <a:r>
              <a:rPr lang="en-US" altLang="ja-JP" sz="2000">
                <a:solidFill>
                  <a:schemeClr val="bg1"/>
                </a:solidFill>
                <a:latin typeface="Meiryo UI" panose="020B0604030504040204" pitchFamily="50" charset="-128"/>
                <a:ea typeface="Meiryo UI" panose="020B0604030504040204" pitchFamily="50" charset="-128"/>
                <a:cs typeface="Arial" pitchFamily="34" charset="0"/>
              </a:rPr>
              <a:t>(15/16)</a:t>
            </a:r>
            <a:endParaRPr lang="en-US" altLang="ja-JP" sz="1100">
              <a:solidFill>
                <a:schemeClr val="bg1"/>
              </a:solidFill>
              <a:latin typeface="HGPｺﾞｼｯｸE" pitchFamily="50" charset="-128"/>
              <a:ea typeface="HGPｺﾞｼｯｸE" pitchFamily="50" charset="-128"/>
              <a:cs typeface="Arial" pitchFamily="34" charset="0"/>
            </a:endParaRPr>
          </a:p>
        </p:txBody>
      </p:sp>
    </p:spTree>
    <p:extLst>
      <p:ext uri="{BB962C8B-B14F-4D97-AF65-F5344CB8AC3E}">
        <p14:creationId xmlns:p14="http://schemas.microsoft.com/office/powerpoint/2010/main" val="7364572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テキスト ボックス 5"/>
          <p:cNvSpPr txBox="1"/>
          <p:nvPr/>
        </p:nvSpPr>
        <p:spPr>
          <a:xfrm>
            <a:off x="54592" y="496918"/>
            <a:ext cx="8645271" cy="338554"/>
          </a:xfrm>
          <a:prstGeom prst="rect">
            <a:avLst/>
          </a:prstGeom>
          <a:noFill/>
        </p:spPr>
        <p:txBody>
          <a:bodyPr wrap="square" rtlCol="0">
            <a:spAutoFit/>
          </a:bodyPr>
          <a:lstStyle/>
          <a:p>
            <a:pPr algn="l"/>
            <a:r>
              <a:rPr kumimoji="1" lang="en-US" altLang="ja-JP" sz="1600" b="1" u="sng">
                <a:latin typeface="Meiryo UI" panose="020B0604030504040204" pitchFamily="50" charset="-128"/>
                <a:ea typeface="Meiryo UI" pitchFamily="50" charset="-128"/>
                <a:cs typeface="Arial" pitchFamily="34" charset="0"/>
              </a:rPr>
              <a:t>Incoterms</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2020</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a:t>
            </a:r>
            <a:r>
              <a:rPr lang="en-US" altLang="ja-JP" sz="1600" b="1" u="sng">
                <a:latin typeface="Meiryo UI" panose="020B0604030504040204" pitchFamily="50" charset="-128"/>
                <a:ea typeface="Meiryo UI" pitchFamily="50" charset="-128"/>
                <a:cs typeface="Arial" pitchFamily="34" charset="0"/>
              </a:rPr>
              <a:t>Exporter</a:t>
            </a:r>
            <a:r>
              <a:rPr kumimoji="1" lang="en-US" altLang="ja-JP" sz="1600" b="1" u="sng">
                <a:latin typeface="Meiryo UI" panose="020B0604030504040204" pitchFamily="50" charset="-128"/>
                <a:ea typeface="Meiryo UI" pitchFamily="50" charset="-128"/>
                <a:cs typeface="Arial" pitchFamily="34" charset="0"/>
              </a:rPr>
              <a:t>/Importer</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Risks,</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Costs</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and</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Obligations</a:t>
            </a:r>
            <a:r>
              <a:rPr kumimoji="1" lang="ja-JP" altLang="en-US" sz="1600" b="1" u="sng">
                <a:latin typeface="Meiryo UI" panose="020B0604030504040204" pitchFamily="50" charset="-128"/>
                <a:ea typeface="Meiryo UI" pitchFamily="50" charset="-128"/>
                <a:cs typeface="Arial" pitchFamily="34" charset="0"/>
              </a:rPr>
              <a:t> </a:t>
            </a:r>
            <a:r>
              <a:rPr kumimoji="1" lang="en-US" altLang="ja-JP" sz="1600" b="1" u="sng">
                <a:latin typeface="Meiryo UI" panose="020B0604030504040204" pitchFamily="50" charset="-128"/>
                <a:ea typeface="Meiryo UI" pitchFamily="50" charset="-128"/>
                <a:cs typeface="Arial" pitchFamily="34" charset="0"/>
              </a:rPr>
              <a:t>Transfer)</a:t>
            </a:r>
            <a:endParaRPr kumimoji="1" lang="ja-JP" altLang="en-US" sz="1600" b="1" u="sng">
              <a:latin typeface="Meiryo UI" panose="020B0604030504040204" pitchFamily="50" charset="-128"/>
              <a:ea typeface="Meiryo UI" pitchFamily="50" charset="-128"/>
              <a:cs typeface="Arial" pitchFamily="34" charset="0"/>
            </a:endParaRPr>
          </a:p>
        </p:txBody>
      </p:sp>
      <p:sp>
        <p:nvSpPr>
          <p:cNvPr id="8"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21. Miscellaneous</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Guidelines (16/16)</a:t>
            </a:r>
            <a:endParaRPr lang="en-US" altLang="ja-JP" sz="1100">
              <a:solidFill>
                <a:srgbClr val="FFFFFF"/>
              </a:solidFill>
              <a:latin typeface="HGPｺﾞｼｯｸE" pitchFamily="50" charset="-128"/>
              <a:ea typeface="HGPｺﾞｼｯｸE" pitchFamily="50" charset="-128"/>
              <a:cs typeface="Arial" pitchFamily="34" charset="0"/>
            </a:endParaRPr>
          </a:p>
        </p:txBody>
      </p:sp>
      <p:graphicFrame>
        <p:nvGraphicFramePr>
          <p:cNvPr id="2" name="表 2">
            <a:extLst>
              <a:ext uri="{FF2B5EF4-FFF2-40B4-BE49-F238E27FC236}">
                <a16:creationId xmlns:a16="http://schemas.microsoft.com/office/drawing/2014/main" id="{583BE0AE-2FAB-4F3E-8E86-FBCAF67D137B}"/>
              </a:ext>
            </a:extLst>
          </p:cNvPr>
          <p:cNvGraphicFramePr>
            <a:graphicFrameLocks noGrp="1"/>
          </p:cNvGraphicFramePr>
          <p:nvPr>
            <p:extLst>
              <p:ext uri="{D42A27DB-BD31-4B8C-83A1-F6EECF244321}">
                <p14:modId xmlns:p14="http://schemas.microsoft.com/office/powerpoint/2010/main" val="2592805778"/>
              </p:ext>
            </p:extLst>
          </p:nvPr>
        </p:nvGraphicFramePr>
        <p:xfrm>
          <a:off x="-68240" y="861580"/>
          <a:ext cx="9324000" cy="5957200"/>
        </p:xfrm>
        <a:graphic>
          <a:graphicData uri="http://schemas.openxmlformats.org/drawingml/2006/table">
            <a:tbl>
              <a:tblPr firstRow="1" bandRow="1">
                <a:tableStyleId>{21E4AEA4-8DFA-4A89-87EB-49C32662AFE0}</a:tableStyleId>
              </a:tblPr>
              <a:tblGrid>
                <a:gridCol w="1404000">
                  <a:extLst>
                    <a:ext uri="{9D8B030D-6E8A-4147-A177-3AD203B41FA5}">
                      <a16:colId xmlns:a16="http://schemas.microsoft.com/office/drawing/2014/main" val="2246712209"/>
                    </a:ext>
                  </a:extLst>
                </a:gridCol>
                <a:gridCol w="720000">
                  <a:extLst>
                    <a:ext uri="{9D8B030D-6E8A-4147-A177-3AD203B41FA5}">
                      <a16:colId xmlns:a16="http://schemas.microsoft.com/office/drawing/2014/main" val="4068008921"/>
                    </a:ext>
                  </a:extLst>
                </a:gridCol>
                <a:gridCol w="720000">
                  <a:extLst>
                    <a:ext uri="{9D8B030D-6E8A-4147-A177-3AD203B41FA5}">
                      <a16:colId xmlns:a16="http://schemas.microsoft.com/office/drawing/2014/main" val="3784893854"/>
                    </a:ext>
                  </a:extLst>
                </a:gridCol>
                <a:gridCol w="720000">
                  <a:extLst>
                    <a:ext uri="{9D8B030D-6E8A-4147-A177-3AD203B41FA5}">
                      <a16:colId xmlns:a16="http://schemas.microsoft.com/office/drawing/2014/main" val="3520063491"/>
                    </a:ext>
                  </a:extLst>
                </a:gridCol>
                <a:gridCol w="720000">
                  <a:extLst>
                    <a:ext uri="{9D8B030D-6E8A-4147-A177-3AD203B41FA5}">
                      <a16:colId xmlns:a16="http://schemas.microsoft.com/office/drawing/2014/main" val="3278090603"/>
                    </a:ext>
                  </a:extLst>
                </a:gridCol>
                <a:gridCol w="720000">
                  <a:extLst>
                    <a:ext uri="{9D8B030D-6E8A-4147-A177-3AD203B41FA5}">
                      <a16:colId xmlns:a16="http://schemas.microsoft.com/office/drawing/2014/main" val="2609375115"/>
                    </a:ext>
                  </a:extLst>
                </a:gridCol>
                <a:gridCol w="720000">
                  <a:extLst>
                    <a:ext uri="{9D8B030D-6E8A-4147-A177-3AD203B41FA5}">
                      <a16:colId xmlns:a16="http://schemas.microsoft.com/office/drawing/2014/main" val="4235255758"/>
                    </a:ext>
                  </a:extLst>
                </a:gridCol>
                <a:gridCol w="720000">
                  <a:extLst>
                    <a:ext uri="{9D8B030D-6E8A-4147-A177-3AD203B41FA5}">
                      <a16:colId xmlns:a16="http://schemas.microsoft.com/office/drawing/2014/main" val="1677641608"/>
                    </a:ext>
                  </a:extLst>
                </a:gridCol>
                <a:gridCol w="720000">
                  <a:extLst>
                    <a:ext uri="{9D8B030D-6E8A-4147-A177-3AD203B41FA5}">
                      <a16:colId xmlns:a16="http://schemas.microsoft.com/office/drawing/2014/main" val="342742492"/>
                    </a:ext>
                  </a:extLst>
                </a:gridCol>
                <a:gridCol w="720000">
                  <a:extLst>
                    <a:ext uri="{9D8B030D-6E8A-4147-A177-3AD203B41FA5}">
                      <a16:colId xmlns:a16="http://schemas.microsoft.com/office/drawing/2014/main" val="4164417100"/>
                    </a:ext>
                  </a:extLst>
                </a:gridCol>
                <a:gridCol w="720000">
                  <a:extLst>
                    <a:ext uri="{9D8B030D-6E8A-4147-A177-3AD203B41FA5}">
                      <a16:colId xmlns:a16="http://schemas.microsoft.com/office/drawing/2014/main" val="2777979331"/>
                    </a:ext>
                  </a:extLst>
                </a:gridCol>
                <a:gridCol w="720000">
                  <a:extLst>
                    <a:ext uri="{9D8B030D-6E8A-4147-A177-3AD203B41FA5}">
                      <a16:colId xmlns:a16="http://schemas.microsoft.com/office/drawing/2014/main" val="3508057063"/>
                    </a:ext>
                  </a:extLst>
                </a:gridCol>
              </a:tblGrid>
              <a:tr h="370840">
                <a:tc>
                  <a:txBody>
                    <a:bodyPr/>
                    <a:lstStyle/>
                    <a:p>
                      <a:pPr algn="ctr"/>
                      <a:r>
                        <a:rPr kumimoji="1" lang="en-US" altLang="ja-JP" sz="1200">
                          <a:latin typeface="Meiryo UI" panose="020B0604030504040204" pitchFamily="50" charset="-128"/>
                          <a:ea typeface="Meiryo UI" panose="020B0604030504040204" pitchFamily="50" charset="-128"/>
                        </a:rPr>
                        <a:t>Types of Transport</a:t>
                      </a:r>
                      <a:endParaRPr kumimoji="1" lang="ja-JP" altLang="en-US" sz="1200">
                        <a:latin typeface="Meiryo UI" panose="020B0604030504040204" pitchFamily="50" charset="-128"/>
                        <a:ea typeface="Meiryo UI" panose="020B0604030504040204" pitchFamily="50" charset="-128"/>
                      </a:endParaRPr>
                    </a:p>
                  </a:txBody>
                  <a:tcPr anchor="ctr"/>
                </a:tc>
                <a:tc gridSpan="2">
                  <a:txBody>
                    <a:bodyPr/>
                    <a:lstStyle/>
                    <a:p>
                      <a:pPr algn="ctr"/>
                      <a:r>
                        <a:rPr kumimoji="1" lang="en-US" altLang="ja-JP" sz="900">
                          <a:latin typeface="Meiryo UI" panose="020B0604030504040204" pitchFamily="50" charset="-128"/>
                          <a:ea typeface="Meiryo UI" panose="020B0604030504040204" pitchFamily="50" charset="-128"/>
                        </a:rPr>
                        <a:t>Any Mode or modes of transport</a:t>
                      </a:r>
                      <a:endParaRPr kumimoji="1" lang="ja-JP" altLang="en-US" sz="90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gridSpan="4">
                  <a:txBody>
                    <a:bodyPr/>
                    <a:lstStyle/>
                    <a:p>
                      <a:pPr algn="ctr"/>
                      <a:r>
                        <a:rPr kumimoji="1" lang="en-US" altLang="ja-JP" sz="900">
                          <a:latin typeface="Meiryo UI" panose="020B0604030504040204" pitchFamily="50" charset="-128"/>
                          <a:ea typeface="Meiryo UI" panose="020B0604030504040204" pitchFamily="50" charset="-128"/>
                        </a:rPr>
                        <a:t>Sea and Inland waterway Only</a:t>
                      </a:r>
                      <a:endParaRPr kumimoji="1" lang="ja-JP" altLang="en-US" sz="90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gridSpan="5">
                  <a:txBody>
                    <a:bodyPr/>
                    <a:lstStyle/>
                    <a:p>
                      <a:pPr algn="ctr"/>
                      <a:r>
                        <a:rPr kumimoji="1" lang="en-US" altLang="ja-JP" sz="1400">
                          <a:latin typeface="Meiryo UI" panose="020B0604030504040204" pitchFamily="50" charset="-128"/>
                          <a:ea typeface="Meiryo UI" panose="020B0604030504040204" pitchFamily="50" charset="-128"/>
                        </a:rPr>
                        <a:t>Any Mode or Modes of transport</a:t>
                      </a:r>
                      <a:endParaRPr kumimoji="1" lang="ja-JP" altLang="en-US" sz="1400">
                        <a:latin typeface="Meiryo UI" panose="020B0604030504040204" pitchFamily="50" charset="-128"/>
                        <a:ea typeface="Meiryo UI" panose="020B0604030504040204" pitchFamily="50" charset="-128"/>
                      </a:endParaRPr>
                    </a:p>
                  </a:txBody>
                  <a:tcPr anchor="ct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tc hMerge="1">
                  <a:txBody>
                    <a:bodyPr/>
                    <a:lstStyle/>
                    <a:p>
                      <a:endParaRPr kumimoji="1" lang="ja-JP" altLang="en-US" sz="11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462938984"/>
                  </a:ext>
                </a:extLst>
              </a:tr>
              <a:tr h="370840">
                <a:tc rowSpan="2">
                  <a:txBody>
                    <a:bodyPr/>
                    <a:lstStyle/>
                    <a:p>
                      <a:pPr algn="ctr"/>
                      <a:r>
                        <a:rPr kumimoji="1" lang="en-US" altLang="ja-JP" sz="1600">
                          <a:latin typeface="Meiryo UI" panose="020B0604030504040204" pitchFamily="50" charset="-128"/>
                          <a:ea typeface="Meiryo UI" panose="020B0604030504040204" pitchFamily="50" charset="-128"/>
                        </a:rPr>
                        <a:t>INCOTERMS 2020</a:t>
                      </a:r>
                      <a:endParaRPr kumimoji="1" lang="ja-JP" altLang="en-US" sz="16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EXW</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FCA</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FAS</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FOB</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CFR</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CIS</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CRT</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CIP</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600" b="1">
                          <a:latin typeface="Meiryo UI" panose="020B0604030504040204" pitchFamily="50" charset="-128"/>
                          <a:ea typeface="Meiryo UI" panose="020B0604030504040204" pitchFamily="50" charset="-128"/>
                        </a:rPr>
                        <a:t>DAP</a:t>
                      </a:r>
                      <a:endParaRPr kumimoji="1" lang="ja-JP" altLang="en-US" sz="16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DPU</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DDP</a:t>
                      </a:r>
                      <a:endParaRPr kumimoji="1" lang="ja-JP" altLang="en-US" sz="110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469147875"/>
                  </a:ext>
                </a:extLst>
              </a:tr>
              <a:tr h="370840">
                <a:tc vMerge="1">
                  <a:txBody>
                    <a:bodyPr/>
                    <a:lstStyle/>
                    <a:p>
                      <a:endParaRPr kumimoji="1" lang="ja-JP" altLang="en-US" sz="1100">
                        <a:latin typeface="Meiryo UI" panose="020B0604030504040204" pitchFamily="50" charset="-128"/>
                        <a:ea typeface="Meiryo UI" panose="020B0604030504040204" pitchFamily="50" charset="-128"/>
                      </a:endParaRPr>
                    </a:p>
                  </a:txBody>
                  <a:tcPr/>
                </a:tc>
                <a:tc>
                  <a:txBody>
                    <a:bodyPr/>
                    <a:lstStyle/>
                    <a:p>
                      <a:pPr algn="ctr"/>
                      <a:r>
                        <a:rPr kumimoji="1" lang="en-US" altLang="ja-JP" sz="800">
                          <a:latin typeface="Meiryo UI" panose="020B0604030504040204" pitchFamily="50" charset="-128"/>
                          <a:ea typeface="Meiryo UI" panose="020B0604030504040204" pitchFamily="50" charset="-128"/>
                        </a:rPr>
                        <a:t>Ex Works</a:t>
                      </a:r>
                    </a:p>
                    <a:p>
                      <a:pPr algn="ctr"/>
                      <a:r>
                        <a:rPr kumimoji="1" lang="en-US" altLang="ja-JP" sz="800">
                          <a:latin typeface="Meiryo UI" panose="020B0604030504040204" pitchFamily="50" charset="-128"/>
                          <a:ea typeface="Meiryo UI" panose="020B0604030504040204" pitchFamily="50" charset="-128"/>
                        </a:rPr>
                        <a:t>(place)</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Free Carrier</a:t>
                      </a:r>
                    </a:p>
                    <a:p>
                      <a:pPr algn="ctr"/>
                      <a:r>
                        <a:rPr kumimoji="1" lang="en-US" altLang="ja-JP" sz="800">
                          <a:latin typeface="Meiryo UI" panose="020B0604030504040204" pitchFamily="50" charset="-128"/>
                          <a:ea typeface="Meiryo UI" panose="020B0604030504040204" pitchFamily="50" charset="-128"/>
                        </a:rPr>
                        <a:t>(place)</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Free Alongside Ship</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Free On Board</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Cost % Freight</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Cost, Insurance &amp; Freight</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Carriage Paid To</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Carriage &amp; Insurance Paid to</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Delivered At Place</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Delivered At Place Unloaded</a:t>
                      </a:r>
                      <a:endParaRPr kumimoji="1" lang="ja-JP" altLang="en-US" sz="8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Delivered Duty Paid</a:t>
                      </a:r>
                      <a:endParaRPr kumimoji="1" lang="ja-JP" altLang="en-US" sz="80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52570833"/>
                  </a:ext>
                </a:extLst>
              </a:tr>
              <a:tr h="432000">
                <a:tc>
                  <a:txBody>
                    <a:bodyPr/>
                    <a:lstStyle/>
                    <a:p>
                      <a:pPr algn="ctr"/>
                      <a:r>
                        <a:rPr kumimoji="1" lang="en-US" altLang="ja-JP" sz="1200">
                          <a:latin typeface="Meiryo UI" panose="020B0604030504040204" pitchFamily="50" charset="-128"/>
                          <a:ea typeface="Meiryo UI" panose="020B0604030504040204" pitchFamily="50" charset="-128"/>
                        </a:rPr>
                        <a:t>Transfer of Risk</a:t>
                      </a:r>
                      <a:endParaRPr kumimoji="1" lang="ja-JP" altLang="en-US" sz="12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Importer’s Disposal</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On Importer’s transport</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Alongside Ship</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On Board Vessel</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On Board Vessel</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a:latin typeface="Meiryo UI" panose="020B0604030504040204" pitchFamily="50" charset="-128"/>
                          <a:ea typeface="Meiryo UI" panose="020B0604030504040204" pitchFamily="50" charset="-128"/>
                        </a:rPr>
                        <a:t>On Board Vessel</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Carrier</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Carrier</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b="1">
                          <a:latin typeface="Meiryo UI" panose="020B0604030504040204" pitchFamily="50" charset="-128"/>
                          <a:ea typeface="Meiryo UI" panose="020B0604030504040204" pitchFamily="50" charset="-128"/>
                        </a:rPr>
                        <a:t>At Named Place</a:t>
                      </a:r>
                      <a:endParaRPr kumimoji="1" lang="ja-JP" altLang="en-US" sz="800" b="1">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Named Please Unloaded</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tc>
                  <a:txBody>
                    <a:bodyPr/>
                    <a:lstStyle/>
                    <a:p>
                      <a:pPr algn="ctr"/>
                      <a:r>
                        <a:rPr kumimoji="1" lang="en-US" altLang="ja-JP" sz="800">
                          <a:latin typeface="Meiryo UI" panose="020B0604030504040204" pitchFamily="50" charset="-128"/>
                          <a:ea typeface="Meiryo UI" panose="020B0604030504040204" pitchFamily="50" charset="-128"/>
                        </a:rPr>
                        <a:t>At Named Place</a:t>
                      </a:r>
                      <a:endParaRPr kumimoji="1" lang="ja-JP" altLang="en-US" sz="800">
                        <a:latin typeface="Meiryo UI" panose="020B0604030504040204" pitchFamily="50" charset="-128"/>
                        <a:ea typeface="Meiryo UI" panose="020B0604030504040204" pitchFamily="50" charset="-128"/>
                      </a:endParaRPr>
                    </a:p>
                  </a:txBody>
                  <a:tcPr anchor="ctr">
                    <a:solidFill>
                      <a:srgbClr val="FFC000"/>
                    </a:solidFill>
                  </a:tcPr>
                </a:tc>
                <a:extLst>
                  <a:ext uri="{0D108BD9-81ED-4DB2-BD59-A6C34878D82A}">
                    <a16:rowId xmlns:a16="http://schemas.microsoft.com/office/drawing/2014/main" val="2586200791"/>
                  </a:ext>
                </a:extLst>
              </a:tr>
              <a:tr h="216000">
                <a:tc gridSpan="1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a:latin typeface="Meiryo UI" panose="020B0604030504040204" pitchFamily="50" charset="-128"/>
                          <a:ea typeface="Meiryo UI" panose="020B0604030504040204" pitchFamily="50" charset="-128"/>
                        </a:rPr>
                        <a:t>Responsibilities &amp; Charges</a:t>
                      </a: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tc hMerge="1">
                  <a:txBody>
                    <a:bodyPr/>
                    <a:lstStyle/>
                    <a:p>
                      <a:pPr algn="ctr"/>
                      <a:endParaRPr kumimoji="1" lang="ja-JP" altLang="en-US" sz="110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1175627613"/>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Export</a:t>
                      </a:r>
                      <a:r>
                        <a:rPr kumimoji="1" lang="ja-JP" altLang="en-US" sz="800" b="1">
                          <a:latin typeface="Meiryo UI" panose="020B0604030504040204" pitchFamily="50" charset="-128"/>
                          <a:ea typeface="Meiryo UI" panose="020B0604030504040204" pitchFamily="50" charset="-128"/>
                        </a:rPr>
                        <a:t> </a:t>
                      </a:r>
                      <a:r>
                        <a:rPr kumimoji="1" lang="en-US" altLang="ja-JP" sz="800" b="1">
                          <a:latin typeface="Meiryo UI" panose="020B0604030504040204" pitchFamily="50" charset="-128"/>
                          <a:ea typeface="Meiryo UI" panose="020B0604030504040204" pitchFamily="50" charset="-128"/>
                        </a:rPr>
                        <a:t>Packaging</a:t>
                      </a:r>
                    </a:p>
                  </a:txBody>
                  <a:tcPr anchor="ct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1810894401"/>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Loading Charges</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b="0" baseline="0">
                        <a:solidFill>
                          <a:schemeClr val="bg1"/>
                        </a:solidFill>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656633676"/>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Delivery to Port/Place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193181771"/>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Export Duty, Taxes &amp; Customs Clearance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050764917"/>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Origin Terminal Handling Charges</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831746732"/>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Loading on Carriage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3558222326"/>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Freight Charges</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4167738410"/>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Insurance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i="1"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baseline="0">
                        <a:solidFill>
                          <a:schemeClr val="tx1"/>
                        </a:solidFill>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a:latin typeface="Meiryo UI" panose="020B0604030504040204" pitchFamily="50" charset="-128"/>
                        <a:ea typeface="Meiryo UI" panose="020B0604030504040204" pitchFamily="50" charset="-128"/>
                      </a:endParaRPr>
                    </a:p>
                  </a:txBody>
                  <a:tcPr anchor="ctr">
                    <a:solidFill>
                      <a:srgbClr val="CCECFF"/>
                    </a:solidFill>
                  </a:tcPr>
                </a:tc>
                <a:tc>
                  <a:txBody>
                    <a:bodyPr/>
                    <a:lstStyle/>
                    <a:p>
                      <a:pPr algn="ctr"/>
                      <a:r>
                        <a:rPr kumimoji="1" lang="en-US" altLang="ja-JP" sz="800" b="0" i="1" baseline="0">
                          <a:solidFill>
                            <a:schemeClr val="tx1"/>
                          </a:solidFill>
                          <a:latin typeface="Meiryo UI" panose="020B0604030504040204" pitchFamily="50" charset="-128"/>
                          <a:ea typeface="Meiryo UI" panose="020B0604030504040204" pitchFamily="50" charset="-128"/>
                        </a:rPr>
                        <a:t>Negotiable</a:t>
                      </a:r>
                      <a:endParaRPr kumimoji="1" lang="ja-JP" altLang="en-US" sz="800">
                        <a:latin typeface="Meiryo UI" panose="020B0604030504040204" pitchFamily="50" charset="-128"/>
                        <a:ea typeface="Meiryo UI" panose="020B0604030504040204" pitchFamily="50" charset="-128"/>
                      </a:endParaRPr>
                    </a:p>
                  </a:txBody>
                  <a:tcPr anchor="ctr">
                    <a:solidFill>
                      <a:srgbClr val="CCECFF"/>
                    </a:solidFill>
                  </a:tcPr>
                </a:tc>
                <a:extLst>
                  <a:ext uri="{0D108BD9-81ED-4DB2-BD59-A6C34878D82A}">
                    <a16:rowId xmlns:a16="http://schemas.microsoft.com/office/drawing/2014/main" val="1066311665"/>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Destination Terminal Handling Charges</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2108217251"/>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Delivery to Destination</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1000">
                          <a:latin typeface="Meiryo UI" panose="020B0604030504040204" pitchFamily="50" charset="-128"/>
                          <a:ea typeface="Meiryo UI" panose="020B0604030504040204" pitchFamily="50" charset="-128"/>
                        </a:rPr>
                        <a:t>Exporter</a:t>
                      </a:r>
                      <a:endParaRPr kumimoji="1" lang="ja-JP" altLang="en-US" sz="10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488857796"/>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Unloading at Destination</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900" b="0" baseline="0">
                          <a:solidFill>
                            <a:schemeClr val="bg1"/>
                          </a:solidFill>
                          <a:latin typeface="Meiryo UI" panose="020B0604030504040204" pitchFamily="50" charset="-128"/>
                          <a:ea typeface="Meiryo UI" panose="020B0604030504040204" pitchFamily="50" charset="-128"/>
                        </a:rPr>
                        <a:t>Importer</a:t>
                      </a:r>
                      <a:endParaRPr kumimoji="1" lang="ja-JP" altLang="en-US" sz="9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extLst>
                  <a:ext uri="{0D108BD9-81ED-4DB2-BD59-A6C34878D82A}">
                    <a16:rowId xmlns:a16="http://schemas.microsoft.com/office/drawing/2014/main" val="3927177503"/>
                  </a:ext>
                </a:extLst>
              </a:tr>
              <a:tr h="324000">
                <a:tc>
                  <a:txBody>
                    <a:bodyPr/>
                    <a:lstStyle/>
                    <a:p>
                      <a:pPr algn="ctr"/>
                      <a:r>
                        <a:rPr kumimoji="1" lang="en-US" altLang="ja-JP" sz="800" b="1">
                          <a:latin typeface="Meiryo UI" panose="020B0604030504040204" pitchFamily="50" charset="-128"/>
                          <a:ea typeface="Meiryo UI" panose="020B0604030504040204" pitchFamily="50" charset="-128"/>
                        </a:rPr>
                        <a:t>Import Duty, Taxes &amp; Customs Clearance</a:t>
                      </a:r>
                      <a:endParaRPr kumimoji="1" lang="ja-JP" altLang="en-US" sz="800" b="1">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900" b="0" baseline="0">
                          <a:solidFill>
                            <a:schemeClr val="bg1"/>
                          </a:solidFill>
                          <a:latin typeface="Meiryo UI" panose="020B0604030504040204" pitchFamily="50" charset="-128"/>
                          <a:ea typeface="Meiryo UI" panose="020B0604030504040204" pitchFamily="50" charset="-128"/>
                        </a:rPr>
                        <a:t>Importer</a:t>
                      </a:r>
                      <a:endParaRPr kumimoji="1" lang="ja-JP" altLang="en-US" sz="9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b="0" baseline="0">
                          <a:solidFill>
                            <a:schemeClr val="bg1"/>
                          </a:solidFill>
                          <a:latin typeface="Meiryo UI" panose="020B0604030504040204" pitchFamily="50" charset="-128"/>
                          <a:ea typeface="Meiryo UI" panose="020B0604030504040204" pitchFamily="50" charset="-128"/>
                        </a:rPr>
                        <a:t>Importer</a:t>
                      </a:r>
                      <a:endParaRPr kumimoji="1" lang="ja-JP" altLang="en-US" sz="800">
                        <a:latin typeface="Meiryo UI" panose="020B0604030504040204" pitchFamily="50" charset="-128"/>
                        <a:ea typeface="Meiryo UI" panose="020B0604030504040204" pitchFamily="50" charset="-128"/>
                      </a:endParaRPr>
                    </a:p>
                  </a:txBody>
                  <a:tcPr anchor="ctr">
                    <a:solidFill>
                      <a:srgbClr val="0070C0"/>
                    </a:solidFill>
                  </a:tcPr>
                </a:tc>
                <a:tc>
                  <a:txBody>
                    <a:bodyPr/>
                    <a:lstStyle/>
                    <a:p>
                      <a:pPr algn="ctr"/>
                      <a:r>
                        <a:rPr kumimoji="1" lang="en-US" altLang="ja-JP" sz="800">
                          <a:latin typeface="Meiryo UI" panose="020B0604030504040204" pitchFamily="50" charset="-128"/>
                          <a:ea typeface="Meiryo UI" panose="020B0604030504040204" pitchFamily="50" charset="-128"/>
                        </a:rPr>
                        <a:t>Exporter</a:t>
                      </a:r>
                      <a:endParaRPr kumimoji="1" lang="ja-JP" altLang="en-US" sz="800">
                        <a:latin typeface="Meiryo UI" panose="020B0604030504040204" pitchFamily="50" charset="-128"/>
                        <a:ea typeface="Meiryo UI" panose="020B0604030504040204" pitchFamily="50" charset="-128"/>
                      </a:endParaRPr>
                    </a:p>
                  </a:txBody>
                  <a:tcPr anchor="ctr">
                    <a:solidFill>
                      <a:schemeClr val="bg1">
                        <a:lumMod val="75000"/>
                      </a:schemeClr>
                    </a:solidFill>
                  </a:tcPr>
                </a:tc>
                <a:extLst>
                  <a:ext uri="{0D108BD9-81ED-4DB2-BD59-A6C34878D82A}">
                    <a16:rowId xmlns:a16="http://schemas.microsoft.com/office/drawing/2014/main" val="2405247839"/>
                  </a:ext>
                </a:extLst>
              </a:tr>
            </a:tbl>
          </a:graphicData>
        </a:graphic>
      </p:graphicFrame>
      <p:sp>
        <p:nvSpPr>
          <p:cNvPr id="3" name="正方形/長方形 2">
            <a:extLst>
              <a:ext uri="{FF2B5EF4-FFF2-40B4-BE49-F238E27FC236}">
                <a16:creationId xmlns:a16="http://schemas.microsoft.com/office/drawing/2014/main" id="{EF906064-6892-4512-9086-6D0200D26CC7}"/>
              </a:ext>
            </a:extLst>
          </p:cNvPr>
          <p:cNvSpPr/>
          <p:nvPr/>
        </p:nvSpPr>
        <p:spPr bwMode="auto">
          <a:xfrm>
            <a:off x="7096663" y="1298464"/>
            <a:ext cx="735371" cy="5493812"/>
          </a:xfrm>
          <a:prstGeom prst="rect">
            <a:avLst/>
          </a:prstGeom>
          <a:noFill/>
          <a:ln w="60325" cap="flat" cmpd="sng" algn="ctr">
            <a:solidFill>
              <a:srgbClr val="FF00FF"/>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Times New Roman" pitchFamily="18" charset="0"/>
              <a:ea typeface="ＭＳ Ｐゴシック" pitchFamily="50" charset="-128"/>
            </a:endParaRPr>
          </a:p>
        </p:txBody>
      </p:sp>
    </p:spTree>
    <p:extLst>
      <p:ext uri="{BB962C8B-B14F-4D97-AF65-F5344CB8AC3E}">
        <p14:creationId xmlns:p14="http://schemas.microsoft.com/office/powerpoint/2010/main" val="42034564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211255376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870AC45E-26E5-4CE5-A251-15AFC20543FF}"/>
              </a:ext>
            </a:extLst>
          </p:cNvPr>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22. Development Schedule </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121" name="テキスト ボックス 120">
            <a:extLst>
              <a:ext uri="{FF2B5EF4-FFF2-40B4-BE49-F238E27FC236}">
                <a16:creationId xmlns:a16="http://schemas.microsoft.com/office/drawing/2014/main" id="{4D2D21A6-C26E-47E0-B227-80DCF293260D}"/>
              </a:ext>
            </a:extLst>
          </p:cNvPr>
          <p:cNvSpPr txBox="1"/>
          <p:nvPr/>
        </p:nvSpPr>
        <p:spPr>
          <a:xfrm>
            <a:off x="657651" y="6485274"/>
            <a:ext cx="4661474" cy="400110"/>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Times New Roman"/>
                <a:ea typeface="ＭＳ Ｐゴシック" charset="-128"/>
                <a:cs typeface="+mn-cs"/>
              </a:rPr>
              <a:t>Remark : Vehicles will be delivered to </a:t>
            </a:r>
            <a:r>
              <a:rPr kumimoji="1" lang="en-US" altLang="ja-JP" sz="1000" b="0" i="0" u="none" strike="noStrike" kern="1200" cap="none" spc="0" normalizeH="0" baseline="0" noProof="0">
                <a:ln>
                  <a:noFill/>
                </a:ln>
                <a:solidFill>
                  <a:srgbClr val="0000FF"/>
                </a:solidFill>
                <a:effectLst/>
                <a:uLnTx/>
                <a:uFillTx/>
                <a:latin typeface="Meiryo UI" panose="020B0604030504040204" pitchFamily="50" charset="-128"/>
                <a:ea typeface="Meiryo UI" panose="020B0604030504040204" pitchFamily="50" charset="-128"/>
                <a:cs typeface="Arial" pitchFamily="34" charset="0"/>
              </a:rPr>
              <a:t>Bosch</a:t>
            </a:r>
            <a:r>
              <a:rPr kumimoji="1" lang="en-US" altLang="ja-JP" sz="1000" b="0" i="0" u="none" strike="noStrike" kern="1200" cap="none" spc="0" normalizeH="0" baseline="0" noProof="0">
                <a:ln>
                  <a:noFill/>
                </a:ln>
                <a:solidFill>
                  <a:srgbClr val="000000"/>
                </a:solidFill>
                <a:effectLst/>
                <a:uLnTx/>
                <a:uFillTx/>
                <a:latin typeface="Times New Roman"/>
                <a:ea typeface="ＭＳ Ｐゴシック" charset="-128"/>
                <a:cs typeface="+mn-cs"/>
              </a:rPr>
              <a:t> in “ready for calibration state”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Times New Roman"/>
                <a:ea typeface="ＭＳ Ｐゴシック" charset="-128"/>
                <a:cs typeface="+mn-cs"/>
              </a:rPr>
              <a:t>備考：試験車両は適合業務が可能な状態で送付される事。</a:t>
            </a:r>
          </a:p>
        </p:txBody>
      </p:sp>
      <p:sp>
        <p:nvSpPr>
          <p:cNvPr id="155" name="テキスト ボックス 154">
            <a:extLst>
              <a:ext uri="{FF2B5EF4-FFF2-40B4-BE49-F238E27FC236}">
                <a16:creationId xmlns:a16="http://schemas.microsoft.com/office/drawing/2014/main" id="{71EE9FE2-048C-4864-8C24-9BE96F0C47E1}"/>
              </a:ext>
            </a:extLst>
          </p:cNvPr>
          <p:cNvSpPr txBox="1"/>
          <p:nvPr/>
        </p:nvSpPr>
        <p:spPr>
          <a:xfrm>
            <a:off x="90969" y="557200"/>
            <a:ext cx="2915816"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800" b="1" i="0" u="sng"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Milestone  Schedule</a:t>
            </a:r>
            <a:endParaRPr kumimoji="1" lang="ja-JP" altLang="en-US" sz="1800" b="1" i="0" u="sng"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6" name="ホームベース 226">
            <a:extLst>
              <a:ext uri="{FF2B5EF4-FFF2-40B4-BE49-F238E27FC236}">
                <a16:creationId xmlns:a16="http://schemas.microsoft.com/office/drawing/2014/main" id="{557DB773-E0ED-4E19-B6DA-A25F1AF89043}"/>
              </a:ext>
            </a:extLst>
          </p:cNvPr>
          <p:cNvSpPr/>
          <p:nvPr/>
        </p:nvSpPr>
        <p:spPr bwMode="auto">
          <a:xfrm rot="16200000">
            <a:off x="3494538" y="648601"/>
            <a:ext cx="282999" cy="165496"/>
          </a:xfrm>
          <a:prstGeom prst="homePlate">
            <a:avLst>
              <a:gd name="adj" fmla="val 75551"/>
            </a:avLst>
          </a:prstGeom>
          <a:solidFill>
            <a:srgbClr val="FFFF00"/>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rPr>
              <a:t>E</a:t>
            </a:r>
            <a:endParaRPr kumimoji="1" lang="ja-JP" altLang="en-US"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endParaRPr>
          </a:p>
        </p:txBody>
      </p:sp>
      <p:sp>
        <p:nvSpPr>
          <p:cNvPr id="157" name="ホームベース 227">
            <a:extLst>
              <a:ext uri="{FF2B5EF4-FFF2-40B4-BE49-F238E27FC236}">
                <a16:creationId xmlns:a16="http://schemas.microsoft.com/office/drawing/2014/main" id="{7BBE8634-423A-414D-B685-45FB70C5BE1F}"/>
              </a:ext>
            </a:extLst>
          </p:cNvPr>
          <p:cNvSpPr/>
          <p:nvPr/>
        </p:nvSpPr>
        <p:spPr bwMode="auto">
          <a:xfrm rot="16200000">
            <a:off x="5654778" y="667319"/>
            <a:ext cx="282999" cy="165496"/>
          </a:xfrm>
          <a:prstGeom prst="homePlate">
            <a:avLst>
              <a:gd name="adj" fmla="val 75551"/>
            </a:avLst>
          </a:prstGeom>
          <a:solidFill>
            <a:srgbClr val="00FFFF"/>
          </a:solidFill>
          <a:ln w="9525" cap="flat" cmpd="sng" algn="ctr">
            <a:solidFill>
              <a:schemeClr val="tx1"/>
            </a:solidFill>
            <a:prstDash val="solid"/>
            <a:round/>
            <a:headEnd type="none" w="med" len="med"/>
            <a:tailEnd type="none" w="med" len="med"/>
          </a:ln>
          <a:effectLst/>
        </p:spPr>
        <p:txBody>
          <a:bodyPr vert="vert"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rPr>
              <a:t>JV</a:t>
            </a:r>
            <a:endParaRPr kumimoji="1" lang="ja-JP" altLang="en-US" sz="1200" b="1" i="0" u="none" strike="noStrike" kern="1200" cap="none" spc="0" normalizeH="0" baseline="0" noProof="0">
              <a:ln>
                <a:noFill/>
              </a:ln>
              <a:solidFill>
                <a:srgbClr val="000000"/>
              </a:solidFill>
              <a:effectLst/>
              <a:uLnTx/>
              <a:uFillTx/>
              <a:latin typeface="Arial Narrow" pitchFamily="34" charset="0"/>
              <a:ea typeface="ＭＳ Ｐゴシック" pitchFamily="50" charset="-128"/>
              <a:cs typeface="+mn-cs"/>
            </a:endParaRPr>
          </a:p>
        </p:txBody>
      </p:sp>
      <p:sp>
        <p:nvSpPr>
          <p:cNvPr id="158" name="正方形/長方形 157">
            <a:extLst>
              <a:ext uri="{FF2B5EF4-FFF2-40B4-BE49-F238E27FC236}">
                <a16:creationId xmlns:a16="http://schemas.microsoft.com/office/drawing/2014/main" id="{F3DC1EED-41C5-459E-9665-F1798FEAB482}"/>
              </a:ext>
            </a:extLst>
          </p:cNvPr>
          <p:cNvSpPr/>
          <p:nvPr/>
        </p:nvSpPr>
        <p:spPr bwMode="auto">
          <a:xfrm>
            <a:off x="3671286" y="673232"/>
            <a:ext cx="1870435" cy="186984"/>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EMS</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sheet</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verification</a:t>
            </a:r>
            <a:endPar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9" name="正方形/長方形 158">
            <a:extLst>
              <a:ext uri="{FF2B5EF4-FFF2-40B4-BE49-F238E27FC236}">
                <a16:creationId xmlns:a16="http://schemas.microsoft.com/office/drawing/2014/main" id="{4D246961-9F16-4705-B95F-07F001A93617}"/>
              </a:ext>
            </a:extLst>
          </p:cNvPr>
          <p:cNvSpPr/>
          <p:nvPr/>
        </p:nvSpPr>
        <p:spPr bwMode="auto">
          <a:xfrm>
            <a:off x="5812779" y="686596"/>
            <a:ext cx="2310343" cy="180963"/>
          </a:xfrm>
          <a:prstGeom prst="rect">
            <a:avLst/>
          </a:prstGeom>
          <a:no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Joint</a:t>
            </a:r>
            <a:r>
              <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verification(Calibration)</a:t>
            </a:r>
            <a:endParaRPr kumimoji="1" lang="ja-JP" altLang="en-US"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pic>
        <p:nvPicPr>
          <p:cNvPr id="10" name="図 9">
            <a:extLst>
              <a:ext uri="{FF2B5EF4-FFF2-40B4-BE49-F238E27FC236}">
                <a16:creationId xmlns:a16="http://schemas.microsoft.com/office/drawing/2014/main" id="{A95356CA-978C-7FD5-3685-8FD86658089F}"/>
              </a:ext>
            </a:extLst>
          </p:cNvPr>
          <p:cNvPicPr>
            <a:picLocks noChangeAspect="1"/>
          </p:cNvPicPr>
          <p:nvPr/>
        </p:nvPicPr>
        <p:blipFill rotWithShape="1">
          <a:blip r:embed="rId2"/>
          <a:srcRect b="12679"/>
          <a:stretch/>
        </p:blipFill>
        <p:spPr>
          <a:xfrm>
            <a:off x="113646" y="1367752"/>
            <a:ext cx="8916707" cy="3945384"/>
          </a:xfrm>
          <a:prstGeom prst="rect">
            <a:avLst/>
          </a:prstGeom>
        </p:spPr>
      </p:pic>
    </p:spTree>
    <p:extLst>
      <p:ext uri="{BB962C8B-B14F-4D97-AF65-F5344CB8AC3E}">
        <p14:creationId xmlns:p14="http://schemas.microsoft.com/office/powerpoint/2010/main" val="304094435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720E7E8-CB04-B7E1-9674-9C95A177DB34}"/>
              </a:ext>
            </a:extLst>
          </p:cNvPr>
          <p:cNvPicPr>
            <a:picLocks noChangeAspect="1"/>
          </p:cNvPicPr>
          <p:nvPr/>
        </p:nvPicPr>
        <p:blipFill>
          <a:blip r:embed="rId2"/>
          <a:stretch>
            <a:fillRect/>
          </a:stretch>
        </p:blipFill>
        <p:spPr>
          <a:xfrm>
            <a:off x="6174074" y="3150182"/>
            <a:ext cx="2825175" cy="1592442"/>
          </a:xfrm>
          <a:prstGeom prst="rect">
            <a:avLst/>
          </a:prstGeom>
        </p:spPr>
      </p:pic>
      <p:sp>
        <p:nvSpPr>
          <p:cNvPr id="4" name="Text Box 2">
            <a:extLst>
              <a:ext uri="{FF2B5EF4-FFF2-40B4-BE49-F238E27FC236}">
                <a16:creationId xmlns:a16="http://schemas.microsoft.com/office/drawing/2014/main" id="{91F5BF2C-CCE6-A06C-2FFA-5A0F5F80ED89}"/>
              </a:ext>
            </a:extLst>
          </p:cNvPr>
          <p:cNvSpPr txBox="1">
            <a:spLocks noChangeArrowheads="1"/>
          </p:cNvSpPr>
          <p:nvPr/>
        </p:nvSpPr>
        <p:spPr bwMode="auto">
          <a:xfrm>
            <a:off x="71882" y="591013"/>
            <a:ext cx="9072122" cy="2306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600" b="1" i="0" u="sng" strike="noStrike" kern="1200" cap="none" spc="0" normalizeH="0" baseline="0" noProof="0">
                <a:ln>
                  <a:noFill/>
                </a:ln>
                <a:effectLst/>
                <a:uLnTx/>
                <a:uFillTx/>
                <a:latin typeface="Meiryo UI" panose="020B0604030504040204" pitchFamily="50" charset="-128"/>
                <a:ea typeface="Meiryo UI" panose="020B0604030504040204" pitchFamily="50" charset="-128"/>
              </a:rPr>
              <a:t>Honda-Bosch Emission</a:t>
            </a:r>
            <a:r>
              <a:rPr kumimoji="1" lang="ja-JP" altLang="en-US" sz="1600" b="1" i="0" u="sng" strike="noStrike" kern="1200" cap="none" spc="0" normalizeH="0" baseline="0" noProof="0">
                <a:ln>
                  <a:noFill/>
                </a:ln>
                <a:effectLst/>
                <a:uLnTx/>
                <a:uFillTx/>
                <a:latin typeface="Meiryo UI" panose="020B0604030504040204" pitchFamily="50" charset="-128"/>
                <a:ea typeface="Meiryo UI" panose="020B0604030504040204" pitchFamily="50" charset="-128"/>
              </a:rPr>
              <a:t>検証プロセスの紐づけ</a:t>
            </a:r>
          </a:p>
          <a:p>
            <a:pPr marL="466362" lvl="1" algn="l" eaLnBrk="1" hangingPunct="1">
              <a:lnSpc>
                <a:spcPct val="110000"/>
              </a:lnSpc>
              <a:spcBef>
                <a:spcPts val="600"/>
              </a:spcBef>
              <a:buFont typeface="Arial" panose="020B0604020202020204" pitchFamily="34" charset="0"/>
              <a:buChar char="•"/>
              <a:defRPr/>
            </a:pPr>
            <a:r>
              <a:rPr lang="ja-JP" altLang="en-US" sz="1400">
                <a:latin typeface="Meiryo UI" panose="020B0604030504040204" pitchFamily="50" charset="-128"/>
                <a:ea typeface="Meiryo UI" panose="020B0604030504040204" pitchFamily="50" charset="-128"/>
              </a:rPr>
              <a:t>開発開始前にお互いの開発</a:t>
            </a:r>
            <a:r>
              <a:rPr lang="en-US" altLang="ja-JP" sz="1400">
                <a:latin typeface="Meiryo UI" panose="020B0604030504040204" pitchFamily="50" charset="-128"/>
                <a:ea typeface="Meiryo UI" panose="020B0604030504040204" pitchFamily="50" charset="-128"/>
              </a:rPr>
              <a:t>event</a:t>
            </a:r>
            <a:r>
              <a:rPr lang="ja-JP" altLang="en-US" sz="1400">
                <a:latin typeface="Meiryo UI" panose="020B0604030504040204" pitchFamily="50" charset="-128"/>
                <a:ea typeface="Meiryo UI" panose="020B0604030504040204" pitchFamily="50" charset="-128"/>
              </a:rPr>
              <a:t>の紐づけを行い、両者で開発日程を合意すること。もし、お互いの開発</a:t>
            </a:r>
            <a:r>
              <a:rPr lang="en-US" altLang="ja-JP" sz="1400">
                <a:latin typeface="Meiryo UI" panose="020B0604030504040204" pitchFamily="50" charset="-128"/>
                <a:ea typeface="Meiryo UI" panose="020B0604030504040204" pitchFamily="50" charset="-128"/>
              </a:rPr>
              <a:t>event</a:t>
            </a:r>
            <a:r>
              <a:rPr lang="ja-JP" altLang="en-US" sz="1400">
                <a:latin typeface="Meiryo UI" panose="020B0604030504040204" pitchFamily="50" charset="-128"/>
                <a:ea typeface="Meiryo UI" panose="020B0604030504040204" pitchFamily="50" charset="-128"/>
              </a:rPr>
              <a:t>や開発実日程のずれが判明した際は、両者協力のもと</a:t>
            </a:r>
            <a:r>
              <a:rPr lang="en-US" altLang="ja-JP" sz="1400">
                <a:latin typeface="Meiryo UI" panose="020B0604030504040204" pitchFamily="50" charset="-128"/>
                <a:ea typeface="Meiryo UI" panose="020B0604030504040204" pitchFamily="50" charset="-128"/>
              </a:rPr>
              <a:t>Event</a:t>
            </a:r>
            <a:r>
              <a:rPr lang="ja-JP" altLang="en-US" sz="1400">
                <a:latin typeface="Meiryo UI" panose="020B0604030504040204" pitchFamily="50" charset="-128"/>
                <a:ea typeface="Meiryo UI" panose="020B0604030504040204" pitchFamily="50" charset="-128"/>
              </a:rPr>
              <a:t>日程や</a:t>
            </a:r>
            <a:r>
              <a:rPr lang="en-US" altLang="ja-JP" sz="1400">
                <a:latin typeface="Meiryo UI" panose="020B0604030504040204" pitchFamily="50" charset="-128"/>
                <a:ea typeface="Meiryo UI" panose="020B0604030504040204" pitchFamily="50" charset="-128"/>
              </a:rPr>
              <a:t>EM</a:t>
            </a:r>
            <a:r>
              <a:rPr lang="ja-JP" altLang="en-US" sz="1400">
                <a:latin typeface="Meiryo UI" panose="020B0604030504040204" pitchFamily="50" charset="-128"/>
                <a:ea typeface="Meiryo UI" panose="020B0604030504040204" pitchFamily="50" charset="-128"/>
              </a:rPr>
              <a:t>評価日程のすり合わせを行うこと。</a:t>
            </a:r>
            <a:endParaRPr lang="en-US" altLang="ja-JP" sz="1400">
              <a:latin typeface="Meiryo UI" panose="020B0604030504040204" pitchFamily="50" charset="-128"/>
              <a:ea typeface="Meiryo UI" panose="020B0604030504040204" pitchFamily="50" charset="-128"/>
            </a:endParaRPr>
          </a:p>
          <a:p>
            <a:pPr marL="466362" lvl="1" algn="l" eaLnBrk="1" hangingPunct="1">
              <a:lnSpc>
                <a:spcPct val="110000"/>
              </a:lnSpc>
              <a:spcBef>
                <a:spcPts val="600"/>
              </a:spcBef>
              <a:buFont typeface="Arial" panose="020B0604020202020204" pitchFamily="34" charset="0"/>
              <a:buChar char="•"/>
              <a:defRPr/>
            </a:pPr>
            <a:r>
              <a:rPr lang="ja-JP" altLang="en-US" sz="1400">
                <a:latin typeface="Meiryo UI" panose="020B0604030504040204" pitchFamily="50" charset="-128"/>
                <a:ea typeface="Meiryo UI" panose="020B0604030504040204" pitchFamily="50" charset="-128"/>
              </a:rPr>
              <a:t>下表は紐づけが必要な主な</a:t>
            </a:r>
            <a:r>
              <a:rPr lang="en-US" altLang="ja-JP" sz="1400">
                <a:latin typeface="Meiryo UI" panose="020B0604030504040204" pitchFamily="50" charset="-128"/>
                <a:ea typeface="Meiryo UI" panose="020B0604030504040204" pitchFamily="50" charset="-128"/>
              </a:rPr>
              <a:t>event</a:t>
            </a:r>
            <a:r>
              <a:rPr lang="ja-JP" altLang="en-US" sz="1400">
                <a:latin typeface="Meiryo UI" panose="020B0604030504040204" pitchFamily="50" charset="-128"/>
                <a:ea typeface="Meiryo UI" panose="020B0604030504040204" pitchFamily="50" charset="-128"/>
              </a:rPr>
              <a:t>である。両者で</a:t>
            </a:r>
            <a:r>
              <a:rPr lang="en-US" altLang="ja-JP" sz="1400">
                <a:latin typeface="Meiryo UI" panose="020B0604030504040204" pitchFamily="50" charset="-128"/>
                <a:ea typeface="Meiryo UI" panose="020B0604030504040204" pitchFamily="50" charset="-128"/>
              </a:rPr>
              <a:t>EM</a:t>
            </a:r>
            <a:r>
              <a:rPr lang="ja-JP" altLang="en-US" sz="1400">
                <a:latin typeface="Meiryo UI" panose="020B0604030504040204" pitchFamily="50" charset="-128"/>
                <a:ea typeface="Meiryo UI" panose="020B0604030504040204" pitchFamily="50" charset="-128"/>
              </a:rPr>
              <a:t>結果についてアセスメントのうえ</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イベント前に報告内容を整合し、議事録に残すこと。もし両者認識に相違があり担当間での摺合せが困難な場合は、</a:t>
            </a:r>
            <a:r>
              <a:rPr lang="en-US" altLang="ja-JP" sz="1400">
                <a:latin typeface="Meiryo UI" panose="020B0604030504040204" pitchFamily="50" charset="-128"/>
                <a:ea typeface="Meiryo UI" panose="020B0604030504040204" pitchFamily="50" charset="-128"/>
              </a:rPr>
              <a:t>EM expert(CE/</a:t>
            </a:r>
            <a:r>
              <a:rPr lang="en-US" altLang="ja-JP" sz="1400" err="1">
                <a:latin typeface="Meiryo UI" panose="020B0604030504040204" pitchFamily="50" charset="-128"/>
                <a:ea typeface="Meiryo UI" panose="020B0604030504040204" pitchFamily="50" charset="-128"/>
              </a:rPr>
              <a:t>Mgr</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を交えて整合を行い、必要に応じて上位者の判断を求めること。</a:t>
            </a: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添付</a:t>
            </a:r>
            <a:r>
              <a:rPr lang="en-US" altLang="ja-JP" sz="1400">
                <a:latin typeface="Meiryo UI" panose="020B0604030504040204" pitchFamily="50" charset="-128"/>
                <a:ea typeface="Meiryo UI" panose="020B0604030504040204" pitchFamily="50" charset="-128"/>
              </a:rPr>
              <a:t>Escalation path</a:t>
            </a:r>
            <a:r>
              <a:rPr lang="ja-JP" altLang="en-US" sz="1400">
                <a:latin typeface="Meiryo UI" panose="020B0604030504040204" pitchFamily="50" charset="-128"/>
                <a:ea typeface="Meiryo UI" panose="020B0604030504040204" pitchFamily="50" charset="-128"/>
              </a:rPr>
              <a:t>参照</a:t>
            </a:r>
            <a:r>
              <a:rPr lang="en-US" altLang="ja-JP" sz="1400">
                <a:latin typeface="Meiryo UI" panose="020B0604030504040204" pitchFamily="50" charset="-128"/>
                <a:ea typeface="Meiryo UI" panose="020B0604030504040204" pitchFamily="50" charset="-128"/>
              </a:rPr>
              <a:t>)</a:t>
            </a:r>
          </a:p>
          <a:p>
            <a:pPr marL="580662" lvl="2" indent="0" algn="l" eaLnBrk="1" hangingPunct="1">
              <a:lnSpc>
                <a:spcPct val="110000"/>
              </a:lnSpc>
              <a:spcBef>
                <a:spcPts val="600"/>
              </a:spcBef>
              <a:defRPr/>
            </a:pPr>
            <a:r>
              <a:rPr lang="ja-JP" altLang="en-US" sz="1400">
                <a:latin typeface="Meiryo UI" panose="020B0604030504040204" pitchFamily="50" charset="-128"/>
                <a:ea typeface="Meiryo UI" panose="020B0604030504040204" pitchFamily="50" charset="-128"/>
              </a:rPr>
              <a:t>例</a:t>
            </a:r>
            <a:r>
              <a:rPr lang="en-US" altLang="ja-JP" sz="1400">
                <a:latin typeface="Meiryo UI" panose="020B0604030504040204" pitchFamily="50" charset="-128"/>
                <a:ea typeface="Meiryo UI" panose="020B0604030504040204" pitchFamily="50" charset="-128"/>
              </a:rPr>
              <a:t>. ET</a:t>
            </a:r>
            <a:r>
              <a:rPr lang="ja-JP" altLang="en-US" sz="1400">
                <a:latin typeface="Meiryo UI" panose="020B0604030504040204" pitchFamily="50" charset="-128"/>
                <a:ea typeface="Meiryo UI" panose="020B0604030504040204" pitchFamily="50" charset="-128"/>
              </a:rPr>
              <a:t>達成にあたり</a:t>
            </a:r>
            <a:r>
              <a:rPr lang="en-US" altLang="ja-JP" sz="1400">
                <a:latin typeface="Meiryo UI" panose="020B0604030504040204" pitchFamily="50" charset="-128"/>
                <a:ea typeface="Meiryo UI" panose="020B0604030504040204" pitchFamily="50" charset="-128"/>
              </a:rPr>
              <a:t>HW</a:t>
            </a:r>
            <a:r>
              <a:rPr lang="ja-JP" altLang="en-US" sz="1400">
                <a:latin typeface="Meiryo UI" panose="020B0604030504040204" pitchFamily="50" charset="-128"/>
                <a:ea typeface="Meiryo UI" panose="020B0604030504040204" pitchFamily="50" charset="-128"/>
              </a:rPr>
              <a:t>変更要否の判断が異なる。</a:t>
            </a:r>
            <a:r>
              <a:rPr lang="en-US" altLang="ja-JP" sz="1400">
                <a:latin typeface="Meiryo UI" panose="020B0604030504040204" pitchFamily="50" charset="-128"/>
                <a:ea typeface="Meiryo UI" panose="020B0604030504040204" pitchFamily="50" charset="-128"/>
              </a:rPr>
              <a:t>(Honda-</a:t>
            </a:r>
            <a:r>
              <a:rPr lang="ja-JP" altLang="en-US" sz="1400">
                <a:latin typeface="Meiryo UI" panose="020B0604030504040204" pitchFamily="50" charset="-128"/>
                <a:ea typeface="Meiryo UI" panose="020B0604030504040204" pitchFamily="50" charset="-128"/>
              </a:rPr>
              <a:t>適合対策で達成可。</a:t>
            </a:r>
            <a:r>
              <a:rPr lang="en-US" altLang="ja-JP" sz="1400">
                <a:latin typeface="Meiryo UI" panose="020B0604030504040204" pitchFamily="50" charset="-128"/>
                <a:ea typeface="Meiryo UI" panose="020B0604030504040204" pitchFamily="50" charset="-128"/>
              </a:rPr>
              <a:t>Bosch-HW</a:t>
            </a:r>
            <a:r>
              <a:rPr lang="ja-JP" altLang="en-US" sz="1400">
                <a:latin typeface="Meiryo UI" panose="020B0604030504040204" pitchFamily="50" charset="-128"/>
                <a:ea typeface="Meiryo UI" panose="020B0604030504040204" pitchFamily="50" charset="-128"/>
              </a:rPr>
              <a:t>変更が必要</a:t>
            </a:r>
            <a:r>
              <a:rPr lang="en-US" altLang="ja-JP" sz="1400">
                <a:latin typeface="Meiryo UI" panose="020B0604030504040204" pitchFamily="50" charset="-128"/>
                <a:ea typeface="Meiryo UI" panose="020B0604030504040204" pitchFamily="50" charset="-128"/>
              </a:rPr>
              <a:t>)</a:t>
            </a:r>
          </a:p>
          <a:p>
            <a:pPr marL="180612" lvl="1" indent="0" algn="l" eaLnBrk="1" hangingPunct="1">
              <a:lnSpc>
                <a:spcPct val="110000"/>
              </a:lnSpc>
              <a:spcBef>
                <a:spcPts val="600"/>
              </a:spcBef>
              <a:defRPr/>
            </a:pPr>
            <a:endParaRPr lang="en-US" altLang="ja-JP" sz="1400">
              <a:latin typeface="Meiryo UI" panose="020B0604030504040204" pitchFamily="50" charset="-128"/>
              <a:ea typeface="Meiryo UI" panose="020B0604030504040204" pitchFamily="50" charset="-128"/>
            </a:endParaRPr>
          </a:p>
        </p:txBody>
      </p:sp>
      <p:sp>
        <p:nvSpPr>
          <p:cNvPr id="5" name="Text Box 2">
            <a:extLst>
              <a:ext uri="{FF2B5EF4-FFF2-40B4-BE49-F238E27FC236}">
                <a16:creationId xmlns:a16="http://schemas.microsoft.com/office/drawing/2014/main" id="{FEB6CBC1-D914-A3C4-613A-F64584AE9365}"/>
              </a:ext>
            </a:extLst>
          </p:cNvPr>
          <p:cNvSpPr txBox="1">
            <a:spLocks noChangeArrowheads="1"/>
          </p:cNvSpPr>
          <p:nvPr/>
        </p:nvSpPr>
        <p:spPr bwMode="auto">
          <a:xfrm>
            <a:off x="250829"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22. Development schedule</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graphicFrame>
        <p:nvGraphicFramePr>
          <p:cNvPr id="6" name="表 6">
            <a:extLst>
              <a:ext uri="{FF2B5EF4-FFF2-40B4-BE49-F238E27FC236}">
                <a16:creationId xmlns:a16="http://schemas.microsoft.com/office/drawing/2014/main" id="{46825876-E27B-ACAB-0927-9608100507A4}"/>
              </a:ext>
            </a:extLst>
          </p:cNvPr>
          <p:cNvGraphicFramePr>
            <a:graphicFrameLocks noGrp="1"/>
          </p:cNvGraphicFramePr>
          <p:nvPr/>
        </p:nvGraphicFramePr>
        <p:xfrm>
          <a:off x="232582" y="2783747"/>
          <a:ext cx="5776904" cy="3824059"/>
        </p:xfrm>
        <a:graphic>
          <a:graphicData uri="http://schemas.openxmlformats.org/drawingml/2006/table">
            <a:tbl>
              <a:tblPr firstRow="1" bandRow="1">
                <a:tableStyleId>{93296810-A885-4BE3-A3E7-6D5BEEA58F35}</a:tableStyleId>
              </a:tblPr>
              <a:tblGrid>
                <a:gridCol w="212714">
                  <a:extLst>
                    <a:ext uri="{9D8B030D-6E8A-4147-A177-3AD203B41FA5}">
                      <a16:colId xmlns:a16="http://schemas.microsoft.com/office/drawing/2014/main" val="4022077070"/>
                    </a:ext>
                  </a:extLst>
                </a:gridCol>
                <a:gridCol w="1021058">
                  <a:extLst>
                    <a:ext uri="{9D8B030D-6E8A-4147-A177-3AD203B41FA5}">
                      <a16:colId xmlns:a16="http://schemas.microsoft.com/office/drawing/2014/main" val="2859626279"/>
                    </a:ext>
                  </a:extLst>
                </a:gridCol>
                <a:gridCol w="691344">
                  <a:extLst>
                    <a:ext uri="{9D8B030D-6E8A-4147-A177-3AD203B41FA5}">
                      <a16:colId xmlns:a16="http://schemas.microsoft.com/office/drawing/2014/main" val="3244604716"/>
                    </a:ext>
                  </a:extLst>
                </a:gridCol>
                <a:gridCol w="691344">
                  <a:extLst>
                    <a:ext uri="{9D8B030D-6E8A-4147-A177-3AD203B41FA5}">
                      <a16:colId xmlns:a16="http://schemas.microsoft.com/office/drawing/2014/main" val="3795177726"/>
                    </a:ext>
                  </a:extLst>
                </a:gridCol>
                <a:gridCol w="1580222">
                  <a:extLst>
                    <a:ext uri="{9D8B030D-6E8A-4147-A177-3AD203B41FA5}">
                      <a16:colId xmlns:a16="http://schemas.microsoft.com/office/drawing/2014/main" val="3675534990"/>
                    </a:ext>
                  </a:extLst>
                </a:gridCol>
                <a:gridCol w="1580222">
                  <a:extLst>
                    <a:ext uri="{9D8B030D-6E8A-4147-A177-3AD203B41FA5}">
                      <a16:colId xmlns:a16="http://schemas.microsoft.com/office/drawing/2014/main" val="3265794884"/>
                    </a:ext>
                  </a:extLst>
                </a:gridCol>
              </a:tblGrid>
              <a:tr h="574664">
                <a:tc>
                  <a:txBody>
                    <a:bodyPr/>
                    <a:lstStyle/>
                    <a:p>
                      <a:endParaRPr kumimoji="1" lang="ja-JP" altLang="en-US" sz="1100">
                        <a:latin typeface="Meiryo UI" panose="020B0604030504040204" pitchFamily="50" charset="-128"/>
                        <a:ea typeface="Meiryo UI" panose="020B0604030504040204" pitchFamily="50" charset="-128"/>
                      </a:endParaRPr>
                    </a:p>
                  </a:txBody>
                  <a:tcPr/>
                </a:tc>
                <a:tc>
                  <a:txBody>
                    <a:bodyPr/>
                    <a:lstStyle/>
                    <a:p>
                      <a:pPr algn="ctr"/>
                      <a:r>
                        <a:rPr kumimoji="1" lang="ja-JP" altLang="en-US" sz="1100">
                          <a:latin typeface="Meiryo UI" panose="020B0604030504040204" pitchFamily="50" charset="-128"/>
                          <a:ea typeface="Meiryo UI" panose="020B0604030504040204" pitchFamily="50" charset="-128"/>
                        </a:rPr>
                        <a:t>項目</a:t>
                      </a: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Bosch event</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sz="1100">
                          <a:latin typeface="Meiryo UI" panose="020B0604030504040204" pitchFamily="50" charset="-128"/>
                          <a:ea typeface="Meiryo UI" panose="020B0604030504040204" pitchFamily="50" charset="-128"/>
                        </a:rPr>
                        <a:t>Honda event</a:t>
                      </a:r>
                      <a:endParaRPr kumimoji="1" lang="ja-JP" altLang="en-US" sz="110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sz="1100">
                          <a:latin typeface="Meiryo UI" panose="020B0604030504040204" pitchFamily="50" charset="-128"/>
                          <a:ea typeface="Meiryo UI" panose="020B0604030504040204" pitchFamily="50" charset="-128"/>
                        </a:rPr>
                        <a:t>目的</a:t>
                      </a:r>
                    </a:p>
                  </a:txBody>
                  <a:tcPr anchor="ctr"/>
                </a:tc>
                <a:tc>
                  <a:txBody>
                    <a:bodyPr/>
                    <a:lstStyle/>
                    <a:p>
                      <a:pPr algn="ctr"/>
                      <a:r>
                        <a:rPr kumimoji="1" lang="ja-JP" altLang="en-US" sz="1100">
                          <a:latin typeface="Meiryo UI" panose="020B0604030504040204" pitchFamily="50" charset="-128"/>
                          <a:ea typeface="Meiryo UI" panose="020B0604030504040204" pitchFamily="50" charset="-128"/>
                        </a:rPr>
                        <a:t>備考</a:t>
                      </a:r>
                    </a:p>
                  </a:txBody>
                  <a:tcPr anchor="ctr"/>
                </a:tc>
                <a:extLst>
                  <a:ext uri="{0D108BD9-81ED-4DB2-BD59-A6C34878D82A}">
                    <a16:rowId xmlns:a16="http://schemas.microsoft.com/office/drawing/2014/main" val="2697966254"/>
                  </a:ext>
                </a:extLst>
              </a:tr>
              <a:tr h="988993">
                <a:tc>
                  <a:txBody>
                    <a:bodyPr/>
                    <a:lstStyle/>
                    <a:p>
                      <a:r>
                        <a:rPr kumimoji="1" lang="en-US" altLang="ja-JP" sz="1100">
                          <a:latin typeface="Meiryo UI" panose="020B0604030504040204" pitchFamily="50" charset="-128"/>
                          <a:ea typeface="Meiryo UI" panose="020B0604030504040204" pitchFamily="50" charset="-128"/>
                        </a:rPr>
                        <a:t>1</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フィジビリティ事前検証</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a:latin typeface="Meiryo UI" panose="020B0604030504040204" pitchFamily="50" charset="-128"/>
                          <a:ea typeface="Meiryo UI" panose="020B0604030504040204" pitchFamily="50" charset="-128"/>
                        </a:rPr>
                        <a:t>PFA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a:latin typeface="Meiryo UI" panose="020B0604030504040204" pitchFamily="50" charset="-128"/>
                          <a:ea typeface="Meiryo UI" panose="020B0604030504040204" pitchFamily="50" charset="-128"/>
                        </a:rPr>
                        <a:t>(SoW</a:t>
                      </a:r>
                      <a:r>
                        <a:rPr kumimoji="1" lang="ja-JP" altLang="en-US" sz="1100">
                          <a:latin typeface="Meiryo UI" panose="020B0604030504040204" pitchFamily="50" charset="-128"/>
                          <a:ea typeface="Meiryo UI" panose="020B0604030504040204" pitchFamily="50" charset="-128"/>
                        </a:rPr>
                        <a:t>提出前</a:t>
                      </a:r>
                      <a:r>
                        <a:rPr kumimoji="1" lang="en-US" altLang="ja-JP" sz="1100">
                          <a:latin typeface="Meiryo UI" panose="020B0604030504040204" pitchFamily="50" charset="-128"/>
                          <a:ea typeface="Meiryo UI" panose="020B0604030504040204" pitchFamily="50" charset="-128"/>
                        </a:rPr>
                        <a:t>)</a:t>
                      </a:r>
                    </a:p>
                  </a:txBody>
                  <a:tcPr/>
                </a:tc>
                <a:tc>
                  <a:txBody>
                    <a:bodyPr/>
                    <a:lstStyle/>
                    <a:p>
                      <a:r>
                        <a:rPr kumimoji="1" lang="en-US" altLang="ja-JP" sz="1100" err="1">
                          <a:latin typeface="Meiryo UI" panose="020B0604030504040204" pitchFamily="50" charset="-128"/>
                          <a:ea typeface="Meiryo UI" panose="020B0604030504040204" pitchFamily="50" charset="-128"/>
                        </a:rPr>
                        <a:t>KoM</a:t>
                      </a:r>
                      <a:r>
                        <a:rPr kumimoji="1" lang="en-US" altLang="ja-JP" sz="1100">
                          <a:latin typeface="Meiryo UI" panose="020B0604030504040204" pitchFamily="50" charset="-128"/>
                          <a:ea typeface="Meiryo UI" panose="020B0604030504040204" pitchFamily="50" charset="-128"/>
                        </a:rPr>
                        <a:t>-</a:t>
                      </a:r>
                      <a:r>
                        <a:rPr kumimoji="1" lang="ja-JP" altLang="en-US" sz="1100">
                          <a:latin typeface="Meiryo UI" panose="020B0604030504040204" pitchFamily="50" charset="-128"/>
                          <a:ea typeface="Meiryo UI" panose="020B0604030504040204" pitchFamily="50" charset="-128"/>
                        </a:rPr>
                        <a:t>契約</a:t>
                      </a:r>
                    </a:p>
                  </a:txBody>
                  <a:tcPr/>
                </a:tc>
                <a:tc>
                  <a:txBody>
                    <a:bodyPr/>
                    <a:lstStyle/>
                    <a:p>
                      <a:r>
                        <a:rPr kumimoji="1" lang="en-US" altLang="ja-JP" sz="1100">
                          <a:latin typeface="Meiryo UI" panose="020B0604030504040204" pitchFamily="50" charset="-128"/>
                          <a:ea typeface="Meiryo UI" panose="020B0604030504040204" pitchFamily="50" charset="-128"/>
                        </a:rPr>
                        <a:t>EM</a:t>
                      </a:r>
                      <a:r>
                        <a:rPr kumimoji="1" lang="ja-JP" altLang="en-US" sz="1100">
                          <a:latin typeface="Meiryo UI" panose="020B0604030504040204" pitchFamily="50" charset="-128"/>
                          <a:ea typeface="Meiryo UI" panose="020B0604030504040204" pitchFamily="50" charset="-128"/>
                        </a:rPr>
                        <a:t>規制値</a:t>
                      </a:r>
                      <a:r>
                        <a:rPr kumimoji="1" lang="en-US" altLang="ja-JP" sz="1100">
                          <a:latin typeface="Meiryo UI" panose="020B0604030504040204" pitchFamily="50" charset="-128"/>
                          <a:ea typeface="Meiryo UI" panose="020B0604030504040204" pitchFamily="50" charset="-128"/>
                        </a:rPr>
                        <a:t>(ET)</a:t>
                      </a:r>
                      <a:r>
                        <a:rPr kumimoji="1" lang="ja-JP" altLang="en-US" sz="1100">
                          <a:latin typeface="Meiryo UI" panose="020B0604030504040204" pitchFamily="50" charset="-128"/>
                          <a:ea typeface="Meiryo UI" panose="020B0604030504040204" pitchFamily="50" charset="-128"/>
                        </a:rPr>
                        <a:t>を満足しうる</a:t>
                      </a:r>
                      <a:r>
                        <a:rPr kumimoji="1" lang="en-US" altLang="ja-JP" sz="1100" err="1">
                          <a:latin typeface="Meiryo UI" panose="020B0604030504040204" pitchFamily="50" charset="-128"/>
                          <a:ea typeface="Meiryo UI" panose="020B0604030504040204" pitchFamily="50" charset="-128"/>
                        </a:rPr>
                        <a:t>Eng</a:t>
                      </a:r>
                      <a:r>
                        <a:rPr kumimoji="1" lang="en-US" altLang="ja-JP" sz="1100">
                          <a:latin typeface="Meiryo UI" panose="020B0604030504040204" pitchFamily="50" charset="-128"/>
                          <a:ea typeface="Meiryo UI" panose="020B0604030504040204" pitchFamily="50" charset="-128"/>
                        </a:rPr>
                        <a:t> HW</a:t>
                      </a:r>
                      <a:r>
                        <a:rPr kumimoji="1" lang="ja-JP" altLang="en-US" sz="1100">
                          <a:latin typeface="Meiryo UI" panose="020B0604030504040204" pitchFamily="50" charset="-128"/>
                          <a:ea typeface="Meiryo UI" panose="020B0604030504040204" pitchFamily="50" charset="-128"/>
                        </a:rPr>
                        <a:t>かの事前確認を行う。</a:t>
                      </a:r>
                      <a:endParaRPr kumimoji="1" lang="en-US" altLang="ja-JP" sz="1100">
                        <a:latin typeface="Meiryo UI" panose="020B0604030504040204" pitchFamily="50" charset="-128"/>
                        <a:ea typeface="Meiryo UI" panose="020B0604030504040204" pitchFamily="50" charset="-128"/>
                      </a:endParaRPr>
                    </a:p>
                    <a:p>
                      <a:r>
                        <a:rPr kumimoji="1" lang="en-US" altLang="ja-JP" sz="1100">
                          <a:latin typeface="Meiryo UI" panose="020B0604030504040204" pitchFamily="50" charset="-128"/>
                          <a:ea typeface="Meiryo UI" panose="020B0604030504040204" pitchFamily="50" charset="-128"/>
                        </a:rPr>
                        <a:t>(</a:t>
                      </a:r>
                      <a:r>
                        <a:rPr kumimoji="1" lang="ja-JP" altLang="en-US" sz="1100">
                          <a:latin typeface="Meiryo UI" panose="020B0604030504040204" pitchFamily="50" charset="-128"/>
                          <a:ea typeface="Meiryo UI" panose="020B0604030504040204" pitchFamily="50" charset="-128"/>
                        </a:rPr>
                        <a:t>例</a:t>
                      </a:r>
                      <a:r>
                        <a:rPr kumimoji="1" lang="en-US" altLang="ja-JP" sz="1100">
                          <a:latin typeface="Meiryo UI" panose="020B0604030504040204" pitchFamily="50" charset="-128"/>
                          <a:ea typeface="Meiryo UI" panose="020B0604030504040204" pitchFamily="50" charset="-128"/>
                        </a:rPr>
                        <a:t>. CAT</a:t>
                      </a:r>
                      <a:r>
                        <a:rPr kumimoji="1" lang="ja-JP" altLang="en-US" sz="1100">
                          <a:latin typeface="Meiryo UI" panose="020B0604030504040204" pitchFamily="50" charset="-128"/>
                          <a:ea typeface="Meiryo UI" panose="020B0604030504040204" pitchFamily="50" charset="-128"/>
                        </a:rPr>
                        <a:t>貴金属</a:t>
                      </a:r>
                      <a:r>
                        <a:rPr kumimoji="1" lang="en-US" altLang="ja-JP" sz="1100">
                          <a:latin typeface="Meiryo UI" panose="020B0604030504040204" pitchFamily="50" charset="-128"/>
                          <a:ea typeface="Meiryo UI" panose="020B0604030504040204" pitchFamily="50" charset="-128"/>
                        </a:rPr>
                        <a:t>, GPF</a:t>
                      </a:r>
                      <a:r>
                        <a:rPr kumimoji="1" lang="ja-JP" altLang="en-US" sz="1100">
                          <a:latin typeface="Meiryo UI" panose="020B0604030504040204" pitchFamily="50" charset="-128"/>
                          <a:ea typeface="Meiryo UI" panose="020B0604030504040204" pitchFamily="50" charset="-128"/>
                        </a:rPr>
                        <a:t>捕集効率</a:t>
                      </a:r>
                      <a:r>
                        <a:rPr kumimoji="1" lang="en-US" altLang="ja-JP" sz="1100">
                          <a:latin typeface="Meiryo UI" panose="020B0604030504040204" pitchFamily="50" charset="-128"/>
                          <a:ea typeface="Meiryo UI" panose="020B0604030504040204" pitchFamily="50" charset="-128"/>
                        </a:rPr>
                        <a:t>)</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PFA</a:t>
                      </a:r>
                      <a:r>
                        <a:rPr kumimoji="1" lang="ja-JP" altLang="en-US" sz="1100">
                          <a:latin typeface="Meiryo UI" panose="020B0604030504040204" pitchFamily="50" charset="-128"/>
                          <a:ea typeface="Meiryo UI" panose="020B0604030504040204" pitchFamily="50" charset="-128"/>
                        </a:rPr>
                        <a:t>事前検証が</a:t>
                      </a:r>
                      <a:r>
                        <a:rPr kumimoji="1" lang="en-US" altLang="ja-JP" sz="1100">
                          <a:latin typeface="Meiryo UI" panose="020B0604030504040204" pitchFamily="50" charset="-128"/>
                          <a:ea typeface="Meiryo UI" panose="020B0604030504040204" pitchFamily="50" charset="-128"/>
                        </a:rPr>
                        <a:t>NG</a:t>
                      </a:r>
                      <a:r>
                        <a:rPr kumimoji="1" lang="ja-JP" altLang="en-US" sz="1100">
                          <a:latin typeface="Meiryo UI" panose="020B0604030504040204" pitchFamily="50" charset="-128"/>
                          <a:ea typeface="Meiryo UI" panose="020B0604030504040204" pitchFamily="50" charset="-128"/>
                        </a:rPr>
                        <a:t>の場合は</a:t>
                      </a:r>
                      <a:r>
                        <a:rPr kumimoji="1" lang="en-US" altLang="ja-JP" sz="1100">
                          <a:latin typeface="Meiryo UI" panose="020B0604030504040204" pitchFamily="50" charset="-128"/>
                          <a:ea typeface="Meiryo UI" panose="020B0604030504040204" pitchFamily="50" charset="-128"/>
                        </a:rPr>
                        <a:t>SoW</a:t>
                      </a:r>
                      <a:r>
                        <a:rPr kumimoji="1" lang="ja-JP" altLang="en-US" sz="1100">
                          <a:latin typeface="Meiryo UI" panose="020B0604030504040204" pitchFamily="50" charset="-128"/>
                          <a:ea typeface="Meiryo UI" panose="020B0604030504040204" pitchFamily="50" charset="-128"/>
                        </a:rPr>
                        <a:t>提出</a:t>
                      </a:r>
                      <a:r>
                        <a:rPr kumimoji="1" lang="en-US" altLang="ja-JP" sz="1100">
                          <a:latin typeface="Meiryo UI" panose="020B0604030504040204" pitchFamily="50" charset="-128"/>
                          <a:ea typeface="Meiryo UI" panose="020B0604030504040204" pitchFamily="50" charset="-128"/>
                        </a:rPr>
                        <a:t>(</a:t>
                      </a:r>
                      <a:r>
                        <a:rPr kumimoji="1" lang="ja-JP" altLang="en-US" sz="1100">
                          <a:latin typeface="Meiryo UI" panose="020B0604030504040204" pitchFamily="50" charset="-128"/>
                          <a:ea typeface="Meiryo UI" panose="020B0604030504040204" pitchFamily="50" charset="-128"/>
                        </a:rPr>
                        <a:t>契約</a:t>
                      </a:r>
                      <a:r>
                        <a:rPr kumimoji="1" lang="en-US" altLang="ja-JP" sz="1100">
                          <a:latin typeface="Meiryo UI" panose="020B0604030504040204" pitchFamily="50" charset="-128"/>
                          <a:ea typeface="Meiryo UI" panose="020B0604030504040204" pitchFamily="50" charset="-128"/>
                        </a:rPr>
                        <a:t>)</a:t>
                      </a:r>
                      <a:r>
                        <a:rPr kumimoji="1" lang="ja-JP" altLang="en-US" sz="1100">
                          <a:latin typeface="Meiryo UI" panose="020B0604030504040204" pitchFamily="50" charset="-128"/>
                          <a:ea typeface="Meiryo UI" panose="020B0604030504040204" pitchFamily="50" charset="-128"/>
                        </a:rPr>
                        <a:t>不可のため、想定</a:t>
                      </a: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の改善が必要。</a:t>
                      </a:r>
                    </a:p>
                  </a:txBody>
                  <a:tcPr/>
                </a:tc>
                <a:extLst>
                  <a:ext uri="{0D108BD9-81ED-4DB2-BD59-A6C34878D82A}">
                    <a16:rowId xmlns:a16="http://schemas.microsoft.com/office/drawing/2014/main" val="3701136452"/>
                  </a:ext>
                </a:extLst>
              </a:tr>
              <a:tr h="632307">
                <a:tc>
                  <a:txBody>
                    <a:bodyPr/>
                    <a:lstStyle/>
                    <a:p>
                      <a:r>
                        <a:rPr kumimoji="1" lang="en-US" altLang="ja-JP" sz="1100">
                          <a:latin typeface="Meiryo UI" panose="020B0604030504040204" pitchFamily="50" charset="-128"/>
                          <a:ea typeface="Meiryo UI" panose="020B0604030504040204" pitchFamily="50" charset="-128"/>
                        </a:rPr>
                        <a:t>2</a:t>
                      </a:r>
                      <a:endParaRPr kumimoji="1" lang="ja-JP" altLang="en-US" sz="11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フィジビリティ検証</a:t>
                      </a:r>
                    </a:p>
                  </a:txBody>
                  <a:tcPr/>
                </a:tc>
                <a:tc>
                  <a:txBody>
                    <a:bodyPr/>
                    <a:lstStyle/>
                    <a:p>
                      <a:r>
                        <a:rPr kumimoji="1" lang="en-US" altLang="ja-JP" sz="1100">
                          <a:latin typeface="Meiryo UI" panose="020B0604030504040204" pitchFamily="50" charset="-128"/>
                          <a:ea typeface="Meiryo UI" panose="020B0604030504040204" pitchFamily="50" charset="-128"/>
                        </a:rPr>
                        <a:t>EFG4</a:t>
                      </a:r>
                      <a:r>
                        <a:rPr kumimoji="1" lang="ja-JP" altLang="en-US" sz="1100">
                          <a:latin typeface="Meiryo UI" panose="020B0604030504040204" pitchFamily="50" charset="-128"/>
                          <a:ea typeface="Meiryo UI" panose="020B0604030504040204" pitchFamily="50" charset="-128"/>
                        </a:rPr>
                        <a:t>相当</a:t>
                      </a:r>
                    </a:p>
                  </a:txBody>
                  <a:tcPr/>
                </a:tc>
                <a:tc>
                  <a:txBody>
                    <a:bodyPr/>
                    <a:lstStyle/>
                    <a:p>
                      <a:r>
                        <a:rPr kumimoji="1" lang="en-US" altLang="ja-JP" sz="1100">
                          <a:latin typeface="Meiryo UI" panose="020B0604030504040204" pitchFamily="50" charset="-128"/>
                          <a:ea typeface="Meiryo UI" panose="020B0604030504040204" pitchFamily="50" charset="-128"/>
                        </a:rPr>
                        <a:t>F2</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ETB</a:t>
                      </a:r>
                      <a:r>
                        <a:rPr kumimoji="1" lang="ja-JP" altLang="en-US" sz="1100">
                          <a:latin typeface="Meiryo UI" panose="020B0604030504040204" pitchFamily="50" charset="-128"/>
                          <a:ea typeface="Meiryo UI" panose="020B0604030504040204" pitchFamily="50" charset="-128"/>
                        </a:rPr>
                        <a:t> </a:t>
                      </a:r>
                      <a:r>
                        <a:rPr kumimoji="1" lang="en-US" altLang="ja-JP" sz="1100">
                          <a:latin typeface="Meiryo UI" panose="020B0604030504040204" pitchFamily="50" charset="-128"/>
                          <a:ea typeface="Meiryo UI" panose="020B0604030504040204" pitchFamily="50" charset="-128"/>
                        </a:rPr>
                        <a:t>CAL</a:t>
                      </a:r>
                      <a:r>
                        <a:rPr kumimoji="1" lang="ja-JP" altLang="en-US" sz="1100">
                          <a:latin typeface="Meiryo UI" panose="020B0604030504040204" pitchFamily="50" charset="-128"/>
                          <a:ea typeface="Meiryo UI" panose="020B0604030504040204" pitchFamily="50" charset="-128"/>
                        </a:rPr>
                        <a:t>後、車両で</a:t>
                      </a:r>
                      <a:r>
                        <a:rPr kumimoji="1" lang="en-US" altLang="ja-JP" sz="1100">
                          <a:latin typeface="Meiryo UI" panose="020B0604030504040204" pitchFamily="50" charset="-128"/>
                          <a:ea typeface="Meiryo UI" panose="020B0604030504040204" pitchFamily="50" charset="-128"/>
                        </a:rPr>
                        <a:t>EM</a:t>
                      </a:r>
                      <a:r>
                        <a:rPr kumimoji="1" lang="ja-JP" altLang="en-US" sz="1100">
                          <a:latin typeface="Meiryo UI" panose="020B0604030504040204" pitchFamily="50" charset="-128"/>
                          <a:ea typeface="Meiryo UI" panose="020B0604030504040204" pitchFamily="50" charset="-128"/>
                        </a:rPr>
                        <a:t>計測を行い、</a:t>
                      </a: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のフィジビリティを確認する。</a:t>
                      </a:r>
                    </a:p>
                  </a:txBody>
                  <a:tcPr/>
                </a:tc>
                <a:tc>
                  <a:txBody>
                    <a:bodyPr/>
                    <a:lstStyle/>
                    <a:p>
                      <a:r>
                        <a:rPr kumimoji="1" lang="ja-JP" altLang="en-US" sz="1100">
                          <a:latin typeface="Meiryo UI" panose="020B0604030504040204" pitchFamily="50" charset="-128"/>
                          <a:ea typeface="Meiryo UI" panose="020B0604030504040204" pitchFamily="50" charset="-128"/>
                        </a:rPr>
                        <a:t>前モデルから</a:t>
                      </a:r>
                      <a:r>
                        <a:rPr kumimoji="1" lang="en-US" altLang="ja-JP" sz="1100">
                          <a:latin typeface="Meiryo UI" panose="020B0604030504040204" pitchFamily="50" charset="-128"/>
                          <a:ea typeface="Meiryo UI" panose="020B0604030504040204" pitchFamily="50" charset="-128"/>
                        </a:rPr>
                        <a:t>EM</a:t>
                      </a:r>
                      <a:r>
                        <a:rPr kumimoji="1" lang="ja-JP" altLang="en-US" sz="1100">
                          <a:latin typeface="Meiryo UI" panose="020B0604030504040204" pitchFamily="50" charset="-128"/>
                          <a:ea typeface="Meiryo UI" panose="020B0604030504040204" pitchFamily="50" charset="-128"/>
                        </a:rPr>
                        <a:t>規制に変更ない場合においても</a:t>
                      </a:r>
                      <a:r>
                        <a:rPr kumimoji="1" lang="en-US" altLang="ja-JP" sz="1100">
                          <a:latin typeface="Meiryo UI" panose="020B0604030504040204" pitchFamily="50" charset="-128"/>
                          <a:ea typeface="Meiryo UI" panose="020B0604030504040204" pitchFamily="50" charset="-128"/>
                        </a:rPr>
                        <a:t>F2</a:t>
                      </a:r>
                      <a:r>
                        <a:rPr kumimoji="1" lang="ja-JP" altLang="en-US" sz="1100">
                          <a:latin typeface="Meiryo UI" panose="020B0604030504040204" pitchFamily="50" charset="-128"/>
                          <a:ea typeface="Meiryo UI" panose="020B0604030504040204" pitchFamily="50" charset="-128"/>
                        </a:rPr>
                        <a:t>時点で</a:t>
                      </a:r>
                      <a:r>
                        <a:rPr kumimoji="1" lang="en-US" altLang="ja-JP" sz="1100">
                          <a:latin typeface="Meiryo UI" panose="020B0604030504040204" pitchFamily="50" charset="-128"/>
                          <a:ea typeface="Meiryo UI" panose="020B0604030504040204" pitchFamily="50" charset="-128"/>
                        </a:rPr>
                        <a:t>EM</a:t>
                      </a:r>
                      <a:r>
                        <a:rPr kumimoji="1" lang="ja-JP" altLang="en-US" sz="1100">
                          <a:latin typeface="Meiryo UI" panose="020B0604030504040204" pitchFamily="50" charset="-128"/>
                          <a:ea typeface="Meiryo UI" panose="020B0604030504040204" pitchFamily="50" charset="-128"/>
                        </a:rPr>
                        <a:t>検証は必ず行う。</a:t>
                      </a:r>
                    </a:p>
                  </a:txBody>
                  <a:tcPr/>
                </a:tc>
                <a:extLst>
                  <a:ext uri="{0D108BD9-81ED-4DB2-BD59-A6C34878D82A}">
                    <a16:rowId xmlns:a16="http://schemas.microsoft.com/office/drawing/2014/main" val="1184843031"/>
                  </a:ext>
                </a:extLst>
              </a:tr>
              <a:tr h="810650">
                <a:tc>
                  <a:txBody>
                    <a:bodyPr/>
                    <a:lstStyle/>
                    <a:p>
                      <a:r>
                        <a:rPr kumimoji="1" lang="en-US" altLang="ja-JP" sz="1100">
                          <a:latin typeface="Meiryo UI" panose="020B0604030504040204" pitchFamily="50" charset="-128"/>
                          <a:ea typeface="Meiryo UI" panose="020B0604030504040204" pitchFamily="50" charset="-128"/>
                        </a:rPr>
                        <a:t>3</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err="1">
                          <a:latin typeface="Meiryo UI" panose="020B0604030504040204" pitchFamily="50" charset="-128"/>
                          <a:ea typeface="Meiryo UI" panose="020B0604030504040204" pitchFamily="50" charset="-128"/>
                        </a:rPr>
                        <a:t>Eng</a:t>
                      </a:r>
                      <a:r>
                        <a:rPr kumimoji="1" lang="en-US" altLang="ja-JP" sz="1100">
                          <a:latin typeface="Meiryo UI" panose="020B0604030504040204" pitchFamily="50" charset="-128"/>
                          <a:ea typeface="Meiryo UI" panose="020B0604030504040204" pitchFamily="50" charset="-128"/>
                        </a:rPr>
                        <a:t>, </a:t>
                      </a:r>
                      <a:r>
                        <a:rPr kumimoji="1" lang="ja-JP" altLang="en-US" sz="1100">
                          <a:latin typeface="Meiryo UI" panose="020B0604030504040204" pitchFamily="50" charset="-128"/>
                          <a:ea typeface="Meiryo UI" panose="020B0604030504040204" pitchFamily="50" charset="-128"/>
                        </a:rPr>
                        <a:t>車両 </a:t>
                      </a:r>
                      <a:r>
                        <a:rPr kumimoji="1" lang="en-US" altLang="ja-JP" sz="1100">
                          <a:latin typeface="Meiryo UI" panose="020B0604030504040204" pitchFamily="50" charset="-128"/>
                          <a:ea typeface="Meiryo UI" panose="020B0604030504040204" pitchFamily="50" charset="-128"/>
                        </a:rPr>
                        <a:t>HW fix</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EFG5</a:t>
                      </a:r>
                      <a:r>
                        <a:rPr kumimoji="1" lang="ja-JP" altLang="en-US" sz="1100">
                          <a:latin typeface="Meiryo UI" panose="020B0604030504040204" pitchFamily="50" charset="-128"/>
                          <a:ea typeface="Meiryo UI" panose="020B0604030504040204" pitchFamily="50" charset="-128"/>
                        </a:rPr>
                        <a:t>相当</a:t>
                      </a:r>
                    </a:p>
                  </a:txBody>
                  <a:tcPr/>
                </a:tc>
                <a:tc>
                  <a:txBody>
                    <a:bodyPr/>
                    <a:lstStyle/>
                    <a:p>
                      <a:r>
                        <a:rPr kumimoji="1" lang="en-US" altLang="ja-JP" sz="1100">
                          <a:latin typeface="Meiryo UI" panose="020B0604030504040204" pitchFamily="50" charset="-128"/>
                          <a:ea typeface="Meiryo UI" panose="020B0604030504040204" pitchFamily="50" charset="-128"/>
                        </a:rPr>
                        <a:t>V1/V2</a:t>
                      </a:r>
                      <a:endParaRPr kumimoji="1" lang="ja-JP" altLang="en-US" sz="110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err="1">
                          <a:latin typeface="Meiryo UI" panose="020B0604030504040204" pitchFamily="50" charset="-128"/>
                          <a:ea typeface="Meiryo UI" panose="020B0604030504040204" pitchFamily="50" charset="-128"/>
                        </a:rPr>
                        <a:t>Eng</a:t>
                      </a:r>
                      <a:r>
                        <a:rPr kumimoji="1" lang="en-US" altLang="ja-JP" sz="1100">
                          <a:latin typeface="Meiryo UI" panose="020B0604030504040204" pitchFamily="50" charset="-128"/>
                          <a:ea typeface="Meiryo UI" panose="020B0604030504040204" pitchFamily="50" charset="-128"/>
                        </a:rPr>
                        <a:t>, </a:t>
                      </a:r>
                      <a:r>
                        <a:rPr kumimoji="1" lang="ja-JP" altLang="en-US" sz="1100">
                          <a:latin typeface="Meiryo UI" panose="020B0604030504040204" pitchFamily="50" charset="-128"/>
                          <a:ea typeface="Meiryo UI" panose="020B0604030504040204" pitchFamily="50" charset="-128"/>
                        </a:rPr>
                        <a:t>車両 </a:t>
                      </a:r>
                      <a:r>
                        <a:rPr kumimoji="1" lang="en-US" altLang="ja-JP" sz="1100">
                          <a:latin typeface="Meiryo UI" panose="020B0604030504040204" pitchFamily="50" charset="-128"/>
                          <a:ea typeface="Meiryo UI" panose="020B0604030504040204" pitchFamily="50" charset="-128"/>
                        </a:rPr>
                        <a:t>HW fix</a:t>
                      </a:r>
                      <a:r>
                        <a:rPr kumimoji="1" lang="ja-JP" altLang="en-US" sz="1100">
                          <a:latin typeface="Meiryo UI" panose="020B0604030504040204" pitchFamily="50" charset="-128"/>
                          <a:ea typeface="Meiryo UI" panose="020B0604030504040204" pitchFamily="50" charset="-128"/>
                        </a:rPr>
                        <a:t>のタイミングのため、既存</a:t>
                      </a: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で</a:t>
                      </a:r>
                      <a:r>
                        <a:rPr kumimoji="1" lang="en-US" altLang="ja-JP" sz="1100">
                          <a:latin typeface="Meiryo UI" panose="020B0604030504040204" pitchFamily="50" charset="-128"/>
                          <a:ea typeface="Meiryo UI" panose="020B0604030504040204" pitchFamily="50" charset="-128"/>
                        </a:rPr>
                        <a:t>EM ET</a:t>
                      </a:r>
                      <a:r>
                        <a:rPr kumimoji="1" lang="ja-JP" altLang="en-US" sz="1100">
                          <a:latin typeface="Meiryo UI" panose="020B0604030504040204" pitchFamily="50" charset="-128"/>
                          <a:ea typeface="Meiryo UI" panose="020B0604030504040204" pitchFamily="50" charset="-128"/>
                        </a:rPr>
                        <a:t>達成可能か、量産可能かの事前判断を行う。</a:t>
                      </a:r>
                      <a:endParaRPr kumimoji="1" lang="en-US" altLang="ja-JP" sz="1100">
                        <a:latin typeface="Meiryo UI" panose="020B0604030504040204" pitchFamily="50" charset="-128"/>
                        <a:ea typeface="Meiryo UI" panose="020B0604030504040204" pitchFamily="50" charset="-128"/>
                      </a:endParaRPr>
                    </a:p>
                  </a:txBody>
                  <a:tcPr/>
                </a:tc>
                <a:tc>
                  <a:txBody>
                    <a:bodyPr/>
                    <a:lstStyle/>
                    <a:p>
                      <a:r>
                        <a:rPr kumimoji="1" lang="ja-JP" altLang="en-US" sz="1100">
                          <a:latin typeface="Meiryo UI" panose="020B0604030504040204" pitchFamily="50" charset="-128"/>
                          <a:ea typeface="Meiryo UI" panose="020B0604030504040204" pitchFamily="50" charset="-128"/>
                        </a:rPr>
                        <a:t>基本的に以降の</a:t>
                      </a:r>
                      <a:r>
                        <a:rPr kumimoji="1" lang="en-US" altLang="ja-JP" sz="1100">
                          <a:latin typeface="Meiryo UI" panose="020B0604030504040204" pitchFamily="50" charset="-128"/>
                          <a:ea typeface="Meiryo UI" panose="020B0604030504040204" pitchFamily="50" charset="-128"/>
                        </a:rPr>
                        <a:t>HW</a:t>
                      </a:r>
                      <a:r>
                        <a:rPr kumimoji="1" lang="ja-JP" altLang="en-US" sz="1100">
                          <a:latin typeface="Meiryo UI" panose="020B0604030504040204" pitchFamily="50" charset="-128"/>
                          <a:ea typeface="Meiryo UI" panose="020B0604030504040204" pitchFamily="50" charset="-128"/>
                        </a:rPr>
                        <a:t>変更は不可。この時点で</a:t>
                      </a:r>
                      <a:r>
                        <a:rPr kumimoji="1" lang="en-US" altLang="ja-JP" sz="1100">
                          <a:latin typeface="Meiryo UI" panose="020B0604030504040204" pitchFamily="50" charset="-128"/>
                          <a:ea typeface="Meiryo UI" panose="020B0604030504040204" pitchFamily="50" charset="-128"/>
                        </a:rPr>
                        <a:t>RB-CRP</a:t>
                      </a:r>
                      <a:r>
                        <a:rPr kumimoji="1" lang="ja-JP" altLang="en-US" sz="1100">
                          <a:latin typeface="Meiryo UI" panose="020B0604030504040204" pitchFamily="50" charset="-128"/>
                          <a:ea typeface="Meiryo UI" panose="020B0604030504040204" pitchFamily="50" charset="-128"/>
                        </a:rPr>
                        <a:t>が達成見込みであることの確認が必要。</a:t>
                      </a:r>
                    </a:p>
                  </a:txBody>
                  <a:tcPr/>
                </a:tc>
                <a:extLst>
                  <a:ext uri="{0D108BD9-81ED-4DB2-BD59-A6C34878D82A}">
                    <a16:rowId xmlns:a16="http://schemas.microsoft.com/office/drawing/2014/main" val="3188641015"/>
                  </a:ext>
                </a:extLst>
              </a:tr>
              <a:tr h="568762">
                <a:tc>
                  <a:txBody>
                    <a:bodyPr/>
                    <a:lstStyle/>
                    <a:p>
                      <a:r>
                        <a:rPr kumimoji="1" lang="en-US" altLang="ja-JP" sz="1100">
                          <a:latin typeface="Meiryo UI" panose="020B0604030504040204" pitchFamily="50" charset="-128"/>
                          <a:ea typeface="Meiryo UI" panose="020B0604030504040204" pitchFamily="50" charset="-128"/>
                        </a:rPr>
                        <a:t>4</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Emission data fix</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CRP</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en-US" altLang="ja-JP" sz="1100">
                          <a:latin typeface="Meiryo UI" panose="020B0604030504040204" pitchFamily="50" charset="-128"/>
                          <a:ea typeface="Meiryo UI" panose="020B0604030504040204" pitchFamily="50" charset="-128"/>
                        </a:rPr>
                        <a:t>V3</a:t>
                      </a:r>
                      <a:endParaRPr kumimoji="1" lang="ja-JP" altLang="en-US" sz="1100">
                        <a:latin typeface="Meiryo UI" panose="020B0604030504040204" pitchFamily="50" charset="-128"/>
                        <a:ea typeface="Meiryo UI" panose="020B0604030504040204" pitchFamily="50" charset="-128"/>
                      </a:endParaRPr>
                    </a:p>
                  </a:txBody>
                  <a:tcPr/>
                </a:tc>
                <a:tc>
                  <a:txBody>
                    <a:bodyPr/>
                    <a:lstStyle/>
                    <a:p>
                      <a:r>
                        <a:rPr kumimoji="1" lang="ja-JP" altLang="en-US" sz="1100">
                          <a:latin typeface="Meiryo UI" panose="020B0604030504040204" pitchFamily="50" charset="-128"/>
                          <a:ea typeface="Meiryo UI" panose="020B0604030504040204" pitchFamily="50" charset="-128"/>
                        </a:rPr>
                        <a:t>マスク発行にあたってのエミッション最終検証</a:t>
                      </a:r>
                    </a:p>
                  </a:txBody>
                  <a:tcPr/>
                </a:tc>
                <a:tc>
                  <a:txBody>
                    <a:bodyPr/>
                    <a:lstStyle/>
                    <a:p>
                      <a:endParaRPr kumimoji="1" lang="ja-JP" altLang="en-US" sz="11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335029967"/>
                  </a:ext>
                </a:extLst>
              </a:tr>
            </a:tbl>
          </a:graphicData>
        </a:graphic>
      </p:graphicFrame>
      <p:pic>
        <p:nvPicPr>
          <p:cNvPr id="8" name="図 7">
            <a:extLst>
              <a:ext uri="{FF2B5EF4-FFF2-40B4-BE49-F238E27FC236}">
                <a16:creationId xmlns:a16="http://schemas.microsoft.com/office/drawing/2014/main" id="{589863F9-A110-02E3-55D9-0AFCA63FA365}"/>
              </a:ext>
            </a:extLst>
          </p:cNvPr>
          <p:cNvPicPr>
            <a:picLocks noChangeAspect="1"/>
          </p:cNvPicPr>
          <p:nvPr/>
        </p:nvPicPr>
        <p:blipFill>
          <a:blip r:embed="rId3"/>
          <a:stretch>
            <a:fillRect/>
          </a:stretch>
        </p:blipFill>
        <p:spPr>
          <a:xfrm>
            <a:off x="6170186" y="4962617"/>
            <a:ext cx="2829063" cy="1592442"/>
          </a:xfrm>
          <a:prstGeom prst="rect">
            <a:avLst/>
          </a:prstGeom>
        </p:spPr>
      </p:pic>
      <p:sp>
        <p:nvSpPr>
          <p:cNvPr id="9" name="Text Box 2">
            <a:extLst>
              <a:ext uri="{FF2B5EF4-FFF2-40B4-BE49-F238E27FC236}">
                <a16:creationId xmlns:a16="http://schemas.microsoft.com/office/drawing/2014/main" id="{FF9698DA-D9DF-82C4-1858-5D0EEBF242CC}"/>
              </a:ext>
            </a:extLst>
          </p:cNvPr>
          <p:cNvSpPr txBox="1">
            <a:spLocks noChangeArrowheads="1"/>
          </p:cNvSpPr>
          <p:nvPr/>
        </p:nvSpPr>
        <p:spPr bwMode="auto">
          <a:xfrm>
            <a:off x="6170187" y="2773746"/>
            <a:ext cx="2573764" cy="523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10000"/>
              </a:lnSpc>
              <a:spcBef>
                <a:spcPts val="300"/>
              </a:spcBef>
              <a:spcAft>
                <a:spcPct val="0"/>
              </a:spcAft>
              <a:buClrTx/>
              <a:buSzTx/>
              <a:buFontTx/>
              <a:buNone/>
              <a:tabLst/>
              <a:defRPr/>
            </a:pPr>
            <a:r>
              <a:rPr kumimoji="1" lang="en-US" altLang="ja-JP" sz="1100" i="0" u="sng" strike="noStrike" kern="1200" cap="none" spc="0" normalizeH="0" baseline="0" noProof="0">
                <a:ln>
                  <a:noFill/>
                </a:ln>
                <a:effectLst/>
                <a:uLnTx/>
                <a:uFillTx/>
                <a:latin typeface="Meiryo UI" panose="020B0604030504040204" pitchFamily="50" charset="-128"/>
                <a:ea typeface="Meiryo UI" panose="020B0604030504040204" pitchFamily="50" charset="-128"/>
              </a:rPr>
              <a:t>66VA PN GPF</a:t>
            </a:r>
            <a:r>
              <a:rPr kumimoji="1" lang="ja-JP" altLang="en-US" sz="1100" i="0" u="sng" strike="noStrike" kern="1200" cap="none" spc="0" normalizeH="0" baseline="0" noProof="0">
                <a:ln>
                  <a:noFill/>
                </a:ln>
                <a:effectLst/>
                <a:uLnTx/>
                <a:uFillTx/>
                <a:latin typeface="Meiryo UI" panose="020B0604030504040204" pitchFamily="50" charset="-128"/>
                <a:ea typeface="Meiryo UI" panose="020B0604030504040204" pitchFamily="50" charset="-128"/>
              </a:rPr>
              <a:t>変更 </a:t>
            </a:r>
            <a:r>
              <a:rPr kumimoji="1" lang="en-US" altLang="ja-JP" sz="1100" i="0" u="sng" strike="noStrike" kern="1200" cap="none" spc="0" normalizeH="0" baseline="0" noProof="0">
                <a:ln>
                  <a:noFill/>
                </a:ln>
                <a:effectLst/>
                <a:uLnTx/>
                <a:uFillTx/>
                <a:latin typeface="Meiryo UI" panose="020B0604030504040204" pitchFamily="50" charset="-128"/>
                <a:ea typeface="Meiryo UI" panose="020B0604030504040204" pitchFamily="50" charset="-128"/>
              </a:rPr>
              <a:t>Lessons Learned</a:t>
            </a:r>
            <a:endParaRPr lang="en-US" altLang="ja-JP" sz="1050">
              <a:latin typeface="Meiryo UI" panose="020B0604030504040204" pitchFamily="50" charset="-128"/>
              <a:ea typeface="Meiryo UI" panose="020B0604030504040204" pitchFamily="50" charset="-128"/>
            </a:endParaRPr>
          </a:p>
          <a:p>
            <a:pPr marL="180612" lvl="1" indent="0" algn="l" eaLnBrk="1" hangingPunct="1">
              <a:lnSpc>
                <a:spcPct val="110000"/>
              </a:lnSpc>
              <a:spcBef>
                <a:spcPts val="600"/>
              </a:spcBef>
              <a:defRPr/>
            </a:pPr>
            <a:endParaRPr lang="en-US" altLang="ja-JP" sz="105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2521600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FEB6CBC1-D914-A3C4-613A-F64584AE9365}"/>
              </a:ext>
            </a:extLst>
          </p:cNvPr>
          <p:cNvSpPr txBox="1">
            <a:spLocks noChangeArrowheads="1"/>
          </p:cNvSpPr>
          <p:nvPr/>
        </p:nvSpPr>
        <p:spPr bwMode="auto">
          <a:xfrm>
            <a:off x="1331123" y="890588"/>
            <a:ext cx="666988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algn="ctr" eaLnBrk="1" fontAlgn="base" hangingPunct="1">
              <a:spcBef>
                <a:spcPct val="0"/>
              </a:spcBef>
              <a:spcAft>
                <a:spcPct val="0"/>
              </a:spcAft>
              <a:defRPr/>
            </a:pPr>
            <a:r>
              <a:rPr lang="en-US" altLang="ja-JP" sz="1500">
                <a:solidFill>
                  <a:srgbClr val="FFFFFF"/>
                </a:solidFill>
                <a:latin typeface="Meiryo UI" panose="020B0604030504040204" pitchFamily="50" charset="-128"/>
                <a:ea typeface="Meiryo UI" panose="020B0604030504040204" pitchFamily="50" charset="-128"/>
                <a:cs typeface="Arial" pitchFamily="34" charset="0"/>
              </a:rPr>
              <a:t>22. Development schedule</a:t>
            </a:r>
            <a:endParaRPr lang="en-US" altLang="ja-JP" sz="825">
              <a:solidFill>
                <a:srgbClr val="FFFFFF"/>
              </a:solidFill>
              <a:latin typeface="HGPｺﾞｼｯｸE" pitchFamily="50" charset="-128"/>
              <a:ea typeface="HGPｺﾞｼｯｸE" pitchFamily="50" charset="-128"/>
              <a:cs typeface="Arial" pitchFamily="34" charset="0"/>
            </a:endParaRPr>
          </a:p>
        </p:txBody>
      </p:sp>
      <p:graphicFrame>
        <p:nvGraphicFramePr>
          <p:cNvPr id="6" name="表 6">
            <a:extLst>
              <a:ext uri="{FF2B5EF4-FFF2-40B4-BE49-F238E27FC236}">
                <a16:creationId xmlns:a16="http://schemas.microsoft.com/office/drawing/2014/main" id="{46825876-E27B-ACAB-0927-9608100507A4}"/>
              </a:ext>
            </a:extLst>
          </p:cNvPr>
          <p:cNvGraphicFramePr>
            <a:graphicFrameLocks noGrp="1"/>
          </p:cNvGraphicFramePr>
          <p:nvPr/>
        </p:nvGraphicFramePr>
        <p:xfrm>
          <a:off x="147202" y="2894674"/>
          <a:ext cx="5878233" cy="3695700"/>
        </p:xfrm>
        <a:graphic>
          <a:graphicData uri="http://schemas.openxmlformats.org/drawingml/2006/table">
            <a:tbl>
              <a:tblPr firstRow="1" bandRow="1">
                <a:tableStyleId>{93296810-A885-4BE3-A3E7-6D5BEEA58F35}</a:tableStyleId>
              </a:tblPr>
              <a:tblGrid>
                <a:gridCol w="220394">
                  <a:extLst>
                    <a:ext uri="{9D8B030D-6E8A-4147-A177-3AD203B41FA5}">
                      <a16:colId xmlns:a16="http://schemas.microsoft.com/office/drawing/2014/main" val="4022077070"/>
                    </a:ext>
                  </a:extLst>
                </a:gridCol>
                <a:gridCol w="896166">
                  <a:extLst>
                    <a:ext uri="{9D8B030D-6E8A-4147-A177-3AD203B41FA5}">
                      <a16:colId xmlns:a16="http://schemas.microsoft.com/office/drawing/2014/main" val="2859626279"/>
                    </a:ext>
                  </a:extLst>
                </a:gridCol>
                <a:gridCol w="845057">
                  <a:extLst>
                    <a:ext uri="{9D8B030D-6E8A-4147-A177-3AD203B41FA5}">
                      <a16:colId xmlns:a16="http://schemas.microsoft.com/office/drawing/2014/main" val="3244604716"/>
                    </a:ext>
                  </a:extLst>
                </a:gridCol>
                <a:gridCol w="702980">
                  <a:extLst>
                    <a:ext uri="{9D8B030D-6E8A-4147-A177-3AD203B41FA5}">
                      <a16:colId xmlns:a16="http://schemas.microsoft.com/office/drawing/2014/main" val="3795177726"/>
                    </a:ext>
                  </a:extLst>
                </a:gridCol>
                <a:gridCol w="1606818">
                  <a:extLst>
                    <a:ext uri="{9D8B030D-6E8A-4147-A177-3AD203B41FA5}">
                      <a16:colId xmlns:a16="http://schemas.microsoft.com/office/drawing/2014/main" val="3675534990"/>
                    </a:ext>
                  </a:extLst>
                </a:gridCol>
                <a:gridCol w="1606818">
                  <a:extLst>
                    <a:ext uri="{9D8B030D-6E8A-4147-A177-3AD203B41FA5}">
                      <a16:colId xmlns:a16="http://schemas.microsoft.com/office/drawing/2014/main" val="3265794884"/>
                    </a:ext>
                  </a:extLst>
                </a:gridCol>
              </a:tblGrid>
              <a:tr h="338065">
                <a:tc>
                  <a:txBody>
                    <a:bodyPr/>
                    <a:lstStyle/>
                    <a:p>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Item</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Bosch event</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Honda event</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Purpose</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tc>
                  <a:txBody>
                    <a:bodyPr/>
                    <a:lstStyle/>
                    <a:p>
                      <a:pPr algn="ctr"/>
                      <a:r>
                        <a:rPr kumimoji="1" lang="en-US" altLang="ja-JP" sz="1000">
                          <a:latin typeface="Arial" panose="020B0604020202020204" pitchFamily="34" charset="0"/>
                          <a:ea typeface="Meiryo UI" panose="020B0604030504040204" pitchFamily="50" charset="-128"/>
                          <a:cs typeface="Arial" panose="020B0604020202020204" pitchFamily="34" charset="0"/>
                        </a:rPr>
                        <a:t>Remarks</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nchor="ctr"/>
                </a:tc>
                <a:extLst>
                  <a:ext uri="{0D108BD9-81ED-4DB2-BD59-A6C34878D82A}">
                    <a16:rowId xmlns:a16="http://schemas.microsoft.com/office/drawing/2014/main" val="2697966254"/>
                  </a:ext>
                </a:extLst>
              </a:tr>
              <a:tr h="639535">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1</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HW Feasibility</a:t>
                      </a:r>
                    </a:p>
                    <a:p>
                      <a:r>
                        <a:rPr kumimoji="1" lang="en-US" altLang="ja-JP" sz="1000">
                          <a:latin typeface="Arial" panose="020B0604020202020204" pitchFamily="34" charset="0"/>
                          <a:ea typeface="Meiryo UI" panose="020B0604030504040204" pitchFamily="50" charset="-128"/>
                          <a:cs typeface="Arial" panose="020B0604020202020204" pitchFamily="34" charset="0"/>
                        </a:rPr>
                        <a:t>Advance-verification </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PFA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(prior to SoW submission)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00">
                        <a:solidFill>
                          <a:schemeClr val="tx1"/>
                        </a:solidFill>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err="1">
                          <a:latin typeface="Arial" panose="020B0604020202020204" pitchFamily="34" charset="0"/>
                          <a:ea typeface="Meiryo UI" panose="020B0604030504040204" pitchFamily="50" charset="-128"/>
                          <a:cs typeface="Arial" panose="020B0604020202020204" pitchFamily="34" charset="0"/>
                        </a:rPr>
                        <a:t>KoM</a:t>
                      </a:r>
                      <a:r>
                        <a:rPr kumimoji="1" lang="en-US" altLang="ja-JP" sz="1000">
                          <a:latin typeface="Arial" panose="020B0604020202020204" pitchFamily="34" charset="0"/>
                          <a:ea typeface="Meiryo UI" panose="020B0604030504040204" pitchFamily="50" charset="-128"/>
                          <a:cs typeface="Arial" panose="020B0604020202020204" pitchFamily="34" charset="0"/>
                        </a:rPr>
                        <a:t>-Contract</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Advance-confirmation of whether the Engine HW can satisfy the EM regulation values (ET)
(e.g. CAT precious metal, GPF filtration ratio).</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If PFA verification result is failed, SoW submission (contract) is impossible. In that case improvement on </a:t>
                      </a:r>
                      <a:r>
                        <a:rPr kumimoji="1" lang="en-US" altLang="ja-JP" sz="1000">
                          <a:solidFill>
                            <a:schemeClr val="tx1"/>
                          </a:solidFill>
                          <a:latin typeface="Arial" panose="020B0604020202020204" pitchFamily="34" charset="0"/>
                          <a:ea typeface="Meiryo UI" panose="020B0604030504040204" pitchFamily="50" charset="-128"/>
                          <a:cs typeface="Arial" panose="020B0604020202020204" pitchFamily="34" charset="0"/>
                        </a:rPr>
                        <a:t>the target HW is n</a:t>
                      </a:r>
                      <a:r>
                        <a:rPr kumimoji="1" lang="en-US" altLang="ja-JP" sz="1000">
                          <a:latin typeface="Arial" panose="020B0604020202020204" pitchFamily="34" charset="0"/>
                          <a:ea typeface="Meiryo UI" panose="020B0604030504040204" pitchFamily="50" charset="-128"/>
                          <a:cs typeface="Arial" panose="020B0604020202020204" pitchFamily="34" charset="0"/>
                        </a:rPr>
                        <a:t>eeded.</a:t>
                      </a:r>
                    </a:p>
                  </a:txBody>
                  <a:tcPr marL="68580" marR="68580" marT="34290" marB="34290"/>
                </a:tc>
                <a:extLst>
                  <a:ext uri="{0D108BD9-81ED-4DB2-BD59-A6C34878D82A}">
                    <a16:rowId xmlns:a16="http://schemas.microsoft.com/office/drawing/2014/main" val="3701136452"/>
                  </a:ext>
                </a:extLst>
              </a:tr>
              <a:tr h="555857">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2</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HW Feasibility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 Verification </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EFG4</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F2</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Confirmation of the HW feasibility by conducting EM measurement on the vehicle after ETB calibration.</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EM verification shall be conducted </a:t>
                      </a:r>
                      <a:r>
                        <a:rPr kumimoji="1" lang="en-US" altLang="ja-JP" sz="1000">
                          <a:solidFill>
                            <a:schemeClr val="tx1"/>
                          </a:solidFill>
                          <a:latin typeface="Arial" panose="020B0604020202020204" pitchFamily="34" charset="0"/>
                          <a:ea typeface="Meiryo UI" panose="020B0604030504040204" pitchFamily="50" charset="-128"/>
                          <a:cs typeface="Arial" panose="020B0604020202020204" pitchFamily="34" charset="0"/>
                        </a:rPr>
                        <a:t>at F2 </a:t>
                      </a:r>
                      <a:r>
                        <a:rPr kumimoji="1" lang="en-US" altLang="ja-JP" sz="1000">
                          <a:latin typeface="Arial" panose="020B0604020202020204" pitchFamily="34" charset="0"/>
                          <a:ea typeface="Meiryo UI" panose="020B0604030504040204" pitchFamily="50" charset="-128"/>
                          <a:cs typeface="Arial" panose="020B0604020202020204" pitchFamily="34" charset="0"/>
                        </a:rPr>
                        <a:t>event even if the EM regulations are not changed from that of the previous model.</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extLst>
                  <a:ext uri="{0D108BD9-81ED-4DB2-BD59-A6C34878D82A}">
                    <a16:rowId xmlns:a16="http://schemas.microsoft.com/office/drawing/2014/main" val="1184843031"/>
                  </a:ext>
                </a:extLst>
              </a:tr>
              <a:tr h="639535">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3</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Eng, Vehicle HW fix</a:t>
                      </a:r>
                      <a:r>
                        <a:rPr kumimoji="1" lang="ja-JP" altLang="en-US" sz="1000">
                          <a:latin typeface="Arial" panose="020B0604020202020204" pitchFamily="34" charset="0"/>
                          <a:ea typeface="Meiryo UI" panose="020B0604030504040204" pitchFamily="50" charset="-128"/>
                          <a:cs typeface="Arial" panose="020B0604020202020204" pitchFamily="34" charset="0"/>
                        </a:rPr>
                        <a:t> </a:t>
                      </a:r>
                      <a:endParaRPr kumimoji="1" lang="en-US" altLang="ja-JP" sz="1000">
                        <a:latin typeface="Arial" panose="020B0604020202020204" pitchFamily="34" charset="0"/>
                        <a:ea typeface="Meiryo UI" panose="020B0604030504040204" pitchFamily="50" charset="-128"/>
                        <a:cs typeface="Arial" panose="020B0604020202020204" pitchFamily="34" charset="0"/>
                      </a:endParaRPr>
                    </a:p>
                    <a:p>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EFG5</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V1/V2</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a:latin typeface="Arial" panose="020B0604020202020204" pitchFamily="34" charset="0"/>
                          <a:ea typeface="Meiryo UI" panose="020B0604030504040204" pitchFamily="50" charset="-128"/>
                          <a:cs typeface="Arial" panose="020B0604020202020204" pitchFamily="34" charset="0"/>
                        </a:rPr>
                        <a:t>Advance-judgment whether</a:t>
                      </a:r>
                      <a:r>
                        <a:rPr kumimoji="1" lang="ja-JP" altLang="en-US" sz="1000">
                          <a:latin typeface="Arial" panose="020B0604020202020204" pitchFamily="34" charset="0"/>
                          <a:ea typeface="Meiryo UI" panose="020B0604030504040204" pitchFamily="50" charset="-128"/>
                          <a:cs typeface="Arial" panose="020B0604020202020204" pitchFamily="34" charset="0"/>
                        </a:rPr>
                        <a:t> </a:t>
                      </a:r>
                      <a:r>
                        <a:rPr kumimoji="1" lang="en-US" altLang="ja-JP" sz="1000">
                          <a:latin typeface="Arial" panose="020B0604020202020204" pitchFamily="34" charset="0"/>
                          <a:ea typeface="Meiryo UI" panose="020B0604030504040204" pitchFamily="50" charset="-128"/>
                          <a:cs typeface="Arial" panose="020B0604020202020204" pitchFamily="34" charset="0"/>
                        </a:rPr>
                        <a:t>EM ET to be achievable and Mass Production is possible with the existing HW, since it is the timing to fix Engine/Vehicle HW.</a:t>
                      </a: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Basically, HW change after this timing is not allowed.  </a:t>
                      </a:r>
                    </a:p>
                    <a:p>
                      <a:r>
                        <a:rPr kumimoji="1" lang="en-US" altLang="ja-JP" sz="1000">
                          <a:latin typeface="Arial" panose="020B0604020202020204" pitchFamily="34" charset="0"/>
                          <a:ea typeface="Meiryo UI" panose="020B0604030504040204" pitchFamily="50" charset="-128"/>
                          <a:cs typeface="Arial" panose="020B0604020202020204" pitchFamily="34" charset="0"/>
                        </a:rPr>
                        <a:t>RB-CRP needs to be prospected achievable as of this timing.</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extLst>
                  <a:ext uri="{0D108BD9-81ED-4DB2-BD59-A6C34878D82A}">
                    <a16:rowId xmlns:a16="http://schemas.microsoft.com/office/drawing/2014/main" val="3188641015"/>
                  </a:ext>
                </a:extLst>
              </a:tr>
              <a:tr h="334594">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4</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Data Fix for</a:t>
                      </a:r>
                    </a:p>
                    <a:p>
                      <a:r>
                        <a:rPr kumimoji="1" lang="en-US" altLang="ja-JP" sz="1000">
                          <a:latin typeface="Arial" panose="020B0604020202020204" pitchFamily="34" charset="0"/>
                          <a:ea typeface="Meiryo UI" panose="020B0604030504040204" pitchFamily="50" charset="-128"/>
                          <a:cs typeface="Arial" panose="020B0604020202020204" pitchFamily="34" charset="0"/>
                        </a:rPr>
                        <a:t>Emission</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CRP</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V3</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r>
                        <a:rPr kumimoji="1" lang="en-US" altLang="ja-JP" sz="1000">
                          <a:latin typeface="Arial" panose="020B0604020202020204" pitchFamily="34" charset="0"/>
                          <a:ea typeface="Meiryo UI" panose="020B0604030504040204" pitchFamily="50" charset="-128"/>
                          <a:cs typeface="Arial" panose="020B0604020202020204" pitchFamily="34" charset="0"/>
                        </a:rPr>
                        <a:t>Final EM verification to issue MP container.</a:t>
                      </a:r>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tc>
                  <a:txBody>
                    <a:bodyPr/>
                    <a:lstStyle/>
                    <a:p>
                      <a:endParaRPr kumimoji="1" lang="ja-JP" altLang="en-US" sz="1000">
                        <a:latin typeface="Arial" panose="020B0604020202020204" pitchFamily="34" charset="0"/>
                        <a:ea typeface="Meiryo UI" panose="020B0604030504040204" pitchFamily="50" charset="-128"/>
                        <a:cs typeface="Arial" panose="020B0604020202020204" pitchFamily="34" charset="0"/>
                      </a:endParaRPr>
                    </a:p>
                  </a:txBody>
                  <a:tcPr marL="68580" marR="68580" marT="34290" marB="34290"/>
                </a:tc>
                <a:extLst>
                  <a:ext uri="{0D108BD9-81ED-4DB2-BD59-A6C34878D82A}">
                    <a16:rowId xmlns:a16="http://schemas.microsoft.com/office/drawing/2014/main" val="3335029967"/>
                  </a:ext>
                </a:extLst>
              </a:tr>
            </a:tbl>
          </a:graphicData>
        </a:graphic>
      </p:graphicFrame>
      <p:sp>
        <p:nvSpPr>
          <p:cNvPr id="4" name="テキスト ボックス 3">
            <a:extLst>
              <a:ext uri="{FF2B5EF4-FFF2-40B4-BE49-F238E27FC236}">
                <a16:creationId xmlns:a16="http://schemas.microsoft.com/office/drawing/2014/main" id="{A21E6A44-A6D9-3614-8345-6590B035CE27}"/>
              </a:ext>
            </a:extLst>
          </p:cNvPr>
          <p:cNvSpPr txBox="1"/>
          <p:nvPr/>
        </p:nvSpPr>
        <p:spPr>
          <a:xfrm>
            <a:off x="60385" y="564948"/>
            <a:ext cx="9083615" cy="2663293"/>
          </a:xfrm>
          <a:prstGeom prst="rect">
            <a:avLst/>
          </a:prstGeom>
          <a:noFill/>
        </p:spPr>
        <p:txBody>
          <a:bodyPr wrap="square" rtlCol="0">
            <a:spAutoFit/>
          </a:bodyPr>
          <a:lstStyle/>
          <a:p>
            <a:pPr algn="l" eaLnBrk="1" hangingPunct="1">
              <a:lnSpc>
                <a:spcPct val="110000"/>
              </a:lnSpc>
              <a:spcBef>
                <a:spcPts val="225"/>
              </a:spcBef>
              <a:defRPr/>
            </a:pPr>
            <a:r>
              <a:rPr lang="en-US" altLang="ja-JP" sz="1600" b="1" u="sng">
                <a:latin typeface="Arial" panose="020B0604020202020204" pitchFamily="34" charset="0"/>
                <a:ea typeface="Meiryo UI" panose="020B0604030504040204" pitchFamily="50" charset="-128"/>
                <a:cs typeface="Arial" panose="020B0604020202020204" pitchFamily="34" charset="0"/>
              </a:rPr>
              <a:t>Linking Honda-Bosch Emission Verification Process</a:t>
            </a:r>
            <a:endParaRPr lang="en-US" altLang="ja-JP" b="1" u="sng">
              <a:latin typeface="Arial" panose="020B0604020202020204" pitchFamily="34" charset="0"/>
              <a:ea typeface="Meiryo UI" panose="020B0604030504040204" pitchFamily="50" charset="-128"/>
              <a:cs typeface="Arial" panose="020B0604020202020204" pitchFamily="34" charset="0"/>
            </a:endParaRPr>
          </a:p>
          <a:p>
            <a:pPr marL="285750" indent="-285750" algn="l" eaLnBrk="1" hangingPunct="1">
              <a:lnSpc>
                <a:spcPct val="110000"/>
              </a:lnSpc>
              <a:spcBef>
                <a:spcPts val="225"/>
              </a:spcBef>
              <a:buFont typeface="Arial" panose="020B0604020202020204" pitchFamily="34" charset="0"/>
              <a:buChar char="•"/>
              <a:defRPr/>
            </a:pPr>
            <a:r>
              <a:rPr lang="en-US" altLang="ja-JP" sz="1200">
                <a:latin typeface="Arial" panose="020B0604020202020204" pitchFamily="34" charset="0"/>
                <a:ea typeface="Meiryo UI" panose="020B0604030504040204" pitchFamily="50" charset="-128"/>
                <a:cs typeface="Arial" panose="020B0604020202020204" pitchFamily="34" charset="0"/>
              </a:rPr>
              <a:t>Each development event should be linked between Honda and Bosch and development schedule shall be agreed by both parties before starting the development. In case it is found that development events and actual development schedule are deviated each other, the event and EM verification schedule should be aligned with the cooperation of both parties.</a:t>
            </a:r>
          </a:p>
          <a:p>
            <a:pPr marL="285750" indent="-285750" algn="l" eaLnBrk="1" hangingPunct="1">
              <a:lnSpc>
                <a:spcPct val="110000"/>
              </a:lnSpc>
              <a:spcBef>
                <a:spcPts val="225"/>
              </a:spcBef>
              <a:buFont typeface="Arial" panose="020B0604020202020204" pitchFamily="34" charset="0"/>
              <a:buChar char="•"/>
              <a:defRPr/>
            </a:pPr>
            <a:r>
              <a:rPr lang="en-US" altLang="ja-JP" sz="1200">
                <a:latin typeface="Arial" panose="020B0604020202020204" pitchFamily="34" charset="0"/>
                <a:ea typeface="Meiryo UI" panose="020B0604030504040204" pitchFamily="50" charset="-128"/>
                <a:cs typeface="Arial" panose="020B0604020202020204" pitchFamily="34" charset="0"/>
              </a:rPr>
              <a:t>The table below shows the main events that need to be linked.</a:t>
            </a:r>
            <a:r>
              <a:rPr lang="en-US" altLang="ja-JP" sz="1200">
                <a:solidFill>
                  <a:srgbClr val="000000"/>
                </a:solidFill>
                <a:latin typeface="Arial" panose="020B0604020202020204" pitchFamily="34" charset="0"/>
                <a:ea typeface="Meiryo UI" panose="020B0604030504040204" pitchFamily="50" charset="-128"/>
                <a:cs typeface="Arial" panose="020B0604020202020204" pitchFamily="34" charset="0"/>
              </a:rPr>
              <a:t> Reporting contents shall be aligned prior to Honda event based on joint assessment of emission </a:t>
            </a:r>
            <a:r>
              <a:rPr lang="en-US" altLang="ja-JP" sz="1200">
                <a:latin typeface="Arial" panose="020B0604020202020204" pitchFamily="34" charset="0"/>
                <a:ea typeface="Meiryo UI" panose="020B0604030504040204" pitchFamily="50" charset="-128"/>
                <a:cs typeface="Arial" panose="020B0604020202020204" pitchFamily="34" charset="0"/>
              </a:rPr>
              <a:t>results</a:t>
            </a:r>
            <a:r>
              <a:rPr lang="ja-JP" altLang="en-US" sz="1200">
                <a:latin typeface="Arial" panose="020B0604020202020204" pitchFamily="34" charset="0"/>
                <a:ea typeface="Meiryo UI" panose="020B0604030504040204" pitchFamily="50" charset="-128"/>
                <a:cs typeface="Arial" panose="020B0604020202020204" pitchFamily="34" charset="0"/>
              </a:rPr>
              <a:t> </a:t>
            </a:r>
            <a:r>
              <a:rPr lang="en-US" altLang="ja-JP" sz="1200">
                <a:latin typeface="Arial" panose="020B0604020202020204" pitchFamily="34" charset="0"/>
                <a:ea typeface="Meiryo UI" panose="020B0604030504040204" pitchFamily="50" charset="-128"/>
                <a:cs typeface="Arial" panose="020B0604020202020204" pitchFamily="34" charset="0"/>
              </a:rPr>
              <a:t>and</a:t>
            </a:r>
            <a:r>
              <a:rPr lang="ja-JP" altLang="en-US" sz="1200">
                <a:latin typeface="Arial" panose="020B0604020202020204" pitchFamily="34" charset="0"/>
                <a:ea typeface="Meiryo UI" panose="020B0604030504040204" pitchFamily="50" charset="-128"/>
                <a:cs typeface="Arial" panose="020B0604020202020204" pitchFamily="34" charset="0"/>
              </a:rPr>
              <a:t> </a:t>
            </a:r>
            <a:r>
              <a:rPr lang="en-US" altLang="ja-JP" sz="1200">
                <a:latin typeface="Arial" panose="020B0604020202020204" pitchFamily="34" charset="0"/>
                <a:ea typeface="Meiryo UI" panose="020B0604030504040204" pitchFamily="50" charset="-128"/>
                <a:cs typeface="Arial" panose="020B0604020202020204" pitchFamily="34" charset="0"/>
              </a:rPr>
              <a:t>documented in the minutes. If it is difficult to reach a mutual agreement by the PICs due to different understanding, then emission experts (CE/Mgr.) should be involved. However, if it is still not concluded, escalation to upper management will be arranged as needed for their decision.  (Please refer to the attached “Escalation path”) </a:t>
            </a:r>
          </a:p>
          <a:p>
            <a:pPr algn="l" eaLnBrk="1" hangingPunct="1">
              <a:lnSpc>
                <a:spcPct val="110000"/>
              </a:lnSpc>
              <a:spcBef>
                <a:spcPts val="225"/>
              </a:spcBef>
              <a:defRPr/>
            </a:pPr>
            <a:r>
              <a:rPr lang="en-US" altLang="ja-JP" sz="1200">
                <a:latin typeface="Arial" panose="020B0604020202020204" pitchFamily="34" charset="0"/>
                <a:ea typeface="Meiryo UI" panose="020B0604030504040204" pitchFamily="50" charset="-128"/>
                <a:cs typeface="Arial" panose="020B0604020202020204" pitchFamily="34" charset="0"/>
              </a:rPr>
              <a:t>    </a:t>
            </a:r>
            <a:r>
              <a:rPr lang="ja-JP" altLang="en-US" sz="1200">
                <a:latin typeface="Arial" panose="020B0604020202020204" pitchFamily="34" charset="0"/>
                <a:ea typeface="Meiryo UI" panose="020B0604030504040204" pitchFamily="50" charset="-128"/>
                <a:cs typeface="Arial" panose="020B0604020202020204" pitchFamily="34" charset="0"/>
              </a:rPr>
              <a:t>　　　</a:t>
            </a:r>
            <a:r>
              <a:rPr lang="en-US" altLang="ja-JP" sz="1200">
                <a:latin typeface="Arial" panose="020B0604020202020204" pitchFamily="34" charset="0"/>
                <a:ea typeface="Meiryo UI" panose="020B0604030504040204" pitchFamily="50" charset="-128"/>
                <a:cs typeface="Arial" panose="020B0604020202020204" pitchFamily="34" charset="0"/>
              </a:rPr>
              <a:t>e.g. Different Judgment on whether to change HW to achieve the Emission Target (ET).</a:t>
            </a:r>
          </a:p>
          <a:p>
            <a:pPr algn="l" eaLnBrk="1" hangingPunct="1">
              <a:lnSpc>
                <a:spcPct val="110000"/>
              </a:lnSpc>
              <a:spcBef>
                <a:spcPts val="225"/>
              </a:spcBef>
              <a:defRPr/>
            </a:pPr>
            <a:r>
              <a:rPr lang="en-US" altLang="ja-JP" sz="1200">
                <a:latin typeface="Arial" panose="020B0604020202020204" pitchFamily="34" charset="0"/>
                <a:ea typeface="Meiryo UI" panose="020B0604030504040204" pitchFamily="50" charset="-128"/>
                <a:cs typeface="Arial" panose="020B0604020202020204" pitchFamily="34" charset="0"/>
              </a:rPr>
              <a:t>	 (Honda: Achievable by </a:t>
            </a:r>
            <a:r>
              <a:rPr lang="en-US" altLang="ja-JP" sz="1200" err="1">
                <a:latin typeface="Arial" panose="020B0604020202020204" pitchFamily="34" charset="0"/>
                <a:ea typeface="Meiryo UI" panose="020B0604030504040204" pitchFamily="50" charset="-128"/>
                <a:cs typeface="Arial" panose="020B0604020202020204" pitchFamily="34" charset="0"/>
              </a:rPr>
              <a:t>calib</a:t>
            </a:r>
            <a:r>
              <a:rPr lang="en-US" altLang="ja-JP" sz="1200">
                <a:latin typeface="Arial" panose="020B0604020202020204" pitchFamily="34" charset="0"/>
                <a:ea typeface="Meiryo UI" panose="020B0604030504040204" pitchFamily="50" charset="-128"/>
                <a:cs typeface="Arial" panose="020B0604020202020204" pitchFamily="34" charset="0"/>
              </a:rPr>
              <a:t>.  Bosch: HW change is necessary)</a:t>
            </a:r>
          </a:p>
          <a:p>
            <a:endParaRPr kumimoji="1" lang="ja-JP" altLang="en-US"/>
          </a:p>
        </p:txBody>
      </p:sp>
      <p:pic>
        <p:nvPicPr>
          <p:cNvPr id="12" name="図 11">
            <a:extLst>
              <a:ext uri="{FF2B5EF4-FFF2-40B4-BE49-F238E27FC236}">
                <a16:creationId xmlns:a16="http://schemas.microsoft.com/office/drawing/2014/main" id="{64490AB2-2246-85C1-B6BD-0B5CBC21F6B6}"/>
              </a:ext>
            </a:extLst>
          </p:cNvPr>
          <p:cNvPicPr>
            <a:picLocks noChangeAspect="1"/>
          </p:cNvPicPr>
          <p:nvPr/>
        </p:nvPicPr>
        <p:blipFill>
          <a:blip r:embed="rId2"/>
          <a:stretch>
            <a:fillRect/>
          </a:stretch>
        </p:blipFill>
        <p:spPr>
          <a:xfrm>
            <a:off x="6174074" y="3150182"/>
            <a:ext cx="2825175" cy="1592442"/>
          </a:xfrm>
          <a:prstGeom prst="rect">
            <a:avLst/>
          </a:prstGeom>
        </p:spPr>
      </p:pic>
      <p:pic>
        <p:nvPicPr>
          <p:cNvPr id="14" name="図 13">
            <a:extLst>
              <a:ext uri="{FF2B5EF4-FFF2-40B4-BE49-F238E27FC236}">
                <a16:creationId xmlns:a16="http://schemas.microsoft.com/office/drawing/2014/main" id="{5E01D43B-C3BE-A9AB-75C2-F6EF1044AEDC}"/>
              </a:ext>
            </a:extLst>
          </p:cNvPr>
          <p:cNvPicPr>
            <a:picLocks noChangeAspect="1"/>
          </p:cNvPicPr>
          <p:nvPr/>
        </p:nvPicPr>
        <p:blipFill>
          <a:blip r:embed="rId3"/>
          <a:stretch>
            <a:fillRect/>
          </a:stretch>
        </p:blipFill>
        <p:spPr>
          <a:xfrm>
            <a:off x="6170186" y="4962617"/>
            <a:ext cx="2829063" cy="1592442"/>
          </a:xfrm>
          <a:prstGeom prst="rect">
            <a:avLst/>
          </a:prstGeom>
        </p:spPr>
      </p:pic>
      <p:sp>
        <p:nvSpPr>
          <p:cNvPr id="15" name="Text Box 2">
            <a:extLst>
              <a:ext uri="{FF2B5EF4-FFF2-40B4-BE49-F238E27FC236}">
                <a16:creationId xmlns:a16="http://schemas.microsoft.com/office/drawing/2014/main" id="{A8AB1890-C0E3-8359-4320-8BCA5587387D}"/>
              </a:ext>
            </a:extLst>
          </p:cNvPr>
          <p:cNvSpPr txBox="1">
            <a:spLocks noChangeArrowheads="1"/>
          </p:cNvSpPr>
          <p:nvPr/>
        </p:nvSpPr>
        <p:spPr bwMode="auto">
          <a:xfrm>
            <a:off x="5954956" y="2772378"/>
            <a:ext cx="3258485" cy="515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lnSpc>
                <a:spcPct val="110000"/>
              </a:lnSpc>
              <a:spcBef>
                <a:spcPts val="225"/>
              </a:spcBef>
              <a:defRPr/>
            </a:pPr>
            <a:r>
              <a:rPr lang="en-US" altLang="ja-JP" sz="1100" u="sng">
                <a:latin typeface="Meiryo UI" panose="020B0604030504040204" pitchFamily="50" charset="-128"/>
                <a:ea typeface="Meiryo UI" panose="020B0604030504040204" pitchFamily="50" charset="-128"/>
              </a:rPr>
              <a:t>Lessons Learned from 66VA PN GPF Change</a:t>
            </a:r>
            <a:endParaRPr lang="en-US" altLang="ja-JP" sz="1100">
              <a:latin typeface="Meiryo UI" panose="020B0604030504040204" pitchFamily="50" charset="-128"/>
              <a:ea typeface="Meiryo UI" panose="020B0604030504040204" pitchFamily="50" charset="-128"/>
            </a:endParaRPr>
          </a:p>
          <a:p>
            <a:pPr marL="180612" lvl="1" indent="0" algn="l" eaLnBrk="1" hangingPunct="1">
              <a:lnSpc>
                <a:spcPct val="110000"/>
              </a:lnSpc>
              <a:spcBef>
                <a:spcPts val="600"/>
              </a:spcBef>
              <a:defRPr/>
            </a:pPr>
            <a:endParaRPr lang="en-US" altLang="ja-JP" sz="105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3753019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017111" y="571728"/>
            <a:ext cx="4126889"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キックオフミーティングの目的</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委託開発適用範囲</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委託元と委託先</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基本コンセプト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委託業務役割責任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RASIC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要約）</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前提条件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判断（評価判断、委託完了判断・対価の判断）およびタイミング</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支払い基準</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開発費定義　　　　　　　　　　　　　　　　　　　　　　　　　　　　　　　　　　　　　　　　　　　　　　</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プロジェクトマネージメント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概要・基本諸元説明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適用法規概要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概要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構成部品（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部品）</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仕様差</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・プロジェクト情報</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関連部品</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Spec</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車載機能・装備説明</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信頼性保証要件</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要求＆ＣＲ</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成果物検証・品質検証</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シート</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エキスパート</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MTG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について</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サポート業務</a:t>
            </a: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その他の開発ガイドライン</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開発日程</a:t>
            </a:r>
            <a:endPar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342900" marR="0" lvl="0" indent="-342900" algn="l" defTabSz="914400" rtl="0" eaLnBrk="1" fontAlgn="base" latinLnBrk="0" hangingPunct="1">
              <a:lnSpc>
                <a:spcPct val="100000"/>
              </a:lnSpc>
              <a:spcBef>
                <a:spcPts val="0"/>
              </a:spcBef>
              <a:spcAft>
                <a:spcPct val="0"/>
              </a:spcAft>
              <a:buClrTx/>
              <a:buSzTx/>
              <a:buFont typeface="+mj-lt"/>
              <a:buAutoNum type="arabicPeriod"/>
              <a:tabLst/>
              <a:defRPr/>
            </a:pPr>
            <a:r>
              <a:rPr kumimoji="1" lang="ja-JP" altLang="en-US"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開発体制表</a:t>
            </a:r>
            <a:endPar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endParaRPr>
          </a:p>
        </p:txBody>
      </p:sp>
      <p:sp>
        <p:nvSpPr>
          <p:cNvPr id="6" name="Text Box 2"/>
          <p:cNvSpPr txBox="1">
            <a:spLocks noChangeArrowheads="1"/>
          </p:cNvSpPr>
          <p:nvPr/>
        </p:nvSpPr>
        <p:spPr bwMode="auto">
          <a:xfrm>
            <a:off x="133262" y="44450"/>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Contents</a:t>
            </a:r>
            <a:r>
              <a:rPr kumimoji="1" lang="ja-JP" altLang="en-US" sz="2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（目次）</a:t>
            </a:r>
            <a:endParaRPr kumimoji="1" lang="en-US" altLang="ja-JP" sz="11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7" name="Text Box 2"/>
          <p:cNvSpPr txBox="1">
            <a:spLocks noChangeArrowheads="1"/>
          </p:cNvSpPr>
          <p:nvPr/>
        </p:nvSpPr>
        <p:spPr bwMode="auto">
          <a:xfrm>
            <a:off x="106623" y="571728"/>
            <a:ext cx="4910488" cy="5909310"/>
          </a:xfrm>
          <a:prstGeom prst="rect">
            <a:avLst/>
          </a:prstGeom>
          <a:noFill/>
          <a:ln>
            <a:noFill/>
          </a:ln>
          <a:effectLst/>
        </p:spPr>
        <p:txBody>
          <a:bodyPr wrap="square">
            <a:spAutoFit/>
          </a:bodyPr>
          <a:lstStyle>
            <a:lvl1pPr marL="457200" indent="-457200"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Purpose of</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Kick-off Meeting</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Scope of Development Work</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Entrustor</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and </a:t>
            </a:r>
            <a:r>
              <a:rPr kumimoji="1" lang="en-US" altLang="ja-JP" sz="1400" b="0" i="0" u="none" strike="noStrike" kern="1200" cap="none" spc="0" normalizeH="0" baseline="0" noProof="0" err="1">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Entrustee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Concept / Deliverables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Role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&amp;</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Responsibility (Samples of RASIC)</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Preconditions</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Judgments (on Evaluation, Completion of Development Work Entrusted by Honda and  Payment Amount) and Timings</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Payment Criteria / Definition of Development Fee </a:t>
            </a:r>
          </a:p>
          <a:p>
            <a:pPr marL="450850" marR="0" lvl="0" indent="-45085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Management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Overview</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and</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Basic Specification </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Applicable Regulations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Management</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System Overview</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Components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(Bosch 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Engine Spec Comparison from Base Model</a:t>
            </a:r>
            <a:b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b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Project information / Non-Bosch</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Components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In-Vehicle</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Functions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Relating</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ECU and Features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Reliability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Assurance</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EMS Requirement and CR </a:t>
            </a:r>
            <a:endParaRPr kumimoji="1" lang="ja-JP" altLang="en-US" sz="1400" b="0" i="0" u="none" strike="dbl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Report Maturity and Quality Verification</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EMS Sheet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Expert Meeting</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Necessary</a:t>
            </a:r>
            <a:r>
              <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Support</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Miscellaneous Guidelines</a:t>
            </a: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rPr>
              <a:t>Development Schedule</a:t>
            </a:r>
            <a:endParaRPr kumimoji="1" lang="ja-JP" altLang="en-US" sz="1400" b="0" i="0" u="none" strike="noStrike" kern="1200" cap="none" spc="0" normalizeH="0" baseline="0" noProof="0">
              <a:ln>
                <a:noFill/>
              </a:ln>
              <a:solidFill>
                <a:schemeClr val="bg1">
                  <a:lumMod val="65000"/>
                </a:schemeClr>
              </a:solidFill>
              <a:effectLst/>
              <a:uLnTx/>
              <a:uFillTx/>
              <a:latin typeface="Meiryo UI" panose="020B0604030504040204" pitchFamily="50" charset="-128"/>
              <a:ea typeface="Meiryo UI" panose="020B0604030504040204" pitchFamily="50" charset="-128"/>
              <a:cs typeface="Arial" pitchFamily="34" charset="0"/>
            </a:endParaRPr>
          </a:p>
          <a:p>
            <a:pPr marL="457200" marR="0" lvl="0" indent="-457200" algn="l" defTabSz="914400" rtl="0" eaLnBrk="1" fontAlgn="base" latinLnBrk="0" hangingPunct="1">
              <a:lnSpc>
                <a:spcPct val="100000"/>
              </a:lnSpc>
              <a:spcBef>
                <a:spcPts val="0"/>
              </a:spcBef>
              <a:spcAft>
                <a:spcPct val="0"/>
              </a:spcAft>
              <a:buClrTx/>
              <a:buSzTx/>
              <a:buFont typeface="Times New Roman" pitchFamily="18" charset="0"/>
              <a:buAutoNum type="arabicPeriod"/>
              <a:tabLst/>
              <a:defRPr/>
            </a:pPr>
            <a:r>
              <a:rPr kumimoji="1" lang="en-US" altLang="ja-JP" sz="14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Development Organization Chart</a:t>
            </a:r>
          </a:p>
        </p:txBody>
      </p:sp>
    </p:spTree>
    <p:extLst>
      <p:ext uri="{BB962C8B-B14F-4D97-AF65-F5344CB8AC3E}">
        <p14:creationId xmlns:p14="http://schemas.microsoft.com/office/powerpoint/2010/main" val="158469321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Text Box 2"/>
          <p:cNvSpPr txBox="1">
            <a:spLocks noChangeArrowheads="1"/>
          </p:cNvSpPr>
          <p:nvPr/>
        </p:nvSpPr>
        <p:spPr bwMode="auto">
          <a:xfrm>
            <a:off x="250829" y="44450"/>
            <a:ext cx="8893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20. Development</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organization</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(1/2)</a:t>
            </a:r>
            <a:endParaRPr kumimoji="1" lang="en-US" altLang="ja-JP" sz="12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pic>
        <p:nvPicPr>
          <p:cNvPr id="101" name="Picture 2"/>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976786" y="637024"/>
            <a:ext cx="2134048" cy="298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 name="Text Box 5"/>
          <p:cNvSpPr txBox="1">
            <a:spLocks noChangeArrowheads="1"/>
          </p:cNvSpPr>
          <p:nvPr/>
        </p:nvSpPr>
        <p:spPr bwMode="auto">
          <a:xfrm>
            <a:off x="3502356" y="2467248"/>
            <a:ext cx="2132341" cy="855944"/>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機能統括</a:t>
            </a:r>
            <a:endPar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Function</a:t>
            </a:r>
            <a:r>
              <a:rPr kumimoji="1" lang="ja-JP" altLang="en-US"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Leader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飯生</a:t>
            </a:r>
            <a:r>
              <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lang="ja-JP" altLang="en-US" sz="1400" kern="0">
                <a:solidFill>
                  <a:srgbClr val="000000"/>
                </a:solidFill>
                <a:latin typeface="Meiryo UI" pitchFamily="50" charset="-128"/>
                <a:ea typeface="Meiryo UI" pitchFamily="50" charset="-128"/>
                <a:cs typeface="Meiryo UI" pitchFamily="50" charset="-128"/>
              </a:rPr>
              <a:t>尾島</a:t>
            </a:r>
            <a:endPar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03" name="Text Box 65"/>
          <p:cNvSpPr txBox="1">
            <a:spLocks noChangeArrowheads="1"/>
          </p:cNvSpPr>
          <p:nvPr/>
        </p:nvSpPr>
        <p:spPr bwMode="auto">
          <a:xfrm>
            <a:off x="7116454" y="4277471"/>
            <a:ext cx="976549" cy="40011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電装デバイス</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Electrical</a:t>
            </a:r>
            <a:r>
              <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device</a:t>
            </a:r>
            <a:endPar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05" name="Text Box 66"/>
          <p:cNvSpPr txBox="1">
            <a:spLocks noChangeArrowheads="1"/>
          </p:cNvSpPr>
          <p:nvPr/>
        </p:nvSpPr>
        <p:spPr bwMode="auto">
          <a:xfrm>
            <a:off x="5050816" y="4277471"/>
            <a:ext cx="1040105" cy="5232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吸排燃 設計</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In/Ex/Fuel</a:t>
            </a:r>
            <a:r>
              <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Design</a:t>
            </a:r>
            <a:endPar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06" name="Text Box 71"/>
          <p:cNvSpPr txBox="1">
            <a:spLocks noChangeArrowheads="1"/>
          </p:cNvSpPr>
          <p:nvPr/>
        </p:nvSpPr>
        <p:spPr bwMode="auto">
          <a:xfrm>
            <a:off x="6003766" y="5043445"/>
            <a:ext cx="4924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a:solidFill>
                  <a:srgbClr val="000000"/>
                </a:solidFill>
                <a:latin typeface="Meiryo UI" pitchFamily="50" charset="-128"/>
                <a:ea typeface="Meiryo UI" pitchFamily="50" charset="-128"/>
                <a:cs typeface="Meiryo UI" pitchFamily="50" charset="-128"/>
              </a:rPr>
              <a:t>尾島</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err="1">
                <a:solidFill>
                  <a:srgbClr val="000000"/>
                </a:solidFill>
                <a:latin typeface="Meiryo UI" pitchFamily="50" charset="-128"/>
                <a:ea typeface="Meiryo UI" pitchFamily="50" charset="-128"/>
                <a:cs typeface="Meiryo UI" pitchFamily="50" charset="-128"/>
              </a:rPr>
              <a:t>Ozima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07" name="Text Box 74"/>
          <p:cNvSpPr txBox="1">
            <a:spLocks noChangeArrowheads="1"/>
          </p:cNvSpPr>
          <p:nvPr/>
        </p:nvSpPr>
        <p:spPr bwMode="auto">
          <a:xfrm>
            <a:off x="3284" y="4277471"/>
            <a:ext cx="837602" cy="40011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商品性</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Marketability</a:t>
            </a:r>
          </a:p>
        </p:txBody>
      </p:sp>
      <p:sp>
        <p:nvSpPr>
          <p:cNvPr id="109" name="Text Box 76"/>
          <p:cNvSpPr txBox="1">
            <a:spLocks noChangeArrowheads="1"/>
          </p:cNvSpPr>
          <p:nvPr/>
        </p:nvSpPr>
        <p:spPr bwMode="auto">
          <a:xfrm>
            <a:off x="7283969" y="5043445"/>
            <a:ext cx="6415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山岡</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Yamaoka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11" name="AutoShape 82"/>
          <p:cNvCxnSpPr>
            <a:cxnSpLocks noChangeShapeType="1"/>
            <a:stCxn id="236" idx="2"/>
            <a:endCxn id="107" idx="0"/>
          </p:cNvCxnSpPr>
          <p:nvPr/>
        </p:nvCxnSpPr>
        <p:spPr bwMode="auto">
          <a:xfrm rot="5400000">
            <a:off x="676607" y="3724227"/>
            <a:ext cx="307794" cy="798694"/>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AutoShape 84"/>
          <p:cNvCxnSpPr>
            <a:cxnSpLocks noChangeShapeType="1"/>
            <a:stCxn id="238" idx="2"/>
            <a:endCxn id="105" idx="0"/>
          </p:cNvCxnSpPr>
          <p:nvPr/>
        </p:nvCxnSpPr>
        <p:spPr bwMode="auto">
          <a:xfrm rot="5400000">
            <a:off x="5786248" y="3753003"/>
            <a:ext cx="312937" cy="743693"/>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AutoShape 85"/>
          <p:cNvCxnSpPr>
            <a:cxnSpLocks noChangeShapeType="1"/>
            <a:stCxn id="102" idx="2"/>
            <a:endCxn id="267" idx="0"/>
          </p:cNvCxnSpPr>
          <p:nvPr/>
        </p:nvCxnSpPr>
        <p:spPr bwMode="auto">
          <a:xfrm rot="16200000" flipH="1">
            <a:off x="5996500" y="1895218"/>
            <a:ext cx="179278" cy="3035225"/>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Text Box 105"/>
          <p:cNvSpPr txBox="1">
            <a:spLocks noChangeArrowheads="1"/>
          </p:cNvSpPr>
          <p:nvPr/>
        </p:nvSpPr>
        <p:spPr bwMode="auto">
          <a:xfrm>
            <a:off x="3041045" y="5932896"/>
            <a:ext cx="66556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000" b="0" i="0" u="none" strike="noStrike" kern="1200" cap="none" spc="0" normalizeH="0" baseline="0" noProof="0" err="1">
                <a:ln>
                  <a:noFill/>
                </a:ln>
                <a:solidFill>
                  <a:srgbClr val="000000"/>
                </a:solidFill>
                <a:effectLst/>
                <a:uLnTx/>
                <a:uFillTx/>
                <a:latin typeface="Meiryo UI" pitchFamily="50" charset="-128"/>
                <a:ea typeface="Meiryo UI" pitchFamily="50" charset="-128"/>
                <a:cs typeface="Meiryo UI" pitchFamily="50" charset="-128"/>
              </a:rPr>
              <a:t>Perfo</a:t>
            </a: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21" name="Text Box 108"/>
          <p:cNvSpPr txBox="1">
            <a:spLocks noChangeArrowheads="1"/>
          </p:cNvSpPr>
          <p:nvPr/>
        </p:nvSpPr>
        <p:spPr bwMode="auto">
          <a:xfrm>
            <a:off x="3037199" y="4277471"/>
            <a:ext cx="673261" cy="40011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性能</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Performance</a:t>
            </a:r>
            <a:endPar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22" name="AutoShape 111"/>
          <p:cNvCxnSpPr>
            <a:cxnSpLocks noChangeShapeType="1"/>
            <a:stCxn id="121" idx="0"/>
            <a:endCxn id="133" idx="2"/>
          </p:cNvCxnSpPr>
          <p:nvPr/>
        </p:nvCxnSpPr>
        <p:spPr bwMode="auto">
          <a:xfrm rot="5400000" flipH="1" flipV="1">
            <a:off x="3198745" y="4098590"/>
            <a:ext cx="353967" cy="3797"/>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6" name="Text Box 66"/>
          <p:cNvSpPr txBox="1">
            <a:spLocks noChangeArrowheads="1"/>
          </p:cNvSpPr>
          <p:nvPr/>
        </p:nvSpPr>
        <p:spPr bwMode="auto">
          <a:xfrm>
            <a:off x="1536421" y="1043627"/>
            <a:ext cx="668773" cy="307777"/>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HRAP</a:t>
            </a:r>
            <a:endParaRPr kumimoji="1" lang="ja-JP" altLang="en-US"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7" name="Text Box 65"/>
          <p:cNvSpPr txBox="1">
            <a:spLocks noChangeArrowheads="1"/>
          </p:cNvSpPr>
          <p:nvPr/>
        </p:nvSpPr>
        <p:spPr bwMode="auto">
          <a:xfrm>
            <a:off x="3755885" y="4277471"/>
            <a:ext cx="518092" cy="276999"/>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NVH</a:t>
            </a:r>
          </a:p>
        </p:txBody>
      </p:sp>
      <p:sp>
        <p:nvSpPr>
          <p:cNvPr id="138" name="Text Box 78"/>
          <p:cNvSpPr txBox="1">
            <a:spLocks noChangeArrowheads="1"/>
          </p:cNvSpPr>
          <p:nvPr/>
        </p:nvSpPr>
        <p:spPr bwMode="auto">
          <a:xfrm>
            <a:off x="3738642" y="5932896"/>
            <a:ext cx="57419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(NVH)</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42" name="AutoShape 111"/>
          <p:cNvCxnSpPr>
            <a:cxnSpLocks noChangeShapeType="1"/>
            <a:stCxn id="102" idx="1"/>
            <a:endCxn id="134" idx="2"/>
          </p:cNvCxnSpPr>
          <p:nvPr/>
        </p:nvCxnSpPr>
        <p:spPr bwMode="auto">
          <a:xfrm rot="10800000">
            <a:off x="647240" y="2579848"/>
            <a:ext cx="2855117" cy="315373"/>
          </a:xfrm>
          <a:prstGeom prst="bentConnector2">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AutoShape 86"/>
          <p:cNvCxnSpPr>
            <a:cxnSpLocks noChangeShapeType="1"/>
            <a:stCxn id="133" idx="2"/>
            <a:endCxn id="137" idx="0"/>
          </p:cNvCxnSpPr>
          <p:nvPr/>
        </p:nvCxnSpPr>
        <p:spPr bwMode="auto">
          <a:xfrm rot="16200000" flipH="1">
            <a:off x="3519296" y="3781835"/>
            <a:ext cx="353967" cy="637304"/>
          </a:xfrm>
          <a:prstGeom prst="bentConnector3">
            <a:avLst>
              <a:gd name="adj1" fmla="val 50000"/>
            </a:avLst>
          </a:prstGeom>
          <a:noFill/>
          <a:ln w="9525">
            <a:solidFill>
              <a:schemeClr val="tx1"/>
            </a:solidFill>
            <a:prstDash val="solid"/>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Text Box 65"/>
          <p:cNvSpPr txBox="1">
            <a:spLocks noChangeArrowheads="1"/>
          </p:cNvSpPr>
          <p:nvPr/>
        </p:nvSpPr>
        <p:spPr bwMode="auto">
          <a:xfrm>
            <a:off x="4319318" y="4277471"/>
            <a:ext cx="660757" cy="40011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信頼性</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Reliability</a:t>
            </a:r>
            <a:endPar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45" name="AutoShape 84"/>
          <p:cNvCxnSpPr>
            <a:cxnSpLocks noChangeShapeType="1"/>
            <a:stCxn id="133" idx="2"/>
            <a:endCxn id="144" idx="0"/>
          </p:cNvCxnSpPr>
          <p:nvPr/>
        </p:nvCxnSpPr>
        <p:spPr bwMode="auto">
          <a:xfrm rot="16200000" flipH="1">
            <a:off x="3836679" y="3464452"/>
            <a:ext cx="353967" cy="127207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テキスト ボックス 158"/>
          <p:cNvSpPr txBox="1"/>
          <p:nvPr/>
        </p:nvSpPr>
        <p:spPr>
          <a:xfrm>
            <a:off x="3807800" y="3049109"/>
            <a:ext cx="1409360" cy="230832"/>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Yoshioka / Nishimori</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65" name="テキスト ボックス 160"/>
          <p:cNvSpPr txBox="1"/>
          <p:nvPr/>
        </p:nvSpPr>
        <p:spPr>
          <a:xfrm>
            <a:off x="1503384" y="821875"/>
            <a:ext cx="1277914" cy="253916"/>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rPr>
              <a:t>Parent Company</a:t>
            </a:r>
            <a:endParaRPr kumimoji="1" lang="ja-JP" altLang="en-US" sz="1050" b="0"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endParaRPr>
          </a:p>
        </p:txBody>
      </p:sp>
      <p:sp>
        <p:nvSpPr>
          <p:cNvPr id="168" name="Text Box 5"/>
          <p:cNvSpPr txBox="1">
            <a:spLocks noChangeArrowheads="1"/>
          </p:cNvSpPr>
          <p:nvPr/>
        </p:nvSpPr>
        <p:spPr bwMode="auto">
          <a:xfrm>
            <a:off x="1258730" y="1664212"/>
            <a:ext cx="1213794" cy="492443"/>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HRAP Regal</a:t>
            </a:r>
            <a:endPar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Phaijittra</a:t>
            </a:r>
            <a:endParaRPr kumimoji="1" lang="en-US" altLang="ja-JP" sz="5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77" name="AutoShape 111"/>
          <p:cNvCxnSpPr>
            <a:cxnSpLocks noChangeShapeType="1"/>
            <a:stCxn id="102" idx="1"/>
            <a:endCxn id="168" idx="2"/>
          </p:cNvCxnSpPr>
          <p:nvPr/>
        </p:nvCxnSpPr>
        <p:spPr bwMode="auto">
          <a:xfrm rot="10800000">
            <a:off x="1865628" y="2156656"/>
            <a:ext cx="1636729" cy="738565"/>
          </a:xfrm>
          <a:prstGeom prst="bentConnector2">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0" name="Text Box 102"/>
          <p:cNvSpPr txBox="1">
            <a:spLocks noChangeArrowheads="1"/>
          </p:cNvSpPr>
          <p:nvPr/>
        </p:nvSpPr>
        <p:spPr bwMode="auto">
          <a:xfrm>
            <a:off x="131233" y="5932896"/>
            <a:ext cx="6030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rgbClr val="000000"/>
                </a:solidFill>
                <a:latin typeface="Meiryo UI" pitchFamily="50" charset="-128"/>
                <a:ea typeface="Meiryo UI" pitchFamily="50" charset="-128"/>
                <a:cs typeface="Meiryo UI" pitchFamily="50" charset="-128"/>
              </a:rPr>
              <a:t>Jukgrit</a:t>
            </a:r>
            <a:endPar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(DRB)</a:t>
            </a:r>
          </a:p>
        </p:txBody>
      </p:sp>
      <p:cxnSp>
        <p:nvCxnSpPr>
          <p:cNvPr id="187" name="AutoShape 87"/>
          <p:cNvCxnSpPr>
            <a:cxnSpLocks noChangeShapeType="1"/>
            <a:stCxn id="241" idx="2"/>
            <a:endCxn id="180" idx="0"/>
          </p:cNvCxnSpPr>
          <p:nvPr/>
        </p:nvCxnSpPr>
        <p:spPr bwMode="auto">
          <a:xfrm rot="5400000">
            <a:off x="609267" y="5267047"/>
            <a:ext cx="489341" cy="842357"/>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 name="Text Box 65"/>
          <p:cNvSpPr txBox="1">
            <a:spLocks noChangeArrowheads="1"/>
          </p:cNvSpPr>
          <p:nvPr/>
        </p:nvSpPr>
        <p:spPr bwMode="auto">
          <a:xfrm>
            <a:off x="861373" y="4277471"/>
            <a:ext cx="799677" cy="415498"/>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環境</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EM/FE/OBD</a:t>
            </a:r>
          </a:p>
        </p:txBody>
      </p:sp>
      <p:cxnSp>
        <p:nvCxnSpPr>
          <p:cNvPr id="206" name="AutoShape 85"/>
          <p:cNvCxnSpPr>
            <a:cxnSpLocks noChangeShapeType="1"/>
            <a:stCxn id="236" idx="2"/>
            <a:endCxn id="205" idx="0"/>
          </p:cNvCxnSpPr>
          <p:nvPr/>
        </p:nvCxnSpPr>
        <p:spPr bwMode="auto">
          <a:xfrm rot="16200000" flipH="1">
            <a:off x="1099858" y="4099669"/>
            <a:ext cx="307794" cy="4780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7" name="Text Box 5"/>
          <p:cNvSpPr txBox="1">
            <a:spLocks noChangeArrowheads="1"/>
          </p:cNvSpPr>
          <p:nvPr/>
        </p:nvSpPr>
        <p:spPr bwMode="auto">
          <a:xfrm>
            <a:off x="5108227" y="1043627"/>
            <a:ext cx="1922521" cy="877163"/>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機種統括</a:t>
            </a:r>
            <a:endPar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Vehicle</a:t>
            </a:r>
            <a:r>
              <a:rPr kumimoji="1" lang="ja-JP" altLang="en-US"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development</a:t>
            </a:r>
            <a:r>
              <a:rPr kumimoji="1" lang="ja-JP" altLang="en-US"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Leader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Chaiwat</a:t>
            </a:r>
            <a:r>
              <a:rPr kumimoji="1" lang="ja-JP" altLang="en-US"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A-LPL</a:t>
            </a:r>
            <a:r>
              <a:rPr kumimoji="1" lang="ja-JP" altLang="en-US"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(HRAP)</a:t>
            </a:r>
          </a:p>
        </p:txBody>
      </p:sp>
      <p:sp>
        <p:nvSpPr>
          <p:cNvPr id="223" name="Text Box 65"/>
          <p:cNvSpPr txBox="1">
            <a:spLocks noChangeArrowheads="1"/>
          </p:cNvSpPr>
          <p:nvPr/>
        </p:nvSpPr>
        <p:spPr bwMode="auto">
          <a:xfrm>
            <a:off x="5992913" y="2440889"/>
            <a:ext cx="1067921" cy="307777"/>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ISO26262</a:t>
            </a:r>
            <a:endParaRPr kumimoji="1" lang="ja-JP" altLang="en-US"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31" name="AutoShape 111"/>
          <p:cNvCxnSpPr>
            <a:cxnSpLocks noChangeShapeType="1"/>
            <a:stCxn id="102" idx="3"/>
            <a:endCxn id="223" idx="1"/>
          </p:cNvCxnSpPr>
          <p:nvPr/>
        </p:nvCxnSpPr>
        <p:spPr bwMode="auto">
          <a:xfrm flipV="1">
            <a:off x="5634697" y="2594778"/>
            <a:ext cx="358216" cy="300442"/>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2" name="AutoShape 111"/>
          <p:cNvCxnSpPr>
            <a:cxnSpLocks noChangeShapeType="1"/>
            <a:stCxn id="207" idx="1"/>
            <a:endCxn id="102" idx="0"/>
          </p:cNvCxnSpPr>
          <p:nvPr/>
        </p:nvCxnSpPr>
        <p:spPr bwMode="auto">
          <a:xfrm rot="10800000" flipV="1">
            <a:off x="4568527" y="1482208"/>
            <a:ext cx="539700" cy="985039"/>
          </a:xfrm>
          <a:prstGeom prst="bentConnector2">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3" name="Text Box 67"/>
          <p:cNvSpPr txBox="1">
            <a:spLocks noChangeArrowheads="1"/>
          </p:cNvSpPr>
          <p:nvPr/>
        </p:nvSpPr>
        <p:spPr bwMode="auto">
          <a:xfrm>
            <a:off x="4176629" y="3502470"/>
            <a:ext cx="1589300"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Design PL : Tutiya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Test PL : Jirapipat</a:t>
            </a:r>
          </a:p>
        </p:txBody>
      </p:sp>
      <p:sp>
        <p:nvSpPr>
          <p:cNvPr id="236" name="角丸四角形 235"/>
          <p:cNvSpPr/>
          <p:nvPr/>
        </p:nvSpPr>
        <p:spPr>
          <a:xfrm>
            <a:off x="744802" y="3502470"/>
            <a:ext cx="970098" cy="456953"/>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FFFFFF"/>
                </a:solidFill>
                <a:effectLst/>
                <a:uLnTx/>
                <a:uFillTx/>
                <a:latin typeface="Calibri"/>
                <a:ea typeface="ＭＳ Ｐゴシック"/>
                <a:cs typeface="+mn-cs"/>
              </a:rPr>
              <a:t>HRAP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FFFFFF"/>
                </a:solidFill>
                <a:effectLst/>
                <a:uLnTx/>
                <a:uFillTx/>
                <a:latin typeface="Calibri"/>
                <a:ea typeface="ＭＳ Ｐゴシック"/>
                <a:cs typeface="+mn-cs"/>
              </a:rPr>
              <a:t>PU-Dev</a:t>
            </a:r>
            <a:endParaRPr kumimoji="0" lang="ja-JP" altLang="en-US" sz="1400" b="1" i="0" u="none" strike="noStrike" kern="0" cap="none" spc="0" normalizeH="0" baseline="0" noProof="0">
              <a:ln>
                <a:noFill/>
              </a:ln>
              <a:solidFill>
                <a:srgbClr val="FFFFFF"/>
              </a:solidFill>
              <a:effectLst/>
              <a:uLnTx/>
              <a:uFillTx/>
              <a:latin typeface="Calibri"/>
              <a:ea typeface="ＭＳ Ｐゴシック"/>
              <a:cs typeface="+mn-cs"/>
            </a:endParaRPr>
          </a:p>
        </p:txBody>
      </p:sp>
      <p:sp>
        <p:nvSpPr>
          <p:cNvPr id="238" name="角丸四角形 237"/>
          <p:cNvSpPr/>
          <p:nvPr/>
        </p:nvSpPr>
        <p:spPr>
          <a:xfrm>
            <a:off x="5863553" y="3502470"/>
            <a:ext cx="902018" cy="456955"/>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FFFFFF"/>
                </a:solidFill>
                <a:effectLst/>
                <a:uLnTx/>
                <a:uFillTx/>
                <a:latin typeface="Calibri"/>
                <a:ea typeface="ＭＳ Ｐゴシック"/>
                <a:cs typeface="+mn-cs"/>
              </a:rPr>
              <a:t>HRAP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FFFFFF"/>
                </a:solidFill>
                <a:effectLst/>
                <a:uLnTx/>
                <a:uFillTx/>
                <a:latin typeface="Calibri"/>
                <a:ea typeface="ＭＳ Ｐゴシック"/>
                <a:cs typeface="+mn-cs"/>
              </a:rPr>
              <a:t>PU-Des</a:t>
            </a:r>
            <a:endParaRPr kumimoji="0" lang="ja-JP" altLang="en-US" sz="1400" b="1" i="0" u="none" strike="noStrike" kern="0" cap="none" spc="0" normalizeH="0" baseline="0" noProof="0">
              <a:ln>
                <a:noFill/>
              </a:ln>
              <a:solidFill>
                <a:srgbClr val="FFFFFF"/>
              </a:solidFill>
              <a:effectLst/>
              <a:uLnTx/>
              <a:uFillTx/>
              <a:latin typeface="Calibri"/>
              <a:ea typeface="ＭＳ Ｐゴシック"/>
              <a:cs typeface="+mn-cs"/>
            </a:endParaRPr>
          </a:p>
        </p:txBody>
      </p:sp>
      <p:cxnSp>
        <p:nvCxnSpPr>
          <p:cNvPr id="239" name="カギ線コネクタ 238"/>
          <p:cNvCxnSpPr>
            <a:stCxn id="238" idx="0"/>
            <a:endCxn id="102" idx="2"/>
          </p:cNvCxnSpPr>
          <p:nvPr/>
        </p:nvCxnSpPr>
        <p:spPr>
          <a:xfrm rot="16200000" flipV="1">
            <a:off x="5351906" y="2539813"/>
            <a:ext cx="179278" cy="1746035"/>
          </a:xfrm>
          <a:prstGeom prst="bentConnector3">
            <a:avLst/>
          </a:prstGeom>
          <a:noFill/>
          <a:ln w="9525" cap="flat" cmpd="sng" algn="ctr">
            <a:solidFill>
              <a:schemeClr val="tx1"/>
            </a:solidFill>
            <a:prstDash val="solid"/>
          </a:ln>
          <a:effectLst/>
        </p:spPr>
      </p:cxnSp>
      <p:cxnSp>
        <p:nvCxnSpPr>
          <p:cNvPr id="240" name="AutoShape 82"/>
          <p:cNvCxnSpPr>
            <a:cxnSpLocks noChangeShapeType="1"/>
            <a:stCxn id="102" idx="2"/>
            <a:endCxn id="236" idx="0"/>
          </p:cNvCxnSpPr>
          <p:nvPr/>
        </p:nvCxnSpPr>
        <p:spPr bwMode="auto">
          <a:xfrm rot="5400000">
            <a:off x="2804423" y="1748620"/>
            <a:ext cx="189532" cy="3338676"/>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1" name="Text Box 75"/>
          <p:cNvSpPr txBox="1">
            <a:spLocks noChangeArrowheads="1"/>
          </p:cNvSpPr>
          <p:nvPr/>
        </p:nvSpPr>
        <p:spPr bwMode="auto">
          <a:xfrm>
            <a:off x="961567" y="5043445"/>
            <a:ext cx="6270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a:solidFill>
                  <a:srgbClr val="000000"/>
                </a:solidFill>
                <a:latin typeface="Meiryo UI" pitchFamily="50" charset="-128"/>
                <a:ea typeface="Meiryo UI" pitchFamily="50" charset="-128"/>
                <a:cs typeface="Meiryo UI" pitchFamily="50" charset="-128"/>
              </a:rPr>
              <a:t>飯生</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Yoshioka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42" name="AutoShape 87"/>
          <p:cNvCxnSpPr>
            <a:cxnSpLocks noChangeShapeType="1"/>
            <a:stCxn id="107" idx="2"/>
            <a:endCxn id="241" idx="0"/>
          </p:cNvCxnSpPr>
          <p:nvPr/>
        </p:nvCxnSpPr>
        <p:spPr bwMode="auto">
          <a:xfrm rot="16200000" flipH="1">
            <a:off x="665668" y="4433998"/>
            <a:ext cx="365864" cy="85303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AutoShape 87"/>
          <p:cNvCxnSpPr>
            <a:cxnSpLocks noChangeShapeType="1"/>
            <a:stCxn id="205" idx="2"/>
            <a:endCxn id="241" idx="0"/>
          </p:cNvCxnSpPr>
          <p:nvPr/>
        </p:nvCxnSpPr>
        <p:spPr bwMode="auto">
          <a:xfrm rot="16200000" flipH="1">
            <a:off x="1092925" y="4861255"/>
            <a:ext cx="350476" cy="13903"/>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直線コネクタ 243"/>
          <p:cNvCxnSpPr>
            <a:stCxn id="267" idx="2"/>
            <a:endCxn id="103" idx="0"/>
          </p:cNvCxnSpPr>
          <p:nvPr/>
        </p:nvCxnSpPr>
        <p:spPr bwMode="auto">
          <a:xfrm>
            <a:off x="7603752" y="3959425"/>
            <a:ext cx="977" cy="321893"/>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 name="Text Box 66"/>
          <p:cNvSpPr txBox="1">
            <a:spLocks noChangeArrowheads="1"/>
          </p:cNvSpPr>
          <p:nvPr/>
        </p:nvSpPr>
        <p:spPr bwMode="auto">
          <a:xfrm>
            <a:off x="6133840" y="4277471"/>
            <a:ext cx="913733" cy="40011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制御設計</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Control Design</a:t>
            </a:r>
            <a:r>
              <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p>
        </p:txBody>
      </p:sp>
      <p:cxnSp>
        <p:nvCxnSpPr>
          <p:cNvPr id="247" name="AutoShape 84"/>
          <p:cNvCxnSpPr>
            <a:cxnSpLocks noChangeShapeType="1"/>
            <a:stCxn id="238" idx="2"/>
            <a:endCxn id="245" idx="0"/>
          </p:cNvCxnSpPr>
          <p:nvPr/>
        </p:nvCxnSpPr>
        <p:spPr bwMode="auto">
          <a:xfrm rot="16200000" flipH="1">
            <a:off x="6296166" y="3986776"/>
            <a:ext cx="312937" cy="276145"/>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5"/>
          <p:cNvSpPr txBox="1">
            <a:spLocks noChangeArrowheads="1"/>
          </p:cNvSpPr>
          <p:nvPr/>
        </p:nvSpPr>
        <p:spPr bwMode="auto">
          <a:xfrm>
            <a:off x="2527552" y="1664212"/>
            <a:ext cx="1521570" cy="477054"/>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HRAP Purchase</a:t>
            </a:r>
            <a:endParaRPr kumimoji="1" lang="en-US" altLang="ja-JP" sz="11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err="1">
                <a:ln>
                  <a:noFill/>
                </a:ln>
                <a:solidFill>
                  <a:srgbClr val="000000"/>
                </a:solidFill>
                <a:effectLst/>
                <a:uLnTx/>
                <a:uFillTx/>
                <a:latin typeface="Meiryo UI" pitchFamily="50" charset="-128"/>
                <a:ea typeface="Meiryo UI" pitchFamily="50" charset="-128"/>
                <a:cs typeface="Meiryo UI" pitchFamily="50" charset="-128"/>
              </a:rPr>
              <a:t>Pornnarong</a:t>
            </a:r>
            <a:endParaRPr kumimoji="1" lang="ja-JP" altLang="en-US" sz="11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49" name="AutoShape 111"/>
          <p:cNvCxnSpPr>
            <a:cxnSpLocks noChangeShapeType="1"/>
            <a:stCxn id="102" idx="1"/>
            <a:endCxn id="248" idx="2"/>
          </p:cNvCxnSpPr>
          <p:nvPr/>
        </p:nvCxnSpPr>
        <p:spPr bwMode="auto">
          <a:xfrm rot="10800000">
            <a:off x="3288338" y="2141266"/>
            <a:ext cx="214019" cy="753954"/>
          </a:xfrm>
          <a:prstGeom prst="bentConnector2">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0" name="Text Box 67"/>
          <p:cNvSpPr txBox="1">
            <a:spLocks noChangeArrowheads="1"/>
          </p:cNvSpPr>
          <p:nvPr/>
        </p:nvSpPr>
        <p:spPr bwMode="auto">
          <a:xfrm>
            <a:off x="7514241" y="1921738"/>
            <a:ext cx="1386918"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a:solidFill>
                  <a:srgbClr val="000000"/>
                </a:solidFill>
                <a:latin typeface="Meiryo UI" pitchFamily="50" charset="-128"/>
                <a:ea typeface="Meiryo UI" pitchFamily="50" charset="-128"/>
                <a:cs typeface="Meiryo UI" pitchFamily="50" charset="-128"/>
              </a:rPr>
              <a:t>飯生</a:t>
            </a:r>
            <a:r>
              <a:rPr kumimoji="1" lang="ja-JP" altLang="en-US"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HRAP</a:t>
            </a:r>
            <a:r>
              <a:rPr kumimoji="1" lang="ja-JP" altLang="en-US"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srgbClr val="000000"/>
                </a:solidFill>
                <a:latin typeface="Meiryo UI" pitchFamily="50" charset="-128"/>
                <a:ea typeface="Meiryo UI" pitchFamily="50" charset="-128"/>
                <a:cs typeface="Meiryo UI" pitchFamily="50" charset="-128"/>
              </a:rPr>
              <a:t>Iino</a:t>
            </a:r>
            <a:endPar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51" name="テキスト ボックス 222"/>
          <p:cNvSpPr txBox="1"/>
          <p:nvPr/>
        </p:nvSpPr>
        <p:spPr>
          <a:xfrm>
            <a:off x="7242308" y="1763945"/>
            <a:ext cx="603050" cy="261610"/>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black"/>
                </a:solidFill>
                <a:effectLst/>
                <a:uLnTx/>
                <a:uFillTx/>
                <a:latin typeface="Calibri"/>
                <a:ea typeface="ＭＳ Ｐゴシック"/>
                <a:cs typeface="+mn-cs"/>
              </a:rPr>
              <a:t>Vehicle</a:t>
            </a:r>
            <a:endParaRPr kumimoji="1" lang="ja-JP" altLang="en-US" sz="1100" b="0" i="0" u="none" strike="noStrike" kern="1200" cap="none" spc="0" normalizeH="0" baseline="0" noProof="0">
              <a:ln>
                <a:noFill/>
              </a:ln>
              <a:solidFill>
                <a:prstClr val="black"/>
              </a:solidFill>
              <a:effectLst/>
              <a:uLnTx/>
              <a:uFillTx/>
              <a:latin typeface="Calibri"/>
              <a:ea typeface="ＭＳ Ｐゴシック"/>
              <a:cs typeface="+mn-cs"/>
            </a:endParaRPr>
          </a:p>
        </p:txBody>
      </p:sp>
      <p:cxnSp>
        <p:nvCxnSpPr>
          <p:cNvPr id="252" name="AutoShape 111"/>
          <p:cNvCxnSpPr>
            <a:cxnSpLocks noChangeShapeType="1"/>
            <a:stCxn id="223" idx="3"/>
            <a:endCxn id="250" idx="1"/>
          </p:cNvCxnSpPr>
          <p:nvPr/>
        </p:nvCxnSpPr>
        <p:spPr bwMode="auto">
          <a:xfrm flipV="1">
            <a:off x="7060834" y="2144876"/>
            <a:ext cx="453407" cy="449902"/>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3" name="Text Box 67"/>
          <p:cNvSpPr txBox="1">
            <a:spLocks noChangeArrowheads="1"/>
          </p:cNvSpPr>
          <p:nvPr/>
        </p:nvSpPr>
        <p:spPr bwMode="auto">
          <a:xfrm>
            <a:off x="7514241" y="2360019"/>
            <a:ext cx="1789272"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原（</a:t>
            </a:r>
            <a:r>
              <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4MOC </a:t>
            </a:r>
            <a:r>
              <a:rPr lang="en-US" altLang="ja-JP" sz="1400">
                <a:solidFill>
                  <a:srgbClr val="000000"/>
                </a:solidFill>
                <a:latin typeface="Meiryo UI" pitchFamily="50" charset="-128"/>
                <a:ea typeface="Meiryo UI" pitchFamily="50" charset="-128"/>
                <a:cs typeface="Meiryo UI" pitchFamily="50" charset="-128"/>
              </a:rPr>
              <a:t>MLPU</a:t>
            </a:r>
            <a:r>
              <a:rPr kumimoji="1" lang="ja-JP" altLang="en-US"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Hara</a:t>
            </a:r>
          </a:p>
        </p:txBody>
      </p:sp>
      <p:sp>
        <p:nvSpPr>
          <p:cNvPr id="254" name="テキスト ボックス 225"/>
          <p:cNvSpPr txBox="1"/>
          <p:nvPr/>
        </p:nvSpPr>
        <p:spPr>
          <a:xfrm>
            <a:off x="7255371" y="2305408"/>
            <a:ext cx="418704" cy="261610"/>
          </a:xfrm>
          <a:prstGeom prst="rect">
            <a:avLst/>
          </a:prstGeom>
          <a:noFill/>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black"/>
                </a:solidFill>
                <a:effectLst/>
                <a:uLnTx/>
                <a:uFillTx/>
                <a:latin typeface="Calibri"/>
                <a:ea typeface="ＭＳ Ｐゴシック"/>
                <a:cs typeface="+mn-cs"/>
              </a:rPr>
              <a:t>ECU</a:t>
            </a:r>
            <a:endParaRPr kumimoji="1" lang="ja-JP" altLang="en-US" sz="1100" b="0" i="0" u="none" strike="noStrike" kern="1200" cap="none" spc="0" normalizeH="0" baseline="0" noProof="0">
              <a:ln>
                <a:noFill/>
              </a:ln>
              <a:solidFill>
                <a:prstClr val="black"/>
              </a:solidFill>
              <a:effectLst/>
              <a:uLnTx/>
              <a:uFillTx/>
              <a:latin typeface="Calibri"/>
              <a:ea typeface="ＭＳ Ｐゴシック"/>
              <a:cs typeface="+mn-cs"/>
            </a:endParaRPr>
          </a:p>
        </p:txBody>
      </p:sp>
      <p:cxnSp>
        <p:nvCxnSpPr>
          <p:cNvPr id="255" name="AutoShape 111"/>
          <p:cNvCxnSpPr>
            <a:cxnSpLocks noChangeShapeType="1"/>
            <a:stCxn id="223" idx="3"/>
            <a:endCxn id="253" idx="1"/>
          </p:cNvCxnSpPr>
          <p:nvPr/>
        </p:nvCxnSpPr>
        <p:spPr bwMode="auto">
          <a:xfrm flipV="1">
            <a:off x="7060834" y="2583157"/>
            <a:ext cx="453407" cy="1162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線コネクタ 255"/>
          <p:cNvCxnSpPr>
            <a:stCxn id="103" idx="2"/>
            <a:endCxn id="109" idx="0"/>
          </p:cNvCxnSpPr>
          <p:nvPr/>
        </p:nvCxnSpPr>
        <p:spPr bwMode="auto">
          <a:xfrm>
            <a:off x="7604729" y="4677581"/>
            <a:ext cx="1" cy="365864"/>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 name="AutoShape 87"/>
          <p:cNvCxnSpPr>
            <a:cxnSpLocks noChangeShapeType="1"/>
            <a:stCxn id="105" idx="2"/>
            <a:endCxn id="106" idx="0"/>
          </p:cNvCxnSpPr>
          <p:nvPr/>
        </p:nvCxnSpPr>
        <p:spPr bwMode="auto">
          <a:xfrm rot="16200000" flipH="1">
            <a:off x="5789051" y="4582508"/>
            <a:ext cx="242754" cy="67911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 name="AutoShape 87"/>
          <p:cNvCxnSpPr>
            <a:cxnSpLocks noChangeShapeType="1"/>
            <a:stCxn id="245" idx="2"/>
            <a:endCxn id="106" idx="0"/>
          </p:cNvCxnSpPr>
          <p:nvPr/>
        </p:nvCxnSpPr>
        <p:spPr bwMode="auto">
          <a:xfrm rot="5400000">
            <a:off x="6237416" y="4690154"/>
            <a:ext cx="365864" cy="34071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1" name="Text Box 78"/>
          <p:cNvSpPr txBox="1">
            <a:spLocks noChangeArrowheads="1"/>
          </p:cNvSpPr>
          <p:nvPr/>
        </p:nvSpPr>
        <p:spPr bwMode="auto">
          <a:xfrm>
            <a:off x="4362374" y="5932896"/>
            <a:ext cx="56778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000" b="0" i="0" u="none" strike="noStrike" kern="1200" cap="none" spc="0" normalizeH="0" baseline="0" noProof="0" err="1">
                <a:ln>
                  <a:noFill/>
                </a:ln>
                <a:solidFill>
                  <a:srgbClr val="000000"/>
                </a:solidFill>
                <a:effectLst/>
                <a:uLnTx/>
                <a:uFillTx/>
                <a:latin typeface="Meiryo UI" pitchFamily="50" charset="-128"/>
                <a:ea typeface="Meiryo UI" pitchFamily="50" charset="-128"/>
                <a:cs typeface="Meiryo UI" pitchFamily="50" charset="-128"/>
              </a:rPr>
              <a:t>Reli</a:t>
            </a: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63" name="カギ線コネクタ 262"/>
          <p:cNvCxnSpPr>
            <a:stCxn id="115" idx="2"/>
            <a:endCxn id="261" idx="0"/>
          </p:cNvCxnSpPr>
          <p:nvPr/>
        </p:nvCxnSpPr>
        <p:spPr bwMode="auto">
          <a:xfrm rot="5400000">
            <a:off x="4401613" y="5688209"/>
            <a:ext cx="489341" cy="33"/>
          </a:xfrm>
          <a:prstGeom prst="bentConnector3">
            <a:avLst>
              <a:gd name="adj1" fmla="val 50000"/>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AutoShape 87"/>
          <p:cNvCxnSpPr>
            <a:cxnSpLocks noChangeShapeType="1"/>
            <a:stCxn id="137" idx="2"/>
            <a:endCxn id="162" idx="0"/>
          </p:cNvCxnSpPr>
          <p:nvPr/>
        </p:nvCxnSpPr>
        <p:spPr bwMode="auto">
          <a:xfrm rot="16200000" flipH="1">
            <a:off x="3791488" y="4777912"/>
            <a:ext cx="458495" cy="1160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 name="AutoShape 87"/>
          <p:cNvCxnSpPr>
            <a:cxnSpLocks noChangeShapeType="1"/>
            <a:stCxn id="144" idx="2"/>
            <a:endCxn id="115" idx="0"/>
          </p:cNvCxnSpPr>
          <p:nvPr/>
        </p:nvCxnSpPr>
        <p:spPr bwMode="auto">
          <a:xfrm rot="5400000">
            <a:off x="4465066" y="4858814"/>
            <a:ext cx="365864" cy="3398"/>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7" name="角丸四角形 266"/>
          <p:cNvSpPr/>
          <p:nvPr/>
        </p:nvSpPr>
        <p:spPr>
          <a:xfrm>
            <a:off x="7210461" y="3502470"/>
            <a:ext cx="786582" cy="456955"/>
          </a:xfrm>
          <a:prstGeom prst="round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FFFFFF"/>
                </a:solidFill>
                <a:effectLst/>
                <a:uLnTx/>
                <a:uFillTx/>
                <a:latin typeface="Calibri"/>
                <a:ea typeface="ＭＳ Ｐゴシック"/>
                <a:cs typeface="+mn-cs"/>
              </a:rPr>
              <a:t>HRAP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FFFFFF"/>
                </a:solidFill>
                <a:effectLst/>
                <a:uLnTx/>
                <a:uFillTx/>
                <a:latin typeface="Calibri"/>
                <a:ea typeface="ＭＳ Ｐゴシック"/>
                <a:cs typeface="+mn-cs"/>
              </a:rPr>
              <a:t>APD2</a:t>
            </a:r>
            <a:endParaRPr kumimoji="0" lang="ja-JP" altLang="en-US" sz="1400" b="1" i="0" u="none" strike="noStrike" kern="0" cap="none" spc="0" normalizeH="0" baseline="0" noProof="0">
              <a:ln>
                <a:noFill/>
              </a:ln>
              <a:solidFill>
                <a:srgbClr val="FFFFFF"/>
              </a:solidFill>
              <a:effectLst/>
              <a:uLnTx/>
              <a:uFillTx/>
              <a:latin typeface="Calibri"/>
              <a:ea typeface="ＭＳ Ｐゴシック"/>
              <a:cs typeface="+mn-cs"/>
            </a:endParaRPr>
          </a:p>
        </p:txBody>
      </p:sp>
      <p:cxnSp>
        <p:nvCxnSpPr>
          <p:cNvPr id="268" name="AutoShape 111"/>
          <p:cNvCxnSpPr>
            <a:cxnSpLocks noChangeShapeType="1"/>
            <a:stCxn id="248" idx="0"/>
            <a:endCxn id="136" idx="2"/>
          </p:cNvCxnSpPr>
          <p:nvPr/>
        </p:nvCxnSpPr>
        <p:spPr bwMode="auto">
          <a:xfrm rot="16200000" flipV="1">
            <a:off x="2423169" y="799043"/>
            <a:ext cx="312808" cy="141752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9" name="Text Box 102"/>
          <p:cNvSpPr txBox="1">
            <a:spLocks noChangeArrowheads="1"/>
          </p:cNvSpPr>
          <p:nvPr/>
        </p:nvSpPr>
        <p:spPr bwMode="auto">
          <a:xfrm>
            <a:off x="842001" y="5932896"/>
            <a:ext cx="7857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rgbClr val="000000"/>
                </a:solidFill>
                <a:latin typeface="Meiryo UI" pitchFamily="50" charset="-128"/>
                <a:ea typeface="Meiryo UI" pitchFamily="50" charset="-128"/>
                <a:cs typeface="Meiryo UI" pitchFamily="50" charset="-128"/>
              </a:rPr>
              <a:t>Suttipong</a:t>
            </a:r>
            <a:endPar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(EM/FE)</a:t>
            </a:r>
          </a:p>
        </p:txBody>
      </p:sp>
      <p:cxnSp>
        <p:nvCxnSpPr>
          <p:cNvPr id="270" name="AutoShape 91"/>
          <p:cNvCxnSpPr>
            <a:cxnSpLocks noChangeShapeType="1"/>
            <a:stCxn id="241" idx="2"/>
            <a:endCxn id="269" idx="0"/>
          </p:cNvCxnSpPr>
          <p:nvPr/>
        </p:nvCxnSpPr>
        <p:spPr bwMode="auto">
          <a:xfrm rot="5400000">
            <a:off x="1010337" y="5668117"/>
            <a:ext cx="489341" cy="40217"/>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 name="Text Box 105"/>
          <p:cNvSpPr txBox="1">
            <a:spLocks noChangeArrowheads="1"/>
          </p:cNvSpPr>
          <p:nvPr/>
        </p:nvSpPr>
        <p:spPr bwMode="auto">
          <a:xfrm>
            <a:off x="71607" y="6345614"/>
            <a:ext cx="6463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大久保</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Okubo</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77" name="Text Box 105"/>
          <p:cNvSpPr txBox="1">
            <a:spLocks noChangeArrowheads="1"/>
          </p:cNvSpPr>
          <p:nvPr/>
        </p:nvSpPr>
        <p:spPr bwMode="auto">
          <a:xfrm>
            <a:off x="3127608" y="6233854"/>
            <a:ext cx="4924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dirty="0">
                <a:solidFill>
                  <a:srgbClr val="000000"/>
                </a:solidFill>
                <a:latin typeface="Meiryo UI" pitchFamily="50" charset="-128"/>
                <a:ea typeface="Meiryo UI" pitchFamily="50" charset="-128"/>
                <a:cs typeface="Meiryo UI" pitchFamily="50" charset="-128"/>
              </a:rPr>
              <a:t>廣田</a:t>
            </a:r>
            <a:endParaRPr kumimoji="1" lang="en-US" altLang="ja-JP" sz="12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dirty="0">
                <a:solidFill>
                  <a:srgbClr val="000000"/>
                </a:solidFill>
                <a:latin typeface="Meiryo UI" pitchFamily="50" charset="-128"/>
                <a:ea typeface="Meiryo UI" pitchFamily="50" charset="-128"/>
                <a:cs typeface="Meiryo UI" pitchFamily="50" charset="-128"/>
              </a:rPr>
              <a:t>Hirota</a:t>
            </a:r>
            <a:endParaRPr kumimoji="1" lang="ja-JP" altLang="en-US" sz="800" b="0" i="0" u="none" strike="noStrike" kern="1200" cap="none" spc="0" normalizeH="0" baseline="0" noProof="0" dirty="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80" name="AutoShape 91"/>
          <p:cNvCxnSpPr>
            <a:cxnSpLocks noChangeShapeType="1"/>
            <a:stCxn id="106" idx="2"/>
            <a:endCxn id="281" idx="0"/>
          </p:cNvCxnSpPr>
          <p:nvPr/>
        </p:nvCxnSpPr>
        <p:spPr bwMode="auto">
          <a:xfrm rot="5400000">
            <a:off x="5414973" y="5134352"/>
            <a:ext cx="525813" cy="114421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1" name="Text Box 78"/>
          <p:cNvSpPr txBox="1">
            <a:spLocks noChangeArrowheads="1"/>
          </p:cNvSpPr>
          <p:nvPr/>
        </p:nvSpPr>
        <p:spPr bwMode="auto">
          <a:xfrm>
            <a:off x="4833899" y="5969368"/>
            <a:ext cx="543739"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(Intake)</a:t>
            </a:r>
            <a:endParaRPr kumimoji="1" lang="ja-JP" altLang="en-US" sz="7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82" name="Text Box 78"/>
          <p:cNvSpPr txBox="1">
            <a:spLocks noChangeArrowheads="1"/>
          </p:cNvSpPr>
          <p:nvPr/>
        </p:nvSpPr>
        <p:spPr bwMode="auto">
          <a:xfrm>
            <a:off x="5710362" y="5969368"/>
            <a:ext cx="48282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(Fuel)</a:t>
            </a:r>
          </a:p>
        </p:txBody>
      </p:sp>
      <p:cxnSp>
        <p:nvCxnSpPr>
          <p:cNvPr id="283" name="AutoShape 90"/>
          <p:cNvCxnSpPr>
            <a:cxnSpLocks noChangeShapeType="1"/>
            <a:stCxn id="106" idx="2"/>
            <a:endCxn id="282" idx="0"/>
          </p:cNvCxnSpPr>
          <p:nvPr/>
        </p:nvCxnSpPr>
        <p:spPr bwMode="auto">
          <a:xfrm rot="5400000">
            <a:off x="5837975" y="5557354"/>
            <a:ext cx="525813" cy="298214"/>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4" name="Text Box 78"/>
          <p:cNvSpPr txBox="1">
            <a:spLocks noChangeArrowheads="1"/>
          </p:cNvSpPr>
          <p:nvPr/>
        </p:nvSpPr>
        <p:spPr bwMode="auto">
          <a:xfrm>
            <a:off x="5232650" y="5969368"/>
            <a:ext cx="612667"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(Exhaust)</a:t>
            </a:r>
            <a:endParaRPr kumimoji="1" lang="ja-JP" altLang="en-US" sz="7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85" name="Text Box 78"/>
          <p:cNvSpPr txBox="1">
            <a:spLocks noChangeArrowheads="1"/>
          </p:cNvSpPr>
          <p:nvPr/>
        </p:nvSpPr>
        <p:spPr bwMode="auto">
          <a:xfrm>
            <a:off x="6191033" y="5969368"/>
            <a:ext cx="447558"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(ECU)</a:t>
            </a:r>
            <a:endParaRPr kumimoji="1" lang="ja-JP" altLang="en-US" sz="7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86" name="Text Box 78"/>
          <p:cNvSpPr txBox="1">
            <a:spLocks noChangeArrowheads="1"/>
          </p:cNvSpPr>
          <p:nvPr/>
        </p:nvSpPr>
        <p:spPr bwMode="auto">
          <a:xfrm>
            <a:off x="6609759" y="5969368"/>
            <a:ext cx="564578" cy="20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(Sensor)</a:t>
            </a:r>
            <a:endParaRPr kumimoji="1" lang="ja-JP" altLang="en-US" sz="7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287" name="AutoShape 91"/>
          <p:cNvCxnSpPr>
            <a:cxnSpLocks noChangeShapeType="1"/>
            <a:stCxn id="106" idx="2"/>
            <a:endCxn id="285" idx="0"/>
          </p:cNvCxnSpPr>
          <p:nvPr/>
        </p:nvCxnSpPr>
        <p:spPr bwMode="auto">
          <a:xfrm rot="16200000" flipH="1">
            <a:off x="6069494" y="5624049"/>
            <a:ext cx="525813" cy="164824"/>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 name="AutoShape 90"/>
          <p:cNvCxnSpPr>
            <a:cxnSpLocks noChangeShapeType="1"/>
            <a:stCxn id="106" idx="2"/>
            <a:endCxn id="286" idx="0"/>
          </p:cNvCxnSpPr>
          <p:nvPr/>
        </p:nvCxnSpPr>
        <p:spPr bwMode="auto">
          <a:xfrm rot="16200000" flipH="1">
            <a:off x="6308112" y="5385431"/>
            <a:ext cx="525813" cy="64206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 name="AutoShape 91"/>
          <p:cNvCxnSpPr>
            <a:cxnSpLocks noChangeShapeType="1"/>
            <a:stCxn id="106" idx="2"/>
            <a:endCxn id="284" idx="0"/>
          </p:cNvCxnSpPr>
          <p:nvPr/>
        </p:nvCxnSpPr>
        <p:spPr bwMode="auto">
          <a:xfrm rot="5400000">
            <a:off x="5631580" y="5350959"/>
            <a:ext cx="525813" cy="711004"/>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 name="Text Box 78"/>
          <p:cNvSpPr txBox="1">
            <a:spLocks noChangeArrowheads="1"/>
          </p:cNvSpPr>
          <p:nvPr/>
        </p:nvSpPr>
        <p:spPr bwMode="auto">
          <a:xfrm>
            <a:off x="5217364" y="6446451"/>
            <a:ext cx="67358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村上</a:t>
            </a:r>
            <a:endPar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Murakami</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91" name="Text Box 78"/>
          <p:cNvSpPr txBox="1">
            <a:spLocks noChangeArrowheads="1"/>
          </p:cNvSpPr>
          <p:nvPr/>
        </p:nvSpPr>
        <p:spPr bwMode="auto">
          <a:xfrm>
            <a:off x="6362238" y="6209192"/>
            <a:ext cx="61106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err="1">
                <a:ln>
                  <a:noFill/>
                </a:ln>
                <a:solidFill>
                  <a:srgbClr val="000000"/>
                </a:solidFill>
                <a:effectLst/>
                <a:uLnTx/>
                <a:uFillTx/>
                <a:latin typeface="Meiryo UI" pitchFamily="50" charset="-128"/>
                <a:ea typeface="Meiryo UI" pitchFamily="50" charset="-128"/>
                <a:cs typeface="Meiryo UI" pitchFamily="50" charset="-128"/>
              </a:rPr>
              <a:t>Tutiya</a:t>
            </a:r>
            <a:endPar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92" name="フリーフォーム 291"/>
          <p:cNvSpPr/>
          <p:nvPr/>
        </p:nvSpPr>
        <p:spPr bwMode="auto">
          <a:xfrm>
            <a:off x="5100942" y="6164918"/>
            <a:ext cx="902889" cy="77277"/>
          </a:xfrm>
          <a:custGeom>
            <a:avLst/>
            <a:gdLst>
              <a:gd name="connsiteX0" fmla="*/ 0 w 1776549"/>
              <a:gd name="connsiteY0" fmla="*/ 13063 h 182880"/>
              <a:gd name="connsiteX1" fmla="*/ 0 w 1776549"/>
              <a:gd name="connsiteY1" fmla="*/ 13063 h 182880"/>
              <a:gd name="connsiteX2" fmla="*/ 0 w 1776549"/>
              <a:gd name="connsiteY2" fmla="*/ 182880 h 182880"/>
              <a:gd name="connsiteX3" fmla="*/ 1776549 w 1776549"/>
              <a:gd name="connsiteY3" fmla="*/ 182880 h 182880"/>
              <a:gd name="connsiteX4" fmla="*/ 1776549 w 1776549"/>
              <a:gd name="connsiteY4" fmla="*/ 0 h 182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6549" h="182880">
                <a:moveTo>
                  <a:pt x="0" y="13063"/>
                </a:moveTo>
                <a:lnTo>
                  <a:pt x="0" y="13063"/>
                </a:lnTo>
                <a:lnTo>
                  <a:pt x="0" y="182880"/>
                </a:lnTo>
                <a:lnTo>
                  <a:pt x="1776549" y="182880"/>
                </a:lnTo>
                <a:lnTo>
                  <a:pt x="1776549" y="0"/>
                </a:ln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sp>
        <p:nvSpPr>
          <p:cNvPr id="293" name="フリーフォーム 292"/>
          <p:cNvSpPr/>
          <p:nvPr/>
        </p:nvSpPr>
        <p:spPr bwMode="auto">
          <a:xfrm>
            <a:off x="6344130" y="6147504"/>
            <a:ext cx="692397" cy="77337"/>
          </a:xfrm>
          <a:custGeom>
            <a:avLst/>
            <a:gdLst>
              <a:gd name="connsiteX0" fmla="*/ 0 w 1776549"/>
              <a:gd name="connsiteY0" fmla="*/ 13063 h 182880"/>
              <a:gd name="connsiteX1" fmla="*/ 0 w 1776549"/>
              <a:gd name="connsiteY1" fmla="*/ 13063 h 182880"/>
              <a:gd name="connsiteX2" fmla="*/ 0 w 1776549"/>
              <a:gd name="connsiteY2" fmla="*/ 182880 h 182880"/>
              <a:gd name="connsiteX3" fmla="*/ 1776549 w 1776549"/>
              <a:gd name="connsiteY3" fmla="*/ 182880 h 182880"/>
              <a:gd name="connsiteX4" fmla="*/ 1776549 w 1776549"/>
              <a:gd name="connsiteY4" fmla="*/ 0 h 182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6549" h="182880">
                <a:moveTo>
                  <a:pt x="0" y="13063"/>
                </a:moveTo>
                <a:lnTo>
                  <a:pt x="0" y="13063"/>
                </a:lnTo>
                <a:lnTo>
                  <a:pt x="0" y="182880"/>
                </a:lnTo>
                <a:lnTo>
                  <a:pt x="1776549" y="182880"/>
                </a:lnTo>
                <a:lnTo>
                  <a:pt x="1776549" y="0"/>
                </a:ln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2400" b="0" i="0" u="none" strike="noStrike" kern="1200" cap="none" spc="0" normalizeH="0" baseline="0" noProof="0">
              <a:ln>
                <a:noFill/>
              </a:ln>
              <a:solidFill>
                <a:srgbClr val="000000"/>
              </a:solidFill>
              <a:effectLst/>
              <a:uLnTx/>
              <a:uFillTx/>
              <a:latin typeface="Times New Roman" pitchFamily="18" charset="0"/>
              <a:ea typeface="ＭＳ Ｐゴシック" pitchFamily="50" charset="-128"/>
              <a:cs typeface="+mn-cs"/>
            </a:endParaRPr>
          </a:p>
        </p:txBody>
      </p:sp>
      <p:cxnSp>
        <p:nvCxnSpPr>
          <p:cNvPr id="295" name="AutoShape 90"/>
          <p:cNvCxnSpPr>
            <a:cxnSpLocks noChangeShapeType="1"/>
            <a:stCxn id="162" idx="2"/>
            <a:endCxn id="138" idx="0"/>
          </p:cNvCxnSpPr>
          <p:nvPr/>
        </p:nvCxnSpPr>
        <p:spPr bwMode="auto">
          <a:xfrm rot="5400000">
            <a:off x="3766230" y="5672585"/>
            <a:ext cx="519821" cy="80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8" name="Text Box 105"/>
          <p:cNvSpPr txBox="1">
            <a:spLocks noChangeArrowheads="1"/>
          </p:cNvSpPr>
          <p:nvPr/>
        </p:nvSpPr>
        <p:spPr bwMode="auto">
          <a:xfrm>
            <a:off x="3756516" y="6226351"/>
            <a:ext cx="5148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大谷</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Ohtani</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299" name="Text Box 105"/>
          <p:cNvSpPr txBox="1">
            <a:spLocks noChangeArrowheads="1"/>
          </p:cNvSpPr>
          <p:nvPr/>
        </p:nvSpPr>
        <p:spPr bwMode="auto">
          <a:xfrm>
            <a:off x="4391241" y="6226351"/>
            <a:ext cx="50366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永井</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Nagai</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15" name="Text Box 75"/>
          <p:cNvSpPr txBox="1">
            <a:spLocks noChangeArrowheads="1"/>
          </p:cNvSpPr>
          <p:nvPr/>
        </p:nvSpPr>
        <p:spPr bwMode="auto">
          <a:xfrm>
            <a:off x="4334354" y="5043445"/>
            <a:ext cx="6238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a:solidFill>
                  <a:srgbClr val="000000"/>
                </a:solidFill>
                <a:latin typeface="Meiryo UI" pitchFamily="50" charset="-128"/>
                <a:ea typeface="Meiryo UI" pitchFamily="50" charset="-128"/>
                <a:cs typeface="Meiryo UI" pitchFamily="50" charset="-128"/>
              </a:rPr>
              <a:t>赤澤</a:t>
            </a:r>
            <a:endPar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a:solidFill>
                  <a:srgbClr val="000000"/>
                </a:solidFill>
                <a:latin typeface="Meiryo UI" pitchFamily="50" charset="-128"/>
                <a:ea typeface="Meiryo UI" pitchFamily="50" charset="-128"/>
                <a:cs typeface="Meiryo UI" pitchFamily="50" charset="-128"/>
              </a:rPr>
              <a:t>Akazawa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17" name="Text Box 105"/>
          <p:cNvSpPr txBox="1">
            <a:spLocks noChangeArrowheads="1"/>
          </p:cNvSpPr>
          <p:nvPr/>
        </p:nvSpPr>
        <p:spPr bwMode="auto">
          <a:xfrm>
            <a:off x="7069166" y="6218978"/>
            <a:ext cx="10711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a:solidFill>
                  <a:srgbClr val="000000"/>
                </a:solidFill>
                <a:latin typeface="Meiryo UI" pitchFamily="50" charset="-128"/>
                <a:ea typeface="Meiryo UI" pitchFamily="50" charset="-128"/>
                <a:cs typeface="Meiryo UI" pitchFamily="50" charset="-128"/>
              </a:rPr>
              <a:t>鈴木</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lang="ja-JP" altLang="en-US" sz="1200">
                <a:solidFill>
                  <a:srgbClr val="000000"/>
                </a:solidFill>
                <a:latin typeface="Meiryo UI" pitchFamily="50" charset="-128"/>
                <a:ea typeface="Meiryo UI" pitchFamily="50" charset="-128"/>
                <a:cs typeface="Meiryo UI" pitchFamily="50" charset="-128"/>
              </a:rPr>
              <a:t>長谷川</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a:solidFill>
                  <a:srgbClr val="000000"/>
                </a:solidFill>
                <a:latin typeface="Meiryo UI" pitchFamily="50" charset="-128"/>
                <a:ea typeface="Meiryo UI" pitchFamily="50" charset="-128"/>
                <a:cs typeface="Meiryo UI" pitchFamily="50" charset="-128"/>
              </a:rPr>
              <a:t>Suzuki</a:t>
            </a: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/Hasegawa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18" name="AutoShape 111"/>
          <p:cNvCxnSpPr>
            <a:cxnSpLocks noChangeShapeType="1"/>
            <a:stCxn id="168" idx="0"/>
            <a:endCxn id="136" idx="2"/>
          </p:cNvCxnSpPr>
          <p:nvPr/>
        </p:nvCxnSpPr>
        <p:spPr bwMode="auto">
          <a:xfrm rot="5400000" flipH="1" flipV="1">
            <a:off x="1711813" y="1505218"/>
            <a:ext cx="312808" cy="518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Text Box 65"/>
          <p:cNvSpPr txBox="1">
            <a:spLocks noChangeArrowheads="1"/>
          </p:cNvSpPr>
          <p:nvPr/>
        </p:nvSpPr>
        <p:spPr bwMode="auto">
          <a:xfrm>
            <a:off x="8156901" y="4277471"/>
            <a:ext cx="936475" cy="40011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統合制御</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Control system</a:t>
            </a:r>
            <a:endPar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24" name="角丸四角形 123"/>
          <p:cNvSpPr/>
          <p:nvPr/>
        </p:nvSpPr>
        <p:spPr>
          <a:xfrm>
            <a:off x="8176277" y="3502470"/>
            <a:ext cx="900102" cy="421034"/>
          </a:xfrm>
          <a:prstGeom prst="roundRect">
            <a:avLst/>
          </a:prstGeom>
          <a:solidFill>
            <a:srgbClr val="FFC000"/>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000000"/>
                </a:solidFill>
                <a:effectLst/>
                <a:uLnTx/>
                <a:uFillTx/>
                <a:latin typeface="Calibri"/>
                <a:ea typeface="ＭＳ Ｐゴシック"/>
                <a:cs typeface="+mn-cs"/>
              </a:rPr>
              <a:t>ELS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kern="0">
                <a:solidFill>
                  <a:srgbClr val="000000"/>
                </a:solidFill>
                <a:latin typeface="Calibri"/>
                <a:ea typeface="ＭＳ Ｐゴシック"/>
              </a:rPr>
              <a:t>EL2</a:t>
            </a:r>
            <a:endParaRPr kumimoji="0" lang="ja-JP" altLang="en-US" sz="1400" b="1" i="0" u="none" strike="noStrike" kern="0" cap="none" spc="0" normalizeH="0" baseline="0" noProof="0">
              <a:ln>
                <a:noFill/>
              </a:ln>
              <a:solidFill>
                <a:srgbClr val="000000"/>
              </a:solidFill>
              <a:effectLst/>
              <a:uLnTx/>
              <a:uFillTx/>
              <a:latin typeface="Calibri"/>
              <a:ea typeface="ＭＳ Ｐゴシック"/>
              <a:cs typeface="+mn-cs"/>
            </a:endParaRPr>
          </a:p>
        </p:txBody>
      </p:sp>
      <p:cxnSp>
        <p:nvCxnSpPr>
          <p:cNvPr id="125" name="直線コネクタ 124"/>
          <p:cNvCxnSpPr>
            <a:stCxn id="124" idx="2"/>
            <a:endCxn id="123" idx="0"/>
          </p:cNvCxnSpPr>
          <p:nvPr/>
        </p:nvCxnSpPr>
        <p:spPr bwMode="auto">
          <a:xfrm flipH="1">
            <a:off x="8625139" y="3923504"/>
            <a:ext cx="1189" cy="353967"/>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6" name="Text Box 76"/>
          <p:cNvSpPr txBox="1">
            <a:spLocks noChangeArrowheads="1"/>
          </p:cNvSpPr>
          <p:nvPr/>
        </p:nvSpPr>
        <p:spPr bwMode="auto">
          <a:xfrm>
            <a:off x="8313195" y="5043445"/>
            <a:ext cx="6238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土屋</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Tsuchiya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27" name="直線コネクタ 126"/>
          <p:cNvCxnSpPr>
            <a:stCxn id="123" idx="2"/>
            <a:endCxn id="126" idx="0"/>
          </p:cNvCxnSpPr>
          <p:nvPr/>
        </p:nvCxnSpPr>
        <p:spPr bwMode="auto">
          <a:xfrm>
            <a:off x="8625139" y="4677581"/>
            <a:ext cx="1" cy="365864"/>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Text Box 65"/>
          <p:cNvSpPr txBox="1">
            <a:spLocks noChangeArrowheads="1"/>
          </p:cNvSpPr>
          <p:nvPr/>
        </p:nvSpPr>
        <p:spPr bwMode="auto">
          <a:xfrm>
            <a:off x="1688399" y="4277471"/>
            <a:ext cx="695223" cy="40011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デバイス</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Device</a:t>
            </a:r>
            <a:endPar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3" name="角丸四角形 132"/>
          <p:cNvSpPr/>
          <p:nvPr/>
        </p:nvSpPr>
        <p:spPr>
          <a:xfrm>
            <a:off x="2856327" y="3502470"/>
            <a:ext cx="1042600" cy="421034"/>
          </a:xfrm>
          <a:prstGeom prst="roundRect">
            <a:avLst/>
          </a:prstGeom>
          <a:solidFill>
            <a:srgbClr val="FF99FF"/>
          </a:solidFill>
          <a:ln w="25400" cap="flat" cmpd="sng" algn="ctr">
            <a:solidFill>
              <a:srgbClr val="4F81BD">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000000"/>
                </a:solidFill>
                <a:effectLst/>
                <a:uLnTx/>
                <a:uFillTx/>
                <a:latin typeface="Calibri"/>
                <a:ea typeface="ＭＳ Ｐゴシック"/>
                <a:cs typeface="+mn-cs"/>
              </a:rPr>
              <a:t>4MOC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b="1" kern="0">
                <a:solidFill>
                  <a:srgbClr val="000000"/>
                </a:solidFill>
                <a:latin typeface="Calibri"/>
                <a:ea typeface="ＭＳ Ｐゴシック"/>
              </a:rPr>
              <a:t>MLPU/SEU</a:t>
            </a:r>
            <a:endParaRPr kumimoji="0" lang="ja-JP" altLang="en-US" sz="1400" b="1" i="0" u="none" strike="noStrike" kern="0" cap="none" spc="0" normalizeH="0" baseline="0" noProof="0">
              <a:ln>
                <a:noFill/>
              </a:ln>
              <a:solidFill>
                <a:srgbClr val="000000"/>
              </a:solidFill>
              <a:effectLst/>
              <a:uLnTx/>
              <a:uFillTx/>
              <a:latin typeface="Calibri"/>
              <a:ea typeface="ＭＳ Ｐゴシック"/>
              <a:cs typeface="+mn-cs"/>
            </a:endParaRPr>
          </a:p>
        </p:txBody>
      </p:sp>
      <p:cxnSp>
        <p:nvCxnSpPr>
          <p:cNvPr id="139" name="AutoShape 85"/>
          <p:cNvCxnSpPr>
            <a:cxnSpLocks noChangeShapeType="1"/>
            <a:stCxn id="236" idx="2"/>
            <a:endCxn id="132" idx="0"/>
          </p:cNvCxnSpPr>
          <p:nvPr/>
        </p:nvCxnSpPr>
        <p:spPr bwMode="auto">
          <a:xfrm rot="16200000" flipH="1">
            <a:off x="1466072" y="3733456"/>
            <a:ext cx="307794" cy="780236"/>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Text Box 105"/>
          <p:cNvSpPr txBox="1">
            <a:spLocks noChangeArrowheads="1"/>
          </p:cNvSpPr>
          <p:nvPr/>
        </p:nvSpPr>
        <p:spPr bwMode="auto">
          <a:xfrm>
            <a:off x="1584365" y="5932896"/>
            <a:ext cx="8515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Chanakarn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(Dev.)</a:t>
            </a:r>
            <a:endPar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52" name="AutoShape 90"/>
          <p:cNvCxnSpPr>
            <a:cxnSpLocks noChangeShapeType="1"/>
            <a:stCxn id="241" idx="2"/>
            <a:endCxn id="150" idx="0"/>
          </p:cNvCxnSpPr>
          <p:nvPr/>
        </p:nvCxnSpPr>
        <p:spPr bwMode="auto">
          <a:xfrm rot="16200000" flipH="1">
            <a:off x="1397949" y="5320721"/>
            <a:ext cx="489341" cy="735008"/>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9" name="AutoShape 87"/>
          <p:cNvCxnSpPr>
            <a:cxnSpLocks noChangeShapeType="1"/>
            <a:stCxn id="132" idx="2"/>
            <a:endCxn id="241" idx="0"/>
          </p:cNvCxnSpPr>
          <p:nvPr/>
        </p:nvCxnSpPr>
        <p:spPr bwMode="auto">
          <a:xfrm rot="5400000">
            <a:off x="1472631" y="4480065"/>
            <a:ext cx="365864" cy="760896"/>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AutoShape 85"/>
          <p:cNvCxnSpPr>
            <a:cxnSpLocks noChangeShapeType="1"/>
            <a:stCxn id="102" idx="2"/>
            <a:endCxn id="124" idx="0"/>
          </p:cNvCxnSpPr>
          <p:nvPr/>
        </p:nvCxnSpPr>
        <p:spPr bwMode="auto">
          <a:xfrm rot="16200000" flipH="1">
            <a:off x="6507788" y="1383930"/>
            <a:ext cx="179278" cy="405780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AutoShape 85"/>
          <p:cNvCxnSpPr>
            <a:cxnSpLocks noChangeShapeType="1"/>
            <a:stCxn id="102" idx="2"/>
            <a:endCxn id="133" idx="0"/>
          </p:cNvCxnSpPr>
          <p:nvPr/>
        </p:nvCxnSpPr>
        <p:spPr bwMode="auto">
          <a:xfrm rot="5400000">
            <a:off x="3883438" y="2817381"/>
            <a:ext cx="179278" cy="119090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AutoShape 85"/>
          <p:cNvCxnSpPr>
            <a:cxnSpLocks noChangeShapeType="1"/>
            <a:stCxn id="102" idx="2"/>
            <a:endCxn id="233" idx="0"/>
          </p:cNvCxnSpPr>
          <p:nvPr/>
        </p:nvCxnSpPr>
        <p:spPr bwMode="auto">
          <a:xfrm rot="16200000" flipH="1">
            <a:off x="4678790" y="3212929"/>
            <a:ext cx="182226" cy="402752"/>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 name="直線コネクタ 118"/>
          <p:cNvCxnSpPr>
            <a:stCxn id="109" idx="2"/>
            <a:endCxn id="117" idx="0"/>
          </p:cNvCxnSpPr>
          <p:nvPr/>
        </p:nvCxnSpPr>
        <p:spPr bwMode="auto">
          <a:xfrm>
            <a:off x="7604730" y="5443555"/>
            <a:ext cx="0" cy="775423"/>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0" name="Text Box 67"/>
          <p:cNvSpPr txBox="1">
            <a:spLocks noChangeArrowheads="1"/>
          </p:cNvSpPr>
          <p:nvPr/>
        </p:nvSpPr>
        <p:spPr bwMode="auto">
          <a:xfrm>
            <a:off x="5982304" y="2753682"/>
            <a:ext cx="121219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Safety Manager</a:t>
            </a:r>
            <a:endParaRPr kumimoji="1" lang="en-US" altLang="ja-JP" sz="6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41" name="Text Box 78"/>
          <p:cNvSpPr txBox="1">
            <a:spLocks noChangeArrowheads="1"/>
          </p:cNvSpPr>
          <p:nvPr/>
        </p:nvSpPr>
        <p:spPr bwMode="auto">
          <a:xfrm>
            <a:off x="5117075" y="6220408"/>
            <a:ext cx="80021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Nuthinee</a:t>
            </a:r>
            <a:endPar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5" name="Text Box 65"/>
          <p:cNvSpPr txBox="1">
            <a:spLocks noChangeArrowheads="1"/>
          </p:cNvSpPr>
          <p:nvPr/>
        </p:nvSpPr>
        <p:spPr bwMode="auto">
          <a:xfrm>
            <a:off x="2418253" y="4277471"/>
            <a:ext cx="554557" cy="52322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制御</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Control</a:t>
            </a:r>
            <a:r>
              <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system</a:t>
            </a:r>
            <a:r>
              <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p>
        </p:txBody>
      </p:sp>
      <p:cxnSp>
        <p:nvCxnSpPr>
          <p:cNvPr id="158" name="AutoShape 85"/>
          <p:cNvCxnSpPr>
            <a:cxnSpLocks noChangeShapeType="1"/>
            <a:stCxn id="236" idx="2"/>
            <a:endCxn id="135" idx="0"/>
          </p:cNvCxnSpPr>
          <p:nvPr/>
        </p:nvCxnSpPr>
        <p:spPr bwMode="auto">
          <a:xfrm rot="16200000" flipH="1">
            <a:off x="1808228" y="3391299"/>
            <a:ext cx="308927" cy="146568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AutoShape 87"/>
          <p:cNvCxnSpPr>
            <a:cxnSpLocks noChangeShapeType="1"/>
            <a:stCxn id="135" idx="2"/>
            <a:endCxn id="241" idx="0"/>
          </p:cNvCxnSpPr>
          <p:nvPr/>
        </p:nvCxnSpPr>
        <p:spPr bwMode="auto">
          <a:xfrm rot="5400000">
            <a:off x="1863947" y="4211860"/>
            <a:ext cx="242754" cy="1420417"/>
          </a:xfrm>
          <a:prstGeom prst="bentConnector3">
            <a:avLst>
              <a:gd name="adj1" fmla="val 26246"/>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AutoShape 87"/>
          <p:cNvCxnSpPr>
            <a:cxnSpLocks noChangeShapeType="1"/>
            <a:stCxn id="241" idx="2"/>
            <a:endCxn id="349" idx="0"/>
          </p:cNvCxnSpPr>
          <p:nvPr/>
        </p:nvCxnSpPr>
        <p:spPr bwMode="auto">
          <a:xfrm rot="16200000" flipH="1">
            <a:off x="1744764" y="4973905"/>
            <a:ext cx="489341" cy="142863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9" name="Text Box 102"/>
          <p:cNvSpPr txBox="1">
            <a:spLocks noChangeArrowheads="1"/>
          </p:cNvSpPr>
          <p:nvPr/>
        </p:nvSpPr>
        <p:spPr bwMode="auto">
          <a:xfrm>
            <a:off x="2276393" y="5932896"/>
            <a:ext cx="8547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Chanakarn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(Sys)</a:t>
            </a:r>
          </a:p>
        </p:txBody>
      </p:sp>
      <p:sp>
        <p:nvSpPr>
          <p:cNvPr id="351" name="Text Box 105"/>
          <p:cNvSpPr txBox="1">
            <a:spLocks noChangeArrowheads="1"/>
          </p:cNvSpPr>
          <p:nvPr/>
        </p:nvSpPr>
        <p:spPr bwMode="auto">
          <a:xfrm>
            <a:off x="2150871" y="6345614"/>
            <a:ext cx="1034257"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大久保</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Okubo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000">
                <a:solidFill>
                  <a:srgbClr val="000000"/>
                </a:solidFill>
                <a:latin typeface="Meiryo UI" pitchFamily="50" charset="-128"/>
                <a:ea typeface="Meiryo UI" pitchFamily="50" charset="-128"/>
                <a:cs typeface="Meiryo UI" pitchFamily="50" charset="-128"/>
              </a:rPr>
              <a:t>4MOC </a:t>
            </a:r>
            <a:r>
              <a:rPr lang="ja-JP" altLang="en-US" sz="1000">
                <a:solidFill>
                  <a:srgbClr val="000000"/>
                </a:solidFill>
                <a:latin typeface="Meiryo UI" pitchFamily="50" charset="-128"/>
                <a:ea typeface="Meiryo UI" pitchFamily="50" charset="-128"/>
                <a:cs typeface="Meiryo UI" pitchFamily="50" charset="-128"/>
              </a:rPr>
              <a:t>田尻</a:t>
            </a:r>
            <a:r>
              <a:rPr lang="en-US" altLang="ja-JP" sz="1000">
                <a:solidFill>
                  <a:srgbClr val="000000"/>
                </a:solidFill>
                <a:latin typeface="Meiryo UI" pitchFamily="50" charset="-128"/>
                <a:ea typeface="Meiryo UI" pitchFamily="50" charset="-128"/>
                <a:cs typeface="Meiryo UI" pitchFamily="50" charset="-128"/>
              </a:rPr>
              <a:t>BU</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4" name="Text Box 5"/>
          <p:cNvSpPr txBox="1">
            <a:spLocks noChangeArrowheads="1"/>
          </p:cNvSpPr>
          <p:nvPr/>
        </p:nvSpPr>
        <p:spPr bwMode="auto">
          <a:xfrm>
            <a:off x="149346" y="1664212"/>
            <a:ext cx="995785" cy="915635"/>
          </a:xfrm>
          <a:prstGeom prst="rect">
            <a:avLst/>
          </a:prstGeom>
          <a:solidFill>
            <a:sysClr val="window" lastClr="FFFFFF"/>
          </a:solidFill>
          <a:ln w="9525">
            <a:solidFill>
              <a:sysClr val="windowText" lastClr="000000"/>
            </a:solidFill>
            <a:miter lim="800000"/>
            <a:headEnd/>
            <a:tailEnd/>
          </a:ln>
          <a:effec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委託コミッティー</a:t>
            </a:r>
            <a:endParaRPr kumimoji="1" lang="en-US" altLang="ja-JP" sz="105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Consignment</a:t>
            </a:r>
            <a:r>
              <a:rPr kumimoji="1" lang="ja-JP" altLang="en-US"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endPar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Committee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千葉</a:t>
            </a:r>
            <a:endPar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Chiba</a:t>
            </a:r>
            <a:endPar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7" name="Text Box 75"/>
          <p:cNvSpPr txBox="1">
            <a:spLocks noChangeArrowheads="1"/>
          </p:cNvSpPr>
          <p:nvPr/>
        </p:nvSpPr>
        <p:spPr bwMode="auto">
          <a:xfrm>
            <a:off x="3117990" y="5043445"/>
            <a:ext cx="51167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柿沼</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Ma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9" name="Text Box 105"/>
          <p:cNvSpPr txBox="1">
            <a:spLocks noChangeArrowheads="1"/>
          </p:cNvSpPr>
          <p:nvPr/>
        </p:nvSpPr>
        <p:spPr bwMode="auto">
          <a:xfrm>
            <a:off x="1667015" y="6344161"/>
            <a:ext cx="6463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大久保</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Okubo</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40" name="Text Box 67"/>
          <p:cNvSpPr txBox="1">
            <a:spLocks noChangeArrowheads="1"/>
          </p:cNvSpPr>
          <p:nvPr/>
        </p:nvSpPr>
        <p:spPr bwMode="auto">
          <a:xfrm>
            <a:off x="7514241" y="2798300"/>
            <a:ext cx="1723549"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noProof="0">
                <a:solidFill>
                  <a:srgbClr val="000000"/>
                </a:solidFill>
                <a:latin typeface="Meiryo UI" pitchFamily="50" charset="-128"/>
                <a:ea typeface="Meiryo UI" pitchFamily="50" charset="-128"/>
                <a:cs typeface="Meiryo UI" pitchFamily="50" charset="-128"/>
              </a:rPr>
              <a:t>土屋</a:t>
            </a:r>
            <a:r>
              <a:rPr kumimoji="1" lang="ja-JP" altLang="en-US"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ELS ELS2</a:t>
            </a:r>
            <a:r>
              <a:rPr kumimoji="1" lang="ja-JP" altLang="en-US"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endParaRPr kumimoji="1" lang="en-US" altLang="ja-JP" sz="14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Tsuchiya</a:t>
            </a:r>
          </a:p>
        </p:txBody>
      </p:sp>
      <p:cxnSp>
        <p:nvCxnSpPr>
          <p:cNvPr id="147" name="AutoShape 111"/>
          <p:cNvCxnSpPr>
            <a:cxnSpLocks noChangeShapeType="1"/>
            <a:stCxn id="223" idx="3"/>
            <a:endCxn id="140" idx="1"/>
          </p:cNvCxnSpPr>
          <p:nvPr/>
        </p:nvCxnSpPr>
        <p:spPr bwMode="auto">
          <a:xfrm>
            <a:off x="7060834" y="2594778"/>
            <a:ext cx="453407" cy="42666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Text Box 81"/>
          <p:cNvSpPr txBox="1">
            <a:spLocks noChangeArrowheads="1"/>
          </p:cNvSpPr>
          <p:nvPr/>
        </p:nvSpPr>
        <p:spPr bwMode="auto">
          <a:xfrm>
            <a:off x="8567324" y="6021085"/>
            <a:ext cx="644728"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fontAlgn="auto" hangingPunct="1">
              <a:spcBef>
                <a:spcPts val="0"/>
              </a:spcBef>
              <a:spcAft>
                <a:spcPts val="0"/>
              </a:spcAft>
            </a:pPr>
            <a:r>
              <a:rPr lang="ja-JP" altLang="en-US" sz="1400">
                <a:solidFill>
                  <a:srgbClr val="000000"/>
                </a:solidFill>
                <a:latin typeface="Meiryo UI" pitchFamily="50" charset="-128"/>
                <a:ea typeface="Meiryo UI" pitchFamily="50" charset="-128"/>
                <a:cs typeface="Meiryo UI" pitchFamily="50" charset="-128"/>
              </a:rPr>
              <a:t>秋澤</a:t>
            </a:r>
            <a:endParaRPr lang="en-US" altLang="ja-JP" sz="1400">
              <a:solidFill>
                <a:srgbClr val="000000"/>
              </a:solidFill>
              <a:latin typeface="Meiryo UI" pitchFamily="50" charset="-128"/>
              <a:ea typeface="Meiryo UI" pitchFamily="50" charset="-128"/>
              <a:cs typeface="Meiryo UI" pitchFamily="50" charset="-128"/>
            </a:endParaRPr>
          </a:p>
          <a:p>
            <a:pPr eaLnBrk="1" fontAlgn="auto" hangingPunct="1">
              <a:spcBef>
                <a:spcPts val="0"/>
              </a:spcBef>
              <a:spcAft>
                <a:spcPts val="0"/>
              </a:spcAft>
            </a:pPr>
            <a:r>
              <a:rPr lang="en-US" altLang="ja-JP" sz="900">
                <a:solidFill>
                  <a:srgbClr val="000000"/>
                </a:solidFill>
                <a:latin typeface="Meiryo UI" pitchFamily="50" charset="-128"/>
                <a:ea typeface="Meiryo UI" pitchFamily="50" charset="-128"/>
                <a:cs typeface="Meiryo UI" pitchFamily="50" charset="-128"/>
              </a:rPr>
              <a:t>Akisawa</a:t>
            </a:r>
            <a:endParaRPr lang="ja-JP" altLang="en-US" sz="800">
              <a:solidFill>
                <a:srgbClr val="000000"/>
              </a:solidFill>
              <a:latin typeface="Meiryo UI" pitchFamily="50" charset="-128"/>
              <a:ea typeface="Meiryo UI" pitchFamily="50" charset="-128"/>
              <a:cs typeface="Meiryo UI" pitchFamily="50" charset="-128"/>
            </a:endParaRPr>
          </a:p>
        </p:txBody>
      </p:sp>
      <p:sp>
        <p:nvSpPr>
          <p:cNvPr id="151" name="テキスト ボックス 150"/>
          <p:cNvSpPr txBox="1"/>
          <p:nvPr/>
        </p:nvSpPr>
        <p:spPr>
          <a:xfrm>
            <a:off x="7924271" y="4671140"/>
            <a:ext cx="761747" cy="400110"/>
          </a:xfrm>
          <a:prstGeom prst="rect">
            <a:avLst/>
          </a:prstGeom>
          <a:noFill/>
        </p:spPr>
        <p:txBody>
          <a:bodyPr wrap="none" rtlCol="0">
            <a:spAutoFit/>
          </a:bodyPr>
          <a:lstStyle/>
          <a:p>
            <a:pPr fontAlgn="auto">
              <a:spcBef>
                <a:spcPts val="0"/>
              </a:spcBef>
              <a:spcAft>
                <a:spcPts val="0"/>
              </a:spcAft>
            </a:pPr>
            <a:r>
              <a:rPr lang="en-US" altLang="ja-JP" sz="1000">
                <a:solidFill>
                  <a:prstClr val="black"/>
                </a:solidFill>
                <a:latin typeface="Meiryo UI" panose="020B0604030504040204" pitchFamily="50" charset="-128"/>
                <a:ea typeface="Meiryo UI" panose="020B0604030504040204" pitchFamily="50" charset="-128"/>
              </a:rPr>
              <a:t>ELS2</a:t>
            </a:r>
          </a:p>
          <a:p>
            <a:pPr fontAlgn="auto">
              <a:spcBef>
                <a:spcPts val="0"/>
              </a:spcBef>
              <a:spcAft>
                <a:spcPts val="0"/>
              </a:spcAft>
            </a:pPr>
            <a:r>
              <a:rPr lang="en-US" altLang="ja-JP" sz="1000">
                <a:solidFill>
                  <a:prstClr val="black"/>
                </a:solidFill>
                <a:latin typeface="Meiryo UI" panose="020B0604030504040204" pitchFamily="50" charset="-128"/>
                <a:ea typeface="Meiryo UI" panose="020B0604030504040204" pitchFamily="50" charset="-128"/>
              </a:rPr>
              <a:t>HW/BSW</a:t>
            </a:r>
            <a:endParaRPr lang="ja-JP" altLang="en-US" sz="1000">
              <a:solidFill>
                <a:prstClr val="black"/>
              </a:solidFill>
              <a:latin typeface="Meiryo UI" panose="020B0604030504040204" pitchFamily="50" charset="-128"/>
              <a:ea typeface="Meiryo UI" panose="020B0604030504040204" pitchFamily="50" charset="-128"/>
            </a:endParaRPr>
          </a:p>
        </p:txBody>
      </p:sp>
      <p:sp>
        <p:nvSpPr>
          <p:cNvPr id="153" name="Text Box 81"/>
          <p:cNvSpPr txBox="1">
            <a:spLocks noChangeArrowheads="1"/>
          </p:cNvSpPr>
          <p:nvPr/>
        </p:nvSpPr>
        <p:spPr bwMode="auto">
          <a:xfrm>
            <a:off x="8101050" y="6023027"/>
            <a:ext cx="56457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fontAlgn="auto" hangingPunct="1">
              <a:spcBef>
                <a:spcPts val="0"/>
              </a:spcBef>
              <a:spcAft>
                <a:spcPts val="0"/>
              </a:spcAft>
            </a:pPr>
            <a:r>
              <a:rPr lang="ja-JP" altLang="en-US" sz="1400">
                <a:solidFill>
                  <a:srgbClr val="000000"/>
                </a:solidFill>
                <a:latin typeface="Meiryo UI" pitchFamily="50" charset="-128"/>
                <a:ea typeface="Meiryo UI" pitchFamily="50" charset="-128"/>
                <a:cs typeface="Meiryo UI" pitchFamily="50" charset="-128"/>
              </a:rPr>
              <a:t>田中</a:t>
            </a:r>
            <a:endParaRPr lang="en-US" altLang="ja-JP" sz="900">
              <a:solidFill>
                <a:srgbClr val="000000"/>
              </a:solidFill>
              <a:latin typeface="Meiryo UI" pitchFamily="50" charset="-128"/>
              <a:ea typeface="Meiryo UI" pitchFamily="50" charset="-128"/>
              <a:cs typeface="Meiryo UI" pitchFamily="50" charset="-128"/>
            </a:endParaRPr>
          </a:p>
          <a:p>
            <a:pPr eaLnBrk="1" fontAlgn="auto" hangingPunct="1">
              <a:spcBef>
                <a:spcPts val="0"/>
              </a:spcBef>
              <a:spcAft>
                <a:spcPts val="0"/>
              </a:spcAft>
            </a:pPr>
            <a:r>
              <a:rPr lang="en-US" altLang="ja-JP" sz="800">
                <a:solidFill>
                  <a:srgbClr val="000000"/>
                </a:solidFill>
                <a:latin typeface="Meiryo UI" pitchFamily="50" charset="-128"/>
                <a:ea typeface="Meiryo UI" pitchFamily="50" charset="-128"/>
                <a:cs typeface="Meiryo UI" pitchFamily="50" charset="-128"/>
              </a:rPr>
              <a:t>Tanka</a:t>
            </a:r>
            <a:endParaRPr lang="ja-JP" altLang="en-US" sz="800">
              <a:solidFill>
                <a:srgbClr val="000000"/>
              </a:solidFill>
              <a:latin typeface="Meiryo UI" pitchFamily="50" charset="-128"/>
              <a:ea typeface="Meiryo UI" pitchFamily="50" charset="-128"/>
              <a:cs typeface="Meiryo UI" pitchFamily="50" charset="-128"/>
            </a:endParaRPr>
          </a:p>
        </p:txBody>
      </p:sp>
      <p:cxnSp>
        <p:nvCxnSpPr>
          <p:cNvPr id="154" name="AutoShape 90"/>
          <p:cNvCxnSpPr>
            <a:cxnSpLocks noChangeShapeType="1"/>
            <a:stCxn id="126" idx="2"/>
            <a:endCxn id="149" idx="0"/>
          </p:cNvCxnSpPr>
          <p:nvPr/>
        </p:nvCxnSpPr>
        <p:spPr bwMode="auto">
          <a:xfrm rot="16200000" flipH="1">
            <a:off x="8468649" y="5600046"/>
            <a:ext cx="577530" cy="264548"/>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AutoShape 90"/>
          <p:cNvCxnSpPr>
            <a:cxnSpLocks noChangeShapeType="1"/>
            <a:stCxn id="126" idx="2"/>
            <a:endCxn id="153" idx="0"/>
          </p:cNvCxnSpPr>
          <p:nvPr/>
        </p:nvCxnSpPr>
        <p:spPr bwMode="auto">
          <a:xfrm rot="5400000">
            <a:off x="8214504" y="5612391"/>
            <a:ext cx="579472" cy="24180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 name="直線コネクタ 2"/>
          <p:cNvCxnSpPr>
            <a:stCxn id="157" idx="2"/>
            <a:endCxn id="114" idx="0"/>
          </p:cNvCxnSpPr>
          <p:nvPr/>
        </p:nvCxnSpPr>
        <p:spPr bwMode="auto">
          <a:xfrm flipH="1">
            <a:off x="3373829" y="5443555"/>
            <a:ext cx="1" cy="4893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線コネクタ 4"/>
          <p:cNvCxnSpPr>
            <a:stCxn id="121" idx="2"/>
            <a:endCxn id="157" idx="0"/>
          </p:cNvCxnSpPr>
          <p:nvPr/>
        </p:nvCxnSpPr>
        <p:spPr bwMode="auto">
          <a:xfrm>
            <a:off x="3373830" y="4677581"/>
            <a:ext cx="0" cy="36586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 name="Text Box 75">
            <a:extLst>
              <a:ext uri="{FF2B5EF4-FFF2-40B4-BE49-F238E27FC236}">
                <a16:creationId xmlns:a16="http://schemas.microsoft.com/office/drawing/2014/main" id="{09BDE681-8E41-82E9-DB7E-2898FBB744CF}"/>
              </a:ext>
            </a:extLst>
          </p:cNvPr>
          <p:cNvSpPr txBox="1">
            <a:spLocks noChangeArrowheads="1"/>
          </p:cNvSpPr>
          <p:nvPr/>
        </p:nvSpPr>
        <p:spPr bwMode="auto">
          <a:xfrm>
            <a:off x="5106376" y="5207322"/>
            <a:ext cx="6238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a:solidFill>
                  <a:srgbClr val="000000"/>
                </a:solidFill>
                <a:latin typeface="Meiryo UI" pitchFamily="50" charset="-128"/>
                <a:ea typeface="Meiryo UI" pitchFamily="50" charset="-128"/>
                <a:cs typeface="Meiryo UI" pitchFamily="50" charset="-128"/>
              </a:rPr>
              <a:t>Akazawa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6" name="Text Box 78">
            <a:extLst>
              <a:ext uri="{FF2B5EF4-FFF2-40B4-BE49-F238E27FC236}">
                <a16:creationId xmlns:a16="http://schemas.microsoft.com/office/drawing/2014/main" id="{44069175-B342-AA38-80C4-B6A89658AA1A}"/>
              </a:ext>
            </a:extLst>
          </p:cNvPr>
          <p:cNvSpPr txBox="1">
            <a:spLocks noChangeArrowheads="1"/>
          </p:cNvSpPr>
          <p:nvPr/>
        </p:nvSpPr>
        <p:spPr bwMode="auto">
          <a:xfrm>
            <a:off x="6343238" y="6456611"/>
            <a:ext cx="6367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森住</a:t>
            </a:r>
            <a:endPar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a:solidFill>
                  <a:srgbClr val="000000"/>
                </a:solidFill>
                <a:latin typeface="Meiryo UI" pitchFamily="50" charset="-128"/>
                <a:ea typeface="Meiryo UI" pitchFamily="50" charset="-128"/>
                <a:cs typeface="Meiryo UI" pitchFamily="50" charset="-128"/>
              </a:rPr>
              <a:t>Morizumi</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62" name="Text Box 75">
            <a:extLst>
              <a:ext uri="{FF2B5EF4-FFF2-40B4-BE49-F238E27FC236}">
                <a16:creationId xmlns:a16="http://schemas.microsoft.com/office/drawing/2014/main" id="{6C2372AC-51F2-8D01-0428-62243CF83AE8}"/>
              </a:ext>
            </a:extLst>
          </p:cNvPr>
          <p:cNvSpPr txBox="1">
            <a:spLocks noChangeArrowheads="1"/>
          </p:cNvSpPr>
          <p:nvPr/>
        </p:nvSpPr>
        <p:spPr bwMode="auto">
          <a:xfrm>
            <a:off x="3769899" y="5012965"/>
            <a:ext cx="51328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平野</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a:solidFill>
                  <a:srgbClr val="000000"/>
                </a:solidFill>
                <a:latin typeface="Meiryo UI" pitchFamily="50" charset="-128"/>
                <a:ea typeface="Meiryo UI" pitchFamily="50" charset="-128"/>
                <a:cs typeface="Meiryo UI" pitchFamily="50" charset="-128"/>
              </a:rPr>
              <a:t>Hirano</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4" name="Text Box 105">
            <a:extLst>
              <a:ext uri="{FF2B5EF4-FFF2-40B4-BE49-F238E27FC236}">
                <a16:creationId xmlns:a16="http://schemas.microsoft.com/office/drawing/2014/main" id="{29B5D76F-253F-3E95-24F5-CE2E0C1C6ED2}"/>
              </a:ext>
            </a:extLst>
          </p:cNvPr>
          <p:cNvSpPr txBox="1">
            <a:spLocks noChangeArrowheads="1"/>
          </p:cNvSpPr>
          <p:nvPr/>
        </p:nvSpPr>
        <p:spPr bwMode="auto">
          <a:xfrm>
            <a:off x="935344" y="6344161"/>
            <a:ext cx="6463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大久保</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Okubo</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123536936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 Box 2"/>
          <p:cNvSpPr txBox="1">
            <a:spLocks noChangeArrowheads="1"/>
          </p:cNvSpPr>
          <p:nvPr/>
        </p:nvSpPr>
        <p:spPr bwMode="auto">
          <a:xfrm>
            <a:off x="250829" y="31750"/>
            <a:ext cx="8893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20. Development</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organization</a:t>
            </a:r>
            <a:r>
              <a:rPr kumimoji="1" lang="ja-JP" altLang="en-US"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 </a:t>
            </a:r>
            <a:r>
              <a:rPr kumimoji="1" lang="en-US" altLang="ja-JP" sz="24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(2/2)</a:t>
            </a:r>
            <a:endParaRPr kumimoji="1" lang="en-US" altLang="ja-JP" sz="1200" b="0" i="0" u="none" strike="noStrike" kern="1200" cap="none" spc="0" normalizeH="0" baseline="0" noProof="0">
              <a:ln>
                <a:noFill/>
              </a:ln>
              <a:solidFill>
                <a:srgbClr val="FFFFFF"/>
              </a:solidFill>
              <a:effectLst/>
              <a:uLnTx/>
              <a:uFillTx/>
              <a:latin typeface="HGPｺﾞｼｯｸE" pitchFamily="50" charset="-128"/>
              <a:ea typeface="HGPｺﾞｼｯｸE" pitchFamily="50" charset="-128"/>
              <a:cs typeface="Arial" pitchFamily="34" charset="0"/>
            </a:endParaRPr>
          </a:p>
        </p:txBody>
      </p:sp>
      <p:sp>
        <p:nvSpPr>
          <p:cNvPr id="41" name="Text Box 2"/>
          <p:cNvSpPr txBox="1">
            <a:spLocks noChangeArrowheads="1"/>
          </p:cNvSpPr>
          <p:nvPr/>
        </p:nvSpPr>
        <p:spPr bwMode="auto">
          <a:xfrm>
            <a:off x="216216" y="522678"/>
            <a:ext cx="889317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車体制御関連　（</a:t>
            </a:r>
            <a:r>
              <a:rPr kumimoji="1" lang="en-US" altLang="ja-JP" sz="16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pitchFamily="34" charset="0"/>
              </a:rPr>
              <a:t>Vehicle Control System Members)</a:t>
            </a:r>
            <a:endParaRPr kumimoji="1" lang="en-US" altLang="ja-JP" sz="1600" b="0" i="0" u="none" strike="noStrike" kern="1200" cap="none" spc="0" normalizeH="0" baseline="0" noProof="0">
              <a:ln>
                <a:noFill/>
              </a:ln>
              <a:solidFill>
                <a:srgbClr val="000000"/>
              </a:solidFill>
              <a:effectLst/>
              <a:uLnTx/>
              <a:uFillTx/>
              <a:latin typeface="HGPｺﾞｼｯｸE" pitchFamily="50" charset="-128"/>
              <a:ea typeface="HGPｺﾞｼｯｸE" pitchFamily="50" charset="-128"/>
              <a:cs typeface="Arial" pitchFamily="34" charset="0"/>
            </a:endParaRPr>
          </a:p>
        </p:txBody>
      </p:sp>
      <p:sp>
        <p:nvSpPr>
          <p:cNvPr id="89" name="テキスト ボックス 88"/>
          <p:cNvSpPr txBox="1"/>
          <p:nvPr/>
        </p:nvSpPr>
        <p:spPr>
          <a:xfrm>
            <a:off x="107317" y="883200"/>
            <a:ext cx="4929970"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b="1">
                <a:solidFill>
                  <a:prstClr val="black"/>
                </a:solidFill>
                <a:latin typeface="Meiryo UI" pitchFamily="50" charset="-128"/>
                <a:ea typeface="Meiryo UI" pitchFamily="50" charset="-128"/>
                <a:cs typeface="Meiryo UI" pitchFamily="50" charset="-128"/>
              </a:rPr>
              <a:t>6S</a:t>
            </a:r>
            <a:r>
              <a:rPr kumimoji="1" lang="en-US" altLang="ja-JP" sz="1400" b="1"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rPr>
              <a:t>AA Project team and Vehicle control members</a:t>
            </a:r>
            <a:endParaRPr kumimoji="1" lang="ja-JP" altLang="en-US" sz="1400" b="1" i="0" u="none" strike="noStrike" kern="1200" cap="none" spc="0" normalizeH="0" baseline="0" noProof="0">
              <a:ln>
                <a:noFill/>
              </a:ln>
              <a:solidFill>
                <a:prstClr val="black"/>
              </a:solidFill>
              <a:effectLst/>
              <a:uLnTx/>
              <a:uFillTx/>
              <a:latin typeface="Meiryo UI" pitchFamily="50" charset="-128"/>
              <a:ea typeface="Meiryo UI" pitchFamily="50" charset="-128"/>
              <a:cs typeface="Meiryo UI" pitchFamily="50" charset="-128"/>
            </a:endParaRPr>
          </a:p>
        </p:txBody>
      </p:sp>
      <p:sp>
        <p:nvSpPr>
          <p:cNvPr id="66" name="Text Box 74"/>
          <p:cNvSpPr txBox="1">
            <a:spLocks noChangeArrowheads="1"/>
          </p:cNvSpPr>
          <p:nvPr/>
        </p:nvSpPr>
        <p:spPr bwMode="auto">
          <a:xfrm>
            <a:off x="6829687" y="2734366"/>
            <a:ext cx="1154483" cy="1015663"/>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(HRAP)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ED-A</a:t>
            </a:r>
            <a:endPar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lvl="0" eaLnBrk="1" fontAlgn="auto" hangingPunct="1">
              <a:spcBef>
                <a:spcPts val="0"/>
              </a:spcBef>
              <a:spcAft>
                <a:spcPts val="0"/>
              </a:spcAft>
              <a:defRPr/>
            </a:pPr>
            <a:r>
              <a:rPr lang="en-US" altLang="ja-JP" sz="1200" kern="0">
                <a:solidFill>
                  <a:srgbClr val="000000"/>
                </a:solidFill>
                <a:latin typeface="Meiryo UI" pitchFamily="50" charset="-128"/>
                <a:ea typeface="Meiryo UI" pitchFamily="50" charset="-128"/>
                <a:cs typeface="Meiryo UI" pitchFamily="50" charset="-128"/>
              </a:rPr>
              <a:t>Waraporn PL</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67" name="AutoShape 82"/>
          <p:cNvCxnSpPr>
            <a:cxnSpLocks noChangeShapeType="1"/>
            <a:stCxn id="72" idx="2"/>
            <a:endCxn id="66" idx="0"/>
          </p:cNvCxnSpPr>
          <p:nvPr/>
        </p:nvCxnSpPr>
        <p:spPr bwMode="auto">
          <a:xfrm rot="16200000" flipH="1">
            <a:off x="5516644" y="844081"/>
            <a:ext cx="721202" cy="3059367"/>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AutoShape 83"/>
          <p:cNvCxnSpPr>
            <a:cxnSpLocks noChangeShapeType="1"/>
            <a:stCxn id="72" idx="2"/>
            <a:endCxn id="144" idx="0"/>
          </p:cNvCxnSpPr>
          <p:nvPr/>
        </p:nvCxnSpPr>
        <p:spPr bwMode="auto">
          <a:xfrm rot="5400000">
            <a:off x="3983468" y="2370268"/>
            <a:ext cx="721199" cy="6991"/>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AutoShape 85"/>
          <p:cNvCxnSpPr>
            <a:cxnSpLocks noChangeShapeType="1"/>
            <a:stCxn id="72" idx="2"/>
            <a:endCxn id="73" idx="0"/>
          </p:cNvCxnSpPr>
          <p:nvPr/>
        </p:nvCxnSpPr>
        <p:spPr bwMode="auto">
          <a:xfrm rot="5400000">
            <a:off x="2647077" y="1033877"/>
            <a:ext cx="721199" cy="2679773"/>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0" name="Text Box 108"/>
          <p:cNvSpPr txBox="1">
            <a:spLocks noChangeArrowheads="1"/>
          </p:cNvSpPr>
          <p:nvPr/>
        </p:nvSpPr>
        <p:spPr bwMode="auto">
          <a:xfrm>
            <a:off x="2518727" y="2734363"/>
            <a:ext cx="939681" cy="461665"/>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BM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(EEA</a:t>
            </a: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EPF)</a:t>
            </a:r>
          </a:p>
        </p:txBody>
      </p:sp>
      <p:cxnSp>
        <p:nvCxnSpPr>
          <p:cNvPr id="71" name="AutoShape 111"/>
          <p:cNvCxnSpPr>
            <a:cxnSpLocks noChangeShapeType="1"/>
            <a:stCxn id="70" idx="0"/>
            <a:endCxn id="72" idx="2"/>
          </p:cNvCxnSpPr>
          <p:nvPr/>
        </p:nvCxnSpPr>
        <p:spPr bwMode="auto">
          <a:xfrm rot="5400000" flipH="1" flipV="1">
            <a:off x="3307466" y="1694267"/>
            <a:ext cx="721199" cy="1358994"/>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Text Box 5"/>
          <p:cNvSpPr txBox="1">
            <a:spLocks noChangeArrowheads="1"/>
          </p:cNvSpPr>
          <p:nvPr/>
        </p:nvSpPr>
        <p:spPr bwMode="auto">
          <a:xfrm>
            <a:off x="3422443" y="1212945"/>
            <a:ext cx="1850238" cy="800219"/>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車体制御統括</a:t>
            </a:r>
            <a:endPar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Vehicle</a:t>
            </a:r>
            <a:r>
              <a:rPr kumimoji="1" lang="ja-JP" altLang="en-US"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development</a:t>
            </a:r>
            <a:r>
              <a:rPr kumimoji="1" lang="ja-JP" altLang="en-US"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a:t>
            </a:r>
            <a:r>
              <a:rPr kumimoji="1" lang="en-US" altLang="ja-JP" sz="9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Unification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Chaiwat A-LPL</a:t>
            </a:r>
          </a:p>
        </p:txBody>
      </p:sp>
      <p:sp>
        <p:nvSpPr>
          <p:cNvPr id="73" name="Text Box 65"/>
          <p:cNvSpPr txBox="1">
            <a:spLocks noChangeArrowheads="1"/>
          </p:cNvSpPr>
          <p:nvPr/>
        </p:nvSpPr>
        <p:spPr bwMode="auto">
          <a:xfrm>
            <a:off x="1096431" y="2734363"/>
            <a:ext cx="1142716" cy="1015663"/>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TM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(HRAP)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 PU-Dev</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Jirapipat PL</a:t>
            </a:r>
          </a:p>
        </p:txBody>
      </p:sp>
      <p:sp>
        <p:nvSpPr>
          <p:cNvPr id="74" name="Text Box 78"/>
          <p:cNvSpPr txBox="1">
            <a:spLocks noChangeArrowheads="1"/>
          </p:cNvSpPr>
          <p:nvPr/>
        </p:nvSpPr>
        <p:spPr bwMode="auto">
          <a:xfrm>
            <a:off x="2562011" y="4244258"/>
            <a:ext cx="853119"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EPF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鈴木 宏章</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CE</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Suzuki </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75" name="Text Box 78"/>
          <p:cNvSpPr txBox="1">
            <a:spLocks noChangeArrowheads="1"/>
          </p:cNvSpPr>
          <p:nvPr/>
        </p:nvSpPr>
        <p:spPr bwMode="auto">
          <a:xfrm>
            <a:off x="6647711" y="5479811"/>
            <a:ext cx="813043" cy="761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APD1</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50" b="0" i="0">
                <a:solidFill>
                  <a:srgbClr val="242424"/>
                </a:solidFill>
                <a:effectLst/>
                <a:latin typeface="Aptos Narrow" panose="020B0004020202020204" pitchFamily="34" charset="0"/>
              </a:rPr>
              <a:t>高橋　雄人</a:t>
            </a:r>
            <a:endParaRPr lang="en-US" altLang="ja-JP" sz="1050" b="0" i="0">
              <a:solidFill>
                <a:srgbClr val="242424"/>
              </a:solidFill>
              <a:effectLst/>
              <a:latin typeface="Aptos Narrow"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a:solidFill>
                  <a:srgbClr val="000000"/>
                </a:solidFill>
                <a:latin typeface="Meiryo UI" pitchFamily="50" charset="-128"/>
                <a:ea typeface="Meiryo UI" pitchFamily="50" charset="-128"/>
                <a:cs typeface="Meiryo UI" pitchFamily="50" charset="-128"/>
              </a:rPr>
              <a:t>Takahashi</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76" name="Text Box 78"/>
          <p:cNvSpPr txBox="1">
            <a:spLocks noChangeArrowheads="1"/>
          </p:cNvSpPr>
          <p:nvPr/>
        </p:nvSpPr>
        <p:spPr bwMode="auto">
          <a:xfrm>
            <a:off x="6758320" y="4244258"/>
            <a:ext cx="5918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APD1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a:solidFill>
                  <a:srgbClr val="000000"/>
                </a:solidFill>
                <a:latin typeface="Meiryo UI" pitchFamily="50" charset="-128"/>
                <a:ea typeface="Meiryo UI" pitchFamily="50" charset="-128"/>
                <a:cs typeface="Meiryo UI" pitchFamily="50" charset="-128"/>
              </a:rPr>
              <a:t>Aon</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MG</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p:txBody>
      </p:sp>
      <p:cxnSp>
        <p:nvCxnSpPr>
          <p:cNvPr id="81" name="直線コネクタ 80"/>
          <p:cNvCxnSpPr>
            <a:stCxn id="74" idx="0"/>
            <a:endCxn id="70" idx="2"/>
          </p:cNvCxnSpPr>
          <p:nvPr/>
        </p:nvCxnSpPr>
        <p:spPr bwMode="auto">
          <a:xfrm flipH="1" flipV="1">
            <a:off x="2988568" y="3196028"/>
            <a:ext cx="3" cy="104823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線コネクタ 82"/>
          <p:cNvCxnSpPr>
            <a:stCxn id="75" idx="0"/>
            <a:endCxn id="76" idx="2"/>
          </p:cNvCxnSpPr>
          <p:nvPr/>
        </p:nvCxnSpPr>
        <p:spPr bwMode="auto">
          <a:xfrm flipV="1">
            <a:off x="7054233" y="4890589"/>
            <a:ext cx="2" cy="5892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4" name="Text Box 66"/>
          <p:cNvSpPr txBox="1">
            <a:spLocks noChangeArrowheads="1"/>
          </p:cNvSpPr>
          <p:nvPr/>
        </p:nvSpPr>
        <p:spPr bwMode="auto">
          <a:xfrm>
            <a:off x="5233337" y="2734363"/>
            <a:ext cx="1210588" cy="1015663"/>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BR,CC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(APD1/ASDS)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APD1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Panupong PL</a:t>
            </a:r>
          </a:p>
        </p:txBody>
      </p:sp>
      <p:cxnSp>
        <p:nvCxnSpPr>
          <p:cNvPr id="87" name="AutoShape 84"/>
          <p:cNvCxnSpPr>
            <a:cxnSpLocks noChangeShapeType="1"/>
            <a:stCxn id="72" idx="2"/>
            <a:endCxn id="84" idx="0"/>
          </p:cNvCxnSpPr>
          <p:nvPr/>
        </p:nvCxnSpPr>
        <p:spPr bwMode="auto">
          <a:xfrm rot="16200000" flipH="1">
            <a:off x="4732497" y="1628228"/>
            <a:ext cx="721199" cy="149106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8" name="Text Box 78"/>
          <p:cNvSpPr txBox="1">
            <a:spLocks noChangeArrowheads="1"/>
          </p:cNvSpPr>
          <p:nvPr/>
        </p:nvSpPr>
        <p:spPr bwMode="auto">
          <a:xfrm>
            <a:off x="5782092" y="5479811"/>
            <a:ext cx="942309"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ASDS(CC)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日詰 崇之</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Hizume </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2" name="Text Box 78"/>
          <p:cNvSpPr txBox="1">
            <a:spLocks noChangeArrowheads="1"/>
          </p:cNvSpPr>
          <p:nvPr/>
        </p:nvSpPr>
        <p:spPr bwMode="auto">
          <a:xfrm>
            <a:off x="1231677" y="5479811"/>
            <a:ext cx="8722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PU-Dev</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a:solidFill>
                  <a:srgbClr val="000000"/>
                </a:solidFill>
                <a:latin typeface="Meiryo UI" pitchFamily="50" charset="-128"/>
                <a:ea typeface="Meiryo UI" pitchFamily="50" charset="-128"/>
                <a:cs typeface="Meiryo UI" pitchFamily="50" charset="-128"/>
              </a:rPr>
              <a:t>Tanakorn</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33" name="Text Box 78"/>
          <p:cNvSpPr txBox="1">
            <a:spLocks noChangeArrowheads="1"/>
          </p:cNvSpPr>
          <p:nvPr/>
        </p:nvSpPr>
        <p:spPr bwMode="auto">
          <a:xfrm>
            <a:off x="1100965" y="4244258"/>
            <a:ext cx="1133644"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PU-Dev</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中村幸司</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a:solidFill>
                  <a:srgbClr val="000000"/>
                </a:solidFill>
                <a:latin typeface="Meiryo UI" pitchFamily="50" charset="-128"/>
                <a:ea typeface="Meiryo UI" pitchFamily="50" charset="-128"/>
                <a:cs typeface="Meiryo UI" pitchFamily="50" charset="-128"/>
              </a:rPr>
              <a:t>Nakamura</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34" name="直線コネクタ 133"/>
          <p:cNvCxnSpPr>
            <a:stCxn id="132" idx="0"/>
            <a:endCxn id="133" idx="2"/>
          </p:cNvCxnSpPr>
          <p:nvPr/>
        </p:nvCxnSpPr>
        <p:spPr bwMode="auto">
          <a:xfrm flipH="1" flipV="1">
            <a:off x="1667787" y="4844422"/>
            <a:ext cx="3" cy="63538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Text Box 78"/>
          <p:cNvSpPr txBox="1">
            <a:spLocks noChangeArrowheads="1"/>
          </p:cNvSpPr>
          <p:nvPr/>
        </p:nvSpPr>
        <p:spPr bwMode="auto">
          <a:xfrm>
            <a:off x="4826167" y="5479811"/>
            <a:ext cx="1034835" cy="761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APD1(VSA)</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050" b="0" i="0">
                <a:solidFill>
                  <a:srgbClr val="242424"/>
                </a:solidFill>
                <a:effectLst/>
                <a:latin typeface="Aptos Narrow" panose="020B0004020202020204" pitchFamily="34" charset="0"/>
              </a:rPr>
              <a:t>鈴木 潤一郎</a:t>
            </a:r>
            <a:endParaRPr lang="en-US" altLang="ja-JP" sz="1050" b="0" i="0">
              <a:solidFill>
                <a:srgbClr val="242424"/>
              </a:solidFill>
              <a:effectLst/>
              <a:latin typeface="Aptos Narrow"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900">
                <a:solidFill>
                  <a:srgbClr val="000000"/>
                </a:solidFill>
                <a:latin typeface="Meiryo UI" pitchFamily="50" charset="-128"/>
                <a:ea typeface="Meiryo UI" pitchFamily="50" charset="-128"/>
                <a:cs typeface="Meiryo UI" pitchFamily="50" charset="-128"/>
              </a:rPr>
              <a:t>Suzuki</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40" name="カギ線コネクタ 139"/>
          <p:cNvCxnSpPr>
            <a:stCxn id="150" idx="0"/>
            <a:endCxn id="84" idx="2"/>
          </p:cNvCxnSpPr>
          <p:nvPr/>
        </p:nvCxnSpPr>
        <p:spPr bwMode="auto">
          <a:xfrm rot="5400000" flipH="1" flipV="1">
            <a:off x="5343994" y="3749621"/>
            <a:ext cx="494232" cy="49504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カギ線コネクタ 140"/>
          <p:cNvCxnSpPr>
            <a:stCxn id="151" idx="0"/>
            <a:endCxn id="84" idx="2"/>
          </p:cNvCxnSpPr>
          <p:nvPr/>
        </p:nvCxnSpPr>
        <p:spPr bwMode="auto">
          <a:xfrm rot="16200000" flipV="1">
            <a:off x="5798824" y="3789833"/>
            <a:ext cx="494232" cy="41461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カギ線コネクタ 141"/>
          <p:cNvCxnSpPr>
            <a:stCxn id="133" idx="0"/>
            <a:endCxn id="73" idx="2"/>
          </p:cNvCxnSpPr>
          <p:nvPr/>
        </p:nvCxnSpPr>
        <p:spPr bwMode="auto">
          <a:xfrm rot="5400000" flipH="1" flipV="1">
            <a:off x="1420672" y="3997141"/>
            <a:ext cx="494232" cy="2"/>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4" name="Text Box 108"/>
          <p:cNvSpPr txBox="1">
            <a:spLocks noChangeArrowheads="1"/>
          </p:cNvSpPr>
          <p:nvPr/>
        </p:nvSpPr>
        <p:spPr bwMode="auto">
          <a:xfrm>
            <a:off x="3802603" y="2734363"/>
            <a:ext cx="1075936" cy="461665"/>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スタートストップ</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(PU1)</a:t>
            </a:r>
          </a:p>
        </p:txBody>
      </p:sp>
      <p:sp>
        <p:nvSpPr>
          <p:cNvPr id="145" name="Text Box 78"/>
          <p:cNvSpPr txBox="1">
            <a:spLocks noChangeArrowheads="1"/>
          </p:cNvSpPr>
          <p:nvPr/>
        </p:nvSpPr>
        <p:spPr bwMode="auto">
          <a:xfrm>
            <a:off x="4067902" y="4244258"/>
            <a:ext cx="545341"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SPU</a:t>
            </a:r>
          </a:p>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200">
                <a:solidFill>
                  <a:srgbClr val="000000"/>
                </a:solidFill>
                <a:latin typeface="Meiryo UI" pitchFamily="50" charset="-128"/>
                <a:ea typeface="Meiryo UI" pitchFamily="50" charset="-128"/>
                <a:cs typeface="Meiryo UI" pitchFamily="50" charset="-128"/>
              </a:rPr>
              <a:t>原 武</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CE</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Hara</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46" name="直線コネクタ 145"/>
          <p:cNvCxnSpPr>
            <a:stCxn id="145" idx="0"/>
            <a:endCxn id="144" idx="2"/>
          </p:cNvCxnSpPr>
          <p:nvPr/>
        </p:nvCxnSpPr>
        <p:spPr bwMode="auto">
          <a:xfrm flipH="1" flipV="1">
            <a:off x="4340571" y="3196028"/>
            <a:ext cx="2" cy="104823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7" name="Text Box 78"/>
          <p:cNvSpPr txBox="1">
            <a:spLocks noChangeArrowheads="1"/>
          </p:cNvSpPr>
          <p:nvPr/>
        </p:nvSpPr>
        <p:spPr bwMode="auto">
          <a:xfrm>
            <a:off x="2149911" y="5479811"/>
            <a:ext cx="955711"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EPF</a:t>
            </a:r>
          </a:p>
          <a:p>
            <a:pPr lvl="0" eaLnBrk="1" fontAlgn="auto" hangingPunct="1">
              <a:spcBef>
                <a:spcPts val="0"/>
              </a:spcBef>
              <a:spcAft>
                <a:spcPts val="0"/>
              </a:spcAft>
              <a:defRPr/>
            </a:pPr>
            <a:r>
              <a:rPr lang="ja-JP" altLang="en-US" sz="1200">
                <a:solidFill>
                  <a:srgbClr val="000000"/>
                </a:solidFill>
                <a:latin typeface="Meiryo UI" pitchFamily="50" charset="-128"/>
                <a:ea typeface="Meiryo UI" pitchFamily="50" charset="-128"/>
                <a:cs typeface="Meiryo UI" pitchFamily="50" charset="-128"/>
              </a:rPr>
              <a:t>千葉　哲大 </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Chiba</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48" name="Text Box 78"/>
          <p:cNvSpPr txBox="1">
            <a:spLocks noChangeArrowheads="1"/>
          </p:cNvSpPr>
          <p:nvPr/>
        </p:nvSpPr>
        <p:spPr bwMode="auto">
          <a:xfrm>
            <a:off x="3874726" y="5479811"/>
            <a:ext cx="923651"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noProof="0">
                <a:solidFill>
                  <a:srgbClr val="000000"/>
                </a:solidFill>
                <a:latin typeface="Meiryo UI" pitchFamily="50" charset="-128"/>
                <a:ea typeface="Meiryo UI" pitchFamily="50" charset="-128"/>
                <a:cs typeface="Meiryo UI" pitchFamily="50" charset="-128"/>
              </a:rPr>
              <a:t>SPU</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(IMG)</a:t>
            </a:r>
          </a:p>
          <a:p>
            <a:pPr lvl="0" eaLnBrk="1" fontAlgn="auto" hangingPunct="1">
              <a:spcBef>
                <a:spcPts val="0"/>
              </a:spcBef>
              <a:spcAft>
                <a:spcPts val="0"/>
              </a:spcAft>
              <a:defRPr/>
            </a:pPr>
            <a:r>
              <a:rPr lang="ja-JP" altLang="en-US" sz="1200">
                <a:solidFill>
                  <a:srgbClr val="000000"/>
                </a:solidFill>
                <a:latin typeface="Meiryo UI" pitchFamily="50" charset="-128"/>
                <a:ea typeface="Meiryo UI" pitchFamily="50" charset="-128"/>
                <a:cs typeface="Meiryo UI" pitchFamily="50" charset="-128"/>
              </a:rPr>
              <a:t>田尻 賢一</a:t>
            </a:r>
            <a:endParaRPr lang="en-US" altLang="ja-JP" sz="1200">
              <a:solidFill>
                <a:srgbClr val="000000"/>
              </a:solidFill>
              <a:latin typeface="Meiryo UI" pitchFamily="50" charset="-128"/>
              <a:ea typeface="Meiryo UI" pitchFamily="50" charset="-128"/>
              <a:cs typeface="Meiryo UI" pitchFamily="50" charset="-128"/>
            </a:endParaRPr>
          </a:p>
          <a:p>
            <a:pPr lvl="0" eaLnBrk="1" fontAlgn="auto" hangingPunct="1">
              <a:spcBef>
                <a:spcPts val="0"/>
              </a:spcBef>
              <a:spcAft>
                <a:spcPts val="0"/>
              </a:spcAf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err="1">
                <a:ln>
                  <a:noFill/>
                </a:ln>
                <a:solidFill>
                  <a:srgbClr val="000000"/>
                </a:solidFill>
                <a:effectLst/>
                <a:uLnTx/>
                <a:uFillTx/>
                <a:latin typeface="Meiryo UI" pitchFamily="50" charset="-128"/>
                <a:ea typeface="Meiryo UI" pitchFamily="50" charset="-128"/>
                <a:cs typeface="Meiryo UI" pitchFamily="50" charset="-128"/>
              </a:rPr>
              <a:t>Tajiri</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50" name="Text Box 78"/>
          <p:cNvSpPr txBox="1">
            <a:spLocks noChangeArrowheads="1"/>
          </p:cNvSpPr>
          <p:nvPr/>
        </p:nvSpPr>
        <p:spPr bwMode="auto">
          <a:xfrm>
            <a:off x="4826171" y="4244258"/>
            <a:ext cx="10348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APD1(VSA)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(MG)</a:t>
            </a:r>
          </a:p>
        </p:txBody>
      </p:sp>
      <p:sp>
        <p:nvSpPr>
          <p:cNvPr id="151" name="Text Box 78"/>
          <p:cNvSpPr txBox="1">
            <a:spLocks noChangeArrowheads="1"/>
          </p:cNvSpPr>
          <p:nvPr/>
        </p:nvSpPr>
        <p:spPr bwMode="auto">
          <a:xfrm>
            <a:off x="5782093" y="4244258"/>
            <a:ext cx="942309"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lvl="0" eaLnBrk="1" fontAlgn="auto" hangingPunct="1">
              <a:spcBef>
                <a:spcPts val="0"/>
              </a:spcBef>
              <a:spcAft>
                <a:spcPts val="0"/>
              </a:spcAft>
              <a:defRPr/>
            </a:pPr>
            <a:r>
              <a:rPr lang="en-US" altLang="ja-JP" sz="1200">
                <a:solidFill>
                  <a:srgbClr val="000000"/>
                </a:solidFill>
                <a:latin typeface="Meiryo UI" pitchFamily="50" charset="-128"/>
                <a:ea typeface="Meiryo UI" pitchFamily="50" charset="-128"/>
                <a:cs typeface="Meiryo UI" pitchFamily="50" charset="-128"/>
              </a:rPr>
              <a:t>ASDS(CC)</a:t>
            </a:r>
          </a:p>
          <a:p>
            <a:pPr lvl="0" eaLnBrk="1" fontAlgn="auto" hangingPunct="1">
              <a:spcBef>
                <a:spcPts val="0"/>
              </a:spcBef>
              <a:spcAft>
                <a:spcPts val="0"/>
              </a:spcAft>
              <a:defRPr/>
            </a:pPr>
            <a:r>
              <a:rPr lang="ja-JP" altLang="en-US" sz="1200">
                <a:solidFill>
                  <a:srgbClr val="000000"/>
                </a:solidFill>
                <a:latin typeface="Meiryo UI" pitchFamily="50" charset="-128"/>
                <a:ea typeface="Meiryo UI" pitchFamily="50" charset="-128"/>
                <a:cs typeface="Meiryo UI" pitchFamily="50" charset="-128"/>
              </a:rPr>
              <a:t>山脇 茂</a:t>
            </a:r>
            <a:endParaRPr lang="en-US" altLang="ja-JP" sz="1200">
              <a:solidFill>
                <a:srgbClr val="000000"/>
              </a:solidFill>
              <a:latin typeface="Meiryo UI" pitchFamily="50" charset="-128"/>
              <a:ea typeface="Meiryo UI" pitchFamily="50" charset="-128"/>
              <a:cs typeface="Meiryo UI" pitchFamily="50" charset="-128"/>
            </a:endParaRPr>
          </a:p>
          <a:p>
            <a:pPr lvl="0" eaLnBrk="1" fontAlgn="auto" hangingPunct="1">
              <a:spcBef>
                <a:spcPts val="0"/>
              </a:spcBef>
              <a:spcAft>
                <a:spcPts val="0"/>
              </a:spcAft>
              <a:defRPr/>
            </a:pPr>
            <a:r>
              <a:rPr lang="en-US" altLang="ja-JP" sz="1200">
                <a:solidFill>
                  <a:srgbClr val="000000"/>
                </a:solidFill>
                <a:latin typeface="Meiryo UI" pitchFamily="50" charset="-128"/>
                <a:ea typeface="Meiryo UI" pitchFamily="50" charset="-128"/>
                <a:cs typeface="Meiryo UI" pitchFamily="50" charset="-128"/>
              </a:rPr>
              <a:t>(CE)</a:t>
            </a:r>
          </a:p>
          <a:p>
            <a:pPr lvl="0" eaLnBrk="1" fontAlgn="auto" hangingPunct="1">
              <a:spcBef>
                <a:spcPts val="0"/>
              </a:spcBef>
              <a:spcAft>
                <a:spcPts val="0"/>
              </a:spcAft>
              <a:defRPr/>
            </a:pPr>
            <a:r>
              <a:rPr lang="en-US" altLang="ja-JP" sz="900" err="1">
                <a:solidFill>
                  <a:srgbClr val="000000"/>
                </a:solidFill>
                <a:latin typeface="Meiryo UI" pitchFamily="50" charset="-128"/>
                <a:ea typeface="Meiryo UI" pitchFamily="50" charset="-128"/>
                <a:cs typeface="Meiryo UI" pitchFamily="50" charset="-128"/>
              </a:rPr>
              <a:t>Yamawaki</a:t>
            </a:r>
            <a:endParaRPr lang="ja-JP" altLang="en-US" sz="900">
              <a:solidFill>
                <a:srgbClr val="000000"/>
              </a:solidFill>
              <a:latin typeface="Meiryo UI" pitchFamily="50" charset="-128"/>
              <a:ea typeface="Meiryo UI" pitchFamily="50" charset="-128"/>
              <a:cs typeface="Meiryo UI" pitchFamily="50" charset="-128"/>
            </a:endParaRPr>
          </a:p>
        </p:txBody>
      </p:sp>
      <p:cxnSp>
        <p:nvCxnSpPr>
          <p:cNvPr id="152" name="直線コネクタ 151"/>
          <p:cNvCxnSpPr>
            <a:stCxn id="138" idx="0"/>
            <a:endCxn id="150" idx="2"/>
          </p:cNvCxnSpPr>
          <p:nvPr/>
        </p:nvCxnSpPr>
        <p:spPr bwMode="auto">
          <a:xfrm flipV="1">
            <a:off x="5343585" y="4890589"/>
            <a:ext cx="4" cy="5892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コネクタ 152"/>
          <p:cNvCxnSpPr>
            <a:stCxn id="88" idx="0"/>
            <a:endCxn id="151" idx="2"/>
          </p:cNvCxnSpPr>
          <p:nvPr/>
        </p:nvCxnSpPr>
        <p:spPr bwMode="auto">
          <a:xfrm flipV="1">
            <a:off x="6253247" y="5029088"/>
            <a:ext cx="1" cy="4507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4" name="Text Box 78"/>
          <p:cNvSpPr txBox="1">
            <a:spLocks noChangeArrowheads="1"/>
          </p:cNvSpPr>
          <p:nvPr/>
        </p:nvSpPr>
        <p:spPr bwMode="auto">
          <a:xfrm>
            <a:off x="2940798" y="5479811"/>
            <a:ext cx="853119"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EPF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福本 敬万</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eaLnBrk="1" fontAlgn="auto" hangingPunct="1">
              <a:spcBef>
                <a:spcPts val="0"/>
              </a:spcBef>
              <a:spcAft>
                <a:spcPts val="0"/>
              </a:spcAft>
              <a:defRPr/>
            </a:pPr>
            <a:r>
              <a:rPr lang="en-US" altLang="ja-JP" sz="1200">
                <a:solidFill>
                  <a:srgbClr val="000000"/>
                </a:solidFill>
                <a:latin typeface="Meiryo UI" pitchFamily="50" charset="-128"/>
                <a:ea typeface="Meiryo UI" pitchFamily="50" charset="-128"/>
                <a:cs typeface="Meiryo UI" pitchFamily="50" charset="-128"/>
              </a:rPr>
              <a:t>(</a:t>
            </a:r>
            <a:r>
              <a:rPr lang="ja-JP" altLang="en-US" sz="1200">
                <a:solidFill>
                  <a:srgbClr val="000000"/>
                </a:solidFill>
                <a:latin typeface="Meiryo UI" pitchFamily="50" charset="-128"/>
                <a:ea typeface="Meiryo UI" pitchFamily="50" charset="-128"/>
                <a:cs typeface="Meiryo UI" pitchFamily="50" charset="-128"/>
              </a:rPr>
              <a:t>研</a:t>
            </a:r>
            <a:r>
              <a:rPr lang="en-US" altLang="ja-JP" sz="1200">
                <a:solidFill>
                  <a:srgbClr val="000000"/>
                </a:solidFill>
                <a:latin typeface="Meiryo UI" pitchFamily="50" charset="-128"/>
                <a:ea typeface="Meiryo UI" pitchFamily="50" charset="-128"/>
                <a:cs typeface="Meiryo UI" pitchFamily="50" charset="-128"/>
              </a:rPr>
              <a:t>)</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Fukumoto</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55" name="カギ線コネクタ 154"/>
          <p:cNvCxnSpPr>
            <a:stCxn id="147" idx="0"/>
            <a:endCxn id="74" idx="2"/>
          </p:cNvCxnSpPr>
          <p:nvPr/>
        </p:nvCxnSpPr>
        <p:spPr bwMode="auto">
          <a:xfrm rot="5400000" flipH="1" flipV="1">
            <a:off x="2582808" y="5074048"/>
            <a:ext cx="450723" cy="36080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6" name="カギ線コネクタ 155"/>
          <p:cNvCxnSpPr>
            <a:stCxn id="154" idx="0"/>
            <a:endCxn id="74" idx="2"/>
          </p:cNvCxnSpPr>
          <p:nvPr/>
        </p:nvCxnSpPr>
        <p:spPr bwMode="auto">
          <a:xfrm rot="16200000" flipV="1">
            <a:off x="2952604" y="5065056"/>
            <a:ext cx="450723" cy="378787"/>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カギ線コネクタ 156"/>
          <p:cNvCxnSpPr>
            <a:stCxn id="148" idx="0"/>
            <a:endCxn id="145" idx="2"/>
          </p:cNvCxnSpPr>
          <p:nvPr/>
        </p:nvCxnSpPr>
        <p:spPr bwMode="auto">
          <a:xfrm rot="5400000" flipH="1" flipV="1">
            <a:off x="4113201" y="5252440"/>
            <a:ext cx="450723" cy="4021"/>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0" name="Text Box 78"/>
          <p:cNvSpPr txBox="1">
            <a:spLocks noChangeArrowheads="1"/>
          </p:cNvSpPr>
          <p:nvPr/>
        </p:nvSpPr>
        <p:spPr bwMode="auto">
          <a:xfrm>
            <a:off x="7434233" y="4244258"/>
            <a:ext cx="748923"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ED-A</a:t>
            </a:r>
          </a:p>
          <a:p>
            <a:pPr lvl="0" eaLnBrk="1" fontAlgn="auto" hangingPunct="1">
              <a:spcBef>
                <a:spcPts val="0"/>
              </a:spcBef>
              <a:spcAft>
                <a:spcPts val="0"/>
              </a:spcAft>
              <a:defRPr/>
            </a:pPr>
            <a:r>
              <a:rPr lang="ja-JP" altLang="en-US" sz="1200">
                <a:solidFill>
                  <a:srgbClr val="000000"/>
                </a:solidFill>
                <a:latin typeface="Meiryo UI" pitchFamily="50" charset="-128"/>
                <a:ea typeface="Meiryo UI" pitchFamily="50" charset="-128"/>
                <a:cs typeface="Meiryo UI" pitchFamily="50" charset="-128"/>
              </a:rPr>
              <a:t>依田　正</a:t>
            </a:r>
            <a:endParaRPr lang="en-US" altLang="ja-JP" sz="1200">
              <a:solidFill>
                <a:srgbClr val="000000"/>
              </a:solidFill>
              <a:latin typeface="Meiryo UI" pitchFamily="50" charset="-128"/>
              <a:ea typeface="Meiryo UI" pitchFamily="50" charset="-128"/>
              <a:cs typeface="Meiryo UI" pitchFamily="50" charset="-128"/>
            </a:endParaRPr>
          </a:p>
          <a:p>
            <a:pPr lvl="0" eaLnBrk="1" fontAlgn="auto" hangingPunct="1">
              <a:spcBef>
                <a:spcPts val="0"/>
              </a:spcBef>
              <a:spcAft>
                <a:spcPts val="0"/>
              </a:spcAf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Ohishi</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161" name="Text Box 78"/>
          <p:cNvSpPr txBox="1">
            <a:spLocks noChangeArrowheads="1"/>
          </p:cNvSpPr>
          <p:nvPr/>
        </p:nvSpPr>
        <p:spPr bwMode="auto">
          <a:xfrm>
            <a:off x="7326767" y="5479811"/>
            <a:ext cx="96385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lvl="0" eaLnBrk="1" fontAlgn="auto" hangingPunct="1">
              <a:spcBef>
                <a:spcPts val="0"/>
              </a:spcBef>
              <a:spcAft>
                <a:spcPts val="0"/>
              </a:spcAft>
              <a:defRPr/>
            </a:pPr>
            <a:r>
              <a:rPr lang="en-US" altLang="ja-JP" sz="1200">
                <a:solidFill>
                  <a:srgbClr val="000000"/>
                </a:solidFill>
                <a:latin typeface="Meiryo UI" pitchFamily="50" charset="-128"/>
                <a:ea typeface="Meiryo UI" pitchFamily="50" charset="-128"/>
                <a:cs typeface="Meiryo UI" pitchFamily="50" charset="-128"/>
              </a:rPr>
              <a:t>Tanyaporn</a:t>
            </a:r>
            <a:endParaRPr kumimoji="1" lang="ja-JP" altLang="en-US"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162" name="直線コネクタ 161"/>
          <p:cNvCxnSpPr>
            <a:stCxn id="161" idx="0"/>
            <a:endCxn id="160" idx="2"/>
          </p:cNvCxnSpPr>
          <p:nvPr/>
        </p:nvCxnSpPr>
        <p:spPr bwMode="auto">
          <a:xfrm flipV="1">
            <a:off x="7808694" y="5029088"/>
            <a:ext cx="1" cy="45072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カギ線コネクタ 162"/>
          <p:cNvCxnSpPr>
            <a:stCxn id="76" idx="0"/>
            <a:endCxn id="66" idx="2"/>
          </p:cNvCxnSpPr>
          <p:nvPr/>
        </p:nvCxnSpPr>
        <p:spPr bwMode="auto">
          <a:xfrm rot="5400000" flipH="1" flipV="1">
            <a:off x="6983468" y="3820797"/>
            <a:ext cx="494229" cy="35269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カギ線コネクタ 163"/>
          <p:cNvCxnSpPr>
            <a:stCxn id="160" idx="0"/>
            <a:endCxn id="66" idx="2"/>
          </p:cNvCxnSpPr>
          <p:nvPr/>
        </p:nvCxnSpPr>
        <p:spPr bwMode="auto">
          <a:xfrm rot="16200000" flipV="1">
            <a:off x="7360698" y="3796261"/>
            <a:ext cx="494229" cy="401766"/>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5" name="正方形/長方形 164"/>
          <p:cNvSpPr/>
          <p:nvPr/>
        </p:nvSpPr>
        <p:spPr>
          <a:xfrm>
            <a:off x="7464511" y="6462146"/>
            <a:ext cx="649537" cy="2616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Design</a:t>
            </a:r>
          </a:p>
        </p:txBody>
      </p:sp>
      <p:sp>
        <p:nvSpPr>
          <p:cNvPr id="166" name="正方形/長方形 165"/>
          <p:cNvSpPr/>
          <p:nvPr/>
        </p:nvSpPr>
        <p:spPr>
          <a:xfrm>
            <a:off x="6821751" y="6279264"/>
            <a:ext cx="479618" cy="2616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Test</a:t>
            </a:r>
          </a:p>
        </p:txBody>
      </p:sp>
      <p:sp>
        <p:nvSpPr>
          <p:cNvPr id="61" name="Text Box 65"/>
          <p:cNvSpPr txBox="1">
            <a:spLocks noChangeArrowheads="1"/>
          </p:cNvSpPr>
          <p:nvPr/>
        </p:nvSpPr>
        <p:spPr bwMode="auto">
          <a:xfrm>
            <a:off x="56446" y="3488415"/>
            <a:ext cx="845103" cy="400110"/>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kern="0">
                <a:solidFill>
                  <a:srgbClr val="000000"/>
                </a:solidFill>
                <a:latin typeface="Meiryo UI" pitchFamily="50" charset="-128"/>
                <a:ea typeface="Meiryo UI" pitchFamily="50" charset="-128"/>
                <a:cs typeface="Meiryo UI" pitchFamily="50" charset="-128"/>
              </a:rPr>
              <a:t>T</a:t>
            </a: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CU</a:t>
            </a:r>
            <a:r>
              <a:rPr kumimoji="1" lang="ja-JP" altLang="en-US"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テスト</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kern="0">
                <a:solidFill>
                  <a:srgbClr val="000000"/>
                </a:solidFill>
                <a:latin typeface="Meiryo UI" pitchFamily="50" charset="-128"/>
                <a:ea typeface="Meiryo UI" pitchFamily="50" charset="-128"/>
                <a:cs typeface="Meiryo UI" pitchFamily="50" charset="-128"/>
              </a:rPr>
              <a:t>T</a:t>
            </a:r>
            <a:r>
              <a:rPr kumimoji="1" lang="en-US" altLang="ja-JP"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CU</a:t>
            </a:r>
            <a:endParaRPr kumimoji="1" lang="ja-JP" altLang="en-US" sz="8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63" name="直線コネクタ 62"/>
          <p:cNvCxnSpPr>
            <a:stCxn id="65" idx="2"/>
            <a:endCxn id="61" idx="0"/>
          </p:cNvCxnSpPr>
          <p:nvPr/>
        </p:nvCxnSpPr>
        <p:spPr bwMode="auto">
          <a:xfrm flipH="1">
            <a:off x="478998" y="3157455"/>
            <a:ext cx="5095" cy="330960"/>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Text Box 76"/>
          <p:cNvSpPr txBox="1">
            <a:spLocks noChangeArrowheads="1"/>
          </p:cNvSpPr>
          <p:nvPr/>
        </p:nvSpPr>
        <p:spPr bwMode="auto">
          <a:xfrm>
            <a:off x="171065" y="4263969"/>
            <a:ext cx="6158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稲川</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a:solidFill>
                  <a:srgbClr val="000000"/>
                </a:solidFill>
                <a:latin typeface="Meiryo UI" pitchFamily="50" charset="-128"/>
                <a:ea typeface="Meiryo UI" pitchFamily="50" charset="-128"/>
                <a:cs typeface="Meiryo UI" pitchFamily="50" charset="-128"/>
              </a:rPr>
              <a:t>Inagawa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78" name="直線コネクタ 77"/>
          <p:cNvCxnSpPr>
            <a:stCxn id="61" idx="2"/>
            <a:endCxn id="64" idx="0"/>
          </p:cNvCxnSpPr>
          <p:nvPr/>
        </p:nvCxnSpPr>
        <p:spPr bwMode="auto">
          <a:xfrm>
            <a:off x="478998" y="3888525"/>
            <a:ext cx="4" cy="375444"/>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コネクタ 78"/>
          <p:cNvCxnSpPr>
            <a:stCxn id="64" idx="2"/>
            <a:endCxn id="80" idx="0"/>
          </p:cNvCxnSpPr>
          <p:nvPr/>
        </p:nvCxnSpPr>
        <p:spPr bwMode="auto">
          <a:xfrm flipH="1">
            <a:off x="478999" y="4664079"/>
            <a:ext cx="3" cy="815732"/>
          </a:xfrm>
          <a:prstGeom prst="line">
            <a:avLst/>
          </a:prstGeom>
          <a:solidFill>
            <a:srgbClr val="4F81BD"/>
          </a:solidFill>
          <a:ln w="9525" cap="flat" cmpd="sng" algn="ctr">
            <a:solidFill>
              <a:sysClr val="windowText" lastClr="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Text Box 105"/>
          <p:cNvSpPr txBox="1">
            <a:spLocks noChangeArrowheads="1"/>
          </p:cNvSpPr>
          <p:nvPr/>
        </p:nvSpPr>
        <p:spPr bwMode="auto">
          <a:xfrm>
            <a:off x="187092" y="5479811"/>
            <a:ext cx="5838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草間</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800">
                <a:solidFill>
                  <a:srgbClr val="000000"/>
                </a:solidFill>
                <a:latin typeface="Meiryo UI" pitchFamily="50" charset="-128"/>
                <a:ea typeface="Meiryo UI" pitchFamily="50" charset="-128"/>
                <a:cs typeface="Meiryo UI" pitchFamily="50" charset="-128"/>
              </a:rPr>
              <a:t>Kusama</a:t>
            </a:r>
            <a:endParaRPr kumimoji="1" lang="ja-JP" altLang="en-US" sz="8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65" name="角丸四角形 64"/>
          <p:cNvSpPr/>
          <p:nvPr/>
        </p:nvSpPr>
        <p:spPr>
          <a:xfrm>
            <a:off x="34042" y="2736421"/>
            <a:ext cx="900102" cy="421034"/>
          </a:xfrm>
          <a:prstGeom prst="roundRect">
            <a:avLst>
              <a:gd name="adj" fmla="val 0"/>
            </a:avLst>
          </a:prstGeom>
          <a:noFill/>
          <a:ln w="9525"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i="0" u="none" strike="noStrike" kern="0" cap="none" spc="0" normalizeH="0" baseline="0" noProof="0">
                <a:ln>
                  <a:noFill/>
                </a:ln>
                <a:solidFill>
                  <a:srgbClr val="000000"/>
                </a:solidFill>
                <a:effectLst/>
                <a:uLnTx/>
                <a:uFillTx/>
                <a:latin typeface="Calibri"/>
                <a:ea typeface="ＭＳ Ｐゴシック"/>
                <a:cs typeface="+mn-cs"/>
              </a:rPr>
              <a:t>ELS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400" kern="0">
                <a:solidFill>
                  <a:srgbClr val="000000"/>
                </a:solidFill>
                <a:latin typeface="Calibri"/>
                <a:ea typeface="ＭＳ Ｐゴシック"/>
              </a:rPr>
              <a:t>ELS2</a:t>
            </a:r>
            <a:endParaRPr kumimoji="0" lang="ja-JP" altLang="en-US" sz="1400" i="0" u="none" strike="noStrike" kern="0" cap="none" spc="0" normalizeH="0" baseline="0" noProof="0">
              <a:ln>
                <a:noFill/>
              </a:ln>
              <a:solidFill>
                <a:srgbClr val="000000"/>
              </a:solidFill>
              <a:effectLst/>
              <a:uLnTx/>
              <a:uFillTx/>
              <a:latin typeface="Calibri"/>
              <a:ea typeface="ＭＳ Ｐゴシック"/>
              <a:cs typeface="+mn-cs"/>
            </a:endParaRPr>
          </a:p>
        </p:txBody>
      </p:sp>
      <p:cxnSp>
        <p:nvCxnSpPr>
          <p:cNvPr id="77" name="AutoShape 85"/>
          <p:cNvCxnSpPr>
            <a:cxnSpLocks noChangeShapeType="1"/>
            <a:stCxn id="72" idx="2"/>
            <a:endCxn id="65" idx="0"/>
          </p:cNvCxnSpPr>
          <p:nvPr/>
        </p:nvCxnSpPr>
        <p:spPr bwMode="auto">
          <a:xfrm rot="5400000">
            <a:off x="2054200" y="443058"/>
            <a:ext cx="723257" cy="3863469"/>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Text Box 74"/>
          <p:cNvSpPr txBox="1">
            <a:spLocks noChangeArrowheads="1"/>
          </p:cNvSpPr>
          <p:nvPr/>
        </p:nvSpPr>
        <p:spPr bwMode="auto">
          <a:xfrm>
            <a:off x="8044482" y="2734366"/>
            <a:ext cx="1066319" cy="1015663"/>
          </a:xfrm>
          <a:prstGeom prst="rect">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METER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(HRAP)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APD2</a:t>
            </a:r>
          </a:p>
          <a:p>
            <a:pPr lvl="0" eaLnBrk="1" fontAlgn="auto" hangingPunct="1">
              <a:spcBef>
                <a:spcPts val="0"/>
              </a:spcBef>
              <a:spcAft>
                <a:spcPts val="0"/>
              </a:spcAft>
              <a:defRPr/>
            </a:pPr>
            <a:r>
              <a:rPr lang="en-US" altLang="ja-JP" sz="1200" kern="0">
                <a:solidFill>
                  <a:srgbClr val="000000"/>
                </a:solidFill>
                <a:latin typeface="Meiryo UI" pitchFamily="50" charset="-128"/>
                <a:ea typeface="Meiryo UI" pitchFamily="50" charset="-128"/>
                <a:cs typeface="Meiryo UI" pitchFamily="50" charset="-128"/>
              </a:rPr>
              <a:t>Seknarin</a:t>
            </a:r>
            <a:r>
              <a:rPr lang="ja-JP" altLang="en-US" sz="1200" kern="0">
                <a:solidFill>
                  <a:srgbClr val="000000"/>
                </a:solidFill>
                <a:latin typeface="Meiryo UI" pitchFamily="50" charset="-128"/>
                <a:ea typeface="Meiryo UI" pitchFamily="50" charset="-128"/>
                <a:cs typeface="Meiryo UI" pitchFamily="50" charset="-128"/>
              </a:rPr>
              <a:t> </a:t>
            </a:r>
            <a:r>
              <a:rPr lang="en-US" altLang="ja-JP" sz="1200" kern="0">
                <a:solidFill>
                  <a:srgbClr val="000000"/>
                </a:solidFill>
                <a:latin typeface="Meiryo UI" pitchFamily="50" charset="-128"/>
                <a:ea typeface="Meiryo UI" pitchFamily="50" charset="-128"/>
                <a:cs typeface="Meiryo UI" pitchFamily="50" charset="-128"/>
              </a:rPr>
              <a:t>PL</a:t>
            </a:r>
            <a:endParaRPr kumimoji="1" lang="en-US" altLang="ja-JP" sz="1200" b="0" i="0" u="none" strike="noStrike" kern="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59" name="Text Box 78"/>
          <p:cNvSpPr txBox="1">
            <a:spLocks noChangeArrowheads="1"/>
          </p:cNvSpPr>
          <p:nvPr/>
        </p:nvSpPr>
        <p:spPr bwMode="auto">
          <a:xfrm>
            <a:off x="8147075" y="4244258"/>
            <a:ext cx="861133"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200">
                <a:solidFill>
                  <a:srgbClr val="000000"/>
                </a:solidFill>
                <a:latin typeface="Meiryo UI" pitchFamily="50" charset="-128"/>
                <a:ea typeface="Meiryo UI" pitchFamily="50" charset="-128"/>
                <a:cs typeface="Meiryo UI" pitchFamily="50" charset="-128"/>
              </a:rPr>
              <a:t>APD2</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山岡 浩二</a:t>
            </a:r>
            <a:endPar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lang="en-US" altLang="ja-JP" sz="1200">
                <a:solidFill>
                  <a:srgbClr val="000000"/>
                </a:solidFill>
                <a:latin typeface="Meiryo UI" pitchFamily="50" charset="-128"/>
                <a:ea typeface="Meiryo UI" pitchFamily="50" charset="-128"/>
                <a:cs typeface="Meiryo UI" pitchFamily="50" charset="-128"/>
              </a:rPr>
              <a:t>CE</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lvl="0" eaLnBrk="1" fontAlgn="auto" hangingPunct="1">
              <a:spcBef>
                <a:spcPts val="0"/>
              </a:spcBef>
              <a:spcAft>
                <a:spcPts val="0"/>
              </a:spcAft>
              <a:defRPr/>
            </a:pPr>
            <a:r>
              <a:rPr lang="en-US" altLang="ja-JP" sz="900">
                <a:solidFill>
                  <a:srgbClr val="000000"/>
                </a:solidFill>
                <a:latin typeface="Meiryo UI" pitchFamily="50" charset="-128"/>
                <a:ea typeface="Meiryo UI" pitchFamily="50" charset="-128"/>
                <a:cs typeface="Meiryo UI" pitchFamily="50" charset="-128"/>
              </a:rPr>
              <a:t>Yamaoka</a:t>
            </a:r>
            <a:endPar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sp>
        <p:nvSpPr>
          <p:cNvPr id="60" name="Text Box 78"/>
          <p:cNvSpPr txBox="1">
            <a:spLocks noChangeArrowheads="1"/>
          </p:cNvSpPr>
          <p:nvPr/>
        </p:nvSpPr>
        <p:spPr bwMode="auto">
          <a:xfrm>
            <a:off x="8238446" y="5893071"/>
            <a:ext cx="678391"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lvl="0" eaLnBrk="1" fontAlgn="auto" hangingPunct="1">
              <a:spcBef>
                <a:spcPts val="0"/>
              </a:spcBef>
              <a:spcAft>
                <a:spcPts val="0"/>
              </a:spcAft>
              <a:defRPr/>
            </a:pPr>
            <a:r>
              <a:rPr lang="ja-JP" altLang="en-US" sz="1050" b="0" i="0">
                <a:solidFill>
                  <a:srgbClr val="242424"/>
                </a:solidFill>
                <a:effectLst/>
                <a:latin typeface="Aptos Narrow" panose="020B0004020202020204" pitchFamily="34" charset="0"/>
              </a:rPr>
              <a:t>鈴木　敦</a:t>
            </a:r>
            <a:endParaRPr lang="en-US" altLang="ja-JP" sz="1050" b="0" i="0">
              <a:solidFill>
                <a:srgbClr val="242424"/>
              </a:solidFill>
              <a:effectLst/>
              <a:latin typeface="Aptos Narrow" panose="020B0004020202020204" pitchFamily="34" charset="0"/>
            </a:endParaRPr>
          </a:p>
          <a:p>
            <a:pPr lvl="0" eaLnBrk="1" fontAlgn="auto" hangingPunct="1">
              <a:spcBef>
                <a:spcPts val="0"/>
              </a:spcBef>
              <a:spcAft>
                <a:spcPts val="0"/>
              </a:spcAft>
              <a:defRPr/>
            </a:pP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lvl="0" eaLnBrk="1" fontAlgn="auto" hangingPunct="1">
              <a:spcBef>
                <a:spcPts val="0"/>
              </a:spcBef>
              <a:spcAft>
                <a:spcPts val="0"/>
              </a:spcAft>
              <a:defRPr/>
            </a:pPr>
            <a:r>
              <a:rPr lang="en-US" altLang="ja-JP" sz="900">
                <a:solidFill>
                  <a:srgbClr val="000000"/>
                </a:solidFill>
                <a:latin typeface="Meiryo UI" pitchFamily="50" charset="-128"/>
                <a:ea typeface="Meiryo UI" pitchFamily="50" charset="-128"/>
                <a:cs typeface="Meiryo UI" pitchFamily="50" charset="-128"/>
              </a:rPr>
              <a:t>Suzuki</a:t>
            </a:r>
            <a:endPar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62" name="直線コネクタ 61"/>
          <p:cNvCxnSpPr>
            <a:stCxn id="86" idx="0"/>
            <a:endCxn id="59" idx="2"/>
          </p:cNvCxnSpPr>
          <p:nvPr/>
        </p:nvCxnSpPr>
        <p:spPr bwMode="auto">
          <a:xfrm flipV="1">
            <a:off x="8577642" y="5029088"/>
            <a:ext cx="0" cy="44903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直線コネクタ 84"/>
          <p:cNvCxnSpPr>
            <a:stCxn id="59" idx="0"/>
            <a:endCxn id="58" idx="2"/>
          </p:cNvCxnSpPr>
          <p:nvPr/>
        </p:nvCxnSpPr>
        <p:spPr bwMode="auto">
          <a:xfrm flipV="1">
            <a:off x="8577642" y="3750029"/>
            <a:ext cx="0" cy="49422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Text Box 78"/>
          <p:cNvSpPr txBox="1">
            <a:spLocks noChangeArrowheads="1"/>
          </p:cNvSpPr>
          <p:nvPr/>
        </p:nvSpPr>
        <p:spPr bwMode="auto">
          <a:xfrm>
            <a:off x="8178333" y="5478119"/>
            <a:ext cx="7986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lvl="0" eaLnBrk="1" fontAlgn="auto" hangingPunct="1">
              <a:spcBef>
                <a:spcPts val="0"/>
              </a:spcBef>
              <a:spcAft>
                <a:spcPts val="0"/>
              </a:spcAft>
              <a:defRPr/>
            </a:pPr>
            <a:r>
              <a:rPr lang="en-US" sz="1200" err="1">
                <a:latin typeface="Meiryo UI" panose="020B0604030504040204" pitchFamily="50" charset="-128"/>
                <a:ea typeface="Meiryo UI" panose="020B0604030504040204" pitchFamily="50" charset="-128"/>
              </a:rPr>
              <a:t>Aekanut</a:t>
            </a:r>
            <a:endParaRPr lang="en-US" altLang="ja-JP" sz="1200">
              <a:solidFill>
                <a:srgbClr val="000000"/>
              </a:solidFill>
              <a:latin typeface="Meiryo UI" pitchFamily="50" charset="-128"/>
              <a:ea typeface="Meiryo UI" pitchFamily="50" charset="-128"/>
              <a:cs typeface="Meiryo UI" pitchFamily="50" charset="-128"/>
            </a:endParaRPr>
          </a:p>
        </p:txBody>
      </p:sp>
      <p:cxnSp>
        <p:nvCxnSpPr>
          <p:cNvPr id="90" name="直線コネクタ 89"/>
          <p:cNvCxnSpPr>
            <a:stCxn id="60" idx="0"/>
            <a:endCxn id="86" idx="2"/>
          </p:cNvCxnSpPr>
          <p:nvPr/>
        </p:nvCxnSpPr>
        <p:spPr bwMode="auto">
          <a:xfrm flipV="1">
            <a:off x="8577642" y="5755118"/>
            <a:ext cx="0" cy="1379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AutoShape 82"/>
          <p:cNvCxnSpPr>
            <a:cxnSpLocks noChangeShapeType="1"/>
            <a:stCxn id="72" idx="2"/>
            <a:endCxn id="58" idx="0"/>
          </p:cNvCxnSpPr>
          <p:nvPr/>
        </p:nvCxnSpPr>
        <p:spPr bwMode="auto">
          <a:xfrm rot="16200000" flipH="1">
            <a:off x="6102001" y="258725"/>
            <a:ext cx="721202" cy="4230080"/>
          </a:xfrm>
          <a:prstGeom prst="bentConnector3">
            <a:avLst>
              <a:gd name="adj1" fmla="val 50000"/>
            </a:avLst>
          </a:prstGeom>
          <a:noFill/>
          <a:ln w="9525">
            <a:solidFill>
              <a:sysClr val="windowText" lastClr="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 Box 78"/>
          <p:cNvSpPr txBox="1">
            <a:spLocks noChangeArrowheads="1"/>
          </p:cNvSpPr>
          <p:nvPr/>
        </p:nvSpPr>
        <p:spPr bwMode="auto">
          <a:xfrm>
            <a:off x="7418203" y="5893071"/>
            <a:ext cx="780983"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lvl="0" eaLnBrk="1" fontAlgn="auto" hangingPunct="1">
              <a:spcBef>
                <a:spcPts val="0"/>
              </a:spcBef>
              <a:spcAft>
                <a:spcPts val="0"/>
              </a:spcAft>
              <a:defRPr/>
            </a:pPr>
            <a:r>
              <a:rPr lang="ja-JP" altLang="en-US" sz="1200">
                <a:solidFill>
                  <a:srgbClr val="000000"/>
                </a:solidFill>
                <a:latin typeface="Meiryo UI" pitchFamily="50" charset="-128"/>
                <a:ea typeface="Meiryo UI" pitchFamily="50" charset="-128"/>
                <a:cs typeface="Meiryo UI" pitchFamily="50" charset="-128"/>
              </a:rPr>
              <a:t>稲垣 徹 </a:t>
            </a:r>
            <a:br>
              <a:rPr lang="en-US" altLang="ja-JP" sz="1200">
                <a:solidFill>
                  <a:srgbClr val="000000"/>
                </a:solidFill>
                <a:latin typeface="Meiryo UI" pitchFamily="50" charset="-128"/>
                <a:ea typeface="Meiryo UI" pitchFamily="50" charset="-128"/>
                <a:cs typeface="Meiryo UI" pitchFamily="50" charset="-128"/>
              </a:rPr>
            </a:b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r>
              <a:rPr kumimoji="1" lang="ja-JP" altLang="en-US"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研</a:t>
            </a:r>
            <a:r>
              <a:rPr kumimoji="1" lang="en-US" altLang="ja-JP" sz="12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rPr>
              <a:t>)</a:t>
            </a:r>
          </a:p>
          <a:p>
            <a:pPr lvl="0" eaLnBrk="1" fontAlgn="auto" hangingPunct="1">
              <a:spcBef>
                <a:spcPts val="0"/>
              </a:spcBef>
              <a:spcAft>
                <a:spcPts val="0"/>
              </a:spcAft>
              <a:defRPr/>
            </a:pPr>
            <a:r>
              <a:rPr lang="en-US" altLang="ja-JP" sz="900">
                <a:solidFill>
                  <a:srgbClr val="000000"/>
                </a:solidFill>
                <a:latin typeface="Meiryo UI" pitchFamily="50" charset="-128"/>
                <a:ea typeface="Meiryo UI" pitchFamily="50" charset="-128"/>
                <a:cs typeface="Meiryo UI" pitchFamily="50" charset="-128"/>
              </a:rPr>
              <a:t>Inagaki</a:t>
            </a:r>
            <a:endParaRPr kumimoji="1" lang="en-US" altLang="ja-JP" sz="900" b="0" i="0" u="none" strike="noStrike" kern="1200" cap="none" spc="0" normalizeH="0" baseline="0" noProof="0">
              <a:ln>
                <a:noFill/>
              </a:ln>
              <a:solidFill>
                <a:srgbClr val="000000"/>
              </a:solidFill>
              <a:effectLst/>
              <a:uLnTx/>
              <a:uFillTx/>
              <a:latin typeface="Meiryo UI" pitchFamily="50" charset="-128"/>
              <a:ea typeface="Meiryo UI" pitchFamily="50" charset="-128"/>
              <a:cs typeface="Meiryo UI" pitchFamily="50" charset="-128"/>
            </a:endParaRPr>
          </a:p>
        </p:txBody>
      </p:sp>
      <p:cxnSp>
        <p:nvCxnSpPr>
          <p:cNvPr id="92" name="直線コネクタ 91"/>
          <p:cNvCxnSpPr>
            <a:stCxn id="82" idx="0"/>
            <a:endCxn id="161" idx="2"/>
          </p:cNvCxnSpPr>
          <p:nvPr/>
        </p:nvCxnSpPr>
        <p:spPr bwMode="auto">
          <a:xfrm flipH="1" flipV="1">
            <a:off x="7808694" y="5756810"/>
            <a:ext cx="1" cy="13626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58216197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7" name="図 246"/>
          <p:cNvPicPr>
            <a:picLocks/>
          </p:cNvPicPr>
          <p:nvPr>
            <p:custDataLst>
              <p:tags r:id="rId1"/>
            </p:custDataLst>
          </p:nvPr>
        </p:nvPicPr>
        <p:blipFill>
          <a:blip r:embed="rId60"/>
          <a:stretch>
            <a:fillRect/>
          </a:stretch>
        </p:blipFill>
        <p:spPr>
          <a:xfrm>
            <a:off x="-11378" y="6295845"/>
            <a:ext cx="9155378" cy="60960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pic>
        <p:nvPicPr>
          <p:cNvPr id="248" name="図 247"/>
          <p:cNvPicPr>
            <a:picLocks/>
          </p:cNvPicPr>
          <p:nvPr>
            <p:custDataLst>
              <p:tags r:id="rId2"/>
            </p:custDataLst>
          </p:nvPr>
        </p:nvPicPr>
        <p:blipFill>
          <a:blip r:embed="rId61"/>
          <a:stretch>
            <a:fillRect/>
          </a:stretch>
        </p:blipFill>
        <p:spPr>
          <a:xfrm>
            <a:off x="7017718" y="6384745"/>
            <a:ext cx="1961867" cy="406400"/>
          </a:xfrm>
          <a:prstGeom prst="rect">
            <a:avLst/>
          </a:prstGeom>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4" name="Text Box 2"/>
          <p:cNvSpPr txBox="1">
            <a:spLocks noChangeArrowheads="1"/>
          </p:cNvSpPr>
          <p:nvPr/>
        </p:nvSpPr>
        <p:spPr bwMode="auto">
          <a:xfrm>
            <a:off x="250829" y="44451"/>
            <a:ext cx="88931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pPr eaLnBrk="1" hangingPunct="1"/>
            <a:r>
              <a:rPr lang="en-US" altLang="ja-JP" sz="2000">
                <a:solidFill>
                  <a:srgbClr val="FFFFFF"/>
                </a:solidFill>
                <a:latin typeface="Meiryo UI" panose="020B0604030504040204" pitchFamily="50" charset="-128"/>
                <a:ea typeface="Meiryo UI" panose="020B0604030504040204" pitchFamily="50" charset="-128"/>
                <a:cs typeface="Arial" pitchFamily="34" charset="0"/>
              </a:rPr>
              <a:t>23. Development</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Organization Chart</a:t>
            </a:r>
            <a:r>
              <a:rPr lang="ja-JP" altLang="en-US" sz="2000">
                <a:solidFill>
                  <a:srgbClr val="FFFFFF"/>
                </a:solidFill>
                <a:latin typeface="Meiryo UI" panose="020B0604030504040204" pitchFamily="50" charset="-128"/>
                <a:ea typeface="Meiryo UI" panose="020B0604030504040204" pitchFamily="50" charset="-128"/>
                <a:cs typeface="Arial" pitchFamily="34" charset="0"/>
              </a:rPr>
              <a:t> </a:t>
            </a:r>
            <a:r>
              <a:rPr lang="en-US" altLang="ja-JP" sz="2000">
                <a:solidFill>
                  <a:srgbClr val="FFFFFF"/>
                </a:solidFill>
                <a:latin typeface="Meiryo UI" panose="020B0604030504040204" pitchFamily="50" charset="-128"/>
                <a:ea typeface="Meiryo UI" panose="020B0604030504040204" pitchFamily="50" charset="-128"/>
                <a:cs typeface="Arial" pitchFamily="34" charset="0"/>
              </a:rPr>
              <a:t>(3/3)</a:t>
            </a:r>
            <a:endParaRPr lang="en-US" altLang="ja-JP" sz="1100">
              <a:solidFill>
                <a:srgbClr val="FFFFFF"/>
              </a:solidFill>
              <a:latin typeface="HGPｺﾞｼｯｸE" pitchFamily="50" charset="-128"/>
              <a:ea typeface="HGPｺﾞｼｯｸE" pitchFamily="50" charset="-128"/>
              <a:cs typeface="Arial" pitchFamily="34" charset="0"/>
            </a:endParaRPr>
          </a:p>
        </p:txBody>
      </p:sp>
      <p:sp>
        <p:nvSpPr>
          <p:cNvPr id="2" name="テキスト ボックス 1"/>
          <p:cNvSpPr txBox="1"/>
          <p:nvPr/>
        </p:nvSpPr>
        <p:spPr>
          <a:xfrm>
            <a:off x="572147" y="620689"/>
            <a:ext cx="8104309" cy="460895"/>
          </a:xfrm>
          <a:prstGeom prst="rect">
            <a:avLst/>
          </a:prstGeom>
          <a:noFill/>
        </p:spPr>
        <p:txBody>
          <a:bodyPr wrap="square" rtlCol="0">
            <a:spAutoFit/>
          </a:bodyPr>
          <a:lstStyle/>
          <a:p>
            <a:pPr algn="l">
              <a:lnSpc>
                <a:spcPct val="111000"/>
              </a:lnSpc>
            </a:pPr>
            <a:r>
              <a:rPr lang="en-US" altLang="ja-JP" b="1" u="sng">
                <a:latin typeface="Meiryo UI" panose="020B0604030504040204" pitchFamily="50" charset="-128"/>
                <a:ea typeface="Meiryo UI" panose="020B0604030504040204" pitchFamily="50" charset="-128"/>
                <a:cs typeface="Arial" panose="020B0604020202020204" pitchFamily="34" charset="0"/>
              </a:rPr>
              <a:t>Bosch</a:t>
            </a:r>
            <a:r>
              <a:rPr lang="it-IT" altLang="ja-JP" b="1" u="sng">
                <a:latin typeface="Meiryo UI" panose="020B0604030504040204" pitchFamily="50" charset="-128"/>
                <a:ea typeface="Meiryo UI" panose="020B0604030504040204" pitchFamily="50" charset="-128"/>
                <a:cs typeface="Arial" panose="020B0604020202020204" pitchFamily="34" charset="0"/>
              </a:rPr>
              <a:t> Organization/Core team : China-5 Project</a:t>
            </a:r>
            <a:endParaRPr lang="en-GB" altLang="ja-JP" b="1" u="sng">
              <a:latin typeface="Meiryo UI" panose="020B0604030504040204" pitchFamily="50" charset="-128"/>
              <a:ea typeface="Meiryo UI" panose="020B0604030504040204" pitchFamily="50" charset="-128"/>
              <a:cs typeface="Arial" panose="020B0604020202020204" pitchFamily="34" charset="0"/>
            </a:endParaRPr>
          </a:p>
        </p:txBody>
      </p:sp>
      <p:sp>
        <p:nvSpPr>
          <p:cNvPr id="183" name="Rectangle 9"/>
          <p:cNvSpPr>
            <a:spLocks/>
          </p:cNvSpPr>
          <p:nvPr>
            <p:custDataLst>
              <p:tags r:id="rId3"/>
            </p:custDataLst>
          </p:nvPr>
        </p:nvSpPr>
        <p:spPr>
          <a:xfrm>
            <a:off x="947472" y="6552008"/>
            <a:ext cx="5537200" cy="19050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nchor="b"/>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algn="l" defTabSz="914400" eaLnBrk="0" fontAlgn="auto" latinLnBrk="0" hangingPunct="0">
              <a:lnSpc>
                <a:spcPct val="107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707070"/>
                </a:solidFill>
                <a:effectLst/>
                <a:uLnTx/>
                <a:uFillTx/>
                <a:latin typeface="Bosch Office Sans" panose="020B0604020202020204" pitchFamily="34" charset="0"/>
                <a:ea typeface="+mn-ea"/>
                <a:cs typeface="+mn-cs"/>
              </a:rPr>
              <a:t>Confidential  | GS/SHO-P | 16/03/2016 | © Bosch Corp. 2012. All rights reserved, also regarding any disposal, exploitation, reproduction, editing, distribution, as well as in the event of applications for industrial property rights.  </a:t>
            </a:r>
            <a:endParaRPr kumimoji="0" lang="en-GB" altLang="ja-JP" sz="700" b="0" i="0" u="none" strike="noStrike" kern="0" cap="none" spc="0" normalizeH="0" baseline="0" noProof="0">
              <a:ln>
                <a:noFill/>
              </a:ln>
              <a:solidFill>
                <a:srgbClr val="707070"/>
              </a:solidFill>
              <a:effectLst/>
              <a:uLnTx/>
              <a:uFillTx/>
              <a:latin typeface="Bosch Office Sans" panose="020B0604020202020204" pitchFamily="34" charset="0"/>
              <a:ea typeface="+mn-ea"/>
              <a:cs typeface="+mn-cs"/>
            </a:endParaRPr>
          </a:p>
        </p:txBody>
      </p:sp>
      <p:sp>
        <p:nvSpPr>
          <p:cNvPr id="187" name="Rectangle 5"/>
          <p:cNvSpPr>
            <a:spLocks/>
          </p:cNvSpPr>
          <p:nvPr>
            <p:custDataLst>
              <p:tags r:id="rId4"/>
            </p:custDataLst>
          </p:nvPr>
        </p:nvSpPr>
        <p:spPr>
          <a:xfrm>
            <a:off x="947472" y="6259908"/>
            <a:ext cx="5715000" cy="19050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none" lIns="0" tIns="0" rIns="0" bIns="0" anchor="b"/>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algn="l" defTabSz="914400" eaLnBrk="0" fontAlgn="auto" latinLnBrk="0" hangingPunct="0">
              <a:lnSpc>
                <a:spcPct val="100000"/>
              </a:lnSpc>
              <a:spcBef>
                <a:spcPts val="0"/>
              </a:spcBef>
              <a:spcAft>
                <a:spcPts val="0"/>
              </a:spcAft>
              <a:buClrTx/>
              <a:buSzTx/>
              <a:buFontTx/>
              <a:buNone/>
              <a:tabLst/>
              <a:defRPr/>
            </a:pPr>
            <a:endParaRPr kumimoji="0" lang="en-GB" altLang="ja-JP" sz="1200" b="0" i="0" u="none" strike="noStrike" kern="0" cap="none" spc="0" normalizeH="0" baseline="0" noProof="0">
              <a:ln>
                <a:noFill/>
              </a:ln>
              <a:solidFill>
                <a:srgbClr val="000000"/>
              </a:solidFill>
              <a:effectLst/>
              <a:uLnTx/>
              <a:uFillTx/>
              <a:latin typeface="Bosch Office Sans" panose="020B0604020202020204" pitchFamily="34" charset="0"/>
              <a:ea typeface="+mn-ea"/>
              <a:cs typeface="+mn-cs"/>
            </a:endParaRPr>
          </a:p>
        </p:txBody>
      </p:sp>
      <p:sp>
        <p:nvSpPr>
          <p:cNvPr id="188" name="Rectangle 4"/>
          <p:cNvSpPr>
            <a:spLocks/>
          </p:cNvSpPr>
          <p:nvPr>
            <p:custDataLst>
              <p:tags r:id="rId5"/>
            </p:custDataLst>
          </p:nvPr>
        </p:nvSpPr>
        <p:spPr>
          <a:xfrm>
            <a:off x="8923073" y="6640909"/>
            <a:ext cx="25400" cy="115288"/>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spAutoFit/>
          </a:bodyP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algn="r" defTabSz="914400" eaLnBrk="0" fontAlgn="auto" latinLnBrk="0" hangingPunct="0">
              <a:lnSpc>
                <a:spcPct val="107000"/>
              </a:lnSpc>
              <a:spcBef>
                <a:spcPts val="0"/>
              </a:spcBef>
              <a:spcAft>
                <a:spcPts val="0"/>
              </a:spcAft>
              <a:buClrTx/>
              <a:buSzTx/>
              <a:buFontTx/>
              <a:buNone/>
              <a:tabLst/>
              <a:defRPr/>
            </a:pPr>
            <a:endParaRPr kumimoji="0" lang="en-GB" altLang="ja-JP" sz="700" b="0" i="0" u="none" strike="noStrike" kern="0" cap="none" spc="0" normalizeH="0" baseline="0" noProof="0">
              <a:ln>
                <a:noFill/>
              </a:ln>
              <a:solidFill>
                <a:srgbClr val="000000"/>
              </a:solidFill>
              <a:effectLst/>
              <a:uLnTx/>
              <a:uFillTx/>
              <a:latin typeface="Bosch Office Sans" panose="020B0604020202020204" pitchFamily="34" charset="0"/>
              <a:ea typeface="+mn-ea"/>
              <a:cs typeface="+mn-cs"/>
            </a:endParaRPr>
          </a:p>
        </p:txBody>
      </p:sp>
      <p:sp>
        <p:nvSpPr>
          <p:cNvPr id="235" name="スライド番号プレースホルダー 26"/>
          <p:cNvSpPr txBox="1">
            <a:spLocks/>
          </p:cNvSpPr>
          <p:nvPr/>
        </p:nvSpPr>
        <p:spPr bwMode="auto">
          <a:xfrm>
            <a:off x="490272" y="6472633"/>
            <a:ext cx="381000" cy="190500"/>
          </a:xfrm>
          <a:prstGeom prst="rect">
            <a:avLst/>
          </a:prstGeom>
          <a:noFill/>
          <a:ln w="0">
            <a:noFill/>
            <a:miter lim="800000"/>
            <a:headEnd/>
            <a:tailEnd/>
          </a:ln>
          <a:effectLst/>
          <a:extLs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vert="horz" wrap="none" lIns="0" tIns="0" rIns="0" bIns="0" numCol="1" anchor="t" anchorCtr="0" compatLnSpc="1">
            <a:prstTxWarp prst="textNoShape">
              <a:avLst/>
            </a:prstTxWarp>
            <a:noAutofit/>
          </a:bodyPr>
          <a:lstStyle>
            <a:defPPr>
              <a:defRPr lang="de-DE"/>
            </a:defPPr>
            <a:lvl1pPr algn="l" rtl="0" eaLnBrk="1" fontAlgn="base" hangingPunct="1">
              <a:lnSpc>
                <a:spcPct val="111000"/>
              </a:lnSpc>
              <a:spcBef>
                <a:spcPct val="0"/>
              </a:spcBef>
              <a:spcAft>
                <a:spcPct val="0"/>
              </a:spcAft>
              <a:defRPr sz="1500" kern="1200">
                <a:solidFill>
                  <a:schemeClr val="tx1"/>
                </a:solidFill>
                <a:latin typeface="Bosch Office Sans" pitchFamily="34" charset="0"/>
                <a:ea typeface="ＭＳ Ｐゴシック" pitchFamily="50" charset="-128"/>
                <a:cs typeface="+mn-cs"/>
              </a:defRPr>
            </a:lvl1pPr>
            <a:lvl2pPr marL="742950" indent="-285750" algn="l" rtl="0" eaLnBrk="0" fontAlgn="base" hangingPunct="0">
              <a:spcBef>
                <a:spcPct val="0"/>
              </a:spcBef>
              <a:spcAft>
                <a:spcPct val="0"/>
              </a:spcAft>
              <a:defRPr kern="1200">
                <a:solidFill>
                  <a:schemeClr val="tx1"/>
                </a:solidFill>
                <a:latin typeface="Bosch Office Sans"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Bosch Office Sans"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Bosch Office Sans"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Bosch Office Sans"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Bosch Office Sans"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Bosch Office Sans"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Bosch Office Sans"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Bosch Office Sans" pitchFamily="34" charset="0"/>
                <a:ea typeface="+mn-ea"/>
                <a:cs typeface="+mn-cs"/>
              </a:defRPr>
            </a:lvl9pPr>
          </a:lstStyle>
          <a:p>
            <a:pPr marL="0" marR="0" lvl="0" indent="0" algn="l" defTabSz="914400" rtl="0" eaLnBrk="1" fontAlgn="base" latinLnBrk="0" hangingPunct="1">
              <a:lnSpc>
                <a:spcPct val="111000"/>
              </a:lnSpc>
              <a:spcBef>
                <a:spcPct val="0"/>
              </a:spcBef>
              <a:spcAft>
                <a:spcPct val="0"/>
              </a:spcAft>
              <a:buClrTx/>
              <a:buSzTx/>
              <a:buFontTx/>
              <a:buNone/>
              <a:tabLst/>
              <a:defRPr/>
            </a:pPr>
            <a:fld id="{9D73306F-DD04-4079-AC51-887553403FD4}" type="slidenum">
              <a:rPr kumimoji="0" lang="en-US" altLang="ja-JP" sz="1500" b="0" i="0" u="none" strike="noStrike" kern="1200" cap="none" spc="0" normalizeH="0" baseline="0" noProof="0" smtClean="0">
                <a:ln>
                  <a:noFill/>
                </a:ln>
                <a:solidFill>
                  <a:srgbClr val="707070"/>
                </a:solidFill>
                <a:effectLst/>
                <a:uLnTx/>
                <a:uFillTx/>
                <a:latin typeface="Bosch Office Sans" pitchFamily="34" charset="0"/>
                <a:ea typeface="Meiryo UI" panose="020B0604030504040204" pitchFamily="50" charset="-128"/>
                <a:cs typeface="+mn-cs"/>
              </a:rPr>
              <a:pPr marL="0" marR="0" lvl="0" indent="0" algn="l" defTabSz="914400" rtl="0" eaLnBrk="1" fontAlgn="base" latinLnBrk="0" hangingPunct="1">
                <a:lnSpc>
                  <a:spcPct val="111000"/>
                </a:lnSpc>
                <a:spcBef>
                  <a:spcPct val="0"/>
                </a:spcBef>
                <a:spcAft>
                  <a:spcPct val="0"/>
                </a:spcAft>
                <a:buClrTx/>
                <a:buSzTx/>
                <a:buFontTx/>
                <a:buNone/>
                <a:tabLst/>
                <a:defRPr/>
              </a:pPr>
              <a:t>155</a:t>
            </a:fld>
            <a:endParaRPr kumimoji="0" lang="ja-JP" altLang="ja-JP" sz="1500" b="0" i="0" u="none" strike="noStrike" kern="1200" cap="none" spc="0" normalizeH="0" baseline="0" noProof="0">
              <a:ln>
                <a:noFill/>
              </a:ln>
              <a:solidFill>
                <a:srgbClr val="707070"/>
              </a:solidFill>
              <a:effectLst/>
              <a:uLnTx/>
              <a:uFillTx/>
              <a:latin typeface="Bosch Office Sans" pitchFamily="34" charset="0"/>
              <a:ea typeface="Meiryo UI" panose="020B0604030504040204" pitchFamily="50" charset="-128"/>
              <a:cs typeface="+mn-cs"/>
            </a:endParaRPr>
          </a:p>
        </p:txBody>
      </p:sp>
      <p:sp>
        <p:nvSpPr>
          <p:cNvPr id="246" name="テキスト ボックス 82"/>
          <p:cNvSpPr txBox="1">
            <a:spLocks noChangeArrowheads="1"/>
          </p:cNvSpPr>
          <p:nvPr>
            <p:custDataLst>
              <p:tags r:id="rId6"/>
            </p:custDataLst>
          </p:nvPr>
        </p:nvSpPr>
        <p:spPr bwMode="auto">
          <a:xfrm>
            <a:off x="844286" y="6218633"/>
            <a:ext cx="373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Bosch Office Sans" pitchFamily="34" charset="0"/>
              </a:defRPr>
            </a:lvl1pPr>
            <a:lvl2pPr marL="742950" indent="-285750">
              <a:defRPr>
                <a:solidFill>
                  <a:schemeClr val="tx1"/>
                </a:solidFill>
                <a:latin typeface="Bosch Office Sans" pitchFamily="34" charset="0"/>
              </a:defRPr>
            </a:lvl2pPr>
            <a:lvl3pPr marL="1143000" indent="-228600">
              <a:defRPr>
                <a:solidFill>
                  <a:schemeClr val="tx1"/>
                </a:solidFill>
                <a:latin typeface="Bosch Office Sans" pitchFamily="34" charset="0"/>
              </a:defRPr>
            </a:lvl3pPr>
            <a:lvl4pPr marL="1600200" indent="-228600">
              <a:defRPr>
                <a:solidFill>
                  <a:schemeClr val="tx1"/>
                </a:solidFill>
                <a:latin typeface="Bosch Office Sans" pitchFamily="34" charset="0"/>
              </a:defRPr>
            </a:lvl4pPr>
            <a:lvl5pPr marL="2057400" indent="-228600">
              <a:defRPr>
                <a:solidFill>
                  <a:schemeClr val="tx1"/>
                </a:solidFill>
                <a:latin typeface="Bosch Office Sans" pitchFamily="34" charset="0"/>
              </a:defRPr>
            </a:lvl5pPr>
            <a:lvl6pPr marL="2514600" indent="-228600" eaLnBrk="0" fontAlgn="base" hangingPunct="0">
              <a:spcBef>
                <a:spcPct val="0"/>
              </a:spcBef>
              <a:spcAft>
                <a:spcPct val="0"/>
              </a:spcAft>
              <a:defRPr>
                <a:solidFill>
                  <a:schemeClr val="tx1"/>
                </a:solidFill>
                <a:latin typeface="Bosch Office Sans" pitchFamily="34" charset="0"/>
              </a:defRPr>
            </a:lvl6pPr>
            <a:lvl7pPr marL="2971800" indent="-228600" eaLnBrk="0" fontAlgn="base" hangingPunct="0">
              <a:spcBef>
                <a:spcPct val="0"/>
              </a:spcBef>
              <a:spcAft>
                <a:spcPct val="0"/>
              </a:spcAft>
              <a:defRPr>
                <a:solidFill>
                  <a:schemeClr val="tx1"/>
                </a:solidFill>
                <a:latin typeface="Bosch Office Sans" pitchFamily="34" charset="0"/>
              </a:defRPr>
            </a:lvl7pPr>
            <a:lvl8pPr marL="3429000" indent="-228600" eaLnBrk="0" fontAlgn="base" hangingPunct="0">
              <a:spcBef>
                <a:spcPct val="0"/>
              </a:spcBef>
              <a:spcAft>
                <a:spcPct val="0"/>
              </a:spcAft>
              <a:defRPr>
                <a:solidFill>
                  <a:schemeClr val="tx1"/>
                </a:solidFill>
                <a:latin typeface="Bosch Office Sans" pitchFamily="34" charset="0"/>
              </a:defRPr>
            </a:lvl8pPr>
            <a:lvl9pPr marL="3886200" indent="-228600" eaLnBrk="0" fontAlgn="base" hangingPunct="0">
              <a:spcBef>
                <a:spcPct val="0"/>
              </a:spcBef>
              <a:spcAft>
                <a:spcPct val="0"/>
              </a:spcAft>
              <a:defRPr>
                <a:solidFill>
                  <a:schemeClr val="tx1"/>
                </a:solidFill>
                <a:latin typeface="Bosch Office Sans" pitchFamily="34" charset="0"/>
              </a:defRPr>
            </a:lvl9pPr>
          </a:lstStyle>
          <a:p>
            <a:pPr marL="0" marR="0" lvl="0" indent="0" algn="l" defTabSz="914400" eaLnBrk="0" fontAlgn="auto" latinLnBrk="0" hangingPunct="0">
              <a:lnSpc>
                <a:spcPct val="100000"/>
              </a:lnSpc>
              <a:spcBef>
                <a:spcPts val="0"/>
              </a:spcBef>
              <a:spcAft>
                <a:spcPts val="0"/>
              </a:spcAft>
              <a:buClrTx/>
              <a:buSzTx/>
              <a:buFontTx/>
              <a:buNone/>
              <a:tabLst/>
              <a:defRPr/>
            </a:pPr>
            <a:r>
              <a:rPr kumimoji="0" lang="en-GB" altLang="ja-JP" sz="1100" b="0" i="0" u="none" strike="noStrike" kern="0" cap="none" spc="0" normalizeH="0" baseline="0" noProof="0">
                <a:ln>
                  <a:noFill/>
                </a:ln>
                <a:solidFill>
                  <a:srgbClr val="000000"/>
                </a:solidFill>
                <a:effectLst/>
                <a:uLnTx/>
                <a:uFillTx/>
                <a:latin typeface="Bosch Office Sans" pitchFamily="34" charset="0"/>
                <a:ea typeface="Meiryo UI" panose="020B0604030504040204" pitchFamily="50" charset="-128"/>
              </a:rPr>
              <a:t>Mgr..: Manager who approves the Deliverables</a:t>
            </a:r>
          </a:p>
        </p:txBody>
      </p:sp>
      <p:cxnSp>
        <p:nvCxnSpPr>
          <p:cNvPr id="131" name="直線コネクタ 29___"/>
          <p:cNvCxnSpPr/>
          <p:nvPr>
            <p:custDataLst>
              <p:tags r:id="rId7"/>
            </p:custDataLst>
          </p:nvPr>
        </p:nvCxnSpPr>
        <p:spPr>
          <a:xfrm>
            <a:off x="1976052" y="1828986"/>
            <a:ext cx="1654175" cy="0"/>
          </a:xfrm>
          <a:prstGeom prst="line">
            <a:avLst/>
          </a:prstGeom>
          <a:noFill/>
          <a:ln w="12700" cap="flat" cmpd="sng" algn="ctr">
            <a:solidFill>
              <a:srgbClr val="000000">
                <a:lumMod val="50000"/>
                <a:lumOff val="50000"/>
              </a:srgbClr>
            </a:solidFill>
            <a:prstDash val="solid"/>
          </a:ln>
          <a:effectLst/>
        </p:spPr>
      </p:cxnSp>
      <p:cxnSp>
        <p:nvCxnSpPr>
          <p:cNvPr id="132" name="直線コネクタ 29__"/>
          <p:cNvCxnSpPr/>
          <p:nvPr>
            <p:custDataLst>
              <p:tags r:id="rId8"/>
            </p:custDataLst>
          </p:nvPr>
        </p:nvCxnSpPr>
        <p:spPr>
          <a:xfrm>
            <a:off x="4804977" y="1828986"/>
            <a:ext cx="811213" cy="0"/>
          </a:xfrm>
          <a:prstGeom prst="line">
            <a:avLst/>
          </a:prstGeom>
          <a:noFill/>
          <a:ln w="31750" cap="flat" cmpd="sng" algn="ctr">
            <a:solidFill>
              <a:srgbClr val="000000">
                <a:lumMod val="50000"/>
                <a:lumOff val="50000"/>
              </a:srgbClr>
            </a:solidFill>
            <a:prstDash val="solid"/>
          </a:ln>
          <a:effectLst/>
        </p:spPr>
      </p:cxnSp>
      <p:cxnSp>
        <p:nvCxnSpPr>
          <p:cNvPr id="133" name="直線コネクタ 38"/>
          <p:cNvCxnSpPr>
            <a:endCxn id="159" idx="0"/>
          </p:cNvCxnSpPr>
          <p:nvPr>
            <p:custDataLst>
              <p:tags r:id="rId9"/>
            </p:custDataLst>
          </p:nvPr>
        </p:nvCxnSpPr>
        <p:spPr>
          <a:xfrm>
            <a:off x="6184514" y="2584638"/>
            <a:ext cx="0" cy="449263"/>
          </a:xfrm>
          <a:prstGeom prst="line">
            <a:avLst/>
          </a:prstGeom>
          <a:noFill/>
          <a:ln w="31750" cap="flat" cmpd="sng" algn="ctr">
            <a:solidFill>
              <a:srgbClr val="000000">
                <a:lumMod val="50000"/>
                <a:lumOff val="50000"/>
              </a:srgbClr>
            </a:solidFill>
            <a:prstDash val="solid"/>
          </a:ln>
          <a:effectLst/>
        </p:spPr>
      </p:cxnSp>
      <p:cxnSp>
        <p:nvCxnSpPr>
          <p:cNvPr id="134" name="直線コネクタ 31"/>
          <p:cNvCxnSpPr/>
          <p:nvPr>
            <p:custDataLst>
              <p:tags r:id="rId10"/>
            </p:custDataLst>
          </p:nvPr>
        </p:nvCxnSpPr>
        <p:spPr>
          <a:xfrm flipH="1">
            <a:off x="7202101" y="2573526"/>
            <a:ext cx="6350" cy="3095625"/>
          </a:xfrm>
          <a:prstGeom prst="line">
            <a:avLst/>
          </a:prstGeom>
          <a:noFill/>
          <a:ln w="31750" cap="flat" cmpd="sng" algn="ctr">
            <a:solidFill>
              <a:srgbClr val="000000">
                <a:lumMod val="50000"/>
                <a:lumOff val="50000"/>
              </a:srgbClr>
            </a:solidFill>
            <a:prstDash val="solid"/>
          </a:ln>
          <a:effectLst/>
        </p:spPr>
      </p:cxnSp>
      <p:cxnSp>
        <p:nvCxnSpPr>
          <p:cNvPr id="135" name="直線コネクタ 290"/>
          <p:cNvCxnSpPr/>
          <p:nvPr>
            <p:custDataLst>
              <p:tags r:id="rId11"/>
            </p:custDataLst>
          </p:nvPr>
        </p:nvCxnSpPr>
        <p:spPr>
          <a:xfrm flipH="1">
            <a:off x="3069840" y="2584636"/>
            <a:ext cx="3175" cy="514350"/>
          </a:xfrm>
          <a:prstGeom prst="line">
            <a:avLst/>
          </a:prstGeom>
          <a:noFill/>
          <a:ln w="31750" cap="flat" cmpd="sng" algn="ctr">
            <a:solidFill>
              <a:srgbClr val="000000">
                <a:lumMod val="50000"/>
                <a:lumOff val="50000"/>
              </a:srgbClr>
            </a:solidFill>
            <a:prstDash val="solid"/>
          </a:ln>
          <a:effectLst/>
        </p:spPr>
      </p:cxnSp>
      <p:cxnSp>
        <p:nvCxnSpPr>
          <p:cNvPr id="136" name="直線コネクタ 29_"/>
          <p:cNvCxnSpPr/>
          <p:nvPr>
            <p:custDataLst>
              <p:tags r:id="rId12"/>
            </p:custDataLst>
          </p:nvPr>
        </p:nvCxnSpPr>
        <p:spPr>
          <a:xfrm>
            <a:off x="1255326" y="2578288"/>
            <a:ext cx="1588" cy="544513"/>
          </a:xfrm>
          <a:prstGeom prst="line">
            <a:avLst/>
          </a:prstGeom>
          <a:noFill/>
          <a:ln w="31750" cap="flat" cmpd="sng" algn="ctr">
            <a:solidFill>
              <a:srgbClr val="000000">
                <a:lumMod val="50000"/>
                <a:lumOff val="50000"/>
              </a:srgbClr>
            </a:solidFill>
            <a:prstDash val="solid"/>
          </a:ln>
          <a:effectLst/>
        </p:spPr>
      </p:cxnSp>
      <p:cxnSp>
        <p:nvCxnSpPr>
          <p:cNvPr id="137" name="直線コネクタ 23"/>
          <p:cNvCxnSpPr/>
          <p:nvPr>
            <p:custDataLst>
              <p:tags r:id="rId13"/>
            </p:custDataLst>
          </p:nvPr>
        </p:nvCxnSpPr>
        <p:spPr>
          <a:xfrm>
            <a:off x="4344601" y="1828986"/>
            <a:ext cx="0" cy="733425"/>
          </a:xfrm>
          <a:prstGeom prst="line">
            <a:avLst/>
          </a:prstGeom>
          <a:noFill/>
          <a:ln w="31750" cap="flat" cmpd="sng" algn="ctr">
            <a:solidFill>
              <a:srgbClr val="000000">
                <a:lumMod val="50000"/>
                <a:lumOff val="50000"/>
              </a:srgbClr>
            </a:solidFill>
            <a:prstDash val="solid"/>
          </a:ln>
          <a:effectLst/>
        </p:spPr>
      </p:cxnSp>
      <p:cxnSp>
        <p:nvCxnSpPr>
          <p:cNvPr id="138" name="直線コネクタ 24"/>
          <p:cNvCxnSpPr/>
          <p:nvPr>
            <p:custDataLst>
              <p:tags r:id="rId14"/>
            </p:custDataLst>
          </p:nvPr>
        </p:nvCxnSpPr>
        <p:spPr>
          <a:xfrm flipV="1">
            <a:off x="1255326" y="2562413"/>
            <a:ext cx="5967413" cy="22225"/>
          </a:xfrm>
          <a:prstGeom prst="line">
            <a:avLst/>
          </a:prstGeom>
          <a:noFill/>
          <a:ln w="31750" cap="flat" cmpd="sng" algn="ctr">
            <a:solidFill>
              <a:srgbClr val="000000">
                <a:lumMod val="50000"/>
                <a:lumOff val="50000"/>
              </a:srgbClr>
            </a:solidFill>
            <a:prstDash val="solid"/>
          </a:ln>
          <a:effectLst/>
        </p:spPr>
      </p:cxnSp>
      <p:cxnSp>
        <p:nvCxnSpPr>
          <p:cNvPr id="139" name="直線コネクタ 38__"/>
          <p:cNvCxnSpPr/>
          <p:nvPr>
            <p:custDataLst>
              <p:tags r:id="rId15"/>
            </p:custDataLst>
          </p:nvPr>
        </p:nvCxnSpPr>
        <p:spPr>
          <a:xfrm flipH="1">
            <a:off x="4679564" y="2584636"/>
            <a:ext cx="1587" cy="520700"/>
          </a:xfrm>
          <a:prstGeom prst="line">
            <a:avLst/>
          </a:prstGeom>
          <a:noFill/>
          <a:ln w="31750" cap="flat" cmpd="sng" algn="ctr">
            <a:solidFill>
              <a:srgbClr val="000000">
                <a:lumMod val="50000"/>
                <a:lumOff val="50000"/>
              </a:srgbClr>
            </a:solidFill>
            <a:prstDash val="solid"/>
          </a:ln>
          <a:effectLst/>
        </p:spPr>
      </p:cxnSp>
      <p:cxnSp>
        <p:nvCxnSpPr>
          <p:cNvPr id="140" name="直線コネクタ 35_"/>
          <p:cNvCxnSpPr/>
          <p:nvPr>
            <p:custDataLst>
              <p:tags r:id="rId16"/>
            </p:custDataLst>
          </p:nvPr>
        </p:nvCxnSpPr>
        <p:spPr>
          <a:xfrm>
            <a:off x="988626" y="5278624"/>
            <a:ext cx="439738" cy="0"/>
          </a:xfrm>
          <a:prstGeom prst="line">
            <a:avLst/>
          </a:prstGeom>
          <a:noFill/>
          <a:ln w="31750" cap="flat" cmpd="sng" algn="ctr">
            <a:solidFill>
              <a:srgbClr val="000000">
                <a:lumMod val="50000"/>
                <a:lumOff val="50000"/>
              </a:srgbClr>
            </a:solidFill>
            <a:prstDash val="solid"/>
          </a:ln>
          <a:effectLst/>
        </p:spPr>
      </p:cxnSp>
      <p:cxnSp>
        <p:nvCxnSpPr>
          <p:cNvPr id="141" name="直線コネクタ 33_"/>
          <p:cNvCxnSpPr/>
          <p:nvPr>
            <p:custDataLst>
              <p:tags r:id="rId17"/>
            </p:custDataLst>
          </p:nvPr>
        </p:nvCxnSpPr>
        <p:spPr>
          <a:xfrm>
            <a:off x="988626" y="4245161"/>
            <a:ext cx="439738" cy="0"/>
          </a:xfrm>
          <a:prstGeom prst="line">
            <a:avLst/>
          </a:prstGeom>
          <a:noFill/>
          <a:ln w="31750" cap="flat" cmpd="sng" algn="ctr">
            <a:solidFill>
              <a:srgbClr val="000000">
                <a:lumMod val="50000"/>
                <a:lumOff val="50000"/>
              </a:srgbClr>
            </a:solidFill>
            <a:prstDash val="solid"/>
          </a:ln>
          <a:effectLst/>
        </p:spPr>
      </p:cxnSp>
      <p:cxnSp>
        <p:nvCxnSpPr>
          <p:cNvPr id="142" name="直線コネクタ 31_"/>
          <p:cNvCxnSpPr/>
          <p:nvPr>
            <p:custDataLst>
              <p:tags r:id="rId18"/>
            </p:custDataLst>
          </p:nvPr>
        </p:nvCxnSpPr>
        <p:spPr>
          <a:xfrm>
            <a:off x="985451" y="3484749"/>
            <a:ext cx="0" cy="1798637"/>
          </a:xfrm>
          <a:prstGeom prst="line">
            <a:avLst/>
          </a:prstGeom>
          <a:noFill/>
          <a:ln w="31750" cap="flat" cmpd="sng" algn="ctr">
            <a:solidFill>
              <a:srgbClr val="000000">
                <a:lumMod val="50000"/>
                <a:lumOff val="50000"/>
              </a:srgbClr>
            </a:solidFill>
            <a:prstDash val="solid"/>
          </a:ln>
          <a:effectLst/>
        </p:spPr>
      </p:cxnSp>
      <p:grpSp>
        <p:nvGrpSpPr>
          <p:cNvPr id="143" name="Group 82"/>
          <p:cNvGrpSpPr>
            <a:grpSpLocks/>
          </p:cNvGrpSpPr>
          <p:nvPr/>
        </p:nvGrpSpPr>
        <p:grpSpPr bwMode="auto">
          <a:xfrm>
            <a:off x="4049326" y="3033901"/>
            <a:ext cx="1263650" cy="503237"/>
            <a:chOff x="5131296" y="2582044"/>
            <a:chExt cx="1585957" cy="504056"/>
          </a:xfrm>
        </p:grpSpPr>
        <p:sp>
          <p:nvSpPr>
            <p:cNvPr id="144" name="正方形/長方形 16"/>
            <p:cNvSpPr/>
            <p:nvPr>
              <p:custDataLst>
                <p:tags r:id="rId57"/>
              </p:custDataLst>
            </p:nvPr>
          </p:nvSpPr>
          <p:spPr>
            <a:xfrm>
              <a:off x="5131296" y="2582044"/>
              <a:ext cx="1583965"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System</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GS/ENS1-JP </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Ogino Ryuusuke</a:t>
              </a:r>
            </a:p>
          </p:txBody>
        </p:sp>
        <p:pic>
          <p:nvPicPr>
            <p:cNvPr id="145" name="Picture 196__" descr="ML26"/>
            <p:cNvPicPr>
              <a:picLocks noChangeAspect="1" noChangeArrowheads="1"/>
            </p:cNvPicPr>
            <p:nvPr>
              <p:custDataLst>
                <p:tags r:id="rId58"/>
              </p:custDataLst>
            </p:nvPr>
          </p:nvPicPr>
          <p:blipFill>
            <a:blip r:embed="rId62">
              <a:extLst>
                <a:ext uri="{28A0092B-C50C-407E-A947-70E740481C1C}">
                  <a14:useLocalDpi xmlns:a14="http://schemas.microsoft.com/office/drawing/2010/main" val="0"/>
                </a:ext>
              </a:extLst>
            </a:blip>
            <a:srcRect/>
            <a:stretch>
              <a:fillRect/>
            </a:stretch>
          </p:blipFill>
          <p:spPr bwMode="auto">
            <a:xfrm>
              <a:off x="6479128" y="2598207"/>
              <a:ext cx="238125" cy="12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6" name="Group 106"/>
          <p:cNvGrpSpPr>
            <a:grpSpLocks/>
          </p:cNvGrpSpPr>
          <p:nvPr/>
        </p:nvGrpSpPr>
        <p:grpSpPr bwMode="auto">
          <a:xfrm>
            <a:off x="598101" y="3043426"/>
            <a:ext cx="1377950" cy="504825"/>
            <a:chOff x="1098848" y="3230116"/>
            <a:chExt cx="1584176" cy="504056"/>
          </a:xfrm>
        </p:grpSpPr>
        <p:sp>
          <p:nvSpPr>
            <p:cNvPr id="147" name="正方形/長方形 13"/>
            <p:cNvSpPr/>
            <p:nvPr>
              <p:custDataLst>
                <p:tags r:id="rId55"/>
              </p:custDataLst>
            </p:nvPr>
          </p:nvSpPr>
          <p:spPr>
            <a:xfrm>
              <a:off x="1098848" y="3230116"/>
              <a:ext cx="1584176"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ECU SW &amp; HW</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DGS-EC/ECA2</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Cheng Yan</a:t>
              </a:r>
            </a:p>
          </p:txBody>
        </p:sp>
        <p:pic>
          <p:nvPicPr>
            <p:cNvPr id="148" name="Picture 10" descr="Bild in Originalgröße anzeigen"/>
            <p:cNvPicPr>
              <a:picLocks noChangeAspect="1" noChangeArrowheads="1"/>
            </p:cNvPicPr>
            <p:nvPr>
              <p:custDataLst>
                <p:tags r:id="rId56"/>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2445424" y="3240405"/>
              <a:ext cx="237600" cy="137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9" name="グループ化 17"/>
          <p:cNvGrpSpPr>
            <a:grpSpLocks/>
          </p:cNvGrpSpPr>
          <p:nvPr/>
        </p:nvGrpSpPr>
        <p:grpSpPr bwMode="auto">
          <a:xfrm>
            <a:off x="1236276" y="3997511"/>
            <a:ext cx="1365250" cy="503238"/>
            <a:chOff x="596954" y="3275216"/>
            <a:chExt cx="1366128" cy="504056"/>
          </a:xfrm>
        </p:grpSpPr>
        <p:sp>
          <p:nvSpPr>
            <p:cNvPr id="150" name="正方形/長方形 19"/>
            <p:cNvSpPr/>
            <p:nvPr>
              <p:custDataLst>
                <p:tags r:id="rId53"/>
              </p:custDataLst>
            </p:nvPr>
          </p:nvSpPr>
          <p:spPr>
            <a:xfrm>
              <a:off x="596954" y="3275216"/>
              <a:ext cx="1366128"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ECU SW</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DGS-EC/ECA2</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Spahr Daniel</a:t>
              </a:r>
            </a:p>
          </p:txBody>
        </p:sp>
        <p:pic>
          <p:nvPicPr>
            <p:cNvPr id="151" name="Picture 10_" descr="Bild in Originalgröße anzeigen"/>
            <p:cNvPicPr>
              <a:picLocks noChangeAspect="1" noChangeArrowheads="1"/>
            </p:cNvPicPr>
            <p:nvPr>
              <p:custDataLst>
                <p:tags r:id="rId54"/>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1740872" y="3309269"/>
              <a:ext cx="204896" cy="13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2" name="グループ化 46"/>
          <p:cNvGrpSpPr>
            <a:grpSpLocks/>
          </p:cNvGrpSpPr>
          <p:nvPr/>
        </p:nvGrpSpPr>
        <p:grpSpPr bwMode="auto">
          <a:xfrm>
            <a:off x="3630227" y="1574987"/>
            <a:ext cx="1450975" cy="504825"/>
            <a:chOff x="2881238" y="1515328"/>
            <a:chExt cx="1584176" cy="504056"/>
          </a:xfrm>
        </p:grpSpPr>
        <p:sp>
          <p:nvSpPr>
            <p:cNvPr id="153" name="正方形/長方形 12"/>
            <p:cNvSpPr/>
            <p:nvPr>
              <p:custDataLst>
                <p:tags r:id="rId51"/>
              </p:custDataLst>
            </p:nvPr>
          </p:nvSpPr>
          <p:spPr>
            <a:xfrm>
              <a:off x="2881238" y="1515328"/>
              <a:ext cx="1584176"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Project leader PjM</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GS/SHO-P </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Aida Eiji</a:t>
              </a:r>
            </a:p>
          </p:txBody>
        </p:sp>
        <p:pic>
          <p:nvPicPr>
            <p:cNvPr id="154" name="Picture 196______" descr="ML26"/>
            <p:cNvPicPr>
              <a:picLocks noChangeAspect="1" noChangeArrowheads="1"/>
            </p:cNvPicPr>
            <p:nvPr>
              <p:custDataLst>
                <p:tags r:id="rId52"/>
              </p:custDataLst>
            </p:nvPr>
          </p:nvPicPr>
          <p:blipFill>
            <a:blip r:embed="rId64">
              <a:extLst>
                <a:ext uri="{28A0092B-C50C-407E-A947-70E740481C1C}">
                  <a14:useLocalDpi xmlns:a14="http://schemas.microsoft.com/office/drawing/2010/main" val="0"/>
                </a:ext>
              </a:extLst>
            </a:blip>
            <a:srcRect/>
            <a:stretch>
              <a:fillRect/>
            </a:stretch>
          </p:blipFill>
          <p:spPr bwMode="auto">
            <a:xfrm>
              <a:off x="4227289" y="1515328"/>
              <a:ext cx="238125"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5" name="グループ化 25"/>
          <p:cNvGrpSpPr>
            <a:grpSpLocks/>
          </p:cNvGrpSpPr>
          <p:nvPr/>
        </p:nvGrpSpPr>
        <p:grpSpPr bwMode="auto">
          <a:xfrm>
            <a:off x="2404676" y="3046601"/>
            <a:ext cx="1343025" cy="504825"/>
            <a:chOff x="2750114" y="3387317"/>
            <a:chExt cx="1584176" cy="504056"/>
          </a:xfrm>
        </p:grpSpPr>
        <p:sp>
          <p:nvSpPr>
            <p:cNvPr id="156" name="正方形/長方形 140"/>
            <p:cNvSpPr/>
            <p:nvPr>
              <p:custDataLst>
                <p:tags r:id="rId49"/>
              </p:custDataLst>
            </p:nvPr>
          </p:nvSpPr>
          <p:spPr>
            <a:xfrm>
              <a:off x="2750114" y="3387317"/>
              <a:ext cx="1584176" cy="504056"/>
            </a:xfrm>
            <a:prstGeom prst="rect">
              <a:avLst/>
            </a:prstGeom>
            <a:solidFill>
              <a:srgbClr val="003264"/>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charset="0"/>
                </a:rPr>
                <a:t>Cal. SPJM </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charset="0"/>
                </a:rPr>
                <a:t>DGS-EC/EAU1</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Bosch Office Sans"/>
                  <a:ea typeface="+mn-ea"/>
                  <a:cs typeface="+mn-cs"/>
                </a:rPr>
                <a:t>Walker Stephan</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charset="0"/>
              </a:endParaRPr>
            </a:p>
          </p:txBody>
        </p:sp>
        <p:pic>
          <p:nvPicPr>
            <p:cNvPr id="157" name="Picture 10____" descr="Bild in Originalgröße anzeigen"/>
            <p:cNvPicPr>
              <a:picLocks noChangeAspect="1" noChangeArrowheads="1"/>
            </p:cNvPicPr>
            <p:nvPr>
              <p:custDataLst>
                <p:tags r:id="rId50"/>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4091417" y="3402876"/>
              <a:ext cx="237599" cy="13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8" name="グループ化 27"/>
          <p:cNvGrpSpPr>
            <a:grpSpLocks/>
          </p:cNvGrpSpPr>
          <p:nvPr/>
        </p:nvGrpSpPr>
        <p:grpSpPr bwMode="auto">
          <a:xfrm>
            <a:off x="5571739" y="3033901"/>
            <a:ext cx="1223962" cy="504825"/>
            <a:chOff x="4797516" y="3727597"/>
            <a:chExt cx="1601110" cy="504056"/>
          </a:xfrm>
        </p:grpSpPr>
        <p:sp>
          <p:nvSpPr>
            <p:cNvPr id="159" name="正方形/長方形 12_00"/>
            <p:cNvSpPr/>
            <p:nvPr>
              <p:custDataLst>
                <p:tags r:id="rId47"/>
              </p:custDataLst>
            </p:nvPr>
          </p:nvSpPr>
          <p:spPr>
            <a:xfrm>
              <a:off x="4797516" y="3727597"/>
              <a:ext cx="1601110" cy="504056"/>
            </a:xfrm>
            <a:prstGeom prst="rect">
              <a:avLst/>
            </a:prstGeom>
            <a:solidFill>
              <a:srgbClr val="153B63"/>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Sales </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GS/SHO2</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Kochiwa Rin</a:t>
              </a:r>
            </a:p>
          </p:txBody>
        </p:sp>
        <p:pic>
          <p:nvPicPr>
            <p:cNvPr id="160" name="Picture 196000" descr="ML26"/>
            <p:cNvPicPr>
              <a:picLocks noChangeAspect="1" noChangeArrowheads="1"/>
            </p:cNvPicPr>
            <p:nvPr>
              <p:custDataLst>
                <p:tags r:id="rId48"/>
              </p:custDataLst>
            </p:nvPr>
          </p:nvPicPr>
          <p:blipFill>
            <a:blip r:embed="rId65">
              <a:extLst>
                <a:ext uri="{28A0092B-C50C-407E-A947-70E740481C1C}">
                  <a14:useLocalDpi xmlns:a14="http://schemas.microsoft.com/office/drawing/2010/main" val="0"/>
                </a:ext>
              </a:extLst>
            </a:blip>
            <a:srcRect/>
            <a:stretch>
              <a:fillRect/>
            </a:stretch>
          </p:blipFill>
          <p:spPr bwMode="auto">
            <a:xfrm>
              <a:off x="6160501" y="3739758"/>
              <a:ext cx="238125" cy="121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61" name="直線コネクタ 35____"/>
          <p:cNvCxnSpPr/>
          <p:nvPr>
            <p:custDataLst>
              <p:tags r:id="rId19"/>
            </p:custDataLst>
          </p:nvPr>
        </p:nvCxnSpPr>
        <p:spPr>
          <a:xfrm>
            <a:off x="7202101" y="5661211"/>
            <a:ext cx="439738" cy="0"/>
          </a:xfrm>
          <a:prstGeom prst="line">
            <a:avLst/>
          </a:prstGeom>
          <a:noFill/>
          <a:ln w="31750" cap="flat" cmpd="sng" algn="ctr">
            <a:solidFill>
              <a:srgbClr val="000000">
                <a:lumMod val="50000"/>
                <a:lumOff val="50000"/>
              </a:srgbClr>
            </a:solidFill>
            <a:prstDash val="solid"/>
          </a:ln>
          <a:effectLst/>
        </p:spPr>
      </p:cxnSp>
      <p:cxnSp>
        <p:nvCxnSpPr>
          <p:cNvPr id="162" name="直線コネクタ 35_____"/>
          <p:cNvCxnSpPr/>
          <p:nvPr>
            <p:custDataLst>
              <p:tags r:id="rId20"/>
            </p:custDataLst>
          </p:nvPr>
        </p:nvCxnSpPr>
        <p:spPr>
          <a:xfrm>
            <a:off x="7208451" y="4130861"/>
            <a:ext cx="439738" cy="0"/>
          </a:xfrm>
          <a:prstGeom prst="line">
            <a:avLst/>
          </a:prstGeom>
          <a:noFill/>
          <a:ln w="31750" cap="flat" cmpd="sng" algn="ctr">
            <a:solidFill>
              <a:srgbClr val="000000">
                <a:lumMod val="50000"/>
                <a:lumOff val="50000"/>
              </a:srgbClr>
            </a:solidFill>
            <a:prstDash val="solid"/>
          </a:ln>
          <a:effectLst/>
        </p:spPr>
      </p:cxnSp>
      <p:cxnSp>
        <p:nvCxnSpPr>
          <p:cNvPr id="163" name="直線コネクタ 33__"/>
          <p:cNvCxnSpPr/>
          <p:nvPr>
            <p:custDataLst>
              <p:tags r:id="rId21"/>
            </p:custDataLst>
          </p:nvPr>
        </p:nvCxnSpPr>
        <p:spPr>
          <a:xfrm>
            <a:off x="7202101" y="4808724"/>
            <a:ext cx="438150" cy="0"/>
          </a:xfrm>
          <a:prstGeom prst="line">
            <a:avLst/>
          </a:prstGeom>
          <a:noFill/>
          <a:ln w="31750" cap="flat" cmpd="sng" algn="ctr">
            <a:solidFill>
              <a:srgbClr val="000000">
                <a:lumMod val="50000"/>
                <a:lumOff val="50000"/>
              </a:srgbClr>
            </a:solidFill>
            <a:prstDash val="solid"/>
          </a:ln>
          <a:effectLst/>
        </p:spPr>
      </p:cxnSp>
      <p:sp>
        <p:nvSpPr>
          <p:cNvPr id="164" name="正方形/長方形 1500"/>
          <p:cNvSpPr/>
          <p:nvPr>
            <p:custDataLst>
              <p:tags r:id="rId22"/>
            </p:custDataLst>
          </p:nvPr>
        </p:nvSpPr>
        <p:spPr>
          <a:xfrm>
            <a:off x="7311639" y="4589651"/>
            <a:ext cx="1274762" cy="503237"/>
          </a:xfrm>
          <a:prstGeom prst="rect">
            <a:avLst/>
          </a:prstGeom>
          <a:solidFill>
            <a:srgbClr val="003264"/>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LS-sensor</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DGS-ES/EEP1-JP</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Oketch Onyango</a:t>
            </a:r>
          </a:p>
        </p:txBody>
      </p:sp>
      <p:sp>
        <p:nvSpPr>
          <p:cNvPr id="165" name="正方形/長方形 1400"/>
          <p:cNvSpPr/>
          <p:nvPr>
            <p:custDataLst>
              <p:tags r:id="rId23"/>
            </p:custDataLst>
          </p:nvPr>
        </p:nvSpPr>
        <p:spPr>
          <a:xfrm>
            <a:off x="7311639" y="3867338"/>
            <a:ext cx="1274762" cy="504825"/>
          </a:xfrm>
          <a:prstGeom prst="rect">
            <a:avLst/>
          </a:prstGeom>
          <a:solidFill>
            <a:srgbClr val="003264"/>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HDEV</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GS-DI/ENI4</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Ogura Yasuhisa</a:t>
            </a:r>
          </a:p>
        </p:txBody>
      </p:sp>
      <p:sp>
        <p:nvSpPr>
          <p:cNvPr id="166" name="正方形/長方形 15000"/>
          <p:cNvSpPr/>
          <p:nvPr>
            <p:custDataLst>
              <p:tags r:id="rId24"/>
            </p:custDataLst>
          </p:nvPr>
        </p:nvSpPr>
        <p:spPr>
          <a:xfrm>
            <a:off x="7330690" y="5391336"/>
            <a:ext cx="1273175" cy="503238"/>
          </a:xfrm>
          <a:prstGeom prst="rect">
            <a:avLst/>
          </a:prstGeom>
          <a:solidFill>
            <a:srgbClr val="003264"/>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Other sensors</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DGS-ES/EEP2-JP Shimanuki Masato.</a:t>
            </a:r>
          </a:p>
        </p:txBody>
      </p:sp>
      <p:cxnSp>
        <p:nvCxnSpPr>
          <p:cNvPr id="167" name="直線コネクタ 35______"/>
          <p:cNvCxnSpPr/>
          <p:nvPr>
            <p:custDataLst>
              <p:tags r:id="rId25"/>
            </p:custDataLst>
          </p:nvPr>
        </p:nvCxnSpPr>
        <p:spPr>
          <a:xfrm>
            <a:off x="7194164" y="3303774"/>
            <a:ext cx="438150" cy="0"/>
          </a:xfrm>
          <a:prstGeom prst="line">
            <a:avLst/>
          </a:prstGeom>
          <a:noFill/>
          <a:ln w="31750" cap="flat" cmpd="sng" algn="ctr">
            <a:solidFill>
              <a:srgbClr val="000000">
                <a:lumMod val="50000"/>
                <a:lumOff val="50000"/>
              </a:srgbClr>
            </a:solidFill>
            <a:prstDash val="solid"/>
          </a:ln>
          <a:effectLst/>
        </p:spPr>
      </p:cxnSp>
      <p:sp>
        <p:nvSpPr>
          <p:cNvPr id="168" name="正方形/長方形 14000"/>
          <p:cNvSpPr/>
          <p:nvPr>
            <p:custDataLst>
              <p:tags r:id="rId26"/>
            </p:custDataLst>
          </p:nvPr>
        </p:nvSpPr>
        <p:spPr>
          <a:xfrm>
            <a:off x="7311639" y="3025963"/>
            <a:ext cx="1281112" cy="504825"/>
          </a:xfrm>
          <a:prstGeom prst="rect">
            <a:avLst/>
          </a:prstGeom>
          <a:solidFill>
            <a:srgbClr val="003264"/>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HDP</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GS-DI/EFC1-JP</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Matsumura Naoki</a:t>
            </a:r>
          </a:p>
        </p:txBody>
      </p:sp>
      <p:pic>
        <p:nvPicPr>
          <p:cNvPr id="169" name="Picture 10____00" descr="Bild in Originalgröße anzeigen"/>
          <p:cNvPicPr>
            <a:picLocks noChangeAspect="1" noChangeArrowheads="1"/>
          </p:cNvPicPr>
          <p:nvPr>
            <p:custDataLst>
              <p:tags r:id="rId27"/>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8365740" y="3884801"/>
            <a:ext cx="192087" cy="12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0" name="正方形/長方形 127_"/>
          <p:cNvSpPr/>
          <p:nvPr>
            <p:custDataLst>
              <p:tags r:id="rId28"/>
            </p:custDataLst>
          </p:nvPr>
        </p:nvSpPr>
        <p:spPr>
          <a:xfrm>
            <a:off x="7354502" y="2779901"/>
            <a:ext cx="1160463" cy="179387"/>
          </a:xfrm>
          <a:prstGeom prst="rect">
            <a:avLst/>
          </a:prstGeom>
          <a:solidFill>
            <a:srgbClr val="000000">
              <a:lumMod val="75000"/>
            </a:srgbClr>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GB" altLang="ja-JP" sz="1100" b="0" i="0" u="none" strike="noStrike" kern="0" cap="none" spc="0" normalizeH="0" baseline="0" noProof="0">
                <a:ln>
                  <a:noFill/>
                </a:ln>
                <a:solidFill>
                  <a:srgbClr val="FFFFFF"/>
                </a:solidFill>
                <a:effectLst/>
                <a:uLnTx/>
                <a:uFillTx/>
                <a:latin typeface="Meiryo UI" panose="020B0604030504040204" pitchFamily="50" charset="-128"/>
                <a:ea typeface="+mn-ea"/>
                <a:cs typeface="Arial" pitchFamily="34" charset="0"/>
              </a:rPr>
              <a:t>Component </a:t>
            </a:r>
          </a:p>
        </p:txBody>
      </p:sp>
      <p:pic>
        <p:nvPicPr>
          <p:cNvPr id="171" name="Picture 196_________0" descr="ML26"/>
          <p:cNvPicPr>
            <a:picLocks noChangeAspect="1" noChangeArrowheads="1"/>
          </p:cNvPicPr>
          <p:nvPr>
            <p:custDataLst>
              <p:tags r:id="rId29"/>
            </p:custDataLst>
          </p:nvPr>
        </p:nvPicPr>
        <p:blipFill>
          <a:blip r:embed="rId66">
            <a:extLst>
              <a:ext uri="{28A0092B-C50C-407E-A947-70E740481C1C}">
                <a14:useLocalDpi xmlns:a14="http://schemas.microsoft.com/office/drawing/2010/main" val="0"/>
              </a:ext>
            </a:extLst>
          </a:blip>
          <a:srcRect/>
          <a:stretch>
            <a:fillRect/>
          </a:stretch>
        </p:blipFill>
        <p:spPr bwMode="auto">
          <a:xfrm>
            <a:off x="8378440" y="3032311"/>
            <a:ext cx="192087" cy="12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2" name="Picture 196_________0_" descr="ML26"/>
          <p:cNvPicPr>
            <a:picLocks noChangeAspect="1" noChangeArrowheads="1"/>
          </p:cNvPicPr>
          <p:nvPr>
            <p:custDataLst>
              <p:tags r:id="rId30"/>
            </p:custDataLst>
          </p:nvPr>
        </p:nvPicPr>
        <p:blipFill>
          <a:blip r:embed="rId66">
            <a:extLst>
              <a:ext uri="{28A0092B-C50C-407E-A947-70E740481C1C}">
                <a14:useLocalDpi xmlns:a14="http://schemas.microsoft.com/office/drawing/2010/main" val="0"/>
              </a:ext>
            </a:extLst>
          </a:blip>
          <a:srcRect/>
          <a:stretch>
            <a:fillRect/>
          </a:stretch>
        </p:blipFill>
        <p:spPr bwMode="auto">
          <a:xfrm>
            <a:off x="8364152" y="4607111"/>
            <a:ext cx="192088" cy="12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3" name="Picture 196_________0__" descr="ML26"/>
          <p:cNvPicPr>
            <a:picLocks noChangeAspect="1" noChangeArrowheads="1"/>
          </p:cNvPicPr>
          <p:nvPr>
            <p:custDataLst>
              <p:tags r:id="rId31"/>
            </p:custDataLst>
          </p:nvPr>
        </p:nvPicPr>
        <p:blipFill>
          <a:blip r:embed="rId66">
            <a:extLst>
              <a:ext uri="{28A0092B-C50C-407E-A947-70E740481C1C}">
                <a14:useLocalDpi xmlns:a14="http://schemas.microsoft.com/office/drawing/2010/main" val="0"/>
              </a:ext>
            </a:extLst>
          </a:blip>
          <a:srcRect/>
          <a:stretch>
            <a:fillRect/>
          </a:stretch>
        </p:blipFill>
        <p:spPr bwMode="auto">
          <a:xfrm>
            <a:off x="8402251" y="5399274"/>
            <a:ext cx="192088"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4" name="グループ化 16"/>
          <p:cNvGrpSpPr>
            <a:grpSpLocks/>
          </p:cNvGrpSpPr>
          <p:nvPr/>
        </p:nvGrpSpPr>
        <p:grpSpPr bwMode="auto">
          <a:xfrm>
            <a:off x="1228340" y="5019863"/>
            <a:ext cx="1343025" cy="504825"/>
            <a:chOff x="449055" y="3719633"/>
            <a:chExt cx="1343451" cy="504056"/>
          </a:xfrm>
        </p:grpSpPr>
        <p:sp>
          <p:nvSpPr>
            <p:cNvPr id="175" name="正方形/長方形 15_"/>
            <p:cNvSpPr/>
            <p:nvPr>
              <p:custDataLst>
                <p:tags r:id="rId45"/>
              </p:custDataLst>
            </p:nvPr>
          </p:nvSpPr>
          <p:spPr>
            <a:xfrm>
              <a:off x="449055" y="3719633"/>
              <a:ext cx="1343451" cy="504056"/>
            </a:xfrm>
            <a:prstGeom prst="rect">
              <a:avLst/>
            </a:prstGeom>
            <a:solidFill>
              <a:srgbClr val="153B63"/>
            </a:solidFill>
            <a:ln w="25400" cap="flat" cmpd="sng" algn="ctr">
              <a:noFill/>
              <a:prstDash val="solid"/>
            </a:ln>
            <a:effectLst/>
          </p:spPr>
          <p:txBody>
            <a:bodyPr anchor="ctr"/>
            <a:lstStyle>
              <a:lvl1pPr>
                <a:defRPr>
                  <a:solidFill>
                    <a:schemeClr val="tx1"/>
                  </a:solidFill>
                  <a:latin typeface="Bosch Office Sans" panose="020B0604020202020204" pitchFamily="34" charset="0"/>
                </a:defRPr>
              </a:lvl1pPr>
              <a:lvl2pPr marL="742950" indent="-285750">
                <a:defRPr>
                  <a:solidFill>
                    <a:schemeClr val="tx1"/>
                  </a:solidFill>
                  <a:latin typeface="Bosch Office Sans" panose="020B0604020202020204" pitchFamily="34" charset="0"/>
                </a:defRPr>
              </a:lvl2pPr>
              <a:lvl3pPr marL="1143000" indent="-228600">
                <a:defRPr>
                  <a:solidFill>
                    <a:schemeClr val="tx1"/>
                  </a:solidFill>
                  <a:latin typeface="Bosch Office Sans" panose="020B0604020202020204" pitchFamily="34" charset="0"/>
                </a:defRPr>
              </a:lvl3pPr>
              <a:lvl4pPr marL="1600200" indent="-228600">
                <a:defRPr>
                  <a:solidFill>
                    <a:schemeClr val="tx1"/>
                  </a:solidFill>
                  <a:latin typeface="Bosch Office Sans" panose="020B0604020202020204" pitchFamily="34" charset="0"/>
                </a:defRPr>
              </a:lvl4pPr>
              <a:lvl5pPr marL="2057400" indent="-228600">
                <a:defRPr>
                  <a:solidFill>
                    <a:schemeClr val="tx1"/>
                  </a:solidFill>
                  <a:latin typeface="Bosch Office Sans" panose="020B0604020202020204" pitchFamily="34" charset="0"/>
                </a:defRPr>
              </a:lvl5pPr>
              <a:lvl6pPr marL="2514600" indent="-228600" eaLnBrk="0" fontAlgn="base" hangingPunct="0">
                <a:spcBef>
                  <a:spcPct val="0"/>
                </a:spcBef>
                <a:spcAft>
                  <a:spcPct val="0"/>
                </a:spcAft>
                <a:defRPr>
                  <a:solidFill>
                    <a:schemeClr val="tx1"/>
                  </a:solidFill>
                  <a:latin typeface="Bosch Office Sans" panose="020B0604020202020204" pitchFamily="34" charset="0"/>
                </a:defRPr>
              </a:lvl6pPr>
              <a:lvl7pPr marL="2971800" indent="-228600" eaLnBrk="0" fontAlgn="base" hangingPunct="0">
                <a:spcBef>
                  <a:spcPct val="0"/>
                </a:spcBef>
                <a:spcAft>
                  <a:spcPct val="0"/>
                </a:spcAft>
                <a:defRPr>
                  <a:solidFill>
                    <a:schemeClr val="tx1"/>
                  </a:solidFill>
                  <a:latin typeface="Bosch Office Sans" panose="020B0604020202020204" pitchFamily="34" charset="0"/>
                </a:defRPr>
              </a:lvl7pPr>
              <a:lvl8pPr marL="3429000" indent="-228600" eaLnBrk="0" fontAlgn="base" hangingPunct="0">
                <a:spcBef>
                  <a:spcPct val="0"/>
                </a:spcBef>
                <a:spcAft>
                  <a:spcPct val="0"/>
                </a:spcAft>
                <a:defRPr>
                  <a:solidFill>
                    <a:schemeClr val="tx1"/>
                  </a:solidFill>
                  <a:latin typeface="Bosch Office Sans" panose="020B0604020202020204" pitchFamily="34" charset="0"/>
                </a:defRPr>
              </a:lvl8pPr>
              <a:lvl9pPr marL="3886200" indent="-228600" eaLnBrk="0" fontAlgn="base" hangingPunct="0">
                <a:spcBef>
                  <a:spcPct val="0"/>
                </a:spcBef>
                <a:spcAft>
                  <a:spcPct val="0"/>
                </a:spcAft>
                <a:defRPr>
                  <a:solidFill>
                    <a:schemeClr val="tx1"/>
                  </a:solidFill>
                  <a:latin typeface="Bosch Office Sans" panose="020B0604020202020204" pitchFamily="34" charset="0"/>
                </a:defRPr>
              </a:lvl9p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ECU HW</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Bosch Office Sans" panose="020B0604020202020204" pitchFamily="34" charset="0"/>
                  <a:ea typeface="+mn-ea"/>
                  <a:cs typeface="+mn-cs"/>
                </a:rPr>
                <a:t>(DGS-EC/EHB3)</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Bosch Office Sans" panose="020B0604020202020204" pitchFamily="34" charset="0"/>
                  <a:ea typeface="+mn-ea"/>
                  <a:cs typeface="+mn-cs"/>
                </a:rPr>
                <a:t>Schnorr Peter</a:t>
              </a:r>
              <a:endParaRPr kumimoji="0" lang="ja-JP" altLang="ja-JP" sz="1000" b="0" i="0" u="none" strike="noStrike" kern="0" cap="none" spc="0" normalizeH="0" baseline="0" noProof="0">
                <a:ln>
                  <a:noFill/>
                </a:ln>
                <a:solidFill>
                  <a:srgbClr val="FFFFFF"/>
                </a:solidFill>
                <a:effectLst/>
                <a:uLnTx/>
                <a:uFillTx/>
                <a:latin typeface="Bosch Office Sans" panose="020B0604020202020204" pitchFamily="34" charset="0"/>
                <a:ea typeface="+mn-ea"/>
                <a:cs typeface="+mn-cs"/>
              </a:endParaRPr>
            </a:p>
          </p:txBody>
        </p:sp>
        <p:pic>
          <p:nvPicPr>
            <p:cNvPr id="176" name="Picture 10__" descr="Bild in Originalgröße anzeigen"/>
            <p:cNvPicPr>
              <a:picLocks noChangeAspect="1" noChangeArrowheads="1"/>
            </p:cNvPicPr>
            <p:nvPr>
              <p:custDataLst>
                <p:tags r:id="rId46"/>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1583024" y="3732013"/>
              <a:ext cx="204896" cy="13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7" name="グループ化 76"/>
          <p:cNvGrpSpPr>
            <a:grpSpLocks/>
          </p:cNvGrpSpPr>
          <p:nvPr/>
        </p:nvGrpSpPr>
        <p:grpSpPr bwMode="auto">
          <a:xfrm>
            <a:off x="5522526" y="1563876"/>
            <a:ext cx="1341438" cy="504825"/>
            <a:chOff x="2750114" y="3387317"/>
            <a:chExt cx="1584176" cy="504056"/>
          </a:xfrm>
        </p:grpSpPr>
        <p:sp>
          <p:nvSpPr>
            <p:cNvPr id="178" name="正方形/長方形 140000"/>
            <p:cNvSpPr/>
            <p:nvPr>
              <p:custDataLst>
                <p:tags r:id="rId43"/>
              </p:custDataLst>
            </p:nvPr>
          </p:nvSpPr>
          <p:spPr>
            <a:xfrm>
              <a:off x="2750114" y="3387317"/>
              <a:ext cx="1584176" cy="504056"/>
            </a:xfrm>
            <a:prstGeom prst="rect">
              <a:avLst/>
            </a:prstGeom>
            <a:solidFill>
              <a:srgbClr val="003264"/>
            </a:solidFill>
            <a:ln w="25400" cap="flat" cmpd="sng" algn="ctr">
              <a:noFill/>
              <a:prstDash val="solid"/>
            </a:ln>
            <a:effectLst/>
          </p:spPr>
          <p:txBody>
            <a:bodyPr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Project leader</a:t>
              </a:r>
            </a:p>
            <a:p>
              <a:pPr marL="0" marR="0" lvl="0" indent="0"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n-ea"/>
                  <a:cs typeface="Arial" panose="020B0604020202020204" pitchFamily="34" charset="0"/>
                </a:rPr>
                <a:t>GS/SHO-P </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rPr>
                <a:t>Basner Fabian</a:t>
              </a:r>
            </a:p>
          </p:txBody>
        </p:sp>
        <p:pic>
          <p:nvPicPr>
            <p:cNvPr id="179" name="Picture 10____0" descr="Bild in Originalgröße anzeigen"/>
            <p:cNvPicPr>
              <a:picLocks noChangeAspect="1" noChangeArrowheads="1"/>
            </p:cNvPicPr>
            <p:nvPr>
              <p:custDataLst>
                <p:tags r:id="rId44"/>
              </p:custDataLst>
            </p:nvPr>
          </p:nvPicPr>
          <p:blipFill>
            <a:blip r:embed="rId63" cstate="print">
              <a:extLst>
                <a:ext uri="{28A0092B-C50C-407E-A947-70E740481C1C}">
                  <a14:useLocalDpi xmlns:a14="http://schemas.microsoft.com/office/drawing/2010/main" val="0"/>
                </a:ext>
              </a:extLst>
            </a:blip>
            <a:srcRect/>
            <a:stretch>
              <a:fillRect/>
            </a:stretch>
          </p:blipFill>
          <p:spPr bwMode="auto">
            <a:xfrm>
              <a:off x="4091417" y="3402876"/>
              <a:ext cx="237599" cy="13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0" name="正方形/長方形 140000"/>
          <p:cNvSpPr/>
          <p:nvPr>
            <p:custDataLst>
              <p:tags r:id="rId32"/>
            </p:custDataLst>
          </p:nvPr>
        </p:nvSpPr>
        <p:spPr>
          <a:xfrm>
            <a:off x="594927" y="1324162"/>
            <a:ext cx="2381250" cy="912813"/>
          </a:xfrm>
          <a:prstGeom prst="rect">
            <a:avLst/>
          </a:prstGeom>
          <a:solidFill>
            <a:srgbClr val="92D050"/>
          </a:solidFill>
          <a:ln w="25400" cap="flat" cmpd="sng" algn="ctr">
            <a:noFill/>
            <a:prstDash val="solid"/>
          </a:ln>
          <a:effectLst/>
        </p:spPr>
        <p:txBody>
          <a:bodyPr/>
          <a:lstStyle/>
          <a:p>
            <a:pPr marL="0" marR="0" lvl="0" indent="0" algn="l" defTabSz="914400" eaLnBrk="0" fontAlgn="auto" latinLnBrk="0" hangingPunct="0">
              <a:lnSpc>
                <a:spcPct val="100000"/>
              </a:lnSpc>
              <a:spcBef>
                <a:spcPts val="0"/>
              </a:spcBef>
              <a:spcAft>
                <a:spcPts val="0"/>
              </a:spcAft>
              <a:buClrTx/>
              <a:buSzTx/>
              <a:buFontTx/>
              <a:buNone/>
              <a:tabLst/>
              <a:defRPr/>
            </a:pPr>
            <a:r>
              <a:rPr kumimoji="0" lang="en-US" altLang="ja-JP" sz="1200" b="0" i="0" u="none" strike="noStrike" kern="0" cap="none" spc="0" normalizeH="0" baseline="0" noProof="0">
                <a:ln>
                  <a:noFill/>
                </a:ln>
                <a:solidFill>
                  <a:srgbClr val="0070C0"/>
                </a:solidFill>
                <a:effectLst/>
                <a:uLnTx/>
                <a:uFillTx/>
                <a:latin typeface="Meiryo UI" panose="020B0604030504040204" pitchFamily="50" charset="-128"/>
                <a:ea typeface="+mn-ea"/>
                <a:cs typeface="Arial" panose="020B0604020202020204" pitchFamily="34" charset="0"/>
              </a:rPr>
              <a:t>&lt;Management committee&gt;</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cs typeface="Arial" panose="020B0604020202020204" pitchFamily="34" charset="0"/>
              </a:rPr>
              <a:t>Plackmann John  (DGS-EC/ECH-JP)</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cs typeface="Arial" panose="020B0604020202020204" pitchFamily="34" charset="0"/>
              </a:rPr>
              <a:t>Canbulat Patrick  (GS/SHO-P) </a:t>
            </a:r>
            <a:r>
              <a:rPr kumimoji="0" lang="en-US" altLang="ja-JP" sz="1000" b="0" i="0" u="none" strike="noStrike" kern="0" cap="none" spc="0" normalizeH="0" baseline="0" noProof="0">
                <a:ln>
                  <a:noFill/>
                </a:ln>
                <a:solidFill>
                  <a:srgbClr val="0070C0"/>
                </a:solidFill>
                <a:effectLst/>
                <a:uLnTx/>
                <a:uFillTx/>
                <a:latin typeface="Bosch Office Sans"/>
                <a:ea typeface="+mn-ea"/>
                <a:cs typeface="+mn-cs"/>
              </a:rPr>
              <a:t>Matsuura Isao      (GS/SHO2-S) </a:t>
            </a:r>
            <a:r>
              <a:rPr kumimoji="0" lang="en-US" sz="1000" b="0"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cs typeface="Arial" panose="020B0604020202020204" pitchFamily="34" charset="0"/>
              </a:rPr>
              <a:t>Schaefer Oliver    (DGS-EC/PA-CA) </a:t>
            </a:r>
          </a:p>
        </p:txBody>
      </p:sp>
      <p:sp>
        <p:nvSpPr>
          <p:cNvPr id="181" name="テキスト ボックス 180"/>
          <p:cNvSpPr txBox="1"/>
          <p:nvPr>
            <p:custDataLst>
              <p:tags r:id="rId33"/>
            </p:custDataLst>
          </p:nvPr>
        </p:nvSpPr>
        <p:spPr>
          <a:xfrm>
            <a:off x="933064" y="3491099"/>
            <a:ext cx="1344612" cy="415498"/>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Bangha Sven</a:t>
            </a:r>
          </a:p>
        </p:txBody>
      </p:sp>
      <p:sp>
        <p:nvSpPr>
          <p:cNvPr id="249" name="テキスト ボックス 248"/>
          <p:cNvSpPr txBox="1"/>
          <p:nvPr>
            <p:custDataLst>
              <p:tags r:id="rId34"/>
            </p:custDataLst>
          </p:nvPr>
        </p:nvSpPr>
        <p:spPr>
          <a:xfrm>
            <a:off x="2339590" y="3510149"/>
            <a:ext cx="1508125"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Krimmer Klaus</a:t>
            </a:r>
          </a:p>
        </p:txBody>
      </p:sp>
      <p:sp>
        <p:nvSpPr>
          <p:cNvPr id="250" name="テキスト ボックス 249"/>
          <p:cNvSpPr txBox="1"/>
          <p:nvPr>
            <p:custDataLst>
              <p:tags r:id="rId35"/>
            </p:custDataLst>
          </p:nvPr>
        </p:nvSpPr>
        <p:spPr>
          <a:xfrm>
            <a:off x="3973127" y="3513324"/>
            <a:ext cx="1508125" cy="415498"/>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Yukawa Masashi</a:t>
            </a:r>
          </a:p>
        </p:txBody>
      </p:sp>
      <p:sp>
        <p:nvSpPr>
          <p:cNvPr id="251" name="テキスト ボックス 250"/>
          <p:cNvSpPr txBox="1"/>
          <p:nvPr>
            <p:custDataLst>
              <p:tags r:id="rId36"/>
            </p:custDataLst>
          </p:nvPr>
        </p:nvSpPr>
        <p:spPr>
          <a:xfrm>
            <a:off x="5492365" y="3497449"/>
            <a:ext cx="1508125"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Matsuura Isao</a:t>
            </a:r>
          </a:p>
        </p:txBody>
      </p:sp>
      <p:sp>
        <p:nvSpPr>
          <p:cNvPr id="252" name="テキスト ボックス 251"/>
          <p:cNvSpPr txBox="1"/>
          <p:nvPr>
            <p:custDataLst>
              <p:tags r:id="rId37"/>
            </p:custDataLst>
          </p:nvPr>
        </p:nvSpPr>
        <p:spPr>
          <a:xfrm>
            <a:off x="1164840" y="5483411"/>
            <a:ext cx="1666875"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Feuerhake Anton</a:t>
            </a:r>
          </a:p>
        </p:txBody>
      </p:sp>
      <p:sp>
        <p:nvSpPr>
          <p:cNvPr id="253" name="テキスト ボックス 252"/>
          <p:cNvSpPr txBox="1"/>
          <p:nvPr>
            <p:custDataLst>
              <p:tags r:id="rId38"/>
            </p:custDataLst>
          </p:nvPr>
        </p:nvSpPr>
        <p:spPr>
          <a:xfrm>
            <a:off x="1164840" y="4475349"/>
            <a:ext cx="1508125"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Bangha Sven</a:t>
            </a:r>
          </a:p>
        </p:txBody>
      </p:sp>
      <p:sp>
        <p:nvSpPr>
          <p:cNvPr id="254" name="テキスト ボックス 253"/>
          <p:cNvSpPr txBox="1"/>
          <p:nvPr>
            <p:custDataLst>
              <p:tags r:id="rId39"/>
            </p:custDataLst>
          </p:nvPr>
        </p:nvSpPr>
        <p:spPr>
          <a:xfrm>
            <a:off x="7240201" y="5823136"/>
            <a:ext cx="1354138"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Tajiri Daichi </a:t>
            </a:r>
          </a:p>
        </p:txBody>
      </p:sp>
      <p:sp>
        <p:nvSpPr>
          <p:cNvPr id="255" name="テキスト ボックス 254"/>
          <p:cNvSpPr txBox="1"/>
          <p:nvPr>
            <p:custDataLst>
              <p:tags r:id="rId40"/>
            </p:custDataLst>
          </p:nvPr>
        </p:nvSpPr>
        <p:spPr>
          <a:xfrm>
            <a:off x="7240201" y="5045261"/>
            <a:ext cx="1352550" cy="254000"/>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Ii Masaya</a:t>
            </a:r>
          </a:p>
        </p:txBody>
      </p:sp>
      <p:sp>
        <p:nvSpPr>
          <p:cNvPr id="256" name="テキスト ボックス 255"/>
          <p:cNvSpPr txBox="1"/>
          <p:nvPr>
            <p:custDataLst>
              <p:tags r:id="rId41"/>
            </p:custDataLst>
          </p:nvPr>
        </p:nvSpPr>
        <p:spPr>
          <a:xfrm>
            <a:off x="7224326" y="4311836"/>
            <a:ext cx="1352550" cy="415498"/>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Rogler Philipp</a:t>
            </a:r>
          </a:p>
        </p:txBody>
      </p:sp>
      <p:sp>
        <p:nvSpPr>
          <p:cNvPr id="257" name="テキスト ボックス 256"/>
          <p:cNvSpPr txBox="1"/>
          <p:nvPr>
            <p:custDataLst>
              <p:tags r:id="rId42"/>
            </p:custDataLst>
          </p:nvPr>
        </p:nvSpPr>
        <p:spPr>
          <a:xfrm>
            <a:off x="7222739" y="3499038"/>
            <a:ext cx="1352550" cy="415925"/>
          </a:xfrm>
          <a:prstGeom prst="rect">
            <a:avLst/>
          </a:prstGeom>
          <a:noFill/>
        </p:spPr>
        <p:txBody>
          <a:bodyPr>
            <a:spAutoFit/>
          </a:bodyPr>
          <a:lstStyle/>
          <a:p>
            <a:pPr algn="l" eaLnBrk="0" hangingPunct="0">
              <a:defRPr/>
            </a:pPr>
            <a:r>
              <a:rPr lang="en-GB" sz="1050">
                <a:solidFill>
                  <a:srgbClr val="000000"/>
                </a:solidFill>
                <a:latin typeface="Bosch Office Sans" pitchFamily="34" charset="0"/>
                <a:ea typeface="Meiryo UI" panose="020B0604030504040204" pitchFamily="50" charset="-128"/>
              </a:rPr>
              <a:t>Mgr.: Suganuma Masaki</a:t>
            </a:r>
          </a:p>
        </p:txBody>
      </p:sp>
      <p:sp>
        <p:nvSpPr>
          <p:cNvPr id="3" name="正方形/長方形 2"/>
          <p:cNvSpPr/>
          <p:nvPr/>
        </p:nvSpPr>
        <p:spPr bwMode="auto">
          <a:xfrm>
            <a:off x="250829" y="620689"/>
            <a:ext cx="8684944" cy="5597944"/>
          </a:xfrm>
          <a:prstGeom prst="rect">
            <a:avLst/>
          </a:prstGeom>
          <a:solidFill>
            <a:srgbClr val="7F7F7F">
              <a:alpha val="51765"/>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24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a:solidFill>
                <a:srgbClr val="FF0000"/>
              </a:solidFill>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24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a:solidFill>
                <a:srgbClr val="FF0000"/>
              </a:solidFill>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altLang="ja-JP" sz="2400" b="0" i="0" u="none" strike="noStrike" cap="none" normalizeH="0" baseline="0">
              <a:ln>
                <a:noFill/>
              </a:ln>
              <a:solidFill>
                <a:srgbClr val="FF0000"/>
              </a:solidFill>
              <a:effectLst/>
              <a:latin typeface="Meiryo UI" panose="020B0604030504040204" pitchFamily="50" charset="-128"/>
              <a:ea typeface="Meiryo UI" panose="020B0604030504040204" pitchFamily="50"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lang="en-US" altLang="ja-JP">
              <a:solidFill>
                <a:srgbClr val="FF0000"/>
              </a:solidFill>
              <a:latin typeface="Meiryo UI" panose="020B0604030504040204" pitchFamily="50" charset="-128"/>
              <a:ea typeface="Meiryo UI" panose="020B0604030504040204" pitchFamily="50" charset="-128"/>
            </a:endParaRPr>
          </a:p>
        </p:txBody>
      </p:sp>
      <p:sp>
        <p:nvSpPr>
          <p:cNvPr id="72" name="正方形/長方形 71"/>
          <p:cNvSpPr/>
          <p:nvPr/>
        </p:nvSpPr>
        <p:spPr>
          <a:xfrm rot="20118914">
            <a:off x="2279927" y="2948086"/>
            <a:ext cx="4376519" cy="1200329"/>
          </a:xfrm>
          <a:prstGeom prst="rect">
            <a:avLst/>
          </a:prstGeom>
          <a:noFill/>
        </p:spPr>
        <p:txBody>
          <a:bodyPr wrap="none" lIns="91440" tIns="45720" rIns="91440" bIns="45720">
            <a:spAutoFit/>
          </a:bodyPr>
          <a:lstStyle/>
          <a:p>
            <a:pPr algn="ctr"/>
            <a:r>
              <a:rPr lang="en-US" altLang="ja-JP" sz="7200" b="1" cap="none" spc="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Meiryo UI" panose="020B0604030504040204" pitchFamily="50" charset="-128"/>
                <a:ea typeface="Meiryo UI" panose="020B0604030504040204" pitchFamily="50" charset="-128"/>
              </a:rPr>
              <a:t>Example</a:t>
            </a:r>
          </a:p>
        </p:txBody>
      </p:sp>
      <p:sp>
        <p:nvSpPr>
          <p:cNvPr id="73" name="テキスト ボックス 72"/>
          <p:cNvSpPr txBox="1"/>
          <p:nvPr/>
        </p:nvSpPr>
        <p:spPr>
          <a:xfrm>
            <a:off x="9605282" y="1411986"/>
            <a:ext cx="2031325" cy="461665"/>
          </a:xfrm>
          <a:prstGeom prst="rect">
            <a:avLst/>
          </a:prstGeom>
          <a:solidFill>
            <a:srgbClr val="FFFF00"/>
          </a:solidFill>
        </p:spPr>
        <p:txBody>
          <a:bodyPr wrap="none" rtlCol="0">
            <a:spAutoFit/>
          </a:bodyPr>
          <a:lstStyle/>
          <a:p>
            <a:r>
              <a:rPr lang="ja-JP" altLang="en-US"/>
              <a:t>委託先が</a:t>
            </a:r>
            <a:r>
              <a:rPr kumimoji="1" lang="ja-JP" altLang="en-US"/>
              <a:t>起票</a:t>
            </a:r>
            <a:endParaRPr kumimoji="1" lang="en-US" altLang="ja-JP"/>
          </a:p>
        </p:txBody>
      </p:sp>
    </p:spTree>
    <p:extLst>
      <p:ext uri="{BB962C8B-B14F-4D97-AF65-F5344CB8AC3E}">
        <p14:creationId xmlns:p14="http://schemas.microsoft.com/office/powerpoint/2010/main" val="170863590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0" y="2355250"/>
            <a:ext cx="9144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itchFamily="18" charset="0"/>
                <a:ea typeface="ＭＳ Ｐゴシック" charset="-128"/>
              </a:defRPr>
            </a:lvl1pPr>
            <a:lvl2pPr marL="742950" indent="-285750" eaLnBrk="0" hangingPunct="0">
              <a:defRPr kumimoji="1" sz="2400">
                <a:solidFill>
                  <a:schemeClr val="tx1"/>
                </a:solidFill>
                <a:latin typeface="Times New Roman" pitchFamily="18" charset="0"/>
                <a:ea typeface="ＭＳ Ｐゴシック" charset="-128"/>
              </a:defRPr>
            </a:lvl2pPr>
            <a:lvl3pPr marL="1143000" indent="-228600" eaLnBrk="0" hangingPunct="0">
              <a:defRPr kumimoji="1" sz="2400">
                <a:solidFill>
                  <a:schemeClr val="tx1"/>
                </a:solidFill>
                <a:latin typeface="Times New Roman" pitchFamily="18" charset="0"/>
                <a:ea typeface="ＭＳ Ｐゴシック" charset="-128"/>
              </a:defRPr>
            </a:lvl3pPr>
            <a:lvl4pPr marL="1600200" indent="-228600" eaLnBrk="0" hangingPunct="0">
              <a:defRPr kumimoji="1" sz="2400">
                <a:solidFill>
                  <a:schemeClr val="tx1"/>
                </a:solidFill>
                <a:latin typeface="Times New Roman" pitchFamily="18" charset="0"/>
                <a:ea typeface="ＭＳ Ｐゴシック" charset="-128"/>
              </a:defRPr>
            </a:lvl4pPr>
            <a:lvl5pPr marL="2057400" indent="-228600" eaLnBrk="0" hangingPunct="0">
              <a:defRPr kumimoji="1" sz="2400">
                <a:solidFill>
                  <a:schemeClr val="tx1"/>
                </a:solidFill>
                <a:latin typeface="Times New Roman" pitchFamily="18" charset="0"/>
                <a:ea typeface="ＭＳ Ｐゴシック" charset="-128"/>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ＭＳ Ｐゴシック" charset="-128"/>
              </a:defRPr>
            </a:lvl9pPr>
          </a:lstStyle>
          <a:p>
            <a:r>
              <a:rPr kumimoji="0" lang="en-US" altLang="ja-JP" sz="4800">
                <a:latin typeface="Meiryo UI" panose="020B0604030504040204" pitchFamily="50" charset="-128"/>
                <a:ea typeface="Meiryo UI" panose="020B0604030504040204" pitchFamily="50" charset="-128"/>
                <a:cs typeface="Arial" pitchFamily="34" charset="0"/>
              </a:rPr>
              <a:t>END</a:t>
            </a:r>
          </a:p>
          <a:p>
            <a:endParaRPr kumimoji="0" lang="en-US" altLang="ja-JP" sz="4800">
              <a:latin typeface="Meiryo UI" panose="020B0604030504040204" pitchFamily="50" charset="-128"/>
              <a:ea typeface="Meiryo UI" panose="020B0604030504040204" pitchFamily="50" charset="-128"/>
              <a:cs typeface="Arial" pitchFamily="34" charset="0"/>
            </a:endParaRPr>
          </a:p>
          <a:p>
            <a:r>
              <a:rPr kumimoji="0" lang="en-US" altLang="ja-JP" sz="4800">
                <a:latin typeface="Meiryo UI" panose="020B0604030504040204" pitchFamily="50" charset="-128"/>
                <a:ea typeface="Meiryo UI" panose="020B0604030504040204" pitchFamily="50" charset="-128"/>
                <a:cs typeface="Arial" pitchFamily="34" charset="0"/>
              </a:rPr>
              <a:t>Thank you</a:t>
            </a:r>
          </a:p>
        </p:txBody>
      </p:sp>
    </p:spTree>
    <p:extLst>
      <p:ext uri="{BB962C8B-B14F-4D97-AF65-F5344CB8AC3E}">
        <p14:creationId xmlns:p14="http://schemas.microsoft.com/office/powerpoint/2010/main" val="10600260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Black"/>
  <p:tag name="FONTCOLOR2" val="Primary"/>
  <p:tag name="RUNS.FONT" val="2"/>
  <p:tag name="COLORSETCLASSNAME" val="ColorSet2"/>
  <p:tag name="MLI" val="1"/>
  <p:tag name="SHAPESETGROUPCLASSNAME" val="ShapeSetGroup1"/>
  <p:tag name="SHAPESETCLASSNAME" val="Object"/>
  <p:tag name="COLORSETGROUPCLASSNAME" val="ColorSetGroup1"/>
  <p:tag name="FONTSETGROUPCLASSNAME" val="FontSetGroup1"/>
  <p:tag name="SHAPECLASSNAME" val="TitleOnSlidesPredefined"/>
  <p:tag name="SHAPECLASSPROTECTIONTYPE" val="0"/>
  <p:tag name="COLORS" val="-2;-2;-2;-2;-3;-2"/>
</p:tagLst>
</file>

<file path=ppt/tags/tag2.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Black"/>
  <p:tag name="FONTCOLOR2" val="Primary"/>
  <p:tag name="RUNS.FONT" val="2"/>
  <p:tag name="COLORSETCLASSNAME" val="ColorSet2"/>
  <p:tag name="MLI" val="1"/>
  <p:tag name="SHAPESETGROUPCLASSNAME" val="ShapeSetGroup1"/>
  <p:tag name="SHAPESETCLASSNAME" val="Object"/>
  <p:tag name="COLORSETGROUPCLASSNAME" val="ColorSetGroup1"/>
  <p:tag name="FONTSETGROUPCLASSNAME" val="FontSetGroup1"/>
  <p:tag name="SHAPECLASSNAME" val="TitleOnSlidesPredefined"/>
  <p:tag name="SHAPECLASSPROTECTIONTYPE" val="0"/>
  <p:tag name="COLORS" val="-2;-2;-2;-2;-3;-2"/>
</p:tagLst>
</file>

<file path=ppt/tags/tag4.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5.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Black"/>
  <p:tag name="FONTCOLOR2" val="Primary"/>
  <p:tag name="RUNS.FONT" val="2"/>
  <p:tag name="COLORSETCLASSNAME" val="ColorSet2"/>
  <p:tag name="MLI" val="1"/>
  <p:tag name="SHAPESETGROUPCLASSNAME" val="ShapeSetGroup1"/>
  <p:tag name="SHAPESETCLASSNAME" val="HiddenType2"/>
  <p:tag name="COLORSETGROUPCLASSNAME" val="ColorSetGroup1"/>
  <p:tag name="FONTSETGROUPCLASSNAME" val="FontSetGroup1"/>
  <p:tag name="SHAPECLASSNAME" val="TitleOnSlidesPredefined"/>
  <p:tag name="SHAPECLASSPROTECTIONTYPE" val="0"/>
  <p:tag name="COLORS" val="-2;-2;-2;-2;-3;-2"/>
</p:tagLst>
</file>

<file path=ppt/tags/tag6.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HiddenType2"/>
  <p:tag name="COLORSETGROUPCLASSNAME" val="ColorSetGroup1"/>
  <p:tag name="FONTSETGROUPCLASSNAME" val="FontSetGroup1"/>
  <p:tag name="SHAPECLASSNAME" val="FullTextPlaceholder"/>
  <p:tag name="SHAPECLASSPROTECTIONTYPE" val="0"/>
  <p:tag name="COLORS" val="-2;-2;-2;-2;-1;-2"/>
</p:tagLst>
</file>

<file path=ppt/tags/tag7.xml><?xml version="1.0" encoding="utf-8"?>
<p:tagLst xmlns:a="http://schemas.openxmlformats.org/drawingml/2006/main" xmlns:r="http://schemas.openxmlformats.org/officeDocument/2006/relationships" xmlns:p="http://schemas.openxmlformats.org/presentationml/2006/main">
  <p:tag name="FONT" val="Reg28"/>
  <p:tag name="FONTSETCLASSNAME" val="FontSet1"/>
  <p:tag name="FONTCOLOR" val="Black"/>
  <p:tag name="FONTCOLOR2" val="Primary"/>
  <p:tag name="RUNS.FONT" val="2"/>
  <p:tag name="COLORSETCLASSNAME" val="ColorSet2"/>
  <p:tag name="MLI" val="1"/>
  <p:tag name="SHAPESETGROUPCLASSNAME" val="ShapeSetGroup1"/>
  <p:tag name="SHAPESETCLASSNAME" val="HiddenType2"/>
  <p:tag name="COLORSETGROUPCLASSNAME" val="ColorSetGroup1"/>
  <p:tag name="FONTSETGROUPCLASSNAME" val="FontSetGroup1"/>
  <p:tag name="SHAPECLASSNAME" val="TitleOnSlidesPredefined"/>
  <p:tag name="SHAPECLASSPROTECTIONTYPE" val="0"/>
  <p:tag name="COLORS" val="-2;-2;-2;-2;-3;-2"/>
</p:tagLst>
</file>

<file path=ppt/tags/tag8.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9.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0.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1.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2.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3.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4.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5.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6.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17.xml><?xml version="1.0" encoding="utf-8"?>
<p:tagLst xmlns:a="http://schemas.openxmlformats.org/drawingml/2006/main" xmlns:r="http://schemas.openxmlformats.org/officeDocument/2006/relationships" xmlns:p="http://schemas.openxmlformats.org/presentationml/2006/main">
  <p:tag name="COLORSETCLASSNAME" val="ColorSet1"/>
  <p:tag name="COLORS" val="-2;-2;Black426;White;-1;-2"/>
  <p:tag name="K_DONE" val="1"/>
</p:tagLst>
</file>

<file path=ppt/tags/tag18.xml><?xml version="1.0" encoding="utf-8"?>
<p:tagLst xmlns:a="http://schemas.openxmlformats.org/drawingml/2006/main" xmlns:r="http://schemas.openxmlformats.org/officeDocument/2006/relationships" xmlns:p="http://schemas.openxmlformats.org/presentationml/2006/main">
  <p:tag name="COLORSETCLASSNAME" val="ColorSet1"/>
  <p:tag name="COLORS" val="-2;-2;Black426;White;-1;-2"/>
  <p:tag name="K_DONE" val="1"/>
</p:tagLst>
</file>

<file path=ppt/tags/tag19.xml><?xml version="1.0" encoding="utf-8"?>
<p:tagLst xmlns:a="http://schemas.openxmlformats.org/drawingml/2006/main" xmlns:r="http://schemas.openxmlformats.org/officeDocument/2006/relationships" xmlns:p="http://schemas.openxmlformats.org/presentationml/2006/main">
  <p:tag name="COLORSETCLASSNAME" val="ColorSet1"/>
  <p:tag name="COLORS" val="-2;-2;Black426;White;-1;-2"/>
  <p:tag name="K_DONE" val="1"/>
</p:tagLst>
</file>

<file path=ppt/tags/tag20.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1.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2.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3.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4.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5.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6.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7.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8.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29.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0.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1.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2.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3.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4.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5.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6.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7.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8.xml><?xml version="1.0" encoding="utf-8"?>
<p:tagLst xmlns:a="http://schemas.openxmlformats.org/drawingml/2006/main" xmlns:r="http://schemas.openxmlformats.org/officeDocument/2006/relationships" xmlns:p="http://schemas.openxmlformats.org/presentationml/2006/main">
  <p:tag name="FONTSETCLASSNAME" val="FontSet1"/>
  <p:tag name="COLORSETCLASSNAME" val="ColorSet1"/>
  <p:tag name="STYLENAME" val="Bodystyle"/>
  <p:tag name="MLI" val="1"/>
  <p:tag name="SHAPESETGROUPCLASSNAME" val="ShapeSetGroup1"/>
  <p:tag name="SHAPESETCLASSNAME" val="Object"/>
  <p:tag name="COLORSETGROUPCLASSNAME" val="ColorSetGroup1"/>
  <p:tag name="FONTSETGROUPCLASSNAME" val="FontSetGroup1"/>
  <p:tag name="SHAPECLASSNAME" val="ObjectFull"/>
  <p:tag name="SHAPECLASSPROTECTIONTYPE" val="0"/>
  <p:tag name="COLORS" val="-2;-2;-2;-2;-1;-2"/>
</p:tagLst>
</file>

<file path=ppt/tags/tag39.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Slide"/>
  <p:tag name="COLORSETGROUPCLASSNAME" val="ColorSetGroup1"/>
  <p:tag name="FONTSETGROUPCLASSNAME" val="FontSetGroup1"/>
  <p:tag name="SHAPECLASSNAME" val="BoschBitmapHolder"/>
  <p:tag name="SHAPECLASSFILE" val="PPTFootCol.png"/>
  <p:tag name="SHAPECLASSPROTECTIONTYPE" val="15"/>
</p:tagLst>
</file>

<file path=ppt/tags/tag40.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1"/>
  <p:tag name="SHAPESETCLASSNAME" val="Slide"/>
  <p:tag name="COLORSETGROUPCLASSNAME" val="ColorSetGroup1"/>
  <p:tag name="FONTSETGROUPCLASSNAME" val="FontSetGroup1"/>
  <p:tag name="SHAPECLASSNAME" val="BoschBitmap"/>
  <p:tag name="SHAPECLASSFILE" val="BOCOL.png"/>
  <p:tag name="SHAPECLASSPROTECTIONTYPE" val="15"/>
</p:tagLst>
</file>

<file path=ppt/tags/tag41.xml><?xml version="1.0" encoding="utf-8"?>
<p:tagLst xmlns:a="http://schemas.openxmlformats.org/drawingml/2006/main" xmlns:r="http://schemas.openxmlformats.org/officeDocument/2006/relationships" xmlns:p="http://schemas.openxmlformats.org/presentationml/2006/main">
  <p:tag name="FONT" val="Copyrightfont"/>
  <p:tag name="FONTSETCLASSNAME" val="FontSet1"/>
  <p:tag name="COLORS" val="-2;-2;-2;-2;CopyRightFontColor2;-2"/>
  <p:tag name="COLORSETCLASSNAME" val="ColorSet1"/>
  <p:tag name="SCRIPT" val="1"/>
  <p:tag name="FIELDS" val="CONF;DPT;DATE;REM_ABL;COPY;"/>
  <p:tag name="MLI" val="1"/>
  <p:tag name="SHAPESETGROUPCLASSNAME" val="ShapeSetGroup1"/>
  <p:tag name="SHAPESETCLASSNAME" val="Title"/>
  <p:tag name="COLORSETGROUPCLASSNAME" val="ColorSetGroup1"/>
  <p:tag name="FONTSETGROUPCLASSNAME" val="FontSetGroup1"/>
  <p:tag name="SHAPECLASSNAME" val="Copyrightline"/>
  <p:tag name="SHAPECLASSPROTECTIONTYPE" val="63"/>
</p:tagLst>
</file>

<file path=ppt/tags/tag42.xml><?xml version="1.0" encoding="utf-8"?>
<p:tagLst xmlns:a="http://schemas.openxmlformats.org/drawingml/2006/main" xmlns:r="http://schemas.openxmlformats.org/officeDocument/2006/relationships" xmlns:p="http://schemas.openxmlformats.org/presentationml/2006/main">
  <p:tag name="FONT" val="BGroupFont"/>
  <p:tag name="FONTSETCLASSNAME" val="FontSet1"/>
  <p:tag name="COLORS" val="-2;-2;-2;-2;BGroupColor;-2"/>
  <p:tag name="COLORSETCLASSNAME" val="ColorSet1"/>
  <p:tag name="SCRIPT" val="1"/>
  <p:tag name="MLI" val="1"/>
  <p:tag name="SHAPESETGROUPCLASSNAME" val="ShapeSetGroup1"/>
  <p:tag name="SHAPESETCLASSNAME" val="Title"/>
  <p:tag name="COLORSETGROUPCLASSNAME" val="ColorSetGroup1"/>
  <p:tag name="FONTSETGROUPCLASSNAME" val="FontSetGroup1"/>
  <p:tag name="SHAPECLASSNAME" val="BGroupBox"/>
  <p:tag name="SHAPECLASSPROTECTIONTYPE" val="15"/>
</p:tagLst>
</file>

<file path=ppt/tags/tag43.xml><?xml version="1.0" encoding="utf-8"?>
<p:tagLst xmlns:a="http://schemas.openxmlformats.org/drawingml/2006/main" xmlns:r="http://schemas.openxmlformats.org/officeDocument/2006/relationships" xmlns:p="http://schemas.openxmlformats.org/presentationml/2006/main">
  <p:tag name="FONT" val="CopyrightfontRight"/>
  <p:tag name="FONTSETCLASSNAME" val="FontSet1"/>
  <p:tag name="COLORS" val="-2;-2;-2;-2;-2;-2"/>
  <p:tag name="COLORSETCLASSNAME" val="ColorSet1"/>
  <p:tag name="MLI" val="1"/>
  <p:tag name="SHAPESETGROUPCLASSNAME" val="ShapeSetGroup1"/>
  <p:tag name="SHAPESETCLASSNAME" val="Title"/>
  <p:tag name="COLORSETGROUPCLASSNAME" val="ColorSetGroup1"/>
  <p:tag name="FONTSETGROUPCLASSNAME" val="FontSetGroup1"/>
  <p:tag name="SHAPECLASSNAME" val="AuthorBox"/>
  <p:tag name="SHAPECLASSPROTECTIONTYPE" val="27"/>
</p:tagLst>
</file>

<file path=ppt/tags/tag44.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45.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6.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7.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8.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49.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0.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1.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2.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3.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4.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5.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6.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7.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8.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59.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60.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White;-2"/>
</p:tagLst>
</file>

<file path=ppt/tags/tag61.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White;-2"/>
</p:tagLst>
</file>

<file path=ppt/tags/tag62.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White;-2"/>
</p:tagLst>
</file>

<file path=ppt/tags/tag63.xml><?xml version="1.0" encoding="utf-8"?>
<p:tagLst xmlns:a="http://schemas.openxmlformats.org/drawingml/2006/main" xmlns:r="http://schemas.openxmlformats.org/officeDocument/2006/relationships" xmlns:p="http://schemas.openxmlformats.org/presentationml/2006/main">
  <p:tag name="COLORSETCLASSNAME" val="ColorSet1"/>
  <p:tag name="COLORS" val="-2;-2;-1;White;-1;-2"/>
</p:tagLst>
</file>

<file path=ppt/tags/tag64.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White;-2"/>
</p:tagLst>
</file>

<file path=ppt/tags/tag65.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66.xml><?xml version="1.0" encoding="utf-8"?>
<p:tagLst xmlns:a="http://schemas.openxmlformats.org/drawingml/2006/main" xmlns:r="http://schemas.openxmlformats.org/officeDocument/2006/relationships" xmlns:p="http://schemas.openxmlformats.org/presentationml/2006/main">
  <p:tag name="COLORSETCLASSNAME" val="ColorSet1"/>
  <p:tag name="COLORS" val="Black;LogoRightColor;-2;-2;LogoRightColor;-2"/>
</p:tagLst>
</file>

<file path=ppt/tags/tag67.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68.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69.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70.xml><?xml version="1.0" encoding="utf-8"?>
<p:tagLst xmlns:a="http://schemas.openxmlformats.org/drawingml/2006/main" xmlns:r="http://schemas.openxmlformats.org/officeDocument/2006/relationships" xmlns:p="http://schemas.openxmlformats.org/presentationml/2006/main">
  <p:tag name="COLORSETCLASSNAME" val="ColorSet1"/>
  <p:tag name="COLORS" val="-1;White;-2;-2;-1;-2"/>
</p:tagLst>
</file>

<file path=ppt/tags/tag71.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3.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4.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5.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6.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7.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8.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79.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80.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81.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8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83.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84.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85.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86.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87.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88.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89.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90.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ags/tag91.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92.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93.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94.xml><?xml version="1.0" encoding="utf-8"?>
<p:tagLst xmlns:a="http://schemas.openxmlformats.org/drawingml/2006/main" xmlns:r="http://schemas.openxmlformats.org/officeDocument/2006/relationships" xmlns:p="http://schemas.openxmlformats.org/presentationml/2006/main">
  <p:tag name="COLORSETCLASSNAME" val="ColorSet1"/>
  <p:tag name="COLORS" val="-2;-2;-2;-2;-1;-2"/>
</p:tagLst>
</file>

<file path=ppt/tags/tag95.xml><?xml version="1.0" encoding="utf-8"?>
<p:tagLst xmlns:a="http://schemas.openxmlformats.org/drawingml/2006/main" xmlns:r="http://schemas.openxmlformats.org/officeDocument/2006/relationships" xmlns:p="http://schemas.openxmlformats.org/presentationml/2006/main">
  <p:tag name="COLORSETCLASSNAME" val="ColorSet1"/>
  <p:tag name="COLORS" val="Blue1;White;-2;-2;White;-2"/>
</p:tagLst>
</file>

<file path=ppt/tags/tag96.xml><?xml version="1.0" encoding="utf-8"?>
<p:tagLst xmlns:a="http://schemas.openxmlformats.org/drawingml/2006/main" xmlns:r="http://schemas.openxmlformats.org/officeDocument/2006/relationships" xmlns:p="http://schemas.openxmlformats.org/presentationml/2006/main">
  <p:tag name="COLORSETCLASSNAME" val="ColorSet1"/>
  <p:tag name="K_DONE" val="1"/>
  <p:tag name="COLORS" val="-2;-2;-2;-2;-1;-2"/>
</p:tagLst>
</file>

<file path=ppt/theme/theme1.xml><?xml version="1.0" encoding="utf-8"?>
<a:theme xmlns:a="http://schemas.openxmlformats.org/drawingml/2006/main" name="標準デザイン">
  <a:themeElements>
    <a:clrScheme name="標準デザイン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imes New Roman" pitchFamily="18" charset="0"/>
            <a:ea typeface="ＭＳ Ｐゴシック" pitchFamily="50" charset="-128"/>
          </a:defRPr>
        </a:defPPr>
      </a:lstStyle>
    </a:lnDef>
  </a:objectDefaults>
  <a:extraClrSchemeLst>
    <a:extraClrScheme>
      <a:clrScheme name="標準デザイン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ILMBoschDocument" ma:contentTypeID="0x010100236C32F0FF975B44AF6E5547EDE8DF4101005288A08934D4E543BC2FC9E538785741" ma:contentTypeVersion="36" ma:contentTypeDescription="Bosch Document Content Type for ILM" ma:contentTypeScope="" ma:versionID="b9d96b2e64161353b9e944744935b2ca">
  <xsd:schema xmlns:xsd="http://www.w3.org/2001/XMLSchema" xmlns:xs="http://www.w3.org/2001/XMLSchema" xmlns:p="http://schemas.microsoft.com/office/2006/metadata/properties" xmlns:ns1="http://schemas.microsoft.com/sharepoint/v3" xmlns:ns2="97e58439-c056-4f04-a53b-e44adaac7b5b" xmlns:ns3="http://schemas.microsoft.com/sharepoint/v3/fields" xmlns:ns4="bca0bc44-19d1-4824-98a4-321de56310bf" xmlns:ns5="http://schemas.microsoft.com/sharepoint/v4" targetNamespace="http://schemas.microsoft.com/office/2006/metadata/properties" ma:root="true" ma:fieldsID="c0548dd898f5d02dc6148804c6caaadf" ns1:_="" ns2:_="" ns3:_="" ns4:_="" ns5:_="">
    <xsd:import namespace="http://schemas.microsoft.com/sharepoint/v3"/>
    <xsd:import namespace="97e58439-c056-4f04-a53b-e44adaac7b5b"/>
    <xsd:import namespace="http://schemas.microsoft.com/sharepoint/v3/fields"/>
    <xsd:import namespace="bca0bc44-19d1-4824-98a4-321de56310bf"/>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a4c814642ba1480f982a5e5bdc352445" minOccurs="0"/>
                <xsd:element ref="ns2:TaxCatchAll" minOccurs="0"/>
                <xsd:element ref="ns2:TaxCatchAllLabel" minOccurs="0"/>
                <xsd:element ref="ns2:CSC"/>
                <xsd:element ref="ns2:ASC"/>
                <xsd:element ref="ns2:ISC"/>
                <xsd:element ref="ns2:ArchivingPeriod"/>
                <xsd:element ref="ns2:Safeguarding"/>
                <xsd:element ref="ns2:Historicalrelevance"/>
                <xsd:element ref="ns2:IlmBasedOn" minOccurs="0"/>
                <xsd:element ref="ns2:LockedStatus" minOccurs="0"/>
                <xsd:element ref="ns2:LockedBy" minOccurs="0"/>
                <xsd:element ref="ns2:ILMItemType" minOccurs="0"/>
                <xsd:element ref="ns2:ILMCreationRevision" minOccurs="0"/>
                <xsd:element ref="ns2:Revisions" minOccurs="0"/>
                <xsd:element ref="ns1:RB_DMS_KM_GUID" minOccurs="0"/>
                <xsd:element ref="ns1:RB_DMS_ORIG_NAME" minOccurs="0"/>
                <xsd:element ref="ns1:RB_DMS_ORIG_RID" minOccurs="0"/>
                <xsd:element ref="ns1:RB_DMS_MIG_REMARKS" minOccurs="0"/>
                <xsd:element ref="ns1:RB_DMS_SAP_METADATA" minOccurs="0"/>
                <xsd:element ref="ns3:_ResourceType" minOccurs="0"/>
                <xsd:element ref="ns3:_Identifier" minOccurs="0"/>
                <xsd:element ref="ns3:_Format" minOccurs="0"/>
                <xsd:element ref="ns4:OriginalSubject" minOccurs="0"/>
                <xsd:element ref="ns4:From1" minOccurs="0"/>
                <xsd:element ref="ns4:Cc" minOccurs="0"/>
                <xsd:element ref="ns4:Bcc" minOccurs="0"/>
                <xsd:element ref="ns4:Conversation-Topic" minOccurs="0"/>
                <xsd:element ref="ns4:Date1" minOccurs="0"/>
                <xsd:element ref="ns4:Reply-To" minOccurs="0"/>
                <xsd:element ref="ns4:To" minOccurs="0"/>
                <xsd:element ref="ns4:Received" minOccurs="0"/>
                <xsd:element ref="ns4:Attachment" minOccurs="0"/>
                <xsd:element ref="ns4:Sensitivity" minOccurs="0"/>
                <xsd:element ref="ns4:Importance" minOccurs="0"/>
                <xsd:element ref="ns4:In-Reply-To" minOccurs="0"/>
                <xsd:element ref="ns4:References" minOccurs="0"/>
                <xsd:element ref="ns4:Conversation-Index" minOccurs="0"/>
                <xsd:element ref="ns4:MailPreviewData" minOccurs="0"/>
                <xsd:element ref="ns4:MessageClass" minOccurs="0"/>
                <xsd:element ref="ns4:Message-ID"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B_DMS_KM_GUID" ma:index="27" nillable="true" ma:displayName="Old GUID" ma:internalName="RB_DMS_KM_GUID" ma:readOnly="false">
      <xsd:simpleType>
        <xsd:restriction base="dms:Text"/>
      </xsd:simpleType>
    </xsd:element>
    <xsd:element name="RB_DMS_ORIG_NAME" ma:index="28" nillable="true" ma:displayName="Original Name" ma:internalName="RB_DMS_ORIG_NAME" ma:readOnly="false">
      <xsd:simpleType>
        <xsd:restriction base="dms:Note"/>
      </xsd:simpleType>
    </xsd:element>
    <xsd:element name="RB_DMS_ORIG_RID" ma:index="29" nillable="true" ma:displayName="Original RID" ma:internalName="RB_DMS_ORIG_RID" ma:readOnly="false">
      <xsd:simpleType>
        <xsd:restriction base="dms:Note"/>
      </xsd:simpleType>
    </xsd:element>
    <xsd:element name="RB_DMS_MIG_REMARKS" ma:index="30" nillable="true" ma:displayName="Migration Remarks" ma:internalName="RB_DMS_MIG_REMARKS" ma:readOnly="false">
      <xsd:simpleType>
        <xsd:restriction base="dms:Note"/>
      </xsd:simpleType>
    </xsd:element>
    <xsd:element name="RB_DMS_SAP_METADATA" ma:index="31" nillable="true" ma:displayName="ILM Metadata" ma:internalName="RB_DMS_SAP_METADATA"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e58439-c056-4f04-a53b-e44adaac7b5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4c814642ba1480f982a5e5bdc352445" ma:index="11" nillable="true" ma:taxonomy="true" ma:internalName="a4c814642ba1480f982a5e5bdc352445" ma:taxonomyFieldName="DMSKeywords" ma:displayName="Keywords" ma:fieldId="{a4c81464-2ba1-480f-982a-5e5bdc352445}" ma:sspId="b81b984e-7d9a-4f77-a40b-67f8485df2c3" ma:termSetId="066d0041-4f3d-4491-ad92-0fed72996ef2" ma:anchorId="00000000-0000-0000-0000-000000000000" ma:open="true" ma:isKeyword="false">
      <xsd:complexType>
        <xsd:sequence>
          <xsd:element ref="pc:Terms" minOccurs="0" maxOccurs="1"/>
        </xsd:sequence>
      </xsd:complexType>
    </xsd:element>
    <xsd:element name="TaxCatchAll" ma:index="12" nillable="true" ma:displayName="Taxonomy Catch All Column" ma:hidden="true" ma:list="{a60e21df-515d-4e60-a33c-faf3dc76cd47}" ma:internalName="TaxCatchAll" ma:showField="CatchAllData" ma:web="97e58439-c056-4f04-a53b-e44adaac7b5b">
      <xsd:complexType>
        <xsd:complexContent>
          <xsd:extension base="dms:MultiChoiceLookup">
            <xsd:sequence>
              <xsd:element name="Value" type="dms:Lookup" maxOccurs="unbounded" minOccurs="0" nillable="true"/>
            </xsd:sequence>
          </xsd:extension>
        </xsd:complexContent>
      </xsd:complexType>
    </xsd:element>
    <xsd:element name="TaxCatchAllLabel" ma:index="13" nillable="true" ma:displayName="Taxonomy Catch All Column1" ma:hidden="true" ma:list="{a60e21df-515d-4e60-a33c-faf3dc76cd47}" ma:internalName="TaxCatchAllLabel" ma:readOnly="true" ma:showField="CatchAllDataLabel" ma:web="97e58439-c056-4f04-a53b-e44adaac7b5b">
      <xsd:complexType>
        <xsd:complexContent>
          <xsd:extension base="dms:MultiChoiceLookup">
            <xsd:sequence>
              <xsd:element name="Value" type="dms:Lookup" maxOccurs="unbounded" minOccurs="0" nillable="true"/>
            </xsd:sequence>
          </xsd:extension>
        </xsd:complexContent>
      </xsd:complexType>
    </xsd:element>
    <xsd:element name="CSC" ma:index="15" ma:displayName="C-SC" ma:default="1" ma:description="Security Class for Confidentiality." ma:format="Dropdown" ma:indexed="true" ma:internalName="CSC" ma:readOnly="false">
      <xsd:simpleType>
        <xsd:restriction base="dms:Choice">
          <xsd:enumeration value="0"/>
          <xsd:enumeration value="1"/>
          <xsd:enumeration value="2"/>
          <xsd:enumeration value="3"/>
        </xsd:restriction>
      </xsd:simpleType>
    </xsd:element>
    <xsd:element name="ASC" ma:index="16" ma:displayName="A-SC" ma:default="1" ma:description="Security Class for Availability" ma:format="Dropdown" ma:internalName="ASC" ma:readOnly="false">
      <xsd:simpleType>
        <xsd:restriction base="dms:Choice">
          <xsd:enumeration value="0"/>
          <xsd:enumeration value="1"/>
          <xsd:enumeration value="2"/>
          <xsd:enumeration value="3"/>
        </xsd:restriction>
      </xsd:simpleType>
    </xsd:element>
    <xsd:element name="ISC" ma:index="17" ma:displayName="I-SC" ma:default="1" ma:description="Security Class for Integrity" ma:format="Dropdown" ma:internalName="ISC" ma:readOnly="false">
      <xsd:simpleType>
        <xsd:restriction base="dms:Choice">
          <xsd:enumeration value="0"/>
          <xsd:enumeration value="1"/>
          <xsd:enumeration value="2"/>
          <xsd:enumeration value="3"/>
        </xsd:restriction>
      </xsd:simpleType>
    </xsd:element>
    <xsd:element name="ArchivingPeriod" ma:index="18" ma:displayName="Archiving Period (in years)" ma:default="15" ma:description="File will be deleted from the archive after end of the archiving" ma:format="Dropdown" ma:internalName="ArchivingPeriod" ma:readOnly="false">
      <xsd:simpleType>
        <xsd:union memberTypes="dms:Text">
          <xsd:simpleType>
            <xsd:restriction base="dms:Choice">
              <xsd:enumeration value="1"/>
              <xsd:enumeration value="3"/>
              <xsd:enumeration value="6"/>
              <xsd:enumeration value="10"/>
              <xsd:enumeration value="15"/>
              <xsd:enumeration value="35"/>
              <xsd:enumeration value="Delete when archiving"/>
              <xsd:enumeration value="infinite"/>
            </xsd:restriction>
          </xsd:simpleType>
        </xsd:union>
      </xsd:simpleType>
    </xsd:element>
    <xsd:element name="Safeguarding" ma:index="19" ma:displayName="Safeguarding" ma:default="No" ma:description="Special safeguarding requirements" ma:format="Dropdown" ma:internalName="Safeguarding" ma:readOnly="false">
      <xsd:simpleType>
        <xsd:restriction base="dms:Choice">
          <xsd:enumeration value="Yes"/>
          <xsd:enumeration value="No"/>
        </xsd:restriction>
      </xsd:simpleType>
    </xsd:element>
    <xsd:element name="Historicalrelevance" ma:index="20" ma:displayName="Historical relevance" ma:default="No" ma:description="Handover to C/CCH" ma:format="Dropdown" ma:internalName="Historicalrelevance" ma:readOnly="false">
      <xsd:simpleType>
        <xsd:restriction base="dms:Choice">
          <xsd:enumeration value="Yes"/>
          <xsd:enumeration value="No"/>
        </xsd:restriction>
      </xsd:simpleType>
    </xsd:element>
    <xsd:element name="IlmBasedOn" ma:index="21" nillable="true" ma:displayName="Based on" ma:internalName="IlmBasedOn" ma:readOnly="true">
      <xsd:simpleType>
        <xsd:restriction base="dms:Text"/>
      </xsd:simpleType>
    </xsd:element>
    <xsd:element name="LockedStatus" ma:index="22" nillable="true" ma:displayName="Locked Status" ma:default="Unlocked" ma:internalName="LockedStatus" ma:readOnly="true">
      <xsd:simpleType>
        <xsd:restriction base="dms:Text"/>
      </xsd:simpleType>
    </xsd:element>
    <xsd:element name="LockedBy" ma:index="23" nillable="true" ma:displayName="Locked By" ma:internalName="Locked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LMItemType" ma:index="24" nillable="true" ma:displayName="ILMItemType" ma:default="ConceptualItem" ma:internalName="ILMItemType" ma:readOnly="true">
      <xsd:simpleType>
        <xsd:restriction base="dms:Text"/>
      </xsd:simpleType>
    </xsd:element>
    <xsd:element name="ILMCreationRevision" ma:index="25" nillable="true" ma:displayName="Creating Revision" ma:internalName="ILMCreationRevision" ma:readOnly="true">
      <xsd:simpleType>
        <xsd:restriction base="dms:Boolean"/>
      </xsd:simpleType>
    </xsd:element>
    <xsd:element name="Revisions" ma:index="26" nillable="true" ma:displayName="Revision set" ma:internalName="Revisions" ma:readOnly="true">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ResourceType" ma:index="32" nillable="true" ma:displayName="Resource Type" ma:description="A set of categories, functions, genres or aggregation levels" ma:internalName="_ResourceType">
      <xsd:simpleType>
        <xsd:restriction base="dms:Text"/>
      </xsd:simpleType>
    </xsd:element>
    <xsd:element name="_Identifier" ma:index="33" nillable="true" ma:displayName="Resource Identifier" ma:description="An identifying string or number, usually conforming to a formal identification system" ma:internalName="_Identifier">
      <xsd:simpleType>
        <xsd:restriction base="dms:Text"/>
      </xsd:simpleType>
    </xsd:element>
    <xsd:element name="_Format" ma:index="34" nillable="true" ma:displayName="Format" ma:description="Media-type, file format or dimensions" ma:internalName="_Forma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ca0bc44-19d1-4824-98a4-321de56310bf" elementFormDefault="qualified">
    <xsd:import namespace="http://schemas.microsoft.com/office/2006/documentManagement/types"/>
    <xsd:import namespace="http://schemas.microsoft.com/office/infopath/2007/PartnerControls"/>
    <xsd:element name="OriginalSubject" ma:index="35" nillable="true" ma:displayName="OriginalSubject" ma:internalName="OriginalSubject">
      <xsd:simpleType>
        <xsd:restriction base="dms:Text">
          <xsd:maxLength value="255"/>
        </xsd:restriction>
      </xsd:simpleType>
    </xsd:element>
    <xsd:element name="From1" ma:index="36" nillable="true" ma:displayName="From" ma:internalName="From1">
      <xsd:simpleType>
        <xsd:restriction base="dms:Text">
          <xsd:maxLength value="255"/>
        </xsd:restriction>
      </xsd:simpleType>
    </xsd:element>
    <xsd:element name="Cc" ma:index="37" nillable="true" ma:displayName="Cc" ma:internalName="Cc">
      <xsd:simpleType>
        <xsd:restriction base="dms:Note">
          <xsd:maxLength value="255"/>
        </xsd:restriction>
      </xsd:simpleType>
    </xsd:element>
    <xsd:element name="Bcc" ma:index="38" nillable="true" ma:displayName="Bcc" ma:internalName="Bcc">
      <xsd:simpleType>
        <xsd:restriction base="dms:Note">
          <xsd:maxLength value="255"/>
        </xsd:restriction>
      </xsd:simpleType>
    </xsd:element>
    <xsd:element name="Conversation-Topic" ma:index="39" nillable="true" ma:displayName="Conversation-Topic" ma:internalName="Conversation_x002d_Topic">
      <xsd:simpleType>
        <xsd:restriction base="dms:Text">
          <xsd:maxLength value="255"/>
        </xsd:restriction>
      </xsd:simpleType>
    </xsd:element>
    <xsd:element name="Date1" ma:index="40" nillable="true" ma:displayName="Date" ma:format="DateOnly" ma:internalName="Date1">
      <xsd:simpleType>
        <xsd:restriction base="dms:DateTime"/>
      </xsd:simpleType>
    </xsd:element>
    <xsd:element name="Reply-To" ma:index="41" nillable="true" ma:displayName="Reply-To" ma:internalName="Reply_x002d_To">
      <xsd:simpleType>
        <xsd:restriction base="dms:Text">
          <xsd:maxLength value="255"/>
        </xsd:restriction>
      </xsd:simpleType>
    </xsd:element>
    <xsd:element name="To" ma:index="42" nillable="true" ma:displayName="To" ma:internalName="To">
      <xsd:simpleType>
        <xsd:restriction base="dms:Note">
          <xsd:maxLength value="255"/>
        </xsd:restriction>
      </xsd:simpleType>
    </xsd:element>
    <xsd:element name="Received" ma:index="43" nillable="true" ma:displayName="Received" ma:internalName="Received">
      <xsd:simpleType>
        <xsd:restriction base="dms:Text">
          <xsd:maxLength value="255"/>
        </xsd:restriction>
      </xsd:simpleType>
    </xsd:element>
    <xsd:element name="Attachment" ma:index="44" nillable="true" ma:displayName="Attachment" ma:default="1" ma:internalName="Attachment">
      <xsd:simpleType>
        <xsd:restriction base="dms:Boolean"/>
      </xsd:simpleType>
    </xsd:element>
    <xsd:element name="Sensitivity" ma:index="45" nillable="true" ma:displayName="Sensitivity" ma:internalName="Sensitivity">
      <xsd:simpleType>
        <xsd:restriction base="dms:Text">
          <xsd:maxLength value="255"/>
        </xsd:restriction>
      </xsd:simpleType>
    </xsd:element>
    <xsd:element name="Importance" ma:index="46" nillable="true" ma:displayName="Importance" ma:internalName="Importance">
      <xsd:simpleType>
        <xsd:restriction base="dms:Text">
          <xsd:maxLength value="255"/>
        </xsd:restriction>
      </xsd:simpleType>
    </xsd:element>
    <xsd:element name="In-Reply-To" ma:index="47" nillable="true" ma:displayName="In-Reply-To" ma:internalName="In_x002d_Reply_x002d_To">
      <xsd:simpleType>
        <xsd:restriction base="dms:Text">
          <xsd:maxLength value="255"/>
        </xsd:restriction>
      </xsd:simpleType>
    </xsd:element>
    <xsd:element name="References" ma:index="48" nillable="true" ma:displayName="References" ma:internalName="References">
      <xsd:simpleType>
        <xsd:restriction base="dms:Text">
          <xsd:maxLength value="255"/>
        </xsd:restriction>
      </xsd:simpleType>
    </xsd:element>
    <xsd:element name="Conversation-Index" ma:index="49" nillable="true" ma:displayName="Conversation-Index" ma:internalName="Conversation_x002d_Index" ma:readOnly="false">
      <xsd:simpleType>
        <xsd:restriction base="dms:Text">
          <xsd:maxLength value="255"/>
        </xsd:restriction>
      </xsd:simpleType>
    </xsd:element>
    <xsd:element name="MailPreviewData" ma:index="50" nillable="true" ma:displayName="MailPreviewData" ma:internalName="MailPreviewData" ma:readOnly="false">
      <xsd:simpleType>
        <xsd:restriction base="dms:Note"/>
      </xsd:simpleType>
    </xsd:element>
    <xsd:element name="MessageClass" ma:index="51" nillable="true" ma:displayName="MessageClass" ma:internalName="MessageClass" ma:readOnly="false">
      <xsd:simpleType>
        <xsd:restriction base="dms:Text">
          <xsd:maxLength value="255"/>
        </xsd:restriction>
      </xsd:simpleType>
    </xsd:element>
    <xsd:element name="Message-ID" ma:index="52" nillable="true" ma:displayName="Message-ID" ma:internalName="Message_x002d_ID"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5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SC xmlns="97e58439-c056-4f04-a53b-e44adaac7b5b">1</ISC>
    <Conversation-Topic xmlns="bca0bc44-19d1-4824-98a4-321de56310bf" xsi:nil="true"/>
    <Historicalrelevance xmlns="97e58439-c056-4f04-a53b-e44adaac7b5b">No</Historicalrelevance>
    <RB_DMS_ORIG_NAME xmlns="http://schemas.microsoft.com/sharepoint/v3" xsi:nil="true"/>
    <RB_DMS_SAP_METADATA xmlns="http://schemas.microsoft.com/sharepoint/v3" xsi:nil="true"/>
    <Received xmlns="bca0bc44-19d1-4824-98a4-321de56310bf" xsi:nil="true"/>
    <Importance xmlns="bca0bc44-19d1-4824-98a4-321de56310bf" xsi:nil="true"/>
    <MessageClass xmlns="bca0bc44-19d1-4824-98a4-321de56310bf" xsi:nil="true"/>
    <ArchivingPeriod xmlns="97e58439-c056-4f04-a53b-e44adaac7b5b">15</ArchivingPeriod>
    <Conversation-Index xmlns="bca0bc44-19d1-4824-98a4-321de56310bf" xsi:nil="true"/>
    <Bcc xmlns="bca0bc44-19d1-4824-98a4-321de56310bf" xsi:nil="true"/>
    <Sensitivity xmlns="bca0bc44-19d1-4824-98a4-321de56310bf" xsi:nil="true"/>
    <IconOverlay xmlns="http://schemas.microsoft.com/sharepoint/v4" xsi:nil="true"/>
    <To xmlns="bca0bc44-19d1-4824-98a4-321de56310bf" xsi:nil="true"/>
    <ASC xmlns="97e58439-c056-4f04-a53b-e44adaac7b5b">1</ASC>
    <RB_DMS_KM_GUID xmlns="http://schemas.microsoft.com/sharepoint/v3" xsi:nil="true"/>
    <RB_DMS_ORIG_RID xmlns="http://schemas.microsoft.com/sharepoint/v3" xsi:nil="true"/>
    <Reply-To xmlns="bca0bc44-19d1-4824-98a4-321de56310bf" xsi:nil="true"/>
    <In-Reply-To xmlns="bca0bc44-19d1-4824-98a4-321de56310bf" xsi:nil="true"/>
    <MailPreviewData xmlns="bca0bc44-19d1-4824-98a4-321de56310bf" xsi:nil="true"/>
    <CSC xmlns="97e58439-c056-4f04-a53b-e44adaac7b5b">1</CSC>
    <_Format xmlns="http://schemas.microsoft.com/sharepoint/v3/fields" xsi:nil="true"/>
    <TaxCatchAll xmlns="97e58439-c056-4f04-a53b-e44adaac7b5b"/>
    <_ResourceType xmlns="http://schemas.microsoft.com/sharepoint/v3/fields" xsi:nil="true"/>
    <_Identifier xmlns="http://schemas.microsoft.com/sharepoint/v3/fields" xsi:nil="true"/>
    <Date1 xmlns="bca0bc44-19d1-4824-98a4-321de56310bf" xsi:nil="true"/>
    <Attachment xmlns="bca0bc44-19d1-4824-98a4-321de56310bf">true</Attachment>
    <References xmlns="bca0bc44-19d1-4824-98a4-321de56310bf" xsi:nil="true"/>
    <Cc xmlns="bca0bc44-19d1-4824-98a4-321de56310bf" xsi:nil="true"/>
    <Message-ID xmlns="bca0bc44-19d1-4824-98a4-321de56310bf" xsi:nil="true"/>
    <OriginalSubject xmlns="bca0bc44-19d1-4824-98a4-321de56310bf" xsi:nil="true"/>
    <a4c814642ba1480f982a5e5bdc352445 xmlns="97e58439-c056-4f04-a53b-e44adaac7b5b">
      <Terms xmlns="http://schemas.microsoft.com/office/infopath/2007/PartnerControls"/>
    </a4c814642ba1480f982a5e5bdc352445>
    <RB_DMS_MIG_REMARKS xmlns="http://schemas.microsoft.com/sharepoint/v3" xsi:nil="true"/>
    <Safeguarding xmlns="97e58439-c056-4f04-a53b-e44adaac7b5b">No</Safeguarding>
    <From1 xmlns="bca0bc44-19d1-4824-98a4-321de56310bf" xsi:nil="true"/>
    <Revisions xmlns="97e58439-c056-4f04-a53b-e44adaac7b5b">
      <Url xsi:nil="true"/>
      <Description xsi:nil="true"/>
    </Revisions>
    <LockedStatus xmlns="97e58439-c056-4f04-a53b-e44adaac7b5b">Unlocked</LockedStatus>
    <_dlc_DocId xmlns="97e58439-c056-4f04-a53b-e44adaac7b5b">P12E094748-1316189130-17273</_dlc_DocId>
    <_dlc_DocIdUrl xmlns="97e58439-c056-4f04-a53b-e44adaac7b5b">
      <Url>https://sites.share2.bosch.com/sites/094748/_layouts/15/DocIdRedir.aspx?ID=P12E094748-1316189130-17273</Url>
      <Description>P12E094748-1316189130-17273</Description>
    </_dlc_DocIdUrl>
    <ILMItemType xmlns="97e58439-c056-4f04-a53b-e44adaac7b5b">ConceptualItem</ILMItemType>
    <LockedBy xmlns="97e58439-c056-4f04-a53b-e44adaac7b5b">
      <UserInfo>
        <DisplayName/>
        <AccountId xsi:nil="true"/>
        <AccountType/>
      </UserInfo>
    </LockedBy>
    <ILMCreationRevision xmlns="97e58439-c056-4f04-a53b-e44adaac7b5b">false</ILMCreationRevision>
    <IlmBasedOn xmlns="97e58439-c056-4f04-a53b-e44adaac7b5b" xsi:nil="true"/>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43F2B378-FC36-4BD1-A90B-191C1AA68C00}">
  <ds:schemaRefs>
    <ds:schemaRef ds:uri="http://schemas.microsoft.com/sharepoint/v3/contenttype/forms"/>
  </ds:schemaRefs>
</ds:datastoreItem>
</file>

<file path=customXml/itemProps2.xml><?xml version="1.0" encoding="utf-8"?>
<ds:datastoreItem xmlns:ds="http://schemas.openxmlformats.org/officeDocument/2006/customXml" ds:itemID="{CAB7DC0F-DACA-45E2-9176-D1A2724E45A4}"/>
</file>

<file path=customXml/itemProps3.xml><?xml version="1.0" encoding="utf-8"?>
<ds:datastoreItem xmlns:ds="http://schemas.openxmlformats.org/officeDocument/2006/customXml" ds:itemID="{D4BDEFDE-3405-48EA-9B4E-8DA2968F0040}">
  <ds:schemaRefs>
    <ds:schemaRef ds:uri="7e53e2f5-309f-4bd9-aaaa-ba6a397c2ff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602A79DC-696E-4FF5-B0AE-F0982931DC3E}"/>
</file>

<file path=docProps/app.xml><?xml version="1.0" encoding="utf-8"?>
<Properties xmlns="http://schemas.openxmlformats.org/officeDocument/2006/extended-properties" xmlns:vt="http://schemas.openxmlformats.org/officeDocument/2006/docPropsVTypes">
  <Template/>
  <TotalTime>1</TotalTime>
  <Words>32636</Words>
  <Application>Microsoft Office PowerPoint</Application>
  <PresentationFormat>画面に合わせる (4:3)</PresentationFormat>
  <Paragraphs>5357</Paragraphs>
  <Slides>156</Slides>
  <Notes>41</Notes>
  <HiddenSlides>96</HiddenSlides>
  <MMClips>0</MMClips>
  <ScaleCrop>false</ScaleCrop>
  <HeadingPairs>
    <vt:vector size="8" baseType="variant">
      <vt:variant>
        <vt:lpstr>使用されているフォント</vt:lpstr>
      </vt:variant>
      <vt:variant>
        <vt:i4>18</vt:i4>
      </vt:variant>
      <vt:variant>
        <vt:lpstr>テーマ</vt:lpstr>
      </vt:variant>
      <vt:variant>
        <vt:i4>1</vt:i4>
      </vt:variant>
      <vt:variant>
        <vt:lpstr>埋め込まれた OLE サーバー</vt:lpstr>
      </vt:variant>
      <vt:variant>
        <vt:i4>1</vt:i4>
      </vt:variant>
      <vt:variant>
        <vt:lpstr>スライド タイトル</vt:lpstr>
      </vt:variant>
      <vt:variant>
        <vt:i4>156</vt:i4>
      </vt:variant>
    </vt:vector>
  </HeadingPairs>
  <TitlesOfParts>
    <vt:vector size="176" baseType="lpstr">
      <vt:lpstr>Arial Unicode MS</vt:lpstr>
      <vt:lpstr>Bosch Office Sans</vt:lpstr>
      <vt:lpstr>HGPｺﾞｼｯｸE</vt:lpstr>
      <vt:lpstr>HGP創英角ｺﾞｼｯｸUB</vt:lpstr>
      <vt:lpstr>HGS創英角ｺﾞｼｯｸUB</vt:lpstr>
      <vt:lpstr>Meiryo UI</vt:lpstr>
      <vt:lpstr>ＭＳ Ｐゴシック</vt:lpstr>
      <vt:lpstr>メイリオ</vt:lpstr>
      <vt:lpstr>Aptos Narrow</vt:lpstr>
      <vt:lpstr>Arial</vt:lpstr>
      <vt:lpstr>Arial Narrow</vt:lpstr>
      <vt:lpstr>Calibri</vt:lpstr>
      <vt:lpstr>Century Gothic</vt:lpstr>
      <vt:lpstr>Roboto</vt:lpstr>
      <vt:lpstr>Tahoma</vt:lpstr>
      <vt:lpstr>Times New Roman</vt:lpstr>
      <vt:lpstr>Wingdings</vt:lpstr>
      <vt:lpstr>Wingdings 3</vt:lpstr>
      <vt:lpstr>標準デザイン</vt:lpstr>
      <vt:lpstr>Worksheet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武藤 崇 Takashi Muto</dc:creator>
  <cp:keywords>SecrecyB; A.01.0010; HM</cp:keywords>
  <cp:lastModifiedBy>Shinichi Okubo</cp:lastModifiedBy>
  <cp:revision>4</cp:revision>
  <cp:lastPrinted>2022-07-26T11:31:12Z</cp:lastPrinted>
  <dcterms:created xsi:type="dcterms:W3CDTF">1601-01-01T00:00:00Z</dcterms:created>
  <dcterms:modified xsi:type="dcterms:W3CDTF">2025-01-28T15:22:42Z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0x010100236C32F0FF975B44AF6E5547EDE8DF4101005288A08934D4E543BC2FC9E538785741</vt:lpwstr>
  </property>
  <property fmtid="{D5CDD505-2E9C-101B-9397-08002B2CF9AE}" pid="3" name="MediaServiceImageTags">
    <vt:lpwstr/>
  </property>
  <property fmtid="{D5CDD505-2E9C-101B-9397-08002B2CF9AE}" pid="4" name="ecm_ItemDeleteBlockHolders">
    <vt:lpwstr/>
  </property>
  <property fmtid="{D5CDD505-2E9C-101B-9397-08002B2CF9AE}" pid="5" name="ecm_RecordRestrictions">
    <vt:lpwstr/>
  </property>
  <property fmtid="{D5CDD505-2E9C-101B-9397-08002B2CF9AE}" pid="6" name="ecm_ItemLockHolders">
    <vt:lpwstr/>
  </property>
  <property fmtid="{D5CDD505-2E9C-101B-9397-08002B2CF9AE}" pid="7" name="_vti_ItemHoldRecordStatus">
    <vt:lpwstr/>
  </property>
  <property fmtid="{D5CDD505-2E9C-101B-9397-08002B2CF9AE}" pid="8" name="_vti_ItemDeclaredRecord">
    <vt:lpwstr/>
  </property>
  <property fmtid="{D5CDD505-2E9C-101B-9397-08002B2CF9AE}" pid="9" name="_dlc_DocIdItemGuid">
    <vt:lpwstr>2bb12e3a-4ded-4297-8846-e4bdc50b0245</vt:lpwstr>
  </property>
  <property fmtid="{D5CDD505-2E9C-101B-9397-08002B2CF9AE}" pid="10" name="ConceptualVersion">
    <vt:lpwstr/>
  </property>
  <property fmtid="{D5CDD505-2E9C-101B-9397-08002B2CF9AE}" pid="11" name="ConceptualVersionTreeview">
    <vt:lpwstr/>
  </property>
  <property fmtid="{D5CDD505-2E9C-101B-9397-08002B2CF9AE}" pid="13" name="ILMComments">
    <vt:lpwstr/>
  </property>
  <property fmtid="{D5CDD505-2E9C-101B-9397-08002B2CF9AE}" pid="15" name="ILMExternalReference">
    <vt:lpwstr/>
  </property>
  <property fmtid="{D5CDD505-2E9C-101B-9397-08002B2CF9AE}" pid="16" name="DocIdOfLinkItem">
    <vt:lpwstr/>
  </property>
  <property fmtid="{D5CDD505-2E9C-101B-9397-08002B2CF9AE}" pid="18" name="ILMRevision">
    <vt:lpwstr/>
  </property>
  <property fmtid="{D5CDD505-2E9C-101B-9397-08002B2CF9AE}" pid="19" name="DMSKeywords">
    <vt:lpwstr/>
  </property>
</Properties>
</file>